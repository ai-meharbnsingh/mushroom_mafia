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-1-1.jpg" ContentType="image/jpg"/>
  <Override PartName="/ppt/media/image-29-1.jpg" ContentType="image/jpg"/>
  <Override PartName="/ppt/media/image-30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embeddedFontLst>
    <p:embeddedFont>
      <p:font typeface="Hedvig Letters Sans" charset="-122" pitchFamily="34"/>
      <p:regular r:id="rId37"/>
    </p:embeddedFont>
    <p:embeddedFont>
      <p:font typeface="Quattrocento Sans" charset="-122" pitchFamily="34"/>
      <p:regular r:id="rId38"/>
    </p:embeddedFont>
    <p:embeddedFont>
      <p:font typeface="Liter" charset="-122" pitchFamily="34"/>
      <p:regular r:id="rId39"/>
    </p:embeddedFont>
    <p:embeddedFont>
      <p:font typeface="Sorts Mill Goudy" charset="-122" pitchFamily="34"/>
      <p:regular r:id="rId4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font" Target="fonts/font1.fntdata"/><Relationship Id="rId38" Type="http://schemas.openxmlformats.org/officeDocument/2006/relationships/font" Target="fonts/font2.fntdata"/><Relationship Id="rId39" Type="http://schemas.openxmlformats.org/officeDocument/2006/relationships/font" Target="fonts/font3.fntdata"/><Relationship Id="rId40" Type="http://schemas.openxmlformats.org/officeDocument/2006/relationships/font" Target="fonts/font4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agritecture.com/138848ee60bb5e2905d3e98646280624493050fe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2E26">
                  <a:alpha val="95000"/>
                </a:srgbClr>
              </a:gs>
              <a:gs pos="50000">
                <a:srgbClr val="1A2E26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381000" y="38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514350" y="514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11906"/>
                </a:moveTo>
                <a:cubicBezTo>
                  <a:pt x="190500" y="52127"/>
                  <a:pt x="161999" y="85688"/>
                  <a:pt x="124123" y="93538"/>
                </a:cubicBezTo>
                <a:cubicBezTo>
                  <a:pt x="121183" y="71921"/>
                  <a:pt x="111472" y="52462"/>
                  <a:pt x="97148" y="37393"/>
                </a:cubicBezTo>
                <a:cubicBezTo>
                  <a:pt x="112068" y="14883"/>
                  <a:pt x="137629" y="0"/>
                  <a:pt x="166688" y="0"/>
                </a:cubicBezTo>
                <a:lnTo>
                  <a:pt x="178594" y="0"/>
                </a:lnTo>
                <a:cubicBezTo>
                  <a:pt x="185179" y="0"/>
                  <a:pt x="190500" y="5321"/>
                  <a:pt x="190500" y="11906"/>
                </a:cubicBezTo>
                <a:close/>
                <a:moveTo>
                  <a:pt x="0" y="35719"/>
                </a:moveTo>
                <a:cubicBezTo>
                  <a:pt x="0" y="29133"/>
                  <a:pt x="5321" y="23812"/>
                  <a:pt x="11906" y="23812"/>
                </a:cubicBezTo>
                <a:lnTo>
                  <a:pt x="23812" y="23812"/>
                </a:lnTo>
                <a:cubicBezTo>
                  <a:pt x="69838" y="23812"/>
                  <a:pt x="107156" y="61131"/>
                  <a:pt x="107156" y="107156"/>
                </a:cubicBezTo>
                <a:lnTo>
                  <a:pt x="107156" y="178594"/>
                </a:lnTo>
                <a:cubicBezTo>
                  <a:pt x="107156" y="185179"/>
                  <a:pt x="101836" y="190500"/>
                  <a:pt x="95250" y="190500"/>
                </a:cubicBezTo>
                <a:cubicBezTo>
                  <a:pt x="88664" y="190500"/>
                  <a:pt x="83344" y="185179"/>
                  <a:pt x="83344" y="178594"/>
                </a:cubicBezTo>
                <a:lnTo>
                  <a:pt x="83344" y="119063"/>
                </a:lnTo>
                <a:cubicBezTo>
                  <a:pt x="37319" y="119063"/>
                  <a:pt x="0" y="81744"/>
                  <a:pt x="0" y="35719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52500" y="476250"/>
            <a:ext cx="200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spc="75" kern="0" dirty="0">
                <a:solidFill>
                  <a:srgbClr val="E9C4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MUSHROOM MANDI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228421" y="514350"/>
            <a:ext cx="1647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105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INVESTOR PITCH 2026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4810" y="1512808"/>
            <a:ext cx="1179195" cy="350520"/>
          </a:xfrm>
          <a:custGeom>
            <a:avLst/>
            <a:gdLst/>
            <a:ahLst/>
            <a:cxnLst/>
            <a:rect l="l" t="t" r="r" b="b"/>
            <a:pathLst>
              <a:path w="1179195" h="350520">
                <a:moveTo>
                  <a:pt x="175260" y="0"/>
                </a:moveTo>
                <a:lnTo>
                  <a:pt x="1003935" y="0"/>
                </a:lnTo>
                <a:cubicBezTo>
                  <a:pt x="1100728" y="0"/>
                  <a:pt x="1179195" y="78467"/>
                  <a:pt x="1179195" y="175260"/>
                </a:cubicBezTo>
                <a:lnTo>
                  <a:pt x="1179195" y="175260"/>
                </a:lnTo>
                <a:cubicBezTo>
                  <a:pt x="1179195" y="272053"/>
                  <a:pt x="1100728" y="350520"/>
                  <a:pt x="1003935" y="350520"/>
                </a:cubicBezTo>
                <a:lnTo>
                  <a:pt x="175260" y="350520"/>
                </a:lnTo>
                <a:cubicBezTo>
                  <a:pt x="78531" y="350520"/>
                  <a:pt x="0" y="271989"/>
                  <a:pt x="0" y="175260"/>
                </a:cubicBezTo>
                <a:lnTo>
                  <a:pt x="0" y="175260"/>
                </a:lnTo>
                <a:cubicBezTo>
                  <a:pt x="0" y="78531"/>
                  <a:pt x="78531" y="0"/>
                  <a:pt x="175260" y="0"/>
                </a:cubicBezTo>
                <a:close/>
              </a:path>
            </a:pathLst>
          </a:custGeom>
          <a:solidFill>
            <a:srgbClr val="E9C46A">
              <a:alpha val="20000"/>
            </a:srgbClr>
          </a:solidFill>
          <a:ln w="10160">
            <a:solidFill>
              <a:srgbClr val="E9C46A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81000" y="1508998"/>
            <a:ext cx="1238250" cy="3429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SEED ROUND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2095738"/>
            <a:ext cx="11887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Mushroom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Mandi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4153138"/>
            <a:ext cx="74580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D4A373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India's Unified Mushroom Industry Operating System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92906" y="496038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35719"/>
                </a:moveTo>
                <a:cubicBezTo>
                  <a:pt x="73335" y="35719"/>
                  <a:pt x="42714" y="49113"/>
                  <a:pt x="20203" y="70917"/>
                </a:cubicBezTo>
                <a:cubicBezTo>
                  <a:pt x="15478" y="75493"/>
                  <a:pt x="7925" y="75381"/>
                  <a:pt x="3386" y="70656"/>
                </a:cubicBezTo>
                <a:cubicBezTo>
                  <a:pt x="-1153" y="65931"/>
                  <a:pt x="-1079" y="58378"/>
                  <a:pt x="3646" y="53839"/>
                </a:cubicBezTo>
                <a:cubicBezTo>
                  <a:pt x="30398" y="27868"/>
                  <a:pt x="66935" y="11906"/>
                  <a:pt x="107156" y="11906"/>
                </a:cubicBezTo>
                <a:cubicBezTo>
                  <a:pt x="147377" y="11906"/>
                  <a:pt x="183914" y="27868"/>
                  <a:pt x="210703" y="53839"/>
                </a:cubicBezTo>
                <a:cubicBezTo>
                  <a:pt x="215429" y="58415"/>
                  <a:pt x="215540" y="65968"/>
                  <a:pt x="210964" y="70656"/>
                </a:cubicBezTo>
                <a:cubicBezTo>
                  <a:pt x="206387" y="75344"/>
                  <a:pt x="198834" y="75493"/>
                  <a:pt x="194146" y="70917"/>
                </a:cubicBezTo>
                <a:cubicBezTo>
                  <a:pt x="171599" y="49113"/>
                  <a:pt x="140977" y="35719"/>
                  <a:pt x="107156" y="35719"/>
                </a:cubicBezTo>
                <a:close/>
                <a:moveTo>
                  <a:pt x="89297" y="160734"/>
                </a:moveTo>
                <a:cubicBezTo>
                  <a:pt x="89297" y="150878"/>
                  <a:pt x="97299" y="142875"/>
                  <a:pt x="107156" y="142875"/>
                </a:cubicBezTo>
                <a:cubicBezTo>
                  <a:pt x="117013" y="142875"/>
                  <a:pt x="125016" y="150878"/>
                  <a:pt x="125016" y="160734"/>
                </a:cubicBezTo>
                <a:cubicBezTo>
                  <a:pt x="125016" y="170591"/>
                  <a:pt x="117013" y="178594"/>
                  <a:pt x="107156" y="178594"/>
                </a:cubicBezTo>
                <a:cubicBezTo>
                  <a:pt x="97299" y="178594"/>
                  <a:pt x="89297" y="170591"/>
                  <a:pt x="89297" y="160734"/>
                </a:cubicBezTo>
                <a:close/>
                <a:moveTo>
                  <a:pt x="62508" y="121369"/>
                </a:moveTo>
                <a:cubicBezTo>
                  <a:pt x="58155" y="126318"/>
                  <a:pt x="50639" y="126764"/>
                  <a:pt x="45690" y="122411"/>
                </a:cubicBezTo>
                <a:cubicBezTo>
                  <a:pt x="40742" y="118058"/>
                  <a:pt x="40295" y="110542"/>
                  <a:pt x="44648" y="105594"/>
                </a:cubicBezTo>
                <a:cubicBezTo>
                  <a:pt x="59903" y="88329"/>
                  <a:pt x="82265" y="77391"/>
                  <a:pt x="107156" y="77391"/>
                </a:cubicBezTo>
                <a:cubicBezTo>
                  <a:pt x="132048" y="77391"/>
                  <a:pt x="154409" y="88329"/>
                  <a:pt x="169664" y="105594"/>
                </a:cubicBezTo>
                <a:cubicBezTo>
                  <a:pt x="174017" y="110542"/>
                  <a:pt x="173534" y="118058"/>
                  <a:pt x="168622" y="122411"/>
                </a:cubicBezTo>
                <a:cubicBezTo>
                  <a:pt x="163711" y="126764"/>
                  <a:pt x="156158" y="126281"/>
                  <a:pt x="151805" y="121369"/>
                </a:cubicBezTo>
                <a:cubicBezTo>
                  <a:pt x="140866" y="108979"/>
                  <a:pt x="124941" y="101203"/>
                  <a:pt x="107156" y="101203"/>
                </a:cubicBezTo>
                <a:cubicBezTo>
                  <a:pt x="89371" y="101203"/>
                  <a:pt x="73447" y="108979"/>
                  <a:pt x="62508" y="121369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33425" y="4922282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IoT + ERP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747838" y="496038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423" y="26901"/>
                </a:moveTo>
                <a:cubicBezTo>
                  <a:pt x="13990" y="18008"/>
                  <a:pt x="22138" y="11906"/>
                  <a:pt x="31403" y="11906"/>
                </a:cubicBezTo>
                <a:lnTo>
                  <a:pt x="159395" y="11906"/>
                </a:lnTo>
                <a:cubicBezTo>
                  <a:pt x="168659" y="11906"/>
                  <a:pt x="176808" y="18008"/>
                  <a:pt x="179412" y="26901"/>
                </a:cubicBezTo>
                <a:lnTo>
                  <a:pt x="188119" y="56741"/>
                </a:lnTo>
                <a:cubicBezTo>
                  <a:pt x="192881" y="73000"/>
                  <a:pt x="180640" y="89297"/>
                  <a:pt x="163711" y="89297"/>
                </a:cubicBezTo>
                <a:cubicBezTo>
                  <a:pt x="153925" y="89297"/>
                  <a:pt x="145331" y="83753"/>
                  <a:pt x="141089" y="75493"/>
                </a:cubicBezTo>
                <a:cubicBezTo>
                  <a:pt x="136773" y="83641"/>
                  <a:pt x="128215" y="89297"/>
                  <a:pt x="118244" y="89297"/>
                </a:cubicBezTo>
                <a:cubicBezTo>
                  <a:pt x="108347" y="89297"/>
                  <a:pt x="99752" y="83716"/>
                  <a:pt x="95436" y="75530"/>
                </a:cubicBezTo>
                <a:cubicBezTo>
                  <a:pt x="91120" y="83716"/>
                  <a:pt x="82525" y="89297"/>
                  <a:pt x="72628" y="89297"/>
                </a:cubicBezTo>
                <a:cubicBezTo>
                  <a:pt x="62657" y="89297"/>
                  <a:pt x="54099" y="83679"/>
                  <a:pt x="49783" y="75493"/>
                </a:cubicBezTo>
                <a:cubicBezTo>
                  <a:pt x="45541" y="83716"/>
                  <a:pt x="36947" y="89297"/>
                  <a:pt x="27161" y="89297"/>
                </a:cubicBezTo>
                <a:cubicBezTo>
                  <a:pt x="10195" y="89297"/>
                  <a:pt x="-2009" y="73037"/>
                  <a:pt x="2753" y="56741"/>
                </a:cubicBezTo>
                <a:lnTo>
                  <a:pt x="11423" y="26901"/>
                </a:lnTo>
                <a:close/>
                <a:moveTo>
                  <a:pt x="35868" y="130969"/>
                </a:moveTo>
                <a:lnTo>
                  <a:pt x="154930" y="130969"/>
                </a:lnTo>
                <a:lnTo>
                  <a:pt x="154930" y="106263"/>
                </a:lnTo>
                <a:cubicBezTo>
                  <a:pt x="157758" y="106859"/>
                  <a:pt x="160697" y="107156"/>
                  <a:pt x="163674" y="107156"/>
                </a:cubicBezTo>
                <a:cubicBezTo>
                  <a:pt x="168994" y="107156"/>
                  <a:pt x="174092" y="106189"/>
                  <a:pt x="178743" y="104477"/>
                </a:cubicBezTo>
                <a:lnTo>
                  <a:pt x="178743" y="160734"/>
                </a:lnTo>
                <a:cubicBezTo>
                  <a:pt x="178743" y="170594"/>
                  <a:pt x="170743" y="178594"/>
                  <a:pt x="160883" y="178594"/>
                </a:cubicBezTo>
                <a:lnTo>
                  <a:pt x="29914" y="178594"/>
                </a:lnTo>
                <a:cubicBezTo>
                  <a:pt x="20055" y="178594"/>
                  <a:pt x="12055" y="170594"/>
                  <a:pt x="12055" y="160734"/>
                </a:cubicBezTo>
                <a:lnTo>
                  <a:pt x="12055" y="104477"/>
                </a:lnTo>
                <a:cubicBezTo>
                  <a:pt x="16706" y="106189"/>
                  <a:pt x="21766" y="107156"/>
                  <a:pt x="27124" y="107156"/>
                </a:cubicBezTo>
                <a:cubicBezTo>
                  <a:pt x="30138" y="107156"/>
                  <a:pt x="33040" y="106859"/>
                  <a:pt x="35868" y="106263"/>
                </a:cubicBezTo>
                <a:lnTo>
                  <a:pt x="35868" y="130969"/>
                </a:ln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2076450" y="4922282"/>
            <a:ext cx="1000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Marketplace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318986" y="496038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3647599" y="4922282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Intelligence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81000" y="5863590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6B8E6E">
              <a:alpha val="30196"/>
            </a:srgbClr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381000" y="6096000"/>
            <a:ext cx="102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₹2.50 Cr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81000" y="6286500"/>
            <a:ext cx="102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Seed Investment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797034" y="6096000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 Months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797034" y="6286500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Market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847904" y="6096000"/>
            <a:ext cx="96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₹88 Cr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847904" y="6286500"/>
            <a:ext cx="96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 5 Revenue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333500"/>
            <a:ext cx="5619750" cy="1171575"/>
          </a:xfrm>
          <a:custGeom>
            <a:avLst/>
            <a:gdLst/>
            <a:ahLst/>
            <a:cxnLst/>
            <a:rect l="l" t="t" r="r" b="b"/>
            <a:pathLst>
              <a:path w="5619750" h="1171575">
                <a:moveTo>
                  <a:pt x="0" y="0"/>
                </a:moveTo>
                <a:lnTo>
                  <a:pt x="5543551" y="0"/>
                </a:lnTo>
                <a:cubicBezTo>
                  <a:pt x="5585634" y="0"/>
                  <a:pt x="5619750" y="34116"/>
                  <a:pt x="5619750" y="76199"/>
                </a:cubicBezTo>
                <a:lnTo>
                  <a:pt x="5619750" y="1095376"/>
                </a:lnTo>
                <a:cubicBezTo>
                  <a:pt x="5619750" y="1137459"/>
                  <a:pt x="5585634" y="1171575"/>
                  <a:pt x="5543551" y="1171575"/>
                </a:cubicBezTo>
                <a:lnTo>
                  <a:pt x="0" y="1171575"/>
                </a:lnTo>
                <a:lnTo>
                  <a:pt x="0" y="0"/>
                </a:lnTo>
                <a:close/>
              </a:path>
            </a:pathLst>
          </a:custGeom>
          <a:solidFill>
            <a:srgbClr val="6B8E6E">
              <a:alpha val="10196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00050" y="1333500"/>
            <a:ext cx="38100" cy="1171575"/>
          </a:xfrm>
          <a:custGeom>
            <a:avLst/>
            <a:gdLst/>
            <a:ahLst/>
            <a:cxnLst/>
            <a:rect l="l" t="t" r="r" b="b"/>
            <a:pathLst>
              <a:path w="38100" h="1171575">
                <a:moveTo>
                  <a:pt x="0" y="0"/>
                </a:moveTo>
                <a:lnTo>
                  <a:pt x="38100" y="0"/>
                </a:lnTo>
                <a:lnTo>
                  <a:pt x="38100" y="1171575"/>
                </a:lnTo>
                <a:lnTo>
                  <a:pt x="0" y="1171575"/>
                </a:lnTo>
                <a:lnTo>
                  <a:pt x="0" y="0"/>
                </a:ln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71500" y="160496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38163" y="1604963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2E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90600" y="1624013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Opportunity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985963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India's mushroom market growing at 12.84% CAGR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2657475"/>
            <a:ext cx="5619750" cy="1171575"/>
          </a:xfrm>
          <a:custGeom>
            <a:avLst/>
            <a:gdLst/>
            <a:ahLst/>
            <a:cxnLst/>
            <a:rect l="l" t="t" r="r" b="b"/>
            <a:pathLst>
              <a:path w="5619750" h="1171575">
                <a:moveTo>
                  <a:pt x="0" y="0"/>
                </a:moveTo>
                <a:lnTo>
                  <a:pt x="5543551" y="0"/>
                </a:lnTo>
                <a:cubicBezTo>
                  <a:pt x="5585634" y="0"/>
                  <a:pt x="5619750" y="34116"/>
                  <a:pt x="5619750" y="76199"/>
                </a:cubicBezTo>
                <a:lnTo>
                  <a:pt x="5619750" y="1095376"/>
                </a:lnTo>
                <a:cubicBezTo>
                  <a:pt x="5619750" y="1137459"/>
                  <a:pt x="5585634" y="1171575"/>
                  <a:pt x="5543551" y="1171575"/>
                </a:cubicBezTo>
                <a:lnTo>
                  <a:pt x="0" y="1171575"/>
                </a:lnTo>
                <a:lnTo>
                  <a:pt x="0" y="0"/>
                </a:lnTo>
                <a:close/>
              </a:path>
            </a:pathLst>
          </a:custGeom>
          <a:solidFill>
            <a:srgbClr val="6B8E6E">
              <a:alpha val="10196"/>
            </a:srgbClr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00050" y="2657475"/>
            <a:ext cx="38100" cy="1171575"/>
          </a:xfrm>
          <a:custGeom>
            <a:avLst/>
            <a:gdLst/>
            <a:ahLst/>
            <a:cxnLst/>
            <a:rect l="l" t="t" r="r" b="b"/>
            <a:pathLst>
              <a:path w="38100" h="1171575">
                <a:moveTo>
                  <a:pt x="0" y="0"/>
                </a:moveTo>
                <a:lnTo>
                  <a:pt x="38100" y="0"/>
                </a:lnTo>
                <a:lnTo>
                  <a:pt x="38100" y="1171575"/>
                </a:lnTo>
                <a:lnTo>
                  <a:pt x="0" y="1171575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71500" y="292893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38163" y="2928938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2E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90600" y="2947988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" y="3309938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Fragmented industry with 12-18% crop losses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3981450"/>
            <a:ext cx="5619750" cy="1171575"/>
          </a:xfrm>
          <a:custGeom>
            <a:avLst/>
            <a:gdLst/>
            <a:ahLst/>
            <a:cxnLst/>
            <a:rect l="l" t="t" r="r" b="b"/>
            <a:pathLst>
              <a:path w="5619750" h="1171575">
                <a:moveTo>
                  <a:pt x="0" y="0"/>
                </a:moveTo>
                <a:lnTo>
                  <a:pt x="5543551" y="0"/>
                </a:lnTo>
                <a:cubicBezTo>
                  <a:pt x="5585634" y="0"/>
                  <a:pt x="5619750" y="34116"/>
                  <a:pt x="5619750" y="76199"/>
                </a:cubicBezTo>
                <a:lnTo>
                  <a:pt x="5619750" y="1095376"/>
                </a:lnTo>
                <a:cubicBezTo>
                  <a:pt x="5619750" y="1137459"/>
                  <a:pt x="5585634" y="1171575"/>
                  <a:pt x="5543551" y="1171575"/>
                </a:cubicBezTo>
                <a:lnTo>
                  <a:pt x="0" y="1171575"/>
                </a:lnTo>
                <a:lnTo>
                  <a:pt x="0" y="0"/>
                </a:lnTo>
                <a:close/>
              </a:path>
            </a:pathLst>
          </a:custGeom>
          <a:solidFill>
            <a:srgbClr val="6B8E6E">
              <a:alpha val="10196"/>
            </a:srgbClr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00050" y="3981450"/>
            <a:ext cx="38100" cy="1171575"/>
          </a:xfrm>
          <a:custGeom>
            <a:avLst/>
            <a:gdLst/>
            <a:ahLst/>
            <a:cxnLst/>
            <a:rect l="l" t="t" r="r" b="b"/>
            <a:pathLst>
              <a:path w="38100" h="1171575">
                <a:moveTo>
                  <a:pt x="0" y="0"/>
                </a:moveTo>
                <a:lnTo>
                  <a:pt x="38100" y="0"/>
                </a:lnTo>
                <a:lnTo>
                  <a:pt x="38100" y="1171575"/>
                </a:lnTo>
                <a:lnTo>
                  <a:pt x="0" y="1171575"/>
                </a:lnTo>
                <a:lnTo>
                  <a:pt x="0" y="0"/>
                </a:ln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71500" y="42529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38163" y="4252913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90600" y="4271963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" y="4633913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platform connecting entire mushroom ecosystem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00050" y="5305425"/>
            <a:ext cx="5619750" cy="1171575"/>
          </a:xfrm>
          <a:custGeom>
            <a:avLst/>
            <a:gdLst/>
            <a:ahLst/>
            <a:cxnLst/>
            <a:rect l="l" t="t" r="r" b="b"/>
            <a:pathLst>
              <a:path w="5619750" h="1171575">
                <a:moveTo>
                  <a:pt x="0" y="0"/>
                </a:moveTo>
                <a:lnTo>
                  <a:pt x="5543551" y="0"/>
                </a:lnTo>
                <a:cubicBezTo>
                  <a:pt x="5585634" y="0"/>
                  <a:pt x="5619750" y="34116"/>
                  <a:pt x="5619750" y="76199"/>
                </a:cubicBezTo>
                <a:lnTo>
                  <a:pt x="5619750" y="1095376"/>
                </a:lnTo>
                <a:cubicBezTo>
                  <a:pt x="5619750" y="1137459"/>
                  <a:pt x="5585634" y="1171575"/>
                  <a:pt x="5543551" y="1171575"/>
                </a:cubicBezTo>
                <a:lnTo>
                  <a:pt x="0" y="1171575"/>
                </a:lnTo>
                <a:lnTo>
                  <a:pt x="0" y="0"/>
                </a:lnTo>
                <a:close/>
              </a:path>
            </a:pathLst>
          </a:custGeom>
          <a:solidFill>
            <a:srgbClr val="6B8E6E">
              <a:alpha val="10196"/>
            </a:srgbClr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00050" y="5305425"/>
            <a:ext cx="38100" cy="1171575"/>
          </a:xfrm>
          <a:custGeom>
            <a:avLst/>
            <a:gdLst/>
            <a:ahLst/>
            <a:cxnLst/>
            <a:rect l="l" t="t" r="r" b="b"/>
            <a:pathLst>
              <a:path w="38100" h="1171575">
                <a:moveTo>
                  <a:pt x="0" y="0"/>
                </a:moveTo>
                <a:lnTo>
                  <a:pt x="38100" y="0"/>
                </a:lnTo>
                <a:lnTo>
                  <a:pt x="38100" y="1171575"/>
                </a:lnTo>
                <a:lnTo>
                  <a:pt x="0" y="1171575"/>
                </a:lnTo>
                <a:lnTo>
                  <a:pt x="0" y="0"/>
                </a:ln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71500" y="557688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38163" y="5576888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2E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90600" y="5595938"/>
            <a:ext cx="143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Analysis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1500" y="5957888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₹960 Cr TAM with zero direct competition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91250" y="1333500"/>
            <a:ext cx="5619750" cy="1171575"/>
          </a:xfrm>
          <a:custGeom>
            <a:avLst/>
            <a:gdLst/>
            <a:ahLst/>
            <a:cxnLst/>
            <a:rect l="l" t="t" r="r" b="b"/>
            <a:pathLst>
              <a:path w="5619750" h="1171575">
                <a:moveTo>
                  <a:pt x="0" y="0"/>
                </a:moveTo>
                <a:lnTo>
                  <a:pt x="5543551" y="0"/>
                </a:lnTo>
                <a:cubicBezTo>
                  <a:pt x="5585634" y="0"/>
                  <a:pt x="5619750" y="34116"/>
                  <a:pt x="5619750" y="76199"/>
                </a:cubicBezTo>
                <a:lnTo>
                  <a:pt x="5619750" y="1095376"/>
                </a:lnTo>
                <a:cubicBezTo>
                  <a:pt x="5619750" y="1137459"/>
                  <a:pt x="5585634" y="1171575"/>
                  <a:pt x="5543551" y="1171575"/>
                </a:cubicBezTo>
                <a:lnTo>
                  <a:pt x="0" y="1171575"/>
                </a:lnTo>
                <a:lnTo>
                  <a:pt x="0" y="0"/>
                </a:lnTo>
                <a:close/>
              </a:path>
            </a:pathLst>
          </a:custGeom>
          <a:solidFill>
            <a:srgbClr val="6B8E6E">
              <a:alpha val="10196"/>
            </a:srgbClr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191250" y="1333500"/>
            <a:ext cx="38100" cy="1171575"/>
          </a:xfrm>
          <a:custGeom>
            <a:avLst/>
            <a:gdLst/>
            <a:ahLst/>
            <a:cxnLst/>
            <a:rect l="l" t="t" r="r" b="b"/>
            <a:pathLst>
              <a:path w="38100" h="1171575">
                <a:moveTo>
                  <a:pt x="0" y="0"/>
                </a:moveTo>
                <a:lnTo>
                  <a:pt x="38100" y="0"/>
                </a:lnTo>
                <a:lnTo>
                  <a:pt x="38100" y="1171575"/>
                </a:lnTo>
                <a:lnTo>
                  <a:pt x="0" y="1171575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362700" y="160496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329363" y="1604963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2E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81800" y="1624013"/>
            <a:ext cx="140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&amp; Tech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62700" y="1985963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IoT sensors, cloud platform, AI intelligence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1250" y="2657475"/>
            <a:ext cx="5619750" cy="1171575"/>
          </a:xfrm>
          <a:custGeom>
            <a:avLst/>
            <a:gdLst/>
            <a:ahLst/>
            <a:cxnLst/>
            <a:rect l="l" t="t" r="r" b="b"/>
            <a:pathLst>
              <a:path w="5619750" h="1171575">
                <a:moveTo>
                  <a:pt x="0" y="0"/>
                </a:moveTo>
                <a:lnTo>
                  <a:pt x="5543551" y="0"/>
                </a:lnTo>
                <a:cubicBezTo>
                  <a:pt x="5585634" y="0"/>
                  <a:pt x="5619750" y="34116"/>
                  <a:pt x="5619750" y="76199"/>
                </a:cubicBezTo>
                <a:lnTo>
                  <a:pt x="5619750" y="1095376"/>
                </a:lnTo>
                <a:cubicBezTo>
                  <a:pt x="5619750" y="1137459"/>
                  <a:pt x="5585634" y="1171575"/>
                  <a:pt x="5543551" y="1171575"/>
                </a:cubicBezTo>
                <a:lnTo>
                  <a:pt x="0" y="1171575"/>
                </a:lnTo>
                <a:lnTo>
                  <a:pt x="0" y="0"/>
                </a:lnTo>
                <a:close/>
              </a:path>
            </a:pathLst>
          </a:custGeom>
          <a:solidFill>
            <a:srgbClr val="6B8E6E">
              <a:alpha val="10196"/>
            </a:srgbClr>
          </a:solidFill>
          <a:ln/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191250" y="2657475"/>
            <a:ext cx="38100" cy="1171575"/>
          </a:xfrm>
          <a:custGeom>
            <a:avLst/>
            <a:gdLst/>
            <a:ahLst/>
            <a:cxnLst/>
            <a:rect l="l" t="t" r="r" b="b"/>
            <a:pathLst>
              <a:path w="38100" h="1171575">
                <a:moveTo>
                  <a:pt x="0" y="0"/>
                </a:moveTo>
                <a:lnTo>
                  <a:pt x="38100" y="0"/>
                </a:lnTo>
                <a:lnTo>
                  <a:pt x="38100" y="1171575"/>
                </a:lnTo>
                <a:lnTo>
                  <a:pt x="0" y="1171575"/>
                </a:lnTo>
                <a:lnTo>
                  <a:pt x="0" y="0"/>
                </a:ln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362700" y="292893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329363" y="2928938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81800" y="2947988"/>
            <a:ext cx="184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Government Support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62700" y="3309938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40-50% subsidies, NABARD financing aligned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91250" y="3981450"/>
            <a:ext cx="5619750" cy="1171575"/>
          </a:xfrm>
          <a:custGeom>
            <a:avLst/>
            <a:gdLst/>
            <a:ahLst/>
            <a:cxnLst/>
            <a:rect l="l" t="t" r="r" b="b"/>
            <a:pathLst>
              <a:path w="5619750" h="1171575">
                <a:moveTo>
                  <a:pt x="0" y="0"/>
                </a:moveTo>
                <a:lnTo>
                  <a:pt x="5543551" y="0"/>
                </a:lnTo>
                <a:cubicBezTo>
                  <a:pt x="5585634" y="0"/>
                  <a:pt x="5619750" y="34116"/>
                  <a:pt x="5619750" y="76199"/>
                </a:cubicBezTo>
                <a:lnTo>
                  <a:pt x="5619750" y="1095376"/>
                </a:lnTo>
                <a:cubicBezTo>
                  <a:pt x="5619750" y="1137459"/>
                  <a:pt x="5585634" y="1171575"/>
                  <a:pt x="5543551" y="1171575"/>
                </a:cubicBezTo>
                <a:lnTo>
                  <a:pt x="0" y="1171575"/>
                </a:lnTo>
                <a:lnTo>
                  <a:pt x="0" y="0"/>
                </a:lnTo>
                <a:close/>
              </a:path>
            </a:pathLst>
          </a:custGeom>
          <a:solidFill>
            <a:srgbClr val="6B8E6E">
              <a:alpha val="10196"/>
            </a:srgbClr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6191250" y="3981450"/>
            <a:ext cx="38100" cy="1171575"/>
          </a:xfrm>
          <a:custGeom>
            <a:avLst/>
            <a:gdLst/>
            <a:ahLst/>
            <a:cxnLst/>
            <a:rect l="l" t="t" r="r" b="b"/>
            <a:pathLst>
              <a:path w="38100" h="1171575">
                <a:moveTo>
                  <a:pt x="0" y="0"/>
                </a:moveTo>
                <a:lnTo>
                  <a:pt x="38100" y="0"/>
                </a:lnTo>
                <a:lnTo>
                  <a:pt x="38100" y="1171575"/>
                </a:lnTo>
                <a:lnTo>
                  <a:pt x="0" y="1171575"/>
                </a:lnTo>
                <a:lnTo>
                  <a:pt x="0" y="0"/>
                </a:ln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6362700" y="42529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329363" y="4252913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2E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781800" y="4271963"/>
            <a:ext cx="141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Model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62700" y="4633913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SaaS + Marketplace + Data monetization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91250" y="5305425"/>
            <a:ext cx="5619750" cy="1171575"/>
          </a:xfrm>
          <a:custGeom>
            <a:avLst/>
            <a:gdLst/>
            <a:ahLst/>
            <a:cxnLst/>
            <a:rect l="l" t="t" r="r" b="b"/>
            <a:pathLst>
              <a:path w="5619750" h="1171575">
                <a:moveTo>
                  <a:pt x="0" y="0"/>
                </a:moveTo>
                <a:lnTo>
                  <a:pt x="5543551" y="0"/>
                </a:lnTo>
                <a:cubicBezTo>
                  <a:pt x="5585634" y="0"/>
                  <a:pt x="5619750" y="34116"/>
                  <a:pt x="5619750" y="76199"/>
                </a:cubicBezTo>
                <a:lnTo>
                  <a:pt x="5619750" y="1095376"/>
                </a:lnTo>
                <a:cubicBezTo>
                  <a:pt x="5619750" y="1137459"/>
                  <a:pt x="5585634" y="1171575"/>
                  <a:pt x="5543551" y="1171575"/>
                </a:cubicBezTo>
                <a:lnTo>
                  <a:pt x="0" y="1171575"/>
                </a:lnTo>
                <a:lnTo>
                  <a:pt x="0" y="0"/>
                </a:lnTo>
                <a:close/>
              </a:path>
            </a:pathLst>
          </a:custGeom>
          <a:solidFill>
            <a:srgbClr val="6B8E6E">
              <a:alpha val="10196"/>
            </a:srgbClr>
          </a:solidFill>
          <a:ln/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6191250" y="5305425"/>
            <a:ext cx="38100" cy="1171575"/>
          </a:xfrm>
          <a:custGeom>
            <a:avLst/>
            <a:gdLst/>
            <a:ahLst/>
            <a:cxnLst/>
            <a:rect l="l" t="t" r="r" b="b"/>
            <a:pathLst>
              <a:path w="38100" h="1171575">
                <a:moveTo>
                  <a:pt x="0" y="0"/>
                </a:moveTo>
                <a:lnTo>
                  <a:pt x="38100" y="0"/>
                </a:lnTo>
                <a:lnTo>
                  <a:pt x="38100" y="1171575"/>
                </a:lnTo>
                <a:lnTo>
                  <a:pt x="0" y="1171575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6362700" y="557688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329363" y="5576888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2E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781800" y="5595938"/>
            <a:ext cx="139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Investment Ask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62700" y="5957888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₹2.50 Cr seed for ₹88 Cr Year 5 revenue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45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45624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Big Picture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2376488"/>
            <a:ext cx="4486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Mushroom Mandi?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2871788"/>
            <a:ext cx="44672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comprehensive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software + hardware platform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helps mushroom farmers monitor and automate growing operations using sensors, cloud computing, and mobile apps.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38814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B8E6E">
              <a:alpha val="20000"/>
            </a:srgbClr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95300" y="399573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056" y="0"/>
                </a:moveTo>
                <a:cubicBezTo>
                  <a:pt x="115074" y="0"/>
                  <a:pt x="152400" y="37326"/>
                  <a:pt x="152400" y="83344"/>
                </a:cubicBezTo>
                <a:cubicBezTo>
                  <a:pt x="152400" y="87303"/>
                  <a:pt x="149215" y="90488"/>
                  <a:pt x="145256" y="90488"/>
                </a:cubicBezTo>
                <a:cubicBezTo>
                  <a:pt x="141297" y="90488"/>
                  <a:pt x="138113" y="87303"/>
                  <a:pt x="138113" y="83344"/>
                </a:cubicBezTo>
                <a:cubicBezTo>
                  <a:pt x="138113" y="45214"/>
                  <a:pt x="107186" y="14288"/>
                  <a:pt x="69056" y="14288"/>
                </a:cubicBezTo>
                <a:cubicBezTo>
                  <a:pt x="65097" y="14288"/>
                  <a:pt x="61912" y="11103"/>
                  <a:pt x="61912" y="7144"/>
                </a:cubicBezTo>
                <a:cubicBezTo>
                  <a:pt x="61912" y="3185"/>
                  <a:pt x="65097" y="0"/>
                  <a:pt x="69056" y="0"/>
                </a:cubicBezTo>
                <a:close/>
                <a:moveTo>
                  <a:pt x="61912" y="35719"/>
                </a:moveTo>
                <a:cubicBezTo>
                  <a:pt x="61912" y="31760"/>
                  <a:pt x="65097" y="28575"/>
                  <a:pt x="69056" y="28575"/>
                </a:cubicBezTo>
                <a:cubicBezTo>
                  <a:pt x="99298" y="28575"/>
                  <a:pt x="123825" y="53102"/>
                  <a:pt x="123825" y="83344"/>
                </a:cubicBezTo>
                <a:cubicBezTo>
                  <a:pt x="123825" y="87303"/>
                  <a:pt x="120640" y="90488"/>
                  <a:pt x="116681" y="90488"/>
                </a:cubicBezTo>
                <a:cubicBezTo>
                  <a:pt x="112722" y="90488"/>
                  <a:pt x="109537" y="87303"/>
                  <a:pt x="109537" y="83344"/>
                </a:cubicBezTo>
                <a:cubicBezTo>
                  <a:pt x="109537" y="60990"/>
                  <a:pt x="91410" y="42863"/>
                  <a:pt x="69056" y="42863"/>
                </a:cubicBezTo>
                <a:cubicBezTo>
                  <a:pt x="65097" y="42863"/>
                  <a:pt x="61912" y="39678"/>
                  <a:pt x="61912" y="35719"/>
                </a:cubicBezTo>
                <a:close/>
                <a:moveTo>
                  <a:pt x="7858" y="42476"/>
                </a:moveTo>
                <a:cubicBezTo>
                  <a:pt x="10478" y="37147"/>
                  <a:pt x="17502" y="36552"/>
                  <a:pt x="21699" y="40749"/>
                </a:cubicBezTo>
                <a:lnTo>
                  <a:pt x="59948" y="78998"/>
                </a:lnTo>
                <a:lnTo>
                  <a:pt x="69473" y="69473"/>
                </a:lnTo>
                <a:cubicBezTo>
                  <a:pt x="73194" y="65752"/>
                  <a:pt x="79236" y="65752"/>
                  <a:pt x="82957" y="69473"/>
                </a:cubicBezTo>
                <a:cubicBezTo>
                  <a:pt x="86678" y="73194"/>
                  <a:pt x="86678" y="79236"/>
                  <a:pt x="82957" y="82957"/>
                </a:cubicBezTo>
                <a:lnTo>
                  <a:pt x="73432" y="92482"/>
                </a:lnTo>
                <a:lnTo>
                  <a:pt x="111681" y="130731"/>
                </a:lnTo>
                <a:cubicBezTo>
                  <a:pt x="115878" y="134928"/>
                  <a:pt x="115253" y="141923"/>
                  <a:pt x="109954" y="144572"/>
                </a:cubicBezTo>
                <a:cubicBezTo>
                  <a:pt x="99774" y="149602"/>
                  <a:pt x="88344" y="152430"/>
                  <a:pt x="76230" y="152430"/>
                </a:cubicBezTo>
                <a:cubicBezTo>
                  <a:pt x="34141" y="152430"/>
                  <a:pt x="30" y="118318"/>
                  <a:pt x="30" y="76230"/>
                </a:cubicBezTo>
                <a:cubicBezTo>
                  <a:pt x="30" y="64115"/>
                  <a:pt x="2857" y="52655"/>
                  <a:pt x="7888" y="42505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76300" y="3843338"/>
            <a:ext cx="2952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IoT Monitoring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6300" y="4071938"/>
            <a:ext cx="2943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sensors for temperature, humidity, CO2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44529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85775" y="456723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0" y="100013"/>
                </a:moveTo>
                <a:cubicBezTo>
                  <a:pt x="0" y="123676"/>
                  <a:pt x="19199" y="142875"/>
                  <a:pt x="42863" y="142875"/>
                </a:cubicBezTo>
                <a:lnTo>
                  <a:pt x="133350" y="142875"/>
                </a:lnTo>
                <a:cubicBezTo>
                  <a:pt x="154394" y="142875"/>
                  <a:pt x="171450" y="125819"/>
                  <a:pt x="171450" y="104775"/>
                </a:cubicBezTo>
                <a:cubicBezTo>
                  <a:pt x="171450" y="89416"/>
                  <a:pt x="162371" y="76170"/>
                  <a:pt x="149275" y="70158"/>
                </a:cubicBezTo>
                <a:cubicBezTo>
                  <a:pt x="151269" y="66258"/>
                  <a:pt x="152400" y="61823"/>
                  <a:pt x="152400" y="57150"/>
                </a:cubicBezTo>
                <a:cubicBezTo>
                  <a:pt x="152400" y="41374"/>
                  <a:pt x="139601" y="28575"/>
                  <a:pt x="123825" y="28575"/>
                </a:cubicBezTo>
                <a:cubicBezTo>
                  <a:pt x="118556" y="28575"/>
                  <a:pt x="113645" y="30004"/>
                  <a:pt x="109418" y="32474"/>
                </a:cubicBezTo>
                <a:cubicBezTo>
                  <a:pt x="102245" y="18842"/>
                  <a:pt x="87928" y="9525"/>
                  <a:pt x="71438" y="9525"/>
                </a:cubicBezTo>
                <a:cubicBezTo>
                  <a:pt x="47774" y="9525"/>
                  <a:pt x="28575" y="28724"/>
                  <a:pt x="28575" y="52388"/>
                </a:cubicBezTo>
                <a:cubicBezTo>
                  <a:pt x="28575" y="54769"/>
                  <a:pt x="28783" y="57120"/>
                  <a:pt x="29141" y="59382"/>
                </a:cubicBezTo>
                <a:cubicBezTo>
                  <a:pt x="12204" y="65097"/>
                  <a:pt x="0" y="81141"/>
                  <a:pt x="0" y="100013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76300" y="4414838"/>
            <a:ext cx="2543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Platform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76300" y="4643438"/>
            <a:ext cx="2533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Centralized data, analytics, and automation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00" y="50244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9C46A">
              <a:alpha val="20000"/>
            </a:srgbClr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14350" y="5138738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4763" y="19050"/>
                </a:moveTo>
                <a:cubicBezTo>
                  <a:pt x="4763" y="8543"/>
                  <a:pt x="13305" y="0"/>
                  <a:pt x="23813" y="0"/>
                </a:cubicBezTo>
                <a:lnTo>
                  <a:pt x="90488" y="0"/>
                </a:lnTo>
                <a:cubicBezTo>
                  <a:pt x="100995" y="0"/>
                  <a:pt x="109537" y="8543"/>
                  <a:pt x="109537" y="19050"/>
                </a:cubicBezTo>
                <a:lnTo>
                  <a:pt x="109537" y="133350"/>
                </a:lnTo>
                <a:cubicBezTo>
                  <a:pt x="109537" y="143857"/>
                  <a:pt x="100995" y="152400"/>
                  <a:pt x="90488" y="152400"/>
                </a:cubicBezTo>
                <a:lnTo>
                  <a:pt x="23813" y="152400"/>
                </a:lnTo>
                <a:cubicBezTo>
                  <a:pt x="13305" y="152400"/>
                  <a:pt x="4763" y="143857"/>
                  <a:pt x="4763" y="133350"/>
                </a:cubicBezTo>
                <a:lnTo>
                  <a:pt x="4763" y="19050"/>
                </a:lnTo>
                <a:close/>
                <a:moveTo>
                  <a:pt x="23813" y="19050"/>
                </a:moveTo>
                <a:lnTo>
                  <a:pt x="23813" y="109537"/>
                </a:lnTo>
                <a:lnTo>
                  <a:pt x="90488" y="109537"/>
                </a:lnTo>
                <a:lnTo>
                  <a:pt x="90488" y="19050"/>
                </a:lnTo>
                <a:lnTo>
                  <a:pt x="23813" y="19050"/>
                </a:lnTo>
                <a:close/>
                <a:moveTo>
                  <a:pt x="57150" y="140494"/>
                </a:moveTo>
                <a:cubicBezTo>
                  <a:pt x="62419" y="140494"/>
                  <a:pt x="66675" y="136237"/>
                  <a:pt x="66675" y="130969"/>
                </a:cubicBezTo>
                <a:cubicBezTo>
                  <a:pt x="66675" y="125700"/>
                  <a:pt x="62419" y="121444"/>
                  <a:pt x="57150" y="121444"/>
                </a:cubicBezTo>
                <a:cubicBezTo>
                  <a:pt x="51881" y="121444"/>
                  <a:pt x="47625" y="125700"/>
                  <a:pt x="47625" y="130969"/>
                </a:cubicBezTo>
                <a:cubicBezTo>
                  <a:pt x="47625" y="136237"/>
                  <a:pt x="51881" y="140494"/>
                  <a:pt x="57150" y="140494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76300" y="4986338"/>
            <a:ext cx="2085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Access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76300" y="5214938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Progressive web app, works offline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78730" y="384810"/>
            <a:ext cx="6732270" cy="4627245"/>
          </a:xfrm>
          <a:custGeom>
            <a:avLst/>
            <a:gdLst/>
            <a:ahLst/>
            <a:cxnLst/>
            <a:rect l="l" t="t" r="r" b="b"/>
            <a:pathLst>
              <a:path w="6732270" h="4627245">
                <a:moveTo>
                  <a:pt x="114293" y="0"/>
                </a:moveTo>
                <a:lnTo>
                  <a:pt x="6617977" y="0"/>
                </a:lnTo>
                <a:cubicBezTo>
                  <a:pt x="6681099" y="0"/>
                  <a:pt x="6732270" y="51171"/>
                  <a:pt x="6732270" y="114293"/>
                </a:cubicBezTo>
                <a:lnTo>
                  <a:pt x="6732270" y="4512952"/>
                </a:lnTo>
                <a:cubicBezTo>
                  <a:pt x="6732270" y="4576074"/>
                  <a:pt x="6681099" y="4627245"/>
                  <a:pt x="6617977" y="4627245"/>
                </a:cubicBezTo>
                <a:lnTo>
                  <a:pt x="114293" y="4627245"/>
                </a:lnTo>
                <a:cubicBezTo>
                  <a:pt x="51171" y="4627245"/>
                  <a:pt x="0" y="4576074"/>
                  <a:pt x="0" y="451295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311140" y="1383031"/>
            <a:ext cx="633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EVOLUTION ROADMAP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11140" y="172593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268278" y="1725931"/>
            <a:ext cx="5429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20740" y="1744981"/>
            <a:ext cx="511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Sensor Network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20740" y="1973581"/>
            <a:ext cx="510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 farms, data collection begins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108651" y="1859281"/>
            <a:ext cx="533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 1-2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11140" y="233553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268278" y="2335531"/>
            <a:ext cx="5429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2E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920740" y="2354581"/>
            <a:ext cx="508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Intelligence Layer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920740" y="2583181"/>
            <a:ext cx="507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Yield optimization algorithms, benchmarking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079599" y="2468881"/>
            <a:ext cx="56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 2-3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311140" y="294513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268278" y="2945131"/>
            <a:ext cx="5429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2E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20740" y="2964181"/>
            <a:ext cx="508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Marketplace Launch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920740" y="3192781"/>
            <a:ext cx="507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B2B connect: farms ↔ suppliers ↔ consultants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079718" y="3078481"/>
            <a:ext cx="56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 3-4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311140" y="355473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9C46A">
              <a:alpha val="80000"/>
            </a:srgbClr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268278" y="3554731"/>
            <a:ext cx="5429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2E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920740" y="3573781"/>
            <a:ext cx="508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Ecosystem Dominance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920740" y="3802381"/>
            <a:ext cx="507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10,000 stakeholders, financing, insurance, exports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079361" y="3688081"/>
            <a:ext cx="56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 4-5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078730" y="5246371"/>
            <a:ext cx="6732270" cy="1226820"/>
          </a:xfrm>
          <a:custGeom>
            <a:avLst/>
            <a:gdLst/>
            <a:ahLst/>
            <a:cxnLst/>
            <a:rect l="l" t="t" r="r" b="b"/>
            <a:pathLst>
              <a:path w="6732270" h="1226820">
                <a:moveTo>
                  <a:pt x="114303" y="0"/>
                </a:moveTo>
                <a:lnTo>
                  <a:pt x="6617967" y="0"/>
                </a:lnTo>
                <a:cubicBezTo>
                  <a:pt x="6681095" y="0"/>
                  <a:pt x="6732270" y="51175"/>
                  <a:pt x="6732270" y="114303"/>
                </a:cubicBezTo>
                <a:lnTo>
                  <a:pt x="6732270" y="1112517"/>
                </a:lnTo>
                <a:cubicBezTo>
                  <a:pt x="6732270" y="1175603"/>
                  <a:pt x="6681053" y="1226820"/>
                  <a:pt x="6617967" y="1226820"/>
                </a:cubicBezTo>
                <a:lnTo>
                  <a:pt x="114303" y="1226820"/>
                </a:lnTo>
                <a:cubicBezTo>
                  <a:pt x="51175" y="1226820"/>
                  <a:pt x="0" y="1175645"/>
                  <a:pt x="0" y="11125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rotWithShape="1" flip="none">
            <a:gsLst>
              <a:gs pos="0">
                <a:srgbClr val="E9C46A">
                  <a:alpha val="20000"/>
                </a:srgbClr>
              </a:gs>
              <a:gs pos="100000">
                <a:srgbClr val="D4A373">
                  <a:alpha val="20000"/>
                </a:srgbClr>
              </a:gs>
            </a:gsLst>
            <a:lin ang="0" scaled="1"/>
          </a:gradFill>
          <a:ln w="10160">
            <a:solidFill>
              <a:srgbClr val="E9C46A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273040" y="5440680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BY YEAR 5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273040" y="5669280"/>
            <a:ext cx="1781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10,000+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273040" y="6050280"/>
            <a:ext cx="1685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Stakeholders Connected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372606" y="5554980"/>
            <a:ext cx="1238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₹88 Cr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467856" y="59359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Revenue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OPPORTUNITY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India's Mushroom Economy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High-Growth Market Ready for Disruption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527810"/>
            <a:ext cx="3703320" cy="1188720"/>
          </a:xfrm>
          <a:custGeom>
            <a:avLst/>
            <a:gdLst/>
            <a:ahLst/>
            <a:cxnLst/>
            <a:rect l="l" t="t" r="r" b="b"/>
            <a:pathLst>
              <a:path w="3703320" h="1188720">
                <a:moveTo>
                  <a:pt x="114295" y="0"/>
                </a:moveTo>
                <a:lnTo>
                  <a:pt x="3589025" y="0"/>
                </a:lnTo>
                <a:cubicBezTo>
                  <a:pt x="3652106" y="0"/>
                  <a:pt x="3703320" y="51214"/>
                  <a:pt x="3703320" y="114295"/>
                </a:cubicBezTo>
                <a:lnTo>
                  <a:pt x="3703320" y="1074425"/>
                </a:lnTo>
                <a:cubicBezTo>
                  <a:pt x="3703320" y="1137548"/>
                  <a:pt x="3652148" y="1188720"/>
                  <a:pt x="3589025" y="1188720"/>
                </a:cubicBezTo>
                <a:lnTo>
                  <a:pt x="114295" y="1188720"/>
                </a:lnTo>
                <a:cubicBezTo>
                  <a:pt x="51214" y="1188720"/>
                  <a:pt x="0" y="1137506"/>
                  <a:pt x="0" y="107442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7682" y="1684020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Size 2025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5295" y="1950720"/>
            <a:ext cx="3562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$1.58B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7682" y="2369820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Billion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45531" y="1527810"/>
            <a:ext cx="3703320" cy="1188720"/>
          </a:xfrm>
          <a:custGeom>
            <a:avLst/>
            <a:gdLst/>
            <a:ahLst/>
            <a:cxnLst/>
            <a:rect l="l" t="t" r="r" b="b"/>
            <a:pathLst>
              <a:path w="3703320" h="1188720">
                <a:moveTo>
                  <a:pt x="114295" y="0"/>
                </a:moveTo>
                <a:lnTo>
                  <a:pt x="3589025" y="0"/>
                </a:lnTo>
                <a:cubicBezTo>
                  <a:pt x="3652106" y="0"/>
                  <a:pt x="3703320" y="51214"/>
                  <a:pt x="3703320" y="114295"/>
                </a:cubicBezTo>
                <a:lnTo>
                  <a:pt x="3703320" y="1074425"/>
                </a:lnTo>
                <a:cubicBezTo>
                  <a:pt x="3703320" y="1137548"/>
                  <a:pt x="3652148" y="1188720"/>
                  <a:pt x="3589025" y="1188720"/>
                </a:cubicBezTo>
                <a:lnTo>
                  <a:pt x="114295" y="1188720"/>
                </a:lnTo>
                <a:cubicBezTo>
                  <a:pt x="51214" y="1188720"/>
                  <a:pt x="0" y="1137506"/>
                  <a:pt x="0" y="107442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0160">
            <a:solidFill>
              <a:srgbClr val="D4A373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368403" y="1684020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Projected 2035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16016" y="1950720"/>
            <a:ext cx="3562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$5.29B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68403" y="2369820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Billion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06371" y="1527810"/>
            <a:ext cx="3703320" cy="1188720"/>
          </a:xfrm>
          <a:custGeom>
            <a:avLst/>
            <a:gdLst/>
            <a:ahLst/>
            <a:cxnLst/>
            <a:rect l="l" t="t" r="r" b="b"/>
            <a:pathLst>
              <a:path w="3703320" h="1188720">
                <a:moveTo>
                  <a:pt x="114295" y="0"/>
                </a:moveTo>
                <a:lnTo>
                  <a:pt x="3589025" y="0"/>
                </a:lnTo>
                <a:cubicBezTo>
                  <a:pt x="3652106" y="0"/>
                  <a:pt x="3703320" y="51214"/>
                  <a:pt x="3703320" y="114295"/>
                </a:cubicBezTo>
                <a:lnTo>
                  <a:pt x="3703320" y="1074425"/>
                </a:lnTo>
                <a:cubicBezTo>
                  <a:pt x="3703320" y="1137548"/>
                  <a:pt x="3652148" y="1188720"/>
                  <a:pt x="3589025" y="1188720"/>
                </a:cubicBezTo>
                <a:lnTo>
                  <a:pt x="114295" y="1188720"/>
                </a:lnTo>
                <a:cubicBezTo>
                  <a:pt x="51214" y="1188720"/>
                  <a:pt x="0" y="1137506"/>
                  <a:pt x="0" y="107442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E9C46A">
              <a:alpha val="10196"/>
            </a:srgbClr>
          </a:solidFill>
          <a:ln w="10160">
            <a:solidFill>
              <a:srgbClr val="E9C46A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243" y="1684020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CAGR 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76856" y="1950720"/>
            <a:ext cx="3562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12.84%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243" y="2369820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Growth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4810" y="2876551"/>
            <a:ext cx="5627370" cy="2522220"/>
          </a:xfrm>
          <a:custGeom>
            <a:avLst/>
            <a:gdLst/>
            <a:ahLst/>
            <a:cxnLst/>
            <a:rect l="l" t="t" r="r" b="b"/>
            <a:pathLst>
              <a:path w="5627370" h="2522220">
                <a:moveTo>
                  <a:pt x="114307" y="0"/>
                </a:moveTo>
                <a:lnTo>
                  <a:pt x="5513063" y="0"/>
                </a:lnTo>
                <a:cubicBezTo>
                  <a:pt x="5576193" y="0"/>
                  <a:pt x="5627370" y="51177"/>
                  <a:pt x="5627370" y="114307"/>
                </a:cubicBezTo>
                <a:lnTo>
                  <a:pt x="5627370" y="2407913"/>
                </a:lnTo>
                <a:cubicBezTo>
                  <a:pt x="5627370" y="2471043"/>
                  <a:pt x="5576193" y="2522220"/>
                  <a:pt x="5513063" y="2522220"/>
                </a:cubicBezTo>
                <a:lnTo>
                  <a:pt x="114307" y="2522220"/>
                </a:lnTo>
                <a:cubicBezTo>
                  <a:pt x="51219" y="2522220"/>
                  <a:pt x="0" y="2471001"/>
                  <a:pt x="0" y="240791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1020" y="3032761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STATISTICS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1020" y="3337561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Production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71098" y="3337561"/>
            <a:ext cx="962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487,000+ MT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1020" y="3680461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Share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57493" y="3680461"/>
            <a:ext cx="276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1020" y="4023361"/>
            <a:ext cx="131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Commercial Farms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01866" y="4023361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1,000+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1020" y="4366261"/>
            <a:ext cx="1133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Spawn Demand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38794" y="4366261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8,000-10,000 MT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76010" y="2876551"/>
            <a:ext cx="5627370" cy="2522220"/>
          </a:xfrm>
          <a:custGeom>
            <a:avLst/>
            <a:gdLst/>
            <a:ahLst/>
            <a:cxnLst/>
            <a:rect l="l" t="t" r="r" b="b"/>
            <a:pathLst>
              <a:path w="5627370" h="2522220">
                <a:moveTo>
                  <a:pt x="114307" y="0"/>
                </a:moveTo>
                <a:lnTo>
                  <a:pt x="5513063" y="0"/>
                </a:lnTo>
                <a:cubicBezTo>
                  <a:pt x="5576193" y="0"/>
                  <a:pt x="5627370" y="51177"/>
                  <a:pt x="5627370" y="114307"/>
                </a:cubicBezTo>
                <a:lnTo>
                  <a:pt x="5627370" y="2407913"/>
                </a:lnTo>
                <a:cubicBezTo>
                  <a:pt x="5627370" y="2471043"/>
                  <a:pt x="5576193" y="2522220"/>
                  <a:pt x="5513063" y="2522220"/>
                </a:cubicBezTo>
                <a:lnTo>
                  <a:pt x="114307" y="2522220"/>
                </a:lnTo>
                <a:cubicBezTo>
                  <a:pt x="51219" y="2522220"/>
                  <a:pt x="0" y="2471001"/>
                  <a:pt x="0" y="240791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332220" y="3032761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PRODUCING STATES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32220" y="339471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298882" y="3394711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2E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51320" y="3337561"/>
            <a:ext cx="409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Bihar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180564" y="3337561"/>
            <a:ext cx="542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10.82%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51320" y="3566161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28,000+ MT annually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32220" y="389001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298882" y="3890011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2E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51320" y="3832861"/>
            <a:ext cx="89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Maharashtra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237119" y="3832861"/>
            <a:ext cx="48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9.89%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51320" y="4061461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Button &amp; Shiitake focus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32220" y="438531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298882" y="4385311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51320" y="4328161"/>
            <a:ext cx="542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Odisha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231642" y="4328161"/>
            <a:ext cx="495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8E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9.0%+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51320" y="4556761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Oyster &amp; Cremini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32220" y="488061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8E6E">
              <a:alpha val="60000"/>
            </a:srgbClr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298882" y="4880611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751320" y="4823461"/>
            <a:ext cx="523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Punjab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825639" y="4823461"/>
            <a:ext cx="904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8E6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45K-48K MT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751320" y="5052061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~400 producers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00050" y="5554980"/>
            <a:ext cx="11410950" cy="685800"/>
          </a:xfrm>
          <a:custGeom>
            <a:avLst/>
            <a:gdLst/>
            <a:ahLst/>
            <a:cxnLst/>
            <a:rect l="l" t="t" r="r" b="b"/>
            <a:pathLst>
              <a:path w="11410950" h="685800">
                <a:moveTo>
                  <a:pt x="0" y="0"/>
                </a:moveTo>
                <a:lnTo>
                  <a:pt x="11334751" y="0"/>
                </a:lnTo>
                <a:cubicBezTo>
                  <a:pt x="11376834" y="0"/>
                  <a:pt x="11410950" y="34116"/>
                  <a:pt x="11410950" y="76199"/>
                </a:cubicBezTo>
                <a:lnTo>
                  <a:pt x="11410950" y="609601"/>
                </a:lnTo>
                <a:cubicBezTo>
                  <a:pt x="11410950" y="651684"/>
                  <a:pt x="11376834" y="685800"/>
                  <a:pt x="11334751" y="685800"/>
                </a:cubicBez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9C46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400050" y="555498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552450" y="569976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781050" y="5669280"/>
            <a:ext cx="10991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Driver: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Rising health consciousness and demand for protein-rich, low-calorie foods is fueling 20% annual growth in India's healthy food sector, expected to reach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$30 billion by 2026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Inefficiency Crisis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Indian Mushroom Farms Face Critical Challenges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527810"/>
            <a:ext cx="5627370" cy="1531620"/>
          </a:xfrm>
          <a:custGeom>
            <a:avLst/>
            <a:gdLst/>
            <a:ahLst/>
            <a:cxnLst/>
            <a:rect l="l" t="t" r="r" b="b"/>
            <a:pathLst>
              <a:path w="5627370" h="1531620">
                <a:moveTo>
                  <a:pt x="114305" y="0"/>
                </a:moveTo>
                <a:lnTo>
                  <a:pt x="5513065" y="0"/>
                </a:lnTo>
                <a:cubicBezTo>
                  <a:pt x="5576194" y="0"/>
                  <a:pt x="5627370" y="51176"/>
                  <a:pt x="5627370" y="114305"/>
                </a:cubicBezTo>
                <a:lnTo>
                  <a:pt x="5627370" y="1417315"/>
                </a:lnTo>
                <a:cubicBezTo>
                  <a:pt x="5627370" y="1480444"/>
                  <a:pt x="5576194" y="1531620"/>
                  <a:pt x="5513065" y="1531620"/>
                </a:cubicBezTo>
                <a:lnTo>
                  <a:pt x="114305" y="1531620"/>
                </a:lnTo>
                <a:cubicBezTo>
                  <a:pt x="51218" y="1531620"/>
                  <a:pt x="0" y="1480402"/>
                  <a:pt x="0" y="141731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gradFill rotWithShape="1" flip="none">
            <a:gsLst>
              <a:gs pos="0">
                <a:srgbClr val="E9C46A">
                  <a:alpha val="20000"/>
                </a:srgbClr>
              </a:gs>
              <a:gs pos="100000">
                <a:srgbClr val="E9C46A">
                  <a:alpha val="5000"/>
                </a:srgbClr>
              </a:gs>
            </a:gsLst>
            <a:lin ang="2700000" scaled="1"/>
          </a:gradFill>
          <a:ln w="10160">
            <a:solidFill>
              <a:srgbClr val="E9C46A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1020" y="16840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64845" y="183642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14300" y="-14287"/>
                </a:moveTo>
                <a:cubicBezTo>
                  <a:pt x="120238" y="-14287"/>
                  <a:pt x="125016" y="-9510"/>
                  <a:pt x="125016" y="-3572"/>
                </a:cubicBezTo>
                <a:lnTo>
                  <a:pt x="125016" y="1339"/>
                </a:lnTo>
                <a:cubicBezTo>
                  <a:pt x="128855" y="2322"/>
                  <a:pt x="132561" y="3840"/>
                  <a:pt x="136088" y="5938"/>
                </a:cubicBezTo>
                <a:lnTo>
                  <a:pt x="138857" y="3125"/>
                </a:lnTo>
                <a:cubicBezTo>
                  <a:pt x="143054" y="-1072"/>
                  <a:pt x="149840" y="-1072"/>
                  <a:pt x="153992" y="3125"/>
                </a:cubicBezTo>
                <a:cubicBezTo>
                  <a:pt x="158145" y="7322"/>
                  <a:pt x="158189" y="14109"/>
                  <a:pt x="153992" y="18261"/>
                </a:cubicBezTo>
                <a:lnTo>
                  <a:pt x="151180" y="21074"/>
                </a:lnTo>
                <a:cubicBezTo>
                  <a:pt x="153233" y="24557"/>
                  <a:pt x="154751" y="28307"/>
                  <a:pt x="155778" y="32147"/>
                </a:cubicBezTo>
                <a:lnTo>
                  <a:pt x="160690" y="32147"/>
                </a:lnTo>
                <a:cubicBezTo>
                  <a:pt x="166628" y="32147"/>
                  <a:pt x="171405" y="36924"/>
                  <a:pt x="171405" y="42863"/>
                </a:cubicBezTo>
                <a:cubicBezTo>
                  <a:pt x="171405" y="48801"/>
                  <a:pt x="166628" y="53578"/>
                  <a:pt x="160690" y="53578"/>
                </a:cubicBezTo>
                <a:lnTo>
                  <a:pt x="155778" y="53578"/>
                </a:lnTo>
                <a:cubicBezTo>
                  <a:pt x="154796" y="57418"/>
                  <a:pt x="153278" y="61124"/>
                  <a:pt x="151180" y="64651"/>
                </a:cubicBezTo>
                <a:lnTo>
                  <a:pt x="154037" y="67419"/>
                </a:lnTo>
                <a:cubicBezTo>
                  <a:pt x="158234" y="71616"/>
                  <a:pt x="158234" y="78403"/>
                  <a:pt x="154037" y="82555"/>
                </a:cubicBezTo>
                <a:cubicBezTo>
                  <a:pt x="149840" y="86707"/>
                  <a:pt x="143054" y="86752"/>
                  <a:pt x="138901" y="82555"/>
                </a:cubicBezTo>
                <a:lnTo>
                  <a:pt x="137071" y="80724"/>
                </a:lnTo>
                <a:lnTo>
                  <a:pt x="123632" y="94164"/>
                </a:lnTo>
                <a:lnTo>
                  <a:pt x="125462" y="95994"/>
                </a:lnTo>
                <a:cubicBezTo>
                  <a:pt x="129659" y="100191"/>
                  <a:pt x="129659" y="106978"/>
                  <a:pt x="125462" y="111130"/>
                </a:cubicBezTo>
                <a:cubicBezTo>
                  <a:pt x="121265" y="115282"/>
                  <a:pt x="114479" y="115327"/>
                  <a:pt x="110326" y="111130"/>
                </a:cubicBezTo>
                <a:lnTo>
                  <a:pt x="108496" y="109299"/>
                </a:lnTo>
                <a:cubicBezTo>
                  <a:pt x="104031" y="113764"/>
                  <a:pt x="99566" y="118229"/>
                  <a:pt x="95057" y="122739"/>
                </a:cubicBezTo>
                <a:lnTo>
                  <a:pt x="96887" y="124569"/>
                </a:lnTo>
                <a:cubicBezTo>
                  <a:pt x="101084" y="128766"/>
                  <a:pt x="101084" y="135553"/>
                  <a:pt x="96887" y="139705"/>
                </a:cubicBezTo>
                <a:cubicBezTo>
                  <a:pt x="92690" y="143857"/>
                  <a:pt x="85904" y="143902"/>
                  <a:pt x="81751" y="139705"/>
                </a:cubicBezTo>
                <a:lnTo>
                  <a:pt x="78938" y="136892"/>
                </a:lnTo>
                <a:cubicBezTo>
                  <a:pt x="75456" y="138946"/>
                  <a:pt x="71705" y="140464"/>
                  <a:pt x="67866" y="141491"/>
                </a:cubicBezTo>
                <a:lnTo>
                  <a:pt x="67866" y="146402"/>
                </a:lnTo>
                <a:cubicBezTo>
                  <a:pt x="67866" y="152340"/>
                  <a:pt x="63088" y="157118"/>
                  <a:pt x="57150" y="157118"/>
                </a:cubicBezTo>
                <a:cubicBezTo>
                  <a:pt x="51212" y="157118"/>
                  <a:pt x="46434" y="152340"/>
                  <a:pt x="46434" y="146402"/>
                </a:cubicBezTo>
                <a:lnTo>
                  <a:pt x="46434" y="141491"/>
                </a:lnTo>
                <a:cubicBezTo>
                  <a:pt x="42595" y="140509"/>
                  <a:pt x="38889" y="138991"/>
                  <a:pt x="35362" y="136892"/>
                </a:cubicBezTo>
                <a:lnTo>
                  <a:pt x="32593" y="139750"/>
                </a:lnTo>
                <a:cubicBezTo>
                  <a:pt x="28396" y="143947"/>
                  <a:pt x="21610" y="143947"/>
                  <a:pt x="17458" y="139750"/>
                </a:cubicBezTo>
                <a:cubicBezTo>
                  <a:pt x="13305" y="135553"/>
                  <a:pt x="13261" y="128766"/>
                  <a:pt x="17458" y="124614"/>
                </a:cubicBezTo>
                <a:lnTo>
                  <a:pt x="20270" y="121801"/>
                </a:lnTo>
                <a:cubicBezTo>
                  <a:pt x="18217" y="118318"/>
                  <a:pt x="16699" y="114568"/>
                  <a:pt x="15672" y="110728"/>
                </a:cubicBezTo>
                <a:lnTo>
                  <a:pt x="10760" y="110728"/>
                </a:lnTo>
                <a:cubicBezTo>
                  <a:pt x="4822" y="110728"/>
                  <a:pt x="45" y="105951"/>
                  <a:pt x="45" y="100013"/>
                </a:cubicBezTo>
                <a:cubicBezTo>
                  <a:pt x="45" y="94074"/>
                  <a:pt x="4822" y="89297"/>
                  <a:pt x="10760" y="89297"/>
                </a:cubicBezTo>
                <a:lnTo>
                  <a:pt x="15672" y="89297"/>
                </a:lnTo>
                <a:cubicBezTo>
                  <a:pt x="16654" y="85457"/>
                  <a:pt x="18172" y="81751"/>
                  <a:pt x="20270" y="78224"/>
                </a:cubicBezTo>
                <a:lnTo>
                  <a:pt x="17413" y="75456"/>
                </a:lnTo>
                <a:cubicBezTo>
                  <a:pt x="13216" y="71259"/>
                  <a:pt x="13216" y="64472"/>
                  <a:pt x="17413" y="60320"/>
                </a:cubicBezTo>
                <a:cubicBezTo>
                  <a:pt x="21610" y="56168"/>
                  <a:pt x="28396" y="56123"/>
                  <a:pt x="32549" y="60320"/>
                </a:cubicBezTo>
                <a:lnTo>
                  <a:pt x="34379" y="62151"/>
                </a:lnTo>
                <a:cubicBezTo>
                  <a:pt x="38844" y="57686"/>
                  <a:pt x="43309" y="53221"/>
                  <a:pt x="47818" y="48711"/>
                </a:cubicBezTo>
                <a:lnTo>
                  <a:pt x="45988" y="46881"/>
                </a:lnTo>
                <a:cubicBezTo>
                  <a:pt x="41791" y="42684"/>
                  <a:pt x="41791" y="35897"/>
                  <a:pt x="45988" y="31745"/>
                </a:cubicBezTo>
                <a:cubicBezTo>
                  <a:pt x="50185" y="27593"/>
                  <a:pt x="56971" y="27548"/>
                  <a:pt x="61124" y="31745"/>
                </a:cubicBezTo>
                <a:lnTo>
                  <a:pt x="62954" y="33576"/>
                </a:lnTo>
                <a:lnTo>
                  <a:pt x="76393" y="20136"/>
                </a:lnTo>
                <a:lnTo>
                  <a:pt x="74563" y="18306"/>
                </a:lnTo>
                <a:cubicBezTo>
                  <a:pt x="70366" y="14109"/>
                  <a:pt x="70366" y="7322"/>
                  <a:pt x="74563" y="3170"/>
                </a:cubicBezTo>
                <a:cubicBezTo>
                  <a:pt x="78760" y="-982"/>
                  <a:pt x="85546" y="-1027"/>
                  <a:pt x="89743" y="3125"/>
                </a:cubicBezTo>
                <a:lnTo>
                  <a:pt x="92556" y="5938"/>
                </a:lnTo>
                <a:cubicBezTo>
                  <a:pt x="96039" y="3884"/>
                  <a:pt x="99789" y="2366"/>
                  <a:pt x="103629" y="1339"/>
                </a:cubicBezTo>
                <a:lnTo>
                  <a:pt x="103629" y="-3572"/>
                </a:lnTo>
                <a:cubicBezTo>
                  <a:pt x="103629" y="-9510"/>
                  <a:pt x="108406" y="-14287"/>
                  <a:pt x="114345" y="-14287"/>
                </a:cubicBezTo>
                <a:close/>
                <a:moveTo>
                  <a:pt x="57150" y="114300"/>
                </a:moveTo>
                <a:cubicBezTo>
                  <a:pt x="65035" y="114300"/>
                  <a:pt x="71438" y="107898"/>
                  <a:pt x="71438" y="100013"/>
                </a:cubicBezTo>
                <a:cubicBezTo>
                  <a:pt x="71438" y="92127"/>
                  <a:pt x="65035" y="85725"/>
                  <a:pt x="57150" y="85725"/>
                </a:cubicBezTo>
                <a:cubicBezTo>
                  <a:pt x="49265" y="85725"/>
                  <a:pt x="42863" y="92127"/>
                  <a:pt x="42863" y="100013"/>
                </a:cubicBezTo>
                <a:cubicBezTo>
                  <a:pt x="42863" y="107898"/>
                  <a:pt x="49265" y="114300"/>
                  <a:pt x="57150" y="114300"/>
                </a:cubicBezTo>
                <a:close/>
                <a:moveTo>
                  <a:pt x="107156" y="64294"/>
                </a:moveTo>
                <a:cubicBezTo>
                  <a:pt x="107156" y="56408"/>
                  <a:pt x="100754" y="50006"/>
                  <a:pt x="92869" y="50006"/>
                </a:cubicBezTo>
                <a:cubicBezTo>
                  <a:pt x="84983" y="50006"/>
                  <a:pt x="78581" y="56408"/>
                  <a:pt x="78581" y="64294"/>
                </a:cubicBezTo>
                <a:cubicBezTo>
                  <a:pt x="78581" y="72179"/>
                  <a:pt x="84983" y="78581"/>
                  <a:pt x="92869" y="78581"/>
                </a:cubicBezTo>
                <a:cubicBezTo>
                  <a:pt x="100754" y="78581"/>
                  <a:pt x="107156" y="72179"/>
                  <a:pt x="107156" y="64294"/>
                </a:cubicBezTo>
                <a:close/>
                <a:moveTo>
                  <a:pt x="239316" y="82153"/>
                </a:moveTo>
                <a:lnTo>
                  <a:pt x="239316" y="87064"/>
                </a:lnTo>
                <a:cubicBezTo>
                  <a:pt x="243155" y="88047"/>
                  <a:pt x="246861" y="89565"/>
                  <a:pt x="250388" y="91663"/>
                </a:cubicBezTo>
                <a:lnTo>
                  <a:pt x="253157" y="88850"/>
                </a:lnTo>
                <a:cubicBezTo>
                  <a:pt x="257354" y="84653"/>
                  <a:pt x="264140" y="84653"/>
                  <a:pt x="268292" y="88850"/>
                </a:cubicBezTo>
                <a:cubicBezTo>
                  <a:pt x="272445" y="93047"/>
                  <a:pt x="272489" y="99834"/>
                  <a:pt x="268292" y="103986"/>
                </a:cubicBezTo>
                <a:lnTo>
                  <a:pt x="265480" y="106799"/>
                </a:lnTo>
                <a:cubicBezTo>
                  <a:pt x="267533" y="110282"/>
                  <a:pt x="269051" y="114032"/>
                  <a:pt x="270078" y="117872"/>
                </a:cubicBezTo>
                <a:lnTo>
                  <a:pt x="274990" y="117872"/>
                </a:lnTo>
                <a:cubicBezTo>
                  <a:pt x="280928" y="117872"/>
                  <a:pt x="285705" y="122649"/>
                  <a:pt x="285705" y="128588"/>
                </a:cubicBezTo>
                <a:cubicBezTo>
                  <a:pt x="285705" y="134526"/>
                  <a:pt x="280928" y="139303"/>
                  <a:pt x="274990" y="139303"/>
                </a:cubicBezTo>
                <a:lnTo>
                  <a:pt x="270078" y="139303"/>
                </a:lnTo>
                <a:cubicBezTo>
                  <a:pt x="269096" y="143143"/>
                  <a:pt x="267578" y="146849"/>
                  <a:pt x="265480" y="150376"/>
                </a:cubicBezTo>
                <a:lnTo>
                  <a:pt x="268337" y="153144"/>
                </a:lnTo>
                <a:cubicBezTo>
                  <a:pt x="272534" y="157341"/>
                  <a:pt x="272534" y="164128"/>
                  <a:pt x="268337" y="168280"/>
                </a:cubicBezTo>
                <a:cubicBezTo>
                  <a:pt x="264140" y="172432"/>
                  <a:pt x="257354" y="172477"/>
                  <a:pt x="253201" y="168280"/>
                </a:cubicBezTo>
                <a:lnTo>
                  <a:pt x="251371" y="166449"/>
                </a:lnTo>
                <a:lnTo>
                  <a:pt x="237932" y="179889"/>
                </a:lnTo>
                <a:lnTo>
                  <a:pt x="239762" y="181719"/>
                </a:lnTo>
                <a:cubicBezTo>
                  <a:pt x="243959" y="185916"/>
                  <a:pt x="243959" y="192703"/>
                  <a:pt x="239762" y="196855"/>
                </a:cubicBezTo>
                <a:cubicBezTo>
                  <a:pt x="235565" y="201007"/>
                  <a:pt x="228779" y="201052"/>
                  <a:pt x="224626" y="196855"/>
                </a:cubicBezTo>
                <a:lnTo>
                  <a:pt x="222796" y="195024"/>
                </a:lnTo>
                <a:cubicBezTo>
                  <a:pt x="218331" y="199489"/>
                  <a:pt x="213866" y="203954"/>
                  <a:pt x="209357" y="208464"/>
                </a:cubicBezTo>
                <a:lnTo>
                  <a:pt x="211187" y="210294"/>
                </a:lnTo>
                <a:cubicBezTo>
                  <a:pt x="215384" y="214491"/>
                  <a:pt x="215384" y="221278"/>
                  <a:pt x="211187" y="225430"/>
                </a:cubicBezTo>
                <a:cubicBezTo>
                  <a:pt x="206990" y="229582"/>
                  <a:pt x="200204" y="229627"/>
                  <a:pt x="196051" y="225430"/>
                </a:cubicBezTo>
                <a:lnTo>
                  <a:pt x="193238" y="222617"/>
                </a:lnTo>
                <a:cubicBezTo>
                  <a:pt x="189756" y="224671"/>
                  <a:pt x="186005" y="226189"/>
                  <a:pt x="182166" y="227216"/>
                </a:cubicBezTo>
                <a:lnTo>
                  <a:pt x="182166" y="232127"/>
                </a:lnTo>
                <a:cubicBezTo>
                  <a:pt x="182166" y="238065"/>
                  <a:pt x="177388" y="242843"/>
                  <a:pt x="171450" y="242843"/>
                </a:cubicBezTo>
                <a:cubicBezTo>
                  <a:pt x="165512" y="242843"/>
                  <a:pt x="160734" y="238065"/>
                  <a:pt x="160734" y="232127"/>
                </a:cubicBezTo>
                <a:lnTo>
                  <a:pt x="160734" y="227216"/>
                </a:lnTo>
                <a:cubicBezTo>
                  <a:pt x="156895" y="226234"/>
                  <a:pt x="153189" y="224716"/>
                  <a:pt x="149662" y="222617"/>
                </a:cubicBezTo>
                <a:lnTo>
                  <a:pt x="146893" y="225475"/>
                </a:lnTo>
                <a:cubicBezTo>
                  <a:pt x="142696" y="229672"/>
                  <a:pt x="135910" y="229672"/>
                  <a:pt x="131758" y="225475"/>
                </a:cubicBezTo>
                <a:cubicBezTo>
                  <a:pt x="127605" y="221278"/>
                  <a:pt x="127561" y="214491"/>
                  <a:pt x="131758" y="210339"/>
                </a:cubicBezTo>
                <a:lnTo>
                  <a:pt x="134570" y="207526"/>
                </a:lnTo>
                <a:cubicBezTo>
                  <a:pt x="132517" y="204043"/>
                  <a:pt x="130999" y="200293"/>
                  <a:pt x="129972" y="196453"/>
                </a:cubicBezTo>
                <a:lnTo>
                  <a:pt x="125060" y="196453"/>
                </a:lnTo>
                <a:cubicBezTo>
                  <a:pt x="119122" y="196453"/>
                  <a:pt x="114345" y="191676"/>
                  <a:pt x="114345" y="185738"/>
                </a:cubicBezTo>
                <a:cubicBezTo>
                  <a:pt x="114345" y="179799"/>
                  <a:pt x="119122" y="175022"/>
                  <a:pt x="125060" y="175022"/>
                </a:cubicBezTo>
                <a:lnTo>
                  <a:pt x="129972" y="175022"/>
                </a:lnTo>
                <a:cubicBezTo>
                  <a:pt x="130954" y="171182"/>
                  <a:pt x="132472" y="167476"/>
                  <a:pt x="134570" y="163949"/>
                </a:cubicBezTo>
                <a:lnTo>
                  <a:pt x="131713" y="161181"/>
                </a:lnTo>
                <a:cubicBezTo>
                  <a:pt x="127516" y="156984"/>
                  <a:pt x="127516" y="150197"/>
                  <a:pt x="131713" y="146045"/>
                </a:cubicBezTo>
                <a:cubicBezTo>
                  <a:pt x="135910" y="141893"/>
                  <a:pt x="142696" y="141848"/>
                  <a:pt x="146849" y="146045"/>
                </a:cubicBezTo>
                <a:lnTo>
                  <a:pt x="148679" y="147876"/>
                </a:lnTo>
                <a:cubicBezTo>
                  <a:pt x="153144" y="143411"/>
                  <a:pt x="157609" y="138946"/>
                  <a:pt x="162118" y="134436"/>
                </a:cubicBezTo>
                <a:lnTo>
                  <a:pt x="160288" y="132606"/>
                </a:lnTo>
                <a:cubicBezTo>
                  <a:pt x="156091" y="128409"/>
                  <a:pt x="156091" y="121622"/>
                  <a:pt x="160288" y="117470"/>
                </a:cubicBezTo>
                <a:cubicBezTo>
                  <a:pt x="164485" y="113318"/>
                  <a:pt x="171271" y="113273"/>
                  <a:pt x="175424" y="117470"/>
                </a:cubicBezTo>
                <a:lnTo>
                  <a:pt x="177254" y="119301"/>
                </a:lnTo>
                <a:lnTo>
                  <a:pt x="190693" y="105861"/>
                </a:lnTo>
                <a:lnTo>
                  <a:pt x="188863" y="104031"/>
                </a:lnTo>
                <a:cubicBezTo>
                  <a:pt x="184666" y="99834"/>
                  <a:pt x="184666" y="93047"/>
                  <a:pt x="188863" y="88895"/>
                </a:cubicBezTo>
                <a:cubicBezTo>
                  <a:pt x="193060" y="84743"/>
                  <a:pt x="199846" y="84698"/>
                  <a:pt x="203999" y="88895"/>
                </a:cubicBezTo>
                <a:lnTo>
                  <a:pt x="206812" y="91708"/>
                </a:lnTo>
                <a:cubicBezTo>
                  <a:pt x="210294" y="89654"/>
                  <a:pt x="214045" y="88136"/>
                  <a:pt x="217884" y="87109"/>
                </a:cubicBezTo>
                <a:lnTo>
                  <a:pt x="217884" y="82198"/>
                </a:lnTo>
                <a:cubicBezTo>
                  <a:pt x="217884" y="76260"/>
                  <a:pt x="222662" y="71482"/>
                  <a:pt x="228600" y="71482"/>
                </a:cubicBezTo>
                <a:cubicBezTo>
                  <a:pt x="234538" y="71482"/>
                  <a:pt x="239316" y="76260"/>
                  <a:pt x="239316" y="82198"/>
                </a:cubicBezTo>
                <a:close/>
                <a:moveTo>
                  <a:pt x="200025" y="171450"/>
                </a:moveTo>
                <a:cubicBezTo>
                  <a:pt x="200025" y="163565"/>
                  <a:pt x="193623" y="157163"/>
                  <a:pt x="185738" y="157163"/>
                </a:cubicBezTo>
                <a:cubicBezTo>
                  <a:pt x="177852" y="157163"/>
                  <a:pt x="171450" y="163565"/>
                  <a:pt x="171450" y="171450"/>
                </a:cubicBezTo>
                <a:cubicBezTo>
                  <a:pt x="171450" y="179335"/>
                  <a:pt x="177852" y="185738"/>
                  <a:pt x="185738" y="185738"/>
                </a:cubicBezTo>
                <a:cubicBezTo>
                  <a:pt x="193623" y="185738"/>
                  <a:pt x="200025" y="179335"/>
                  <a:pt x="200025" y="171450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26820" y="1684020"/>
            <a:ext cx="47720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12-18%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26820" y="2065020"/>
            <a:ext cx="4714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Crop Loss to Contamination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26820" y="2407920"/>
            <a:ext cx="4705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Green mold (Trichoderma) causes up to 70% yield losses. Detection happens 7-10 days after infection starts—too late to save the batch.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6010" y="1527810"/>
            <a:ext cx="5627370" cy="1531620"/>
          </a:xfrm>
          <a:custGeom>
            <a:avLst/>
            <a:gdLst/>
            <a:ahLst/>
            <a:cxnLst/>
            <a:rect l="l" t="t" r="r" b="b"/>
            <a:pathLst>
              <a:path w="5627370" h="1531620">
                <a:moveTo>
                  <a:pt x="114305" y="0"/>
                </a:moveTo>
                <a:lnTo>
                  <a:pt x="5513065" y="0"/>
                </a:lnTo>
                <a:cubicBezTo>
                  <a:pt x="5576194" y="0"/>
                  <a:pt x="5627370" y="51176"/>
                  <a:pt x="5627370" y="114305"/>
                </a:cubicBezTo>
                <a:lnTo>
                  <a:pt x="5627370" y="1417315"/>
                </a:lnTo>
                <a:cubicBezTo>
                  <a:pt x="5627370" y="1480444"/>
                  <a:pt x="5576194" y="1531620"/>
                  <a:pt x="5513065" y="1531620"/>
                </a:cubicBezTo>
                <a:lnTo>
                  <a:pt x="114305" y="1531620"/>
                </a:lnTo>
                <a:cubicBezTo>
                  <a:pt x="51218" y="1531620"/>
                  <a:pt x="0" y="1480402"/>
                  <a:pt x="0" y="141731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gradFill rotWithShape="1" flip="none">
            <a:gsLst>
              <a:gs pos="0">
                <a:srgbClr val="D4A373">
                  <a:alpha val="20000"/>
                </a:srgbClr>
              </a:gs>
              <a:gs pos="100000">
                <a:srgbClr val="D4A373">
                  <a:alpha val="5000"/>
                </a:srgbClr>
              </a:gs>
            </a:gsLst>
            <a:lin ang="2700000" scaled="1"/>
          </a:gradFill>
          <a:ln w="10160">
            <a:solidFill>
              <a:srgbClr val="D4A373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332220" y="16840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498907" y="183642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28575"/>
                </a:moveTo>
                <a:cubicBezTo>
                  <a:pt x="0" y="20672"/>
                  <a:pt x="6385" y="14288"/>
                  <a:pt x="14288" y="14288"/>
                </a:cubicBezTo>
                <a:lnTo>
                  <a:pt x="50006" y="14288"/>
                </a:lnTo>
                <a:cubicBezTo>
                  <a:pt x="85502" y="14288"/>
                  <a:pt x="114300" y="43086"/>
                  <a:pt x="114300" y="78581"/>
                </a:cubicBezTo>
                <a:cubicBezTo>
                  <a:pt x="114300" y="102825"/>
                  <a:pt x="100905" y="123899"/>
                  <a:pt x="81082" y="134883"/>
                </a:cubicBezTo>
                <a:lnTo>
                  <a:pt x="99387" y="195917"/>
                </a:lnTo>
                <a:cubicBezTo>
                  <a:pt x="101664" y="203463"/>
                  <a:pt x="97378" y="211455"/>
                  <a:pt x="89788" y="213687"/>
                </a:cubicBezTo>
                <a:cubicBezTo>
                  <a:pt x="82198" y="215920"/>
                  <a:pt x="74250" y="211678"/>
                  <a:pt x="72018" y="204088"/>
                </a:cubicBezTo>
                <a:lnTo>
                  <a:pt x="53623" y="142786"/>
                </a:lnTo>
                <a:cubicBezTo>
                  <a:pt x="52417" y="142830"/>
                  <a:pt x="51212" y="142875"/>
                  <a:pt x="50006" y="142875"/>
                </a:cubicBezTo>
                <a:lnTo>
                  <a:pt x="28575" y="142875"/>
                </a:lnTo>
                <a:lnTo>
                  <a:pt x="28575" y="200025"/>
                </a:lnTo>
                <a:cubicBezTo>
                  <a:pt x="28575" y="207928"/>
                  <a:pt x="22190" y="214313"/>
                  <a:pt x="14288" y="214313"/>
                </a:cubicBezTo>
                <a:cubicBezTo>
                  <a:pt x="6385" y="214313"/>
                  <a:pt x="0" y="207928"/>
                  <a:pt x="0" y="200025"/>
                </a:cubicBezTo>
                <a:lnTo>
                  <a:pt x="0" y="28575"/>
                </a:lnTo>
                <a:close/>
                <a:moveTo>
                  <a:pt x="28575" y="114300"/>
                </a:moveTo>
                <a:lnTo>
                  <a:pt x="50006" y="114300"/>
                </a:lnTo>
                <a:cubicBezTo>
                  <a:pt x="69741" y="114300"/>
                  <a:pt x="85725" y="98316"/>
                  <a:pt x="85725" y="78581"/>
                </a:cubicBezTo>
                <a:cubicBezTo>
                  <a:pt x="85725" y="58847"/>
                  <a:pt x="69741" y="42863"/>
                  <a:pt x="50006" y="42863"/>
                </a:cubicBezTo>
                <a:lnTo>
                  <a:pt x="28575" y="42863"/>
                </a:lnTo>
                <a:lnTo>
                  <a:pt x="28575" y="114300"/>
                </a:lnTo>
                <a:close/>
                <a:moveTo>
                  <a:pt x="155868" y="100013"/>
                </a:moveTo>
                <a:lnTo>
                  <a:pt x="171450" y="100013"/>
                </a:lnTo>
                <a:cubicBezTo>
                  <a:pt x="179353" y="100013"/>
                  <a:pt x="185738" y="106397"/>
                  <a:pt x="185738" y="114300"/>
                </a:cubicBezTo>
                <a:cubicBezTo>
                  <a:pt x="185738" y="122203"/>
                  <a:pt x="179353" y="128588"/>
                  <a:pt x="171450" y="128588"/>
                </a:cubicBezTo>
                <a:lnTo>
                  <a:pt x="155868" y="128588"/>
                </a:lnTo>
                <a:cubicBezTo>
                  <a:pt x="152653" y="128588"/>
                  <a:pt x="150019" y="131222"/>
                  <a:pt x="150019" y="134436"/>
                </a:cubicBezTo>
                <a:cubicBezTo>
                  <a:pt x="150019" y="136981"/>
                  <a:pt x="151671" y="139214"/>
                  <a:pt x="154082" y="140018"/>
                </a:cubicBezTo>
                <a:lnTo>
                  <a:pt x="176138" y="147117"/>
                </a:lnTo>
                <a:cubicBezTo>
                  <a:pt x="190381" y="151715"/>
                  <a:pt x="200025" y="164931"/>
                  <a:pt x="200025" y="179889"/>
                </a:cubicBezTo>
                <a:cubicBezTo>
                  <a:pt x="200025" y="198909"/>
                  <a:pt x="184621" y="214313"/>
                  <a:pt x="165601" y="214313"/>
                </a:cubicBezTo>
                <a:lnTo>
                  <a:pt x="142875" y="214313"/>
                </a:lnTo>
                <a:cubicBezTo>
                  <a:pt x="134972" y="214313"/>
                  <a:pt x="128588" y="207928"/>
                  <a:pt x="128588" y="200025"/>
                </a:cubicBezTo>
                <a:cubicBezTo>
                  <a:pt x="128588" y="192122"/>
                  <a:pt x="134972" y="185738"/>
                  <a:pt x="142875" y="185738"/>
                </a:cubicBezTo>
                <a:lnTo>
                  <a:pt x="165601" y="185738"/>
                </a:lnTo>
                <a:cubicBezTo>
                  <a:pt x="168816" y="185738"/>
                  <a:pt x="171450" y="183103"/>
                  <a:pt x="171450" y="179889"/>
                </a:cubicBezTo>
                <a:cubicBezTo>
                  <a:pt x="171450" y="177344"/>
                  <a:pt x="169798" y="175111"/>
                  <a:pt x="167387" y="174308"/>
                </a:cubicBezTo>
                <a:lnTo>
                  <a:pt x="145331" y="167208"/>
                </a:lnTo>
                <a:cubicBezTo>
                  <a:pt x="131088" y="162610"/>
                  <a:pt x="121444" y="149394"/>
                  <a:pt x="121444" y="134436"/>
                </a:cubicBezTo>
                <a:cubicBezTo>
                  <a:pt x="121444" y="115416"/>
                  <a:pt x="136847" y="100013"/>
                  <a:pt x="155868" y="100013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018020" y="1684020"/>
            <a:ext cx="47720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₹4-6L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18020" y="2065020"/>
            <a:ext cx="4714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Waste per 100-Room Farm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18020" y="2407920"/>
            <a:ext cx="4705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monitoring, delayed problem detection, and operational chaos cost each farm lakhs annually in lost productivity.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4810" y="3219451"/>
            <a:ext cx="2760345" cy="1074420"/>
          </a:xfrm>
          <a:custGeom>
            <a:avLst/>
            <a:gdLst/>
            <a:ahLst/>
            <a:cxnLst/>
            <a:rect l="l" t="t" r="r" b="b"/>
            <a:pathLst>
              <a:path w="2760345" h="1074420">
                <a:moveTo>
                  <a:pt x="76198" y="0"/>
                </a:moveTo>
                <a:lnTo>
                  <a:pt x="2684147" y="0"/>
                </a:lnTo>
                <a:cubicBezTo>
                  <a:pt x="2726230" y="0"/>
                  <a:pt x="2760345" y="34115"/>
                  <a:pt x="2760345" y="76198"/>
                </a:cubicBezTo>
                <a:lnTo>
                  <a:pt x="2760345" y="998222"/>
                </a:lnTo>
                <a:cubicBezTo>
                  <a:pt x="2760345" y="1040305"/>
                  <a:pt x="2726230" y="1074420"/>
                  <a:pt x="2684147" y="1074420"/>
                </a:cubicBezTo>
                <a:lnTo>
                  <a:pt x="76198" y="1074420"/>
                </a:lnTo>
                <a:cubicBezTo>
                  <a:pt x="34115" y="1074420"/>
                  <a:pt x="0" y="1040305"/>
                  <a:pt x="0" y="99822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652588" y="333756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45770" y="3642361"/>
            <a:ext cx="2638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hrs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9582" y="3985140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 delay detecting problems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70885" y="3219451"/>
            <a:ext cx="2760345" cy="1074420"/>
          </a:xfrm>
          <a:custGeom>
            <a:avLst/>
            <a:gdLst/>
            <a:ahLst/>
            <a:cxnLst/>
            <a:rect l="l" t="t" r="r" b="b"/>
            <a:pathLst>
              <a:path w="2760345" h="1074420">
                <a:moveTo>
                  <a:pt x="76198" y="0"/>
                </a:moveTo>
                <a:lnTo>
                  <a:pt x="2684147" y="0"/>
                </a:lnTo>
                <a:cubicBezTo>
                  <a:pt x="2726230" y="0"/>
                  <a:pt x="2760345" y="34115"/>
                  <a:pt x="2760345" y="76198"/>
                </a:cubicBezTo>
                <a:lnTo>
                  <a:pt x="2760345" y="998222"/>
                </a:lnTo>
                <a:cubicBezTo>
                  <a:pt x="2760345" y="1040305"/>
                  <a:pt x="2726230" y="1074420"/>
                  <a:pt x="2684147" y="1074420"/>
                </a:cubicBezTo>
                <a:lnTo>
                  <a:pt x="76198" y="1074420"/>
                </a:lnTo>
                <a:cubicBezTo>
                  <a:pt x="34115" y="1074420"/>
                  <a:pt x="0" y="1040305"/>
                  <a:pt x="0" y="99822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567238" y="3337561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42875" y="14288"/>
                </a:moveTo>
                <a:lnTo>
                  <a:pt x="139035" y="14288"/>
                </a:lnTo>
                <a:cubicBezTo>
                  <a:pt x="134124" y="5760"/>
                  <a:pt x="124882" y="0"/>
                  <a:pt x="114300" y="0"/>
                </a:cubicBezTo>
                <a:lnTo>
                  <a:pt x="57150" y="0"/>
                </a:lnTo>
                <a:cubicBezTo>
                  <a:pt x="46568" y="0"/>
                  <a:pt x="37326" y="5760"/>
                  <a:pt x="32415" y="14288"/>
                </a:cubicBezTo>
                <a:lnTo>
                  <a:pt x="28575" y="14288"/>
                </a:lnTo>
                <a:cubicBezTo>
                  <a:pt x="12814" y="14288"/>
                  <a:pt x="0" y="27102"/>
                  <a:pt x="0" y="42863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42863"/>
                </a:lnTo>
                <a:cubicBezTo>
                  <a:pt x="171450" y="27102"/>
                  <a:pt x="158636" y="14288"/>
                  <a:pt x="142875" y="14288"/>
                </a:cubicBezTo>
                <a:close/>
                <a:moveTo>
                  <a:pt x="60722" y="50006"/>
                </a:moveTo>
                <a:cubicBezTo>
                  <a:pt x="54784" y="50006"/>
                  <a:pt x="50006" y="45229"/>
                  <a:pt x="50006" y="39291"/>
                </a:cubicBezTo>
                <a:cubicBezTo>
                  <a:pt x="50006" y="33352"/>
                  <a:pt x="54784" y="28575"/>
                  <a:pt x="60722" y="28575"/>
                </a:cubicBezTo>
                <a:lnTo>
                  <a:pt x="110728" y="28575"/>
                </a:lnTo>
                <a:cubicBezTo>
                  <a:pt x="116666" y="28575"/>
                  <a:pt x="121444" y="33352"/>
                  <a:pt x="121444" y="39291"/>
                </a:cubicBezTo>
                <a:cubicBezTo>
                  <a:pt x="121444" y="45229"/>
                  <a:pt x="116666" y="50006"/>
                  <a:pt x="110728" y="50006"/>
                </a:cubicBezTo>
                <a:lnTo>
                  <a:pt x="60722" y="50006"/>
                </a:ln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331845" y="3642361"/>
            <a:ext cx="2638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2-3 hrs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355658" y="3985140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 manual data entry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56960" y="3219451"/>
            <a:ext cx="2760345" cy="1074420"/>
          </a:xfrm>
          <a:custGeom>
            <a:avLst/>
            <a:gdLst/>
            <a:ahLst/>
            <a:cxnLst/>
            <a:rect l="l" t="t" r="r" b="b"/>
            <a:pathLst>
              <a:path w="2760345" h="1074420">
                <a:moveTo>
                  <a:pt x="76198" y="0"/>
                </a:moveTo>
                <a:lnTo>
                  <a:pt x="2684147" y="0"/>
                </a:lnTo>
                <a:cubicBezTo>
                  <a:pt x="2726230" y="0"/>
                  <a:pt x="2760345" y="34115"/>
                  <a:pt x="2760345" y="76198"/>
                </a:cubicBezTo>
                <a:lnTo>
                  <a:pt x="2760345" y="998222"/>
                </a:lnTo>
                <a:cubicBezTo>
                  <a:pt x="2760345" y="1040305"/>
                  <a:pt x="2726230" y="1074420"/>
                  <a:pt x="2684147" y="1074420"/>
                </a:cubicBezTo>
                <a:lnTo>
                  <a:pt x="76198" y="1074420"/>
                </a:lnTo>
                <a:cubicBezTo>
                  <a:pt x="34115" y="1074420"/>
                  <a:pt x="0" y="1040305"/>
                  <a:pt x="0" y="99822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424737" y="333756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0013" y="0"/>
                </a:moveTo>
                <a:lnTo>
                  <a:pt x="100013" y="28575"/>
                </a:lnTo>
                <a:cubicBezTo>
                  <a:pt x="100013" y="32504"/>
                  <a:pt x="103227" y="35719"/>
                  <a:pt x="107156" y="35719"/>
                </a:cubicBezTo>
                <a:lnTo>
                  <a:pt x="121444" y="35719"/>
                </a:lnTo>
                <a:cubicBezTo>
                  <a:pt x="125373" y="35719"/>
                  <a:pt x="128588" y="32504"/>
                  <a:pt x="128588" y="28575"/>
                </a:cubicBezTo>
                <a:lnTo>
                  <a:pt x="128588" y="0"/>
                </a:lnTo>
                <a:lnTo>
                  <a:pt x="142875" y="0"/>
                </a:lnTo>
                <a:cubicBezTo>
                  <a:pt x="158636" y="0"/>
                  <a:pt x="171450" y="12814"/>
                  <a:pt x="171450" y="28575"/>
                </a:cubicBezTo>
                <a:lnTo>
                  <a:pt x="171450" y="85725"/>
                </a:lnTo>
                <a:cubicBezTo>
                  <a:pt x="171450" y="88181"/>
                  <a:pt x="171137" y="90592"/>
                  <a:pt x="170557" y="92869"/>
                </a:cubicBezTo>
                <a:lnTo>
                  <a:pt x="58043" y="92869"/>
                </a:lnTo>
                <a:cubicBezTo>
                  <a:pt x="57463" y="90592"/>
                  <a:pt x="57150" y="88181"/>
                  <a:pt x="57150" y="85725"/>
                </a:cubicBezTo>
                <a:lnTo>
                  <a:pt x="57150" y="28575"/>
                </a:lnTo>
                <a:cubicBezTo>
                  <a:pt x="57150" y="12814"/>
                  <a:pt x="69964" y="0"/>
                  <a:pt x="85725" y="0"/>
                </a:cubicBezTo>
                <a:lnTo>
                  <a:pt x="100013" y="0"/>
                </a:lnTo>
                <a:close/>
                <a:moveTo>
                  <a:pt x="142875" y="228600"/>
                </a:moveTo>
                <a:cubicBezTo>
                  <a:pt x="137874" y="228600"/>
                  <a:pt x="133142" y="227305"/>
                  <a:pt x="129034" y="225028"/>
                </a:cubicBezTo>
                <a:cubicBezTo>
                  <a:pt x="133276" y="217661"/>
                  <a:pt x="135731" y="209133"/>
                  <a:pt x="135731" y="200025"/>
                </a:cubicBezTo>
                <a:lnTo>
                  <a:pt x="135731" y="142875"/>
                </a:lnTo>
                <a:cubicBezTo>
                  <a:pt x="135731" y="133767"/>
                  <a:pt x="133276" y="125239"/>
                  <a:pt x="129034" y="117872"/>
                </a:cubicBezTo>
                <a:cubicBezTo>
                  <a:pt x="133142" y="115595"/>
                  <a:pt x="137830" y="114300"/>
                  <a:pt x="142875" y="114300"/>
                </a:cubicBezTo>
                <a:lnTo>
                  <a:pt x="157163" y="114300"/>
                </a:lnTo>
                <a:lnTo>
                  <a:pt x="157163" y="142875"/>
                </a:lnTo>
                <a:cubicBezTo>
                  <a:pt x="157163" y="146804"/>
                  <a:pt x="160377" y="150019"/>
                  <a:pt x="164306" y="150019"/>
                </a:cubicBezTo>
                <a:lnTo>
                  <a:pt x="178594" y="150019"/>
                </a:lnTo>
                <a:cubicBezTo>
                  <a:pt x="182523" y="150019"/>
                  <a:pt x="185738" y="146804"/>
                  <a:pt x="185738" y="142875"/>
                </a:cubicBezTo>
                <a:lnTo>
                  <a:pt x="185738" y="114300"/>
                </a:lnTo>
                <a:lnTo>
                  <a:pt x="200025" y="114300"/>
                </a:lnTo>
                <a:cubicBezTo>
                  <a:pt x="215786" y="114300"/>
                  <a:pt x="228600" y="127114"/>
                  <a:pt x="228600" y="142875"/>
                </a:cubicBezTo>
                <a:lnTo>
                  <a:pt x="228600" y="200025"/>
                </a:lnTo>
                <a:cubicBezTo>
                  <a:pt x="228600" y="215786"/>
                  <a:pt x="215786" y="228600"/>
                  <a:pt x="200025" y="228600"/>
                </a:cubicBezTo>
                <a:lnTo>
                  <a:pt x="142875" y="228600"/>
                </a:lnTo>
                <a:close/>
                <a:moveTo>
                  <a:pt x="0" y="142875"/>
                </a:moveTo>
                <a:cubicBezTo>
                  <a:pt x="0" y="127114"/>
                  <a:pt x="12814" y="114300"/>
                  <a:pt x="28575" y="114300"/>
                </a:cubicBezTo>
                <a:lnTo>
                  <a:pt x="42863" y="114300"/>
                </a:lnTo>
                <a:lnTo>
                  <a:pt x="42863" y="142875"/>
                </a:lnTo>
                <a:cubicBezTo>
                  <a:pt x="42863" y="146804"/>
                  <a:pt x="46077" y="150019"/>
                  <a:pt x="50006" y="150019"/>
                </a:cubicBezTo>
                <a:lnTo>
                  <a:pt x="64294" y="150019"/>
                </a:lnTo>
                <a:cubicBezTo>
                  <a:pt x="68223" y="150019"/>
                  <a:pt x="71438" y="146804"/>
                  <a:pt x="71438" y="142875"/>
                </a:cubicBezTo>
                <a:lnTo>
                  <a:pt x="71438" y="114300"/>
                </a:lnTo>
                <a:lnTo>
                  <a:pt x="85725" y="114300"/>
                </a:lnTo>
                <a:cubicBezTo>
                  <a:pt x="101486" y="114300"/>
                  <a:pt x="114300" y="127114"/>
                  <a:pt x="114300" y="142875"/>
                </a:cubicBezTo>
                <a:lnTo>
                  <a:pt x="114300" y="200025"/>
                </a:lnTo>
                <a:cubicBezTo>
                  <a:pt x="114300" y="215786"/>
                  <a:pt x="101486" y="228600"/>
                  <a:pt x="8572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142875"/>
                </a:ln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217920" y="3642361"/>
            <a:ext cx="2638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15-20%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41732" y="3985140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Inventory discrepancy rate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043035" y="3219451"/>
            <a:ext cx="2760345" cy="1074420"/>
          </a:xfrm>
          <a:custGeom>
            <a:avLst/>
            <a:gdLst/>
            <a:ahLst/>
            <a:cxnLst/>
            <a:rect l="l" t="t" r="r" b="b"/>
            <a:pathLst>
              <a:path w="2760345" h="1074420">
                <a:moveTo>
                  <a:pt x="76198" y="0"/>
                </a:moveTo>
                <a:lnTo>
                  <a:pt x="2684147" y="0"/>
                </a:lnTo>
                <a:cubicBezTo>
                  <a:pt x="2726230" y="0"/>
                  <a:pt x="2760345" y="34115"/>
                  <a:pt x="2760345" y="76198"/>
                </a:cubicBezTo>
                <a:lnTo>
                  <a:pt x="2760345" y="998222"/>
                </a:lnTo>
                <a:cubicBezTo>
                  <a:pt x="2760345" y="1040305"/>
                  <a:pt x="2726230" y="1074420"/>
                  <a:pt x="2684147" y="1074420"/>
                </a:cubicBezTo>
                <a:lnTo>
                  <a:pt x="76198" y="1074420"/>
                </a:lnTo>
                <a:cubicBezTo>
                  <a:pt x="34115" y="1074420"/>
                  <a:pt x="0" y="1040305"/>
                  <a:pt x="0" y="99822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310813" y="333756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63949" y="184175"/>
                </a:moveTo>
                <a:lnTo>
                  <a:pt x="44425" y="64651"/>
                </a:lnTo>
                <a:cubicBezTo>
                  <a:pt x="34424" y="78671"/>
                  <a:pt x="28575" y="95816"/>
                  <a:pt x="28575" y="114300"/>
                </a:cubicBezTo>
                <a:cubicBezTo>
                  <a:pt x="28575" y="161627"/>
                  <a:pt x="66973" y="200025"/>
                  <a:pt x="114300" y="200025"/>
                </a:cubicBezTo>
                <a:cubicBezTo>
                  <a:pt x="132829" y="200025"/>
                  <a:pt x="149974" y="194176"/>
                  <a:pt x="163949" y="184175"/>
                </a:cubicBezTo>
                <a:close/>
                <a:moveTo>
                  <a:pt x="184175" y="163949"/>
                </a:moveTo>
                <a:cubicBezTo>
                  <a:pt x="194176" y="149929"/>
                  <a:pt x="200025" y="132784"/>
                  <a:pt x="200025" y="114300"/>
                </a:cubicBezTo>
                <a:cubicBezTo>
                  <a:pt x="200025" y="66973"/>
                  <a:pt x="161627" y="28575"/>
                  <a:pt x="114300" y="28575"/>
                </a:cubicBezTo>
                <a:cubicBezTo>
                  <a:pt x="95771" y="28575"/>
                  <a:pt x="78626" y="34424"/>
                  <a:pt x="64651" y="44425"/>
                </a:cubicBezTo>
                <a:lnTo>
                  <a:pt x="184175" y="163949"/>
                </a:ln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103995" y="3642361"/>
            <a:ext cx="2638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27807" y="3985140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Room scaling ceiling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4810" y="4453771"/>
            <a:ext cx="11418570" cy="1074420"/>
          </a:xfrm>
          <a:custGeom>
            <a:avLst/>
            <a:gdLst/>
            <a:ahLst/>
            <a:cxnLst/>
            <a:rect l="l" t="t" r="r" b="b"/>
            <a:pathLst>
              <a:path w="11418570" h="1074420">
                <a:moveTo>
                  <a:pt x="114297" y="0"/>
                </a:moveTo>
                <a:lnTo>
                  <a:pt x="11304273" y="0"/>
                </a:lnTo>
                <a:cubicBezTo>
                  <a:pt x="11367398" y="0"/>
                  <a:pt x="11418570" y="51172"/>
                  <a:pt x="11418570" y="114297"/>
                </a:cubicBezTo>
                <a:lnTo>
                  <a:pt x="11418570" y="960123"/>
                </a:lnTo>
                <a:cubicBezTo>
                  <a:pt x="11418570" y="1023248"/>
                  <a:pt x="11367398" y="1074420"/>
                  <a:pt x="11304273" y="1074420"/>
                </a:cubicBezTo>
                <a:lnTo>
                  <a:pt x="114297" y="1074420"/>
                </a:lnTo>
                <a:cubicBezTo>
                  <a:pt x="51172" y="1074420"/>
                  <a:pt x="0" y="1023248"/>
                  <a:pt x="0" y="96012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41020" y="4609981"/>
            <a:ext cx="11172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ROOT CAUSE ANALYSIS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41020" y="495288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9C46A">
              <a:alpha val="20000"/>
            </a:srgbClr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69250" y="4990981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60120" y="4914781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Real-Time Data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60120" y="5181481"/>
            <a:ext cx="3219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checks 3-4 times daily miss critical fluctuations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295061" y="495288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408646" y="4990981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714161" y="4914781"/>
            <a:ext cx="2867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Fragmented Tools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714161" y="5181481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Excel, WhatsApp, paper logs—no central system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049220" y="495288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B8E6E">
              <a:alpha val="20000"/>
            </a:srgbClr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8160782" y="4990981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B8E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468320" y="4914781"/>
            <a:ext cx="2200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Expert Access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468320" y="5181481"/>
            <a:ext cx="219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Crisis response takes days, not hours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598" y="347598"/>
            <a:ext cx="11557634" cy="17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 b="1" spc="96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COMPETITIVE LANDSCAPE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7598" y="590917"/>
            <a:ext cx="11653223" cy="347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63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 Competition in India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7598" y="1008034"/>
            <a:ext cx="11583703" cy="24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9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India-Focused Mushroom IoT Platforms Exist Today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1074" y="1393868"/>
            <a:ext cx="5672799" cy="2483588"/>
          </a:xfrm>
          <a:custGeom>
            <a:avLst/>
            <a:gdLst/>
            <a:ahLst/>
            <a:cxnLst/>
            <a:rect l="l" t="t" r="r" b="b"/>
            <a:pathLst>
              <a:path w="5672799" h="2483588">
                <a:moveTo>
                  <a:pt x="104286" y="0"/>
                </a:moveTo>
                <a:lnTo>
                  <a:pt x="5568514" y="0"/>
                </a:lnTo>
                <a:cubicBezTo>
                  <a:pt x="5626109" y="0"/>
                  <a:pt x="5672799" y="46690"/>
                  <a:pt x="5672799" y="104286"/>
                </a:cubicBezTo>
                <a:lnTo>
                  <a:pt x="5672799" y="2379302"/>
                </a:lnTo>
                <a:cubicBezTo>
                  <a:pt x="5672799" y="2436897"/>
                  <a:pt x="5626109" y="2483588"/>
                  <a:pt x="5568514" y="2483588"/>
                </a:cubicBezTo>
                <a:lnTo>
                  <a:pt x="104286" y="2483588"/>
                </a:lnTo>
                <a:cubicBezTo>
                  <a:pt x="46690" y="2483588"/>
                  <a:pt x="0" y="2436897"/>
                  <a:pt x="0" y="2379302"/>
                </a:cubicBezTo>
                <a:lnTo>
                  <a:pt x="0" y="104286"/>
                </a:lnTo>
                <a:cubicBezTo>
                  <a:pt x="0" y="46729"/>
                  <a:pt x="46729" y="0"/>
                  <a:pt x="104286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93589" y="1536384"/>
            <a:ext cx="5448599" cy="17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 b="1" spc="48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OPTION 1: GENERIC IOT PLATFORMS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93589" y="1814462"/>
            <a:ext cx="391048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5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Blynk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69262" y="1814462"/>
            <a:ext cx="1181833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5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₹1,500-2,000/mo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589" y="2127300"/>
            <a:ext cx="764716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5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ThingSpeak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43495" y="2127300"/>
            <a:ext cx="1008034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5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Free tier limited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589" y="2440141"/>
            <a:ext cx="929825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5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IoT Core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89183" y="2440141"/>
            <a:ext cx="1060174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5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$5/1M messages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3589" y="2756455"/>
            <a:ext cx="5387769" cy="6952"/>
          </a:xfrm>
          <a:custGeom>
            <a:avLst/>
            <a:gdLst/>
            <a:ahLst/>
            <a:cxnLst/>
            <a:rect l="l" t="t" r="r" b="b"/>
            <a:pathLst>
              <a:path w="5387769" h="6952">
                <a:moveTo>
                  <a:pt x="0" y="0"/>
                </a:moveTo>
                <a:lnTo>
                  <a:pt x="5387769" y="0"/>
                </a:lnTo>
                <a:lnTo>
                  <a:pt x="5387769" y="6952"/>
                </a:lnTo>
                <a:lnTo>
                  <a:pt x="0" y="6952"/>
                </a:lnTo>
                <a:lnTo>
                  <a:pt x="0" y="0"/>
                </a:lnTo>
                <a:close/>
              </a:path>
            </a:pathLst>
          </a:custGeom>
          <a:solidFill>
            <a:srgbClr val="6B8E6E">
              <a:alpha val="30196"/>
            </a:srgbClr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93589" y="2864208"/>
            <a:ext cx="5457289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5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6176" y="3177047"/>
            <a:ext cx="91244" cy="121659"/>
          </a:xfrm>
          <a:custGeom>
            <a:avLst/>
            <a:gdLst/>
            <a:ahLst/>
            <a:cxnLst/>
            <a:rect l="l" t="t" r="r" b="b"/>
            <a:pathLst>
              <a:path w="91244" h="121659">
                <a:moveTo>
                  <a:pt x="13093" y="17441"/>
                </a:moveTo>
                <a:cubicBezTo>
                  <a:pt x="10122" y="14471"/>
                  <a:pt x="5299" y="14471"/>
                  <a:pt x="2329" y="17441"/>
                </a:cubicBezTo>
                <a:cubicBezTo>
                  <a:pt x="-642" y="20411"/>
                  <a:pt x="-642" y="25235"/>
                  <a:pt x="2329" y="28205"/>
                </a:cubicBezTo>
                <a:lnTo>
                  <a:pt x="34977" y="60830"/>
                </a:lnTo>
                <a:lnTo>
                  <a:pt x="2352" y="93478"/>
                </a:lnTo>
                <a:cubicBezTo>
                  <a:pt x="-618" y="96448"/>
                  <a:pt x="-618" y="101272"/>
                  <a:pt x="2352" y="104242"/>
                </a:cubicBezTo>
                <a:cubicBezTo>
                  <a:pt x="5323" y="107212"/>
                  <a:pt x="10146" y="107212"/>
                  <a:pt x="13116" y="104242"/>
                </a:cubicBezTo>
                <a:lnTo>
                  <a:pt x="45741" y="71594"/>
                </a:lnTo>
                <a:lnTo>
                  <a:pt x="78389" y="104218"/>
                </a:lnTo>
                <a:cubicBezTo>
                  <a:pt x="81360" y="107188"/>
                  <a:pt x="86183" y="107188"/>
                  <a:pt x="89153" y="104218"/>
                </a:cubicBezTo>
                <a:cubicBezTo>
                  <a:pt x="92124" y="101248"/>
                  <a:pt x="92124" y="96425"/>
                  <a:pt x="89153" y="93454"/>
                </a:cubicBezTo>
                <a:lnTo>
                  <a:pt x="56505" y="60830"/>
                </a:lnTo>
                <a:lnTo>
                  <a:pt x="89130" y="28181"/>
                </a:lnTo>
                <a:cubicBezTo>
                  <a:pt x="92100" y="25211"/>
                  <a:pt x="92100" y="20387"/>
                  <a:pt x="89130" y="17417"/>
                </a:cubicBezTo>
                <a:cubicBezTo>
                  <a:pt x="86159" y="14447"/>
                  <a:pt x="81336" y="14447"/>
                  <a:pt x="78366" y="17417"/>
                </a:cubicBezTo>
                <a:lnTo>
                  <a:pt x="45741" y="50066"/>
                </a:lnTo>
                <a:lnTo>
                  <a:pt x="13093" y="17441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15183" y="3142287"/>
            <a:ext cx="1555501" cy="17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mushroom-specific logic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6176" y="3385605"/>
            <a:ext cx="91244" cy="121659"/>
          </a:xfrm>
          <a:custGeom>
            <a:avLst/>
            <a:gdLst/>
            <a:ahLst/>
            <a:cxnLst/>
            <a:rect l="l" t="t" r="r" b="b"/>
            <a:pathLst>
              <a:path w="91244" h="121659">
                <a:moveTo>
                  <a:pt x="13093" y="17441"/>
                </a:moveTo>
                <a:cubicBezTo>
                  <a:pt x="10122" y="14471"/>
                  <a:pt x="5299" y="14471"/>
                  <a:pt x="2329" y="17441"/>
                </a:cubicBezTo>
                <a:cubicBezTo>
                  <a:pt x="-642" y="20411"/>
                  <a:pt x="-642" y="25235"/>
                  <a:pt x="2329" y="28205"/>
                </a:cubicBezTo>
                <a:lnTo>
                  <a:pt x="34977" y="60830"/>
                </a:lnTo>
                <a:lnTo>
                  <a:pt x="2352" y="93478"/>
                </a:lnTo>
                <a:cubicBezTo>
                  <a:pt x="-618" y="96448"/>
                  <a:pt x="-618" y="101272"/>
                  <a:pt x="2352" y="104242"/>
                </a:cubicBezTo>
                <a:cubicBezTo>
                  <a:pt x="5323" y="107212"/>
                  <a:pt x="10146" y="107212"/>
                  <a:pt x="13116" y="104242"/>
                </a:cubicBezTo>
                <a:lnTo>
                  <a:pt x="45741" y="71594"/>
                </a:lnTo>
                <a:lnTo>
                  <a:pt x="78389" y="104218"/>
                </a:lnTo>
                <a:cubicBezTo>
                  <a:pt x="81360" y="107188"/>
                  <a:pt x="86183" y="107188"/>
                  <a:pt x="89153" y="104218"/>
                </a:cubicBezTo>
                <a:cubicBezTo>
                  <a:pt x="92124" y="101248"/>
                  <a:pt x="92124" y="96425"/>
                  <a:pt x="89153" y="93454"/>
                </a:cubicBezTo>
                <a:lnTo>
                  <a:pt x="56505" y="60830"/>
                </a:lnTo>
                <a:lnTo>
                  <a:pt x="89130" y="28181"/>
                </a:lnTo>
                <a:cubicBezTo>
                  <a:pt x="92100" y="25211"/>
                  <a:pt x="92100" y="20387"/>
                  <a:pt x="89130" y="17417"/>
                </a:cubicBezTo>
                <a:cubicBezTo>
                  <a:pt x="86159" y="14447"/>
                  <a:pt x="81336" y="14447"/>
                  <a:pt x="78366" y="17417"/>
                </a:cubicBezTo>
                <a:lnTo>
                  <a:pt x="45741" y="50066"/>
                </a:lnTo>
                <a:lnTo>
                  <a:pt x="13093" y="17441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15183" y="3350846"/>
            <a:ext cx="1512051" cy="17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Requires ₹3-5L custom dev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26176" y="3594164"/>
            <a:ext cx="91244" cy="121659"/>
          </a:xfrm>
          <a:custGeom>
            <a:avLst/>
            <a:gdLst/>
            <a:ahLst/>
            <a:cxnLst/>
            <a:rect l="l" t="t" r="r" b="b"/>
            <a:pathLst>
              <a:path w="91244" h="121659">
                <a:moveTo>
                  <a:pt x="13093" y="17441"/>
                </a:moveTo>
                <a:cubicBezTo>
                  <a:pt x="10122" y="14471"/>
                  <a:pt x="5299" y="14471"/>
                  <a:pt x="2329" y="17441"/>
                </a:cubicBezTo>
                <a:cubicBezTo>
                  <a:pt x="-642" y="20411"/>
                  <a:pt x="-642" y="25235"/>
                  <a:pt x="2329" y="28205"/>
                </a:cubicBezTo>
                <a:lnTo>
                  <a:pt x="34977" y="60830"/>
                </a:lnTo>
                <a:lnTo>
                  <a:pt x="2352" y="93478"/>
                </a:lnTo>
                <a:cubicBezTo>
                  <a:pt x="-618" y="96448"/>
                  <a:pt x="-618" y="101272"/>
                  <a:pt x="2352" y="104242"/>
                </a:cubicBezTo>
                <a:cubicBezTo>
                  <a:pt x="5323" y="107212"/>
                  <a:pt x="10146" y="107212"/>
                  <a:pt x="13116" y="104242"/>
                </a:cubicBezTo>
                <a:lnTo>
                  <a:pt x="45741" y="71594"/>
                </a:lnTo>
                <a:lnTo>
                  <a:pt x="78389" y="104218"/>
                </a:lnTo>
                <a:cubicBezTo>
                  <a:pt x="81360" y="107188"/>
                  <a:pt x="86183" y="107188"/>
                  <a:pt x="89153" y="104218"/>
                </a:cubicBezTo>
                <a:cubicBezTo>
                  <a:pt x="92124" y="101248"/>
                  <a:pt x="92124" y="96425"/>
                  <a:pt x="89153" y="93454"/>
                </a:cubicBezTo>
                <a:lnTo>
                  <a:pt x="56505" y="60830"/>
                </a:lnTo>
                <a:lnTo>
                  <a:pt x="89130" y="28181"/>
                </a:lnTo>
                <a:cubicBezTo>
                  <a:pt x="92100" y="25211"/>
                  <a:pt x="92100" y="20387"/>
                  <a:pt x="89130" y="17417"/>
                </a:cubicBezTo>
                <a:cubicBezTo>
                  <a:pt x="86159" y="14447"/>
                  <a:pt x="81336" y="14447"/>
                  <a:pt x="78366" y="17417"/>
                </a:cubicBezTo>
                <a:lnTo>
                  <a:pt x="45741" y="50066"/>
                </a:lnTo>
                <a:lnTo>
                  <a:pt x="13093" y="17441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15183" y="3559404"/>
            <a:ext cx="1764060" cy="17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Fragmented tools, no integration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67475" y="1393868"/>
            <a:ext cx="5672799" cy="2483588"/>
          </a:xfrm>
          <a:custGeom>
            <a:avLst/>
            <a:gdLst/>
            <a:ahLst/>
            <a:cxnLst/>
            <a:rect l="l" t="t" r="r" b="b"/>
            <a:pathLst>
              <a:path w="5672799" h="2483588">
                <a:moveTo>
                  <a:pt x="104286" y="0"/>
                </a:moveTo>
                <a:lnTo>
                  <a:pt x="5568514" y="0"/>
                </a:lnTo>
                <a:cubicBezTo>
                  <a:pt x="5626109" y="0"/>
                  <a:pt x="5672799" y="46690"/>
                  <a:pt x="5672799" y="104286"/>
                </a:cubicBezTo>
                <a:lnTo>
                  <a:pt x="5672799" y="2379302"/>
                </a:lnTo>
                <a:cubicBezTo>
                  <a:pt x="5672799" y="2436897"/>
                  <a:pt x="5626109" y="2483588"/>
                  <a:pt x="5568514" y="2483588"/>
                </a:cubicBezTo>
                <a:lnTo>
                  <a:pt x="104286" y="2483588"/>
                </a:lnTo>
                <a:cubicBezTo>
                  <a:pt x="46690" y="2483588"/>
                  <a:pt x="0" y="2436897"/>
                  <a:pt x="0" y="2379302"/>
                </a:cubicBezTo>
                <a:lnTo>
                  <a:pt x="0" y="104286"/>
                </a:lnTo>
                <a:cubicBezTo>
                  <a:pt x="0" y="46729"/>
                  <a:pt x="46729" y="0"/>
                  <a:pt x="104286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309990" y="1536384"/>
            <a:ext cx="5448599" cy="17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 b="1" spc="48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OPTION 2: INTERNATIONAL AG-TECH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990" y="1814462"/>
            <a:ext cx="651746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5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FarmLogs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872431" y="1814462"/>
            <a:ext cx="895065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5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$5K-15K/year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09990" y="2127300"/>
            <a:ext cx="616986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5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AgWorld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767174" y="2127300"/>
            <a:ext cx="999344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5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$10K-30K/year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09990" y="2440141"/>
            <a:ext cx="582227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5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Granular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663655" y="2440141"/>
            <a:ext cx="1103624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5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$50K+ enterprise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09990" y="2756455"/>
            <a:ext cx="5387769" cy="6952"/>
          </a:xfrm>
          <a:custGeom>
            <a:avLst/>
            <a:gdLst/>
            <a:ahLst/>
            <a:cxnLst/>
            <a:rect l="l" t="t" r="r" b="b"/>
            <a:pathLst>
              <a:path w="5387769" h="6952">
                <a:moveTo>
                  <a:pt x="0" y="0"/>
                </a:moveTo>
                <a:lnTo>
                  <a:pt x="5387769" y="0"/>
                </a:lnTo>
                <a:lnTo>
                  <a:pt x="5387769" y="6952"/>
                </a:lnTo>
                <a:lnTo>
                  <a:pt x="0" y="6952"/>
                </a:lnTo>
                <a:lnTo>
                  <a:pt x="0" y="0"/>
                </a:lnTo>
                <a:close/>
              </a:path>
            </a:pathLst>
          </a:custGeom>
          <a:solidFill>
            <a:srgbClr val="6B8E6E">
              <a:alpha val="30196"/>
            </a:srgbClr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309990" y="2864208"/>
            <a:ext cx="5457289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5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42577" y="3177047"/>
            <a:ext cx="91244" cy="121659"/>
          </a:xfrm>
          <a:custGeom>
            <a:avLst/>
            <a:gdLst/>
            <a:ahLst/>
            <a:cxnLst/>
            <a:rect l="l" t="t" r="r" b="b"/>
            <a:pathLst>
              <a:path w="91244" h="121659">
                <a:moveTo>
                  <a:pt x="13093" y="17441"/>
                </a:moveTo>
                <a:cubicBezTo>
                  <a:pt x="10122" y="14471"/>
                  <a:pt x="5299" y="14471"/>
                  <a:pt x="2329" y="17441"/>
                </a:cubicBezTo>
                <a:cubicBezTo>
                  <a:pt x="-642" y="20411"/>
                  <a:pt x="-642" y="25235"/>
                  <a:pt x="2329" y="28205"/>
                </a:cubicBezTo>
                <a:lnTo>
                  <a:pt x="34977" y="60830"/>
                </a:lnTo>
                <a:lnTo>
                  <a:pt x="2352" y="93478"/>
                </a:lnTo>
                <a:cubicBezTo>
                  <a:pt x="-618" y="96448"/>
                  <a:pt x="-618" y="101272"/>
                  <a:pt x="2352" y="104242"/>
                </a:cubicBezTo>
                <a:cubicBezTo>
                  <a:pt x="5323" y="107212"/>
                  <a:pt x="10146" y="107212"/>
                  <a:pt x="13116" y="104242"/>
                </a:cubicBezTo>
                <a:lnTo>
                  <a:pt x="45741" y="71594"/>
                </a:lnTo>
                <a:lnTo>
                  <a:pt x="78389" y="104218"/>
                </a:lnTo>
                <a:cubicBezTo>
                  <a:pt x="81360" y="107188"/>
                  <a:pt x="86183" y="107188"/>
                  <a:pt x="89153" y="104218"/>
                </a:cubicBezTo>
                <a:cubicBezTo>
                  <a:pt x="92124" y="101248"/>
                  <a:pt x="92124" y="96425"/>
                  <a:pt x="89153" y="93454"/>
                </a:cubicBezTo>
                <a:lnTo>
                  <a:pt x="56505" y="60830"/>
                </a:lnTo>
                <a:lnTo>
                  <a:pt x="89130" y="28181"/>
                </a:lnTo>
                <a:cubicBezTo>
                  <a:pt x="92100" y="25211"/>
                  <a:pt x="92100" y="20387"/>
                  <a:pt x="89130" y="17417"/>
                </a:cubicBezTo>
                <a:cubicBezTo>
                  <a:pt x="86159" y="14447"/>
                  <a:pt x="81336" y="14447"/>
                  <a:pt x="78366" y="17417"/>
                </a:cubicBezTo>
                <a:lnTo>
                  <a:pt x="45741" y="50066"/>
                </a:lnTo>
                <a:lnTo>
                  <a:pt x="13093" y="17441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531584" y="3142287"/>
            <a:ext cx="1729300" cy="17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US/EU focused, field crops only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42577" y="3385605"/>
            <a:ext cx="91244" cy="121659"/>
          </a:xfrm>
          <a:custGeom>
            <a:avLst/>
            <a:gdLst/>
            <a:ahLst/>
            <a:cxnLst/>
            <a:rect l="l" t="t" r="r" b="b"/>
            <a:pathLst>
              <a:path w="91244" h="121659">
                <a:moveTo>
                  <a:pt x="13093" y="17441"/>
                </a:moveTo>
                <a:cubicBezTo>
                  <a:pt x="10122" y="14471"/>
                  <a:pt x="5299" y="14471"/>
                  <a:pt x="2329" y="17441"/>
                </a:cubicBezTo>
                <a:cubicBezTo>
                  <a:pt x="-642" y="20411"/>
                  <a:pt x="-642" y="25235"/>
                  <a:pt x="2329" y="28205"/>
                </a:cubicBezTo>
                <a:lnTo>
                  <a:pt x="34977" y="60830"/>
                </a:lnTo>
                <a:lnTo>
                  <a:pt x="2352" y="93478"/>
                </a:lnTo>
                <a:cubicBezTo>
                  <a:pt x="-618" y="96448"/>
                  <a:pt x="-618" y="101272"/>
                  <a:pt x="2352" y="104242"/>
                </a:cubicBezTo>
                <a:cubicBezTo>
                  <a:pt x="5323" y="107212"/>
                  <a:pt x="10146" y="107212"/>
                  <a:pt x="13116" y="104242"/>
                </a:cubicBezTo>
                <a:lnTo>
                  <a:pt x="45741" y="71594"/>
                </a:lnTo>
                <a:lnTo>
                  <a:pt x="78389" y="104218"/>
                </a:lnTo>
                <a:cubicBezTo>
                  <a:pt x="81360" y="107188"/>
                  <a:pt x="86183" y="107188"/>
                  <a:pt x="89153" y="104218"/>
                </a:cubicBezTo>
                <a:cubicBezTo>
                  <a:pt x="92124" y="101248"/>
                  <a:pt x="92124" y="96425"/>
                  <a:pt x="89153" y="93454"/>
                </a:cubicBezTo>
                <a:lnTo>
                  <a:pt x="56505" y="60830"/>
                </a:lnTo>
                <a:lnTo>
                  <a:pt x="89130" y="28181"/>
                </a:lnTo>
                <a:cubicBezTo>
                  <a:pt x="92100" y="25211"/>
                  <a:pt x="92100" y="20387"/>
                  <a:pt x="89130" y="17417"/>
                </a:cubicBezTo>
                <a:cubicBezTo>
                  <a:pt x="86159" y="14447"/>
                  <a:pt x="81336" y="14447"/>
                  <a:pt x="78366" y="17417"/>
                </a:cubicBezTo>
                <a:lnTo>
                  <a:pt x="45741" y="50066"/>
                </a:lnTo>
                <a:lnTo>
                  <a:pt x="13093" y="17441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531584" y="3350846"/>
            <a:ext cx="1555501" cy="17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 expensive (₹4-12L/year)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42577" y="3594164"/>
            <a:ext cx="91244" cy="121659"/>
          </a:xfrm>
          <a:custGeom>
            <a:avLst/>
            <a:gdLst/>
            <a:ahLst/>
            <a:cxnLst/>
            <a:rect l="l" t="t" r="r" b="b"/>
            <a:pathLst>
              <a:path w="91244" h="121659">
                <a:moveTo>
                  <a:pt x="13093" y="17441"/>
                </a:moveTo>
                <a:cubicBezTo>
                  <a:pt x="10122" y="14471"/>
                  <a:pt x="5299" y="14471"/>
                  <a:pt x="2329" y="17441"/>
                </a:cubicBezTo>
                <a:cubicBezTo>
                  <a:pt x="-642" y="20411"/>
                  <a:pt x="-642" y="25235"/>
                  <a:pt x="2329" y="28205"/>
                </a:cubicBezTo>
                <a:lnTo>
                  <a:pt x="34977" y="60830"/>
                </a:lnTo>
                <a:lnTo>
                  <a:pt x="2352" y="93478"/>
                </a:lnTo>
                <a:cubicBezTo>
                  <a:pt x="-618" y="96448"/>
                  <a:pt x="-618" y="101272"/>
                  <a:pt x="2352" y="104242"/>
                </a:cubicBezTo>
                <a:cubicBezTo>
                  <a:pt x="5323" y="107212"/>
                  <a:pt x="10146" y="107212"/>
                  <a:pt x="13116" y="104242"/>
                </a:cubicBezTo>
                <a:lnTo>
                  <a:pt x="45741" y="71594"/>
                </a:lnTo>
                <a:lnTo>
                  <a:pt x="78389" y="104218"/>
                </a:lnTo>
                <a:cubicBezTo>
                  <a:pt x="81360" y="107188"/>
                  <a:pt x="86183" y="107188"/>
                  <a:pt x="89153" y="104218"/>
                </a:cubicBezTo>
                <a:cubicBezTo>
                  <a:pt x="92124" y="101248"/>
                  <a:pt x="92124" y="96425"/>
                  <a:pt x="89153" y="93454"/>
                </a:cubicBezTo>
                <a:lnTo>
                  <a:pt x="56505" y="60830"/>
                </a:lnTo>
                <a:lnTo>
                  <a:pt x="89130" y="28181"/>
                </a:lnTo>
                <a:cubicBezTo>
                  <a:pt x="92100" y="25211"/>
                  <a:pt x="92100" y="20387"/>
                  <a:pt x="89130" y="17417"/>
                </a:cubicBezTo>
                <a:cubicBezTo>
                  <a:pt x="86159" y="14447"/>
                  <a:pt x="81336" y="14447"/>
                  <a:pt x="78366" y="17417"/>
                </a:cubicBezTo>
                <a:lnTo>
                  <a:pt x="45741" y="50066"/>
                </a:lnTo>
                <a:lnTo>
                  <a:pt x="13093" y="17441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531584" y="3559404"/>
            <a:ext cx="1807510" cy="17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HVAC control for mushrooms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51074" y="4021708"/>
            <a:ext cx="11486376" cy="1362584"/>
          </a:xfrm>
          <a:custGeom>
            <a:avLst/>
            <a:gdLst/>
            <a:ahLst/>
            <a:cxnLst/>
            <a:rect l="l" t="t" r="r" b="b"/>
            <a:pathLst>
              <a:path w="11486376" h="1362584">
                <a:moveTo>
                  <a:pt x="104279" y="0"/>
                </a:moveTo>
                <a:lnTo>
                  <a:pt x="11382097" y="0"/>
                </a:lnTo>
                <a:cubicBezTo>
                  <a:pt x="11439689" y="0"/>
                  <a:pt x="11486376" y="46687"/>
                  <a:pt x="11486376" y="104279"/>
                </a:cubicBezTo>
                <a:lnTo>
                  <a:pt x="11486376" y="1258306"/>
                </a:lnTo>
                <a:cubicBezTo>
                  <a:pt x="11486376" y="1315897"/>
                  <a:pt x="11439689" y="1362584"/>
                  <a:pt x="11382097" y="1362584"/>
                </a:cubicBezTo>
                <a:lnTo>
                  <a:pt x="104279" y="1362584"/>
                </a:lnTo>
                <a:cubicBezTo>
                  <a:pt x="46687" y="1362584"/>
                  <a:pt x="0" y="1315897"/>
                  <a:pt x="0" y="1258306"/>
                </a:cubicBezTo>
                <a:lnTo>
                  <a:pt x="0" y="104279"/>
                </a:lnTo>
                <a:cubicBezTo>
                  <a:pt x="0" y="46726"/>
                  <a:pt x="46726" y="0"/>
                  <a:pt x="104279" y="0"/>
                </a:cubicBezTo>
                <a:close/>
              </a:path>
            </a:pathLst>
          </a:custGeom>
          <a:gradFill rotWithShape="1" flip="none">
            <a:gsLst>
              <a:gs pos="0">
                <a:srgbClr val="E9C46A">
                  <a:alpha val="20000"/>
                </a:srgbClr>
              </a:gs>
              <a:gs pos="100000">
                <a:srgbClr val="D4A373">
                  <a:alpha val="20000"/>
                </a:srgbClr>
              </a:gs>
            </a:gsLst>
            <a:lin ang="0" scaled="1"/>
          </a:gradFill>
          <a:ln w="10160">
            <a:solidFill>
              <a:srgbClr val="E9C46A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93589" y="4164226"/>
            <a:ext cx="11262175" cy="17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 b="1" spc="48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OPTION 3: CUSTOM IN-HOUSE DEVELOPMENT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28415" y="4442304"/>
            <a:ext cx="3771438" cy="312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53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₹15-25L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63174" y="4789902"/>
            <a:ext cx="3701919" cy="17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8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Development Cost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208651" y="4442304"/>
            <a:ext cx="3771438" cy="312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53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12-18 mo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243411" y="4789902"/>
            <a:ext cx="3701919" cy="17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8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Timeline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988997" y="4442304"/>
            <a:ext cx="3771438" cy="312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53" b="1" dirty="0">
                <a:solidFill>
                  <a:srgbClr val="6B8E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₹2-4L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023757" y="4789902"/>
            <a:ext cx="3701919" cy="17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8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Maintenance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711043" y="5088836"/>
            <a:ext cx="121659" cy="121659"/>
          </a:xfrm>
          <a:custGeom>
            <a:avLst/>
            <a:gdLst/>
            <a:ahLst/>
            <a:cxnLst/>
            <a:rect l="l" t="t" r="r" b="b"/>
            <a:pathLst>
              <a:path w="121659" h="121659">
                <a:moveTo>
                  <a:pt x="60830" y="121659"/>
                </a:moveTo>
                <a:cubicBezTo>
                  <a:pt x="94402" y="121659"/>
                  <a:pt x="121659" y="94402"/>
                  <a:pt x="121659" y="60830"/>
                </a:cubicBezTo>
                <a:cubicBezTo>
                  <a:pt x="121659" y="27257"/>
                  <a:pt x="94402" y="0"/>
                  <a:pt x="60830" y="0"/>
                </a:cubicBezTo>
                <a:cubicBezTo>
                  <a:pt x="27257" y="0"/>
                  <a:pt x="0" y="27257"/>
                  <a:pt x="0" y="60830"/>
                </a:cubicBezTo>
                <a:cubicBezTo>
                  <a:pt x="0" y="94402"/>
                  <a:pt x="27257" y="121659"/>
                  <a:pt x="60830" y="121659"/>
                </a:cubicBezTo>
                <a:close/>
                <a:moveTo>
                  <a:pt x="53226" y="38019"/>
                </a:moveTo>
                <a:cubicBezTo>
                  <a:pt x="53226" y="33822"/>
                  <a:pt x="56633" y="30415"/>
                  <a:pt x="60830" y="30415"/>
                </a:cubicBezTo>
                <a:cubicBezTo>
                  <a:pt x="65026" y="30415"/>
                  <a:pt x="68433" y="33822"/>
                  <a:pt x="68433" y="38019"/>
                </a:cubicBezTo>
                <a:cubicBezTo>
                  <a:pt x="68433" y="42215"/>
                  <a:pt x="65026" y="45622"/>
                  <a:pt x="60830" y="45622"/>
                </a:cubicBezTo>
                <a:cubicBezTo>
                  <a:pt x="56633" y="45622"/>
                  <a:pt x="53226" y="42215"/>
                  <a:pt x="53226" y="38019"/>
                </a:cubicBezTo>
                <a:close/>
                <a:moveTo>
                  <a:pt x="51325" y="53226"/>
                </a:moveTo>
                <a:lnTo>
                  <a:pt x="62731" y="53226"/>
                </a:lnTo>
                <a:cubicBezTo>
                  <a:pt x="65891" y="53226"/>
                  <a:pt x="68433" y="55768"/>
                  <a:pt x="68433" y="58929"/>
                </a:cubicBezTo>
                <a:lnTo>
                  <a:pt x="68433" y="79839"/>
                </a:lnTo>
                <a:lnTo>
                  <a:pt x="70334" y="79839"/>
                </a:lnTo>
                <a:cubicBezTo>
                  <a:pt x="73495" y="79839"/>
                  <a:pt x="76037" y="82381"/>
                  <a:pt x="76037" y="85542"/>
                </a:cubicBezTo>
                <a:cubicBezTo>
                  <a:pt x="76037" y="88702"/>
                  <a:pt x="73495" y="91244"/>
                  <a:pt x="70334" y="91244"/>
                </a:cubicBezTo>
                <a:lnTo>
                  <a:pt x="51325" y="91244"/>
                </a:lnTo>
                <a:cubicBezTo>
                  <a:pt x="48165" y="91244"/>
                  <a:pt x="45622" y="88702"/>
                  <a:pt x="45622" y="85542"/>
                </a:cubicBezTo>
                <a:cubicBezTo>
                  <a:pt x="45622" y="82381"/>
                  <a:pt x="48165" y="79839"/>
                  <a:pt x="51325" y="79839"/>
                </a:cubicBezTo>
                <a:lnTo>
                  <a:pt x="57028" y="79839"/>
                </a:lnTo>
                <a:lnTo>
                  <a:pt x="57028" y="64632"/>
                </a:lnTo>
                <a:lnTo>
                  <a:pt x="51325" y="64632"/>
                </a:lnTo>
                <a:cubicBezTo>
                  <a:pt x="48165" y="64632"/>
                  <a:pt x="45622" y="62089"/>
                  <a:pt x="45622" y="58929"/>
                </a:cubicBezTo>
                <a:cubicBezTo>
                  <a:pt x="45622" y="55768"/>
                  <a:pt x="48165" y="53226"/>
                  <a:pt x="51325" y="53226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67162" y="5067981"/>
            <a:ext cx="11058188" cy="17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8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viable for ₹50Cr+ corporate farms. Not accessible to 1,000+ small-medium farms.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54550" y="5533760"/>
            <a:ext cx="11475948" cy="969798"/>
          </a:xfrm>
          <a:custGeom>
            <a:avLst/>
            <a:gdLst/>
            <a:ahLst/>
            <a:cxnLst/>
            <a:rect l="l" t="t" r="r" b="b"/>
            <a:pathLst>
              <a:path w="11475948" h="969798">
                <a:moveTo>
                  <a:pt x="104282" y="0"/>
                </a:moveTo>
                <a:lnTo>
                  <a:pt x="11371666" y="0"/>
                </a:lnTo>
                <a:cubicBezTo>
                  <a:pt x="11429259" y="0"/>
                  <a:pt x="11475948" y="46689"/>
                  <a:pt x="11475948" y="104282"/>
                </a:cubicBezTo>
                <a:lnTo>
                  <a:pt x="11475948" y="865516"/>
                </a:lnTo>
                <a:cubicBezTo>
                  <a:pt x="11475948" y="923110"/>
                  <a:pt x="11429259" y="969798"/>
                  <a:pt x="11371666" y="969798"/>
                </a:cubicBezTo>
                <a:lnTo>
                  <a:pt x="104282" y="969798"/>
                </a:lnTo>
                <a:cubicBezTo>
                  <a:pt x="46689" y="969798"/>
                  <a:pt x="0" y="923110"/>
                  <a:pt x="0" y="865516"/>
                </a:cubicBezTo>
                <a:lnTo>
                  <a:pt x="0" y="104282"/>
                </a:lnTo>
                <a:cubicBezTo>
                  <a:pt x="0" y="46727"/>
                  <a:pt x="46727" y="0"/>
                  <a:pt x="104282" y="0"/>
                </a:cubicBezTo>
                <a:close/>
              </a:path>
            </a:pathLst>
          </a:custGeom>
          <a:solidFill>
            <a:srgbClr val="E9C46A">
              <a:alpha val="10196"/>
            </a:srgbClr>
          </a:solidFill>
          <a:ln w="20320">
            <a:solidFill>
              <a:srgbClr val="E9C46A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500541" y="5740582"/>
            <a:ext cx="556157" cy="556157"/>
          </a:xfrm>
          <a:custGeom>
            <a:avLst/>
            <a:gdLst/>
            <a:ahLst/>
            <a:cxnLst/>
            <a:rect l="l" t="t" r="r" b="b"/>
            <a:pathLst>
              <a:path w="556157" h="556157">
                <a:moveTo>
                  <a:pt x="278078" y="0"/>
                </a:moveTo>
                <a:lnTo>
                  <a:pt x="278078" y="0"/>
                </a:lnTo>
                <a:cubicBezTo>
                  <a:pt x="431554" y="0"/>
                  <a:pt x="556157" y="124603"/>
                  <a:pt x="556157" y="278078"/>
                </a:cubicBezTo>
                <a:lnTo>
                  <a:pt x="556157" y="278078"/>
                </a:lnTo>
                <a:cubicBezTo>
                  <a:pt x="556157" y="431554"/>
                  <a:pt x="431554" y="556157"/>
                  <a:pt x="278078" y="556157"/>
                </a:cubicBezTo>
                <a:lnTo>
                  <a:pt x="278078" y="556157"/>
                </a:lnTo>
                <a:cubicBezTo>
                  <a:pt x="124603" y="556157"/>
                  <a:pt x="0" y="431554"/>
                  <a:pt x="0" y="278078"/>
                </a:cubicBezTo>
                <a:lnTo>
                  <a:pt x="0" y="278078"/>
                </a:lnTo>
                <a:cubicBezTo>
                  <a:pt x="0" y="124603"/>
                  <a:pt x="124603" y="0"/>
                  <a:pt x="278078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650443" y="5888311"/>
            <a:ext cx="260699" cy="260699"/>
          </a:xfrm>
          <a:custGeom>
            <a:avLst/>
            <a:gdLst/>
            <a:ahLst/>
            <a:cxnLst/>
            <a:rect l="l" t="t" r="r" b="b"/>
            <a:pathLst>
              <a:path w="260699" h="260699">
                <a:moveTo>
                  <a:pt x="73474" y="0"/>
                </a:moveTo>
                <a:lnTo>
                  <a:pt x="187530" y="0"/>
                </a:lnTo>
                <a:cubicBezTo>
                  <a:pt x="201023" y="0"/>
                  <a:pt x="212021" y="11100"/>
                  <a:pt x="211512" y="24542"/>
                </a:cubicBezTo>
                <a:cubicBezTo>
                  <a:pt x="211410" y="27241"/>
                  <a:pt x="211308" y="29940"/>
                  <a:pt x="211156" y="32587"/>
                </a:cubicBezTo>
                <a:lnTo>
                  <a:pt x="236411" y="32587"/>
                </a:lnTo>
                <a:cubicBezTo>
                  <a:pt x="249700" y="32587"/>
                  <a:pt x="261411" y="43586"/>
                  <a:pt x="260393" y="57944"/>
                </a:cubicBezTo>
                <a:cubicBezTo>
                  <a:pt x="256574" y="110746"/>
                  <a:pt x="229588" y="139769"/>
                  <a:pt x="200310" y="154942"/>
                </a:cubicBezTo>
                <a:cubicBezTo>
                  <a:pt x="192265" y="159118"/>
                  <a:pt x="184067" y="162224"/>
                  <a:pt x="176277" y="164515"/>
                </a:cubicBezTo>
                <a:cubicBezTo>
                  <a:pt x="165992" y="179077"/>
                  <a:pt x="155299" y="186766"/>
                  <a:pt x="146796" y="190890"/>
                </a:cubicBezTo>
                <a:lnTo>
                  <a:pt x="146796" y="228111"/>
                </a:lnTo>
                <a:lnTo>
                  <a:pt x="179383" y="228111"/>
                </a:lnTo>
                <a:cubicBezTo>
                  <a:pt x="188395" y="228111"/>
                  <a:pt x="195677" y="235392"/>
                  <a:pt x="195677" y="244405"/>
                </a:cubicBezTo>
                <a:cubicBezTo>
                  <a:pt x="195677" y="253417"/>
                  <a:pt x="188395" y="260699"/>
                  <a:pt x="179383" y="260699"/>
                </a:cubicBezTo>
                <a:lnTo>
                  <a:pt x="81621" y="260699"/>
                </a:lnTo>
                <a:cubicBezTo>
                  <a:pt x="72609" y="260699"/>
                  <a:pt x="65327" y="253417"/>
                  <a:pt x="65327" y="244405"/>
                </a:cubicBezTo>
                <a:cubicBezTo>
                  <a:pt x="65327" y="235392"/>
                  <a:pt x="72609" y="228111"/>
                  <a:pt x="81621" y="228111"/>
                </a:cubicBezTo>
                <a:lnTo>
                  <a:pt x="114208" y="228111"/>
                </a:lnTo>
                <a:lnTo>
                  <a:pt x="114208" y="190890"/>
                </a:lnTo>
                <a:cubicBezTo>
                  <a:pt x="106062" y="186970"/>
                  <a:pt x="95929" y="179688"/>
                  <a:pt x="86051" y="166297"/>
                </a:cubicBezTo>
                <a:cubicBezTo>
                  <a:pt x="76682" y="163853"/>
                  <a:pt x="66498" y="160136"/>
                  <a:pt x="56570" y="154535"/>
                </a:cubicBezTo>
                <a:cubicBezTo>
                  <a:pt x="29023" y="139107"/>
                  <a:pt x="4175" y="110033"/>
                  <a:pt x="611" y="57842"/>
                </a:cubicBezTo>
                <a:cubicBezTo>
                  <a:pt x="-356" y="43535"/>
                  <a:pt x="11304" y="32536"/>
                  <a:pt x="24593" y="32536"/>
                </a:cubicBezTo>
                <a:lnTo>
                  <a:pt x="49848" y="32536"/>
                </a:lnTo>
                <a:cubicBezTo>
                  <a:pt x="49696" y="29889"/>
                  <a:pt x="49594" y="27241"/>
                  <a:pt x="49492" y="24491"/>
                </a:cubicBezTo>
                <a:cubicBezTo>
                  <a:pt x="48983" y="10998"/>
                  <a:pt x="59981" y="-51"/>
                  <a:pt x="73474" y="-51"/>
                </a:cubicBezTo>
                <a:close/>
                <a:moveTo>
                  <a:pt x="51681" y="57028"/>
                </a:moveTo>
                <a:lnTo>
                  <a:pt x="25001" y="57028"/>
                </a:lnTo>
                <a:cubicBezTo>
                  <a:pt x="28157" y="100155"/>
                  <a:pt x="47964" y="121744"/>
                  <a:pt x="68382" y="133201"/>
                </a:cubicBezTo>
                <a:cubicBezTo>
                  <a:pt x="61050" y="114208"/>
                  <a:pt x="54991" y="89411"/>
                  <a:pt x="51681" y="57028"/>
                </a:cubicBezTo>
                <a:close/>
                <a:moveTo>
                  <a:pt x="193487" y="130757"/>
                </a:moveTo>
                <a:cubicBezTo>
                  <a:pt x="214109" y="118638"/>
                  <a:pt x="232745" y="97100"/>
                  <a:pt x="235902" y="57028"/>
                </a:cubicBezTo>
                <a:lnTo>
                  <a:pt x="209272" y="57028"/>
                </a:lnTo>
                <a:cubicBezTo>
                  <a:pt x="206115" y="88037"/>
                  <a:pt x="200412" y="112121"/>
                  <a:pt x="193487" y="130757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1195737" y="5679752"/>
            <a:ext cx="10566979" cy="24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2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COMPETITIVE ADVANTAGE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2392126" y="5992590"/>
            <a:ext cx="156419" cy="156419"/>
          </a:xfrm>
          <a:custGeom>
            <a:avLst/>
            <a:gdLst/>
            <a:ahLst/>
            <a:cxnLst/>
            <a:rect l="l" t="t" r="r" b="b"/>
            <a:pathLst>
              <a:path w="156419" h="156419">
                <a:moveTo>
                  <a:pt x="78210" y="156419"/>
                </a:moveTo>
                <a:cubicBezTo>
                  <a:pt x="121375" y="156419"/>
                  <a:pt x="156419" y="121375"/>
                  <a:pt x="156419" y="78210"/>
                </a:cubicBezTo>
                <a:cubicBezTo>
                  <a:pt x="156419" y="35045"/>
                  <a:pt x="121375" y="0"/>
                  <a:pt x="78210" y="0"/>
                </a:cubicBezTo>
                <a:cubicBezTo>
                  <a:pt x="35045" y="0"/>
                  <a:pt x="0" y="35045"/>
                  <a:pt x="0" y="78210"/>
                </a:cubicBezTo>
                <a:cubicBezTo>
                  <a:pt x="0" y="121375"/>
                  <a:pt x="35045" y="156419"/>
                  <a:pt x="78210" y="156419"/>
                </a:cubicBezTo>
                <a:close/>
                <a:moveTo>
                  <a:pt x="103994" y="64981"/>
                </a:moveTo>
                <a:lnTo>
                  <a:pt x="79554" y="104086"/>
                </a:lnTo>
                <a:cubicBezTo>
                  <a:pt x="78271" y="106133"/>
                  <a:pt x="76071" y="107416"/>
                  <a:pt x="73658" y="107538"/>
                </a:cubicBezTo>
                <a:cubicBezTo>
                  <a:pt x="71244" y="107660"/>
                  <a:pt x="68922" y="106561"/>
                  <a:pt x="67486" y="104605"/>
                </a:cubicBezTo>
                <a:lnTo>
                  <a:pt x="52822" y="85053"/>
                </a:lnTo>
                <a:cubicBezTo>
                  <a:pt x="50378" y="81815"/>
                  <a:pt x="51050" y="77232"/>
                  <a:pt x="54288" y="74788"/>
                </a:cubicBezTo>
                <a:cubicBezTo>
                  <a:pt x="57527" y="72344"/>
                  <a:pt x="62109" y="73016"/>
                  <a:pt x="64553" y="76254"/>
                </a:cubicBezTo>
                <a:lnTo>
                  <a:pt x="72802" y="87253"/>
                </a:lnTo>
                <a:lnTo>
                  <a:pt x="91560" y="57221"/>
                </a:lnTo>
                <a:cubicBezTo>
                  <a:pt x="93699" y="53800"/>
                  <a:pt x="98220" y="52730"/>
                  <a:pt x="101672" y="54899"/>
                </a:cubicBezTo>
                <a:cubicBezTo>
                  <a:pt x="105125" y="57069"/>
                  <a:pt x="106163" y="61559"/>
                  <a:pt x="103994" y="65012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1165322" y="6183769"/>
            <a:ext cx="2606985" cy="17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8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Mushroom-Specific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041366" y="5992590"/>
            <a:ext cx="156419" cy="156419"/>
          </a:xfrm>
          <a:custGeom>
            <a:avLst/>
            <a:gdLst/>
            <a:ahLst/>
            <a:cxnLst/>
            <a:rect l="l" t="t" r="r" b="b"/>
            <a:pathLst>
              <a:path w="156419" h="156419">
                <a:moveTo>
                  <a:pt x="78210" y="156419"/>
                </a:moveTo>
                <a:cubicBezTo>
                  <a:pt x="121375" y="156419"/>
                  <a:pt x="156419" y="121375"/>
                  <a:pt x="156419" y="78210"/>
                </a:cubicBezTo>
                <a:cubicBezTo>
                  <a:pt x="156419" y="35045"/>
                  <a:pt x="121375" y="0"/>
                  <a:pt x="78210" y="0"/>
                </a:cubicBezTo>
                <a:cubicBezTo>
                  <a:pt x="35045" y="0"/>
                  <a:pt x="0" y="35045"/>
                  <a:pt x="0" y="78210"/>
                </a:cubicBezTo>
                <a:cubicBezTo>
                  <a:pt x="0" y="121375"/>
                  <a:pt x="35045" y="156419"/>
                  <a:pt x="78210" y="156419"/>
                </a:cubicBezTo>
                <a:close/>
                <a:moveTo>
                  <a:pt x="103994" y="64981"/>
                </a:moveTo>
                <a:lnTo>
                  <a:pt x="79554" y="104086"/>
                </a:lnTo>
                <a:cubicBezTo>
                  <a:pt x="78271" y="106133"/>
                  <a:pt x="76071" y="107416"/>
                  <a:pt x="73658" y="107538"/>
                </a:cubicBezTo>
                <a:cubicBezTo>
                  <a:pt x="71244" y="107660"/>
                  <a:pt x="68922" y="106561"/>
                  <a:pt x="67486" y="104605"/>
                </a:cubicBezTo>
                <a:lnTo>
                  <a:pt x="52822" y="85053"/>
                </a:lnTo>
                <a:cubicBezTo>
                  <a:pt x="50378" y="81815"/>
                  <a:pt x="51050" y="77232"/>
                  <a:pt x="54288" y="74788"/>
                </a:cubicBezTo>
                <a:cubicBezTo>
                  <a:pt x="57527" y="72344"/>
                  <a:pt x="62109" y="73016"/>
                  <a:pt x="64553" y="76254"/>
                </a:cubicBezTo>
                <a:lnTo>
                  <a:pt x="72802" y="87253"/>
                </a:lnTo>
                <a:lnTo>
                  <a:pt x="91560" y="57221"/>
                </a:lnTo>
                <a:cubicBezTo>
                  <a:pt x="93699" y="53800"/>
                  <a:pt x="98220" y="52730"/>
                  <a:pt x="101672" y="54899"/>
                </a:cubicBezTo>
                <a:cubicBezTo>
                  <a:pt x="105125" y="57069"/>
                  <a:pt x="106163" y="61559"/>
                  <a:pt x="103994" y="65012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3814562" y="6183769"/>
            <a:ext cx="2606985" cy="17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8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2-4 Week Setup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690606" y="5992590"/>
            <a:ext cx="156419" cy="156419"/>
          </a:xfrm>
          <a:custGeom>
            <a:avLst/>
            <a:gdLst/>
            <a:ahLst/>
            <a:cxnLst/>
            <a:rect l="l" t="t" r="r" b="b"/>
            <a:pathLst>
              <a:path w="156419" h="156419">
                <a:moveTo>
                  <a:pt x="78210" y="156419"/>
                </a:moveTo>
                <a:cubicBezTo>
                  <a:pt x="121375" y="156419"/>
                  <a:pt x="156419" y="121375"/>
                  <a:pt x="156419" y="78210"/>
                </a:cubicBezTo>
                <a:cubicBezTo>
                  <a:pt x="156419" y="35045"/>
                  <a:pt x="121375" y="0"/>
                  <a:pt x="78210" y="0"/>
                </a:cubicBezTo>
                <a:cubicBezTo>
                  <a:pt x="35045" y="0"/>
                  <a:pt x="0" y="35045"/>
                  <a:pt x="0" y="78210"/>
                </a:cubicBezTo>
                <a:cubicBezTo>
                  <a:pt x="0" y="121375"/>
                  <a:pt x="35045" y="156419"/>
                  <a:pt x="78210" y="156419"/>
                </a:cubicBezTo>
                <a:close/>
                <a:moveTo>
                  <a:pt x="103994" y="64981"/>
                </a:moveTo>
                <a:lnTo>
                  <a:pt x="79554" y="104086"/>
                </a:lnTo>
                <a:cubicBezTo>
                  <a:pt x="78271" y="106133"/>
                  <a:pt x="76071" y="107416"/>
                  <a:pt x="73658" y="107538"/>
                </a:cubicBezTo>
                <a:cubicBezTo>
                  <a:pt x="71244" y="107660"/>
                  <a:pt x="68922" y="106561"/>
                  <a:pt x="67486" y="104605"/>
                </a:cubicBezTo>
                <a:lnTo>
                  <a:pt x="52822" y="85053"/>
                </a:lnTo>
                <a:cubicBezTo>
                  <a:pt x="50378" y="81815"/>
                  <a:pt x="51050" y="77232"/>
                  <a:pt x="54288" y="74788"/>
                </a:cubicBezTo>
                <a:cubicBezTo>
                  <a:pt x="57527" y="72344"/>
                  <a:pt x="62109" y="73016"/>
                  <a:pt x="64553" y="76254"/>
                </a:cubicBezTo>
                <a:lnTo>
                  <a:pt x="72802" y="87253"/>
                </a:lnTo>
                <a:lnTo>
                  <a:pt x="91560" y="57221"/>
                </a:lnTo>
                <a:cubicBezTo>
                  <a:pt x="93699" y="53800"/>
                  <a:pt x="98220" y="52730"/>
                  <a:pt x="101672" y="54899"/>
                </a:cubicBezTo>
                <a:cubicBezTo>
                  <a:pt x="105125" y="57069"/>
                  <a:pt x="106163" y="61559"/>
                  <a:pt x="103994" y="65012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6463802" y="6183769"/>
            <a:ext cx="2606985" cy="17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8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₹50K-2L Year 1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0339954" y="5992590"/>
            <a:ext cx="156419" cy="156419"/>
          </a:xfrm>
          <a:custGeom>
            <a:avLst/>
            <a:gdLst/>
            <a:ahLst/>
            <a:cxnLst/>
            <a:rect l="l" t="t" r="r" b="b"/>
            <a:pathLst>
              <a:path w="156419" h="156419">
                <a:moveTo>
                  <a:pt x="78210" y="156419"/>
                </a:moveTo>
                <a:cubicBezTo>
                  <a:pt x="121375" y="156419"/>
                  <a:pt x="156419" y="121375"/>
                  <a:pt x="156419" y="78210"/>
                </a:cubicBezTo>
                <a:cubicBezTo>
                  <a:pt x="156419" y="35045"/>
                  <a:pt x="121375" y="0"/>
                  <a:pt x="78210" y="0"/>
                </a:cubicBezTo>
                <a:cubicBezTo>
                  <a:pt x="35045" y="0"/>
                  <a:pt x="0" y="35045"/>
                  <a:pt x="0" y="78210"/>
                </a:cubicBezTo>
                <a:cubicBezTo>
                  <a:pt x="0" y="121375"/>
                  <a:pt x="35045" y="156419"/>
                  <a:pt x="78210" y="156419"/>
                </a:cubicBezTo>
                <a:close/>
                <a:moveTo>
                  <a:pt x="103994" y="64981"/>
                </a:moveTo>
                <a:lnTo>
                  <a:pt x="79554" y="104086"/>
                </a:lnTo>
                <a:cubicBezTo>
                  <a:pt x="78271" y="106133"/>
                  <a:pt x="76071" y="107416"/>
                  <a:pt x="73658" y="107538"/>
                </a:cubicBezTo>
                <a:cubicBezTo>
                  <a:pt x="71244" y="107660"/>
                  <a:pt x="68922" y="106561"/>
                  <a:pt x="67486" y="104605"/>
                </a:cubicBezTo>
                <a:lnTo>
                  <a:pt x="52822" y="85053"/>
                </a:lnTo>
                <a:cubicBezTo>
                  <a:pt x="50378" y="81815"/>
                  <a:pt x="51050" y="77232"/>
                  <a:pt x="54288" y="74788"/>
                </a:cubicBezTo>
                <a:cubicBezTo>
                  <a:pt x="57527" y="72344"/>
                  <a:pt x="62109" y="73016"/>
                  <a:pt x="64553" y="76254"/>
                </a:cubicBezTo>
                <a:lnTo>
                  <a:pt x="72802" y="87253"/>
                </a:lnTo>
                <a:lnTo>
                  <a:pt x="91560" y="57221"/>
                </a:lnTo>
                <a:cubicBezTo>
                  <a:pt x="93699" y="53800"/>
                  <a:pt x="98220" y="52730"/>
                  <a:pt x="101672" y="54899"/>
                </a:cubicBezTo>
                <a:cubicBezTo>
                  <a:pt x="105125" y="57069"/>
                  <a:pt x="106163" y="61559"/>
                  <a:pt x="103994" y="65012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9113042" y="6183769"/>
            <a:ext cx="2606985" cy="17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8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Offline-First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 Platform, Infinite Possibilities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Chaos to Complete Control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8620" y="1455420"/>
            <a:ext cx="3720465" cy="2186940"/>
          </a:xfrm>
          <a:custGeom>
            <a:avLst/>
            <a:gdLst/>
            <a:ahLst/>
            <a:cxnLst/>
            <a:rect l="l" t="t" r="r" b="b"/>
            <a:pathLst>
              <a:path w="3720465" h="2186940">
                <a:moveTo>
                  <a:pt x="114289" y="0"/>
                </a:moveTo>
                <a:lnTo>
                  <a:pt x="3606176" y="0"/>
                </a:lnTo>
                <a:cubicBezTo>
                  <a:pt x="3669296" y="0"/>
                  <a:pt x="3720465" y="51169"/>
                  <a:pt x="3720465" y="114289"/>
                </a:cubicBezTo>
                <a:lnTo>
                  <a:pt x="3720465" y="2072651"/>
                </a:lnTo>
                <a:cubicBezTo>
                  <a:pt x="3720465" y="2135729"/>
                  <a:pt x="3669254" y="2186940"/>
                  <a:pt x="3606176" y="2186940"/>
                </a:cubicBezTo>
                <a:lnTo>
                  <a:pt x="114289" y="2186940"/>
                </a:lnTo>
                <a:cubicBezTo>
                  <a:pt x="51169" y="2186940"/>
                  <a:pt x="0" y="2135771"/>
                  <a:pt x="0" y="207265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gradFill rotWithShape="1" flip="none">
            <a:gsLst>
              <a:gs pos="0">
                <a:srgbClr val="6B8E6E">
                  <a:alpha val="30000"/>
                </a:srgbClr>
              </a:gs>
              <a:gs pos="100000">
                <a:srgbClr val="6B8E6E">
                  <a:alpha val="10000"/>
                </a:srgbClr>
              </a:gs>
            </a:gsLst>
            <a:lin ang="2700000" scaled="1"/>
          </a:gradFill>
          <a:ln w="20320">
            <a:solidFill>
              <a:srgbClr val="6B8E6E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6154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81990" y="174879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320" y="0"/>
                </a:moveTo>
                <a:cubicBezTo>
                  <a:pt x="143842" y="0"/>
                  <a:pt x="190500" y="46658"/>
                  <a:pt x="190500" y="104180"/>
                </a:cubicBezTo>
                <a:cubicBezTo>
                  <a:pt x="190500" y="109128"/>
                  <a:pt x="186519" y="113109"/>
                  <a:pt x="181570" y="113109"/>
                </a:cubicBezTo>
                <a:cubicBezTo>
                  <a:pt x="176622" y="113109"/>
                  <a:pt x="172641" y="109128"/>
                  <a:pt x="172641" y="104180"/>
                </a:cubicBezTo>
                <a:cubicBezTo>
                  <a:pt x="172641" y="56517"/>
                  <a:pt x="133983" y="17859"/>
                  <a:pt x="86320" y="17859"/>
                </a:cubicBezTo>
                <a:cubicBezTo>
                  <a:pt x="81372" y="17859"/>
                  <a:pt x="77391" y="13878"/>
                  <a:pt x="77391" y="8930"/>
                </a:cubicBezTo>
                <a:cubicBezTo>
                  <a:pt x="77391" y="3981"/>
                  <a:pt x="81372" y="0"/>
                  <a:pt x="86320" y="0"/>
                </a:cubicBezTo>
                <a:close/>
                <a:moveTo>
                  <a:pt x="77391" y="44648"/>
                </a:moveTo>
                <a:cubicBezTo>
                  <a:pt x="77391" y="39700"/>
                  <a:pt x="81372" y="35719"/>
                  <a:pt x="86320" y="35719"/>
                </a:cubicBezTo>
                <a:cubicBezTo>
                  <a:pt x="124123" y="35719"/>
                  <a:pt x="154781" y="66377"/>
                  <a:pt x="154781" y="104180"/>
                </a:cubicBezTo>
                <a:cubicBezTo>
                  <a:pt x="154781" y="109128"/>
                  <a:pt x="150800" y="113109"/>
                  <a:pt x="145852" y="113109"/>
                </a:cubicBezTo>
                <a:cubicBezTo>
                  <a:pt x="140903" y="113109"/>
                  <a:pt x="136922" y="109128"/>
                  <a:pt x="136922" y="104180"/>
                </a:cubicBezTo>
                <a:cubicBezTo>
                  <a:pt x="136922" y="76237"/>
                  <a:pt x="114263" y="53578"/>
                  <a:pt x="86320" y="53578"/>
                </a:cubicBezTo>
                <a:cubicBezTo>
                  <a:pt x="81372" y="53578"/>
                  <a:pt x="77391" y="49597"/>
                  <a:pt x="77391" y="44648"/>
                </a:cubicBezTo>
                <a:close/>
                <a:moveTo>
                  <a:pt x="9823" y="53094"/>
                </a:moveTo>
                <a:cubicBezTo>
                  <a:pt x="13097" y="46434"/>
                  <a:pt x="21878" y="45690"/>
                  <a:pt x="27124" y="50936"/>
                </a:cubicBezTo>
                <a:lnTo>
                  <a:pt x="74935" y="98747"/>
                </a:lnTo>
                <a:lnTo>
                  <a:pt x="86841" y="86841"/>
                </a:lnTo>
                <a:cubicBezTo>
                  <a:pt x="91492" y="82190"/>
                  <a:pt x="99045" y="82190"/>
                  <a:pt x="103696" y="86841"/>
                </a:cubicBezTo>
                <a:cubicBezTo>
                  <a:pt x="108347" y="91492"/>
                  <a:pt x="108347" y="99045"/>
                  <a:pt x="103696" y="103696"/>
                </a:cubicBezTo>
                <a:lnTo>
                  <a:pt x="91790" y="115602"/>
                </a:lnTo>
                <a:lnTo>
                  <a:pt x="139601" y="163413"/>
                </a:lnTo>
                <a:cubicBezTo>
                  <a:pt x="144847" y="168659"/>
                  <a:pt x="144066" y="177403"/>
                  <a:pt x="137443" y="180715"/>
                </a:cubicBezTo>
                <a:cubicBezTo>
                  <a:pt x="124718" y="187003"/>
                  <a:pt x="110430" y="190537"/>
                  <a:pt x="95287" y="190537"/>
                </a:cubicBezTo>
                <a:cubicBezTo>
                  <a:pt x="42676" y="190537"/>
                  <a:pt x="37" y="147898"/>
                  <a:pt x="37" y="95287"/>
                </a:cubicBezTo>
                <a:cubicBezTo>
                  <a:pt x="37" y="80144"/>
                  <a:pt x="3572" y="65819"/>
                  <a:pt x="9860" y="53132"/>
                </a:cubicBezTo>
                <a:close/>
              </a:path>
            </a:pathLst>
          </a:custGeom>
          <a:solidFill>
            <a:srgbClr val="F5F1E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20140" y="1710691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IoT Sensors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215" y="222504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15340" y="2186941"/>
            <a:ext cx="2257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Temperature monitoring (±0.5°C)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7215" y="249174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15340" y="2453641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Humidity tracking (±2% RH)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7215" y="275844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15340" y="2720341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CO2 levels (10-1000 ppm)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7215" y="302514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15340" y="2987041"/>
            <a:ext cx="128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Air quality sensors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7215" y="329184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15340" y="3253741"/>
            <a:ext cx="1733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alerts (&lt;15 min)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36720" y="1455420"/>
            <a:ext cx="3720465" cy="2186940"/>
          </a:xfrm>
          <a:custGeom>
            <a:avLst/>
            <a:gdLst/>
            <a:ahLst/>
            <a:cxnLst/>
            <a:rect l="l" t="t" r="r" b="b"/>
            <a:pathLst>
              <a:path w="3720465" h="2186940">
                <a:moveTo>
                  <a:pt x="114289" y="0"/>
                </a:moveTo>
                <a:lnTo>
                  <a:pt x="3606176" y="0"/>
                </a:lnTo>
                <a:cubicBezTo>
                  <a:pt x="3669296" y="0"/>
                  <a:pt x="3720465" y="51169"/>
                  <a:pt x="3720465" y="114289"/>
                </a:cubicBezTo>
                <a:lnTo>
                  <a:pt x="3720465" y="2072651"/>
                </a:lnTo>
                <a:cubicBezTo>
                  <a:pt x="3720465" y="2135729"/>
                  <a:pt x="3669254" y="2186940"/>
                  <a:pt x="3606176" y="2186940"/>
                </a:cubicBezTo>
                <a:lnTo>
                  <a:pt x="114289" y="2186940"/>
                </a:lnTo>
                <a:cubicBezTo>
                  <a:pt x="51169" y="2186940"/>
                  <a:pt x="0" y="2135771"/>
                  <a:pt x="0" y="207265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gradFill rotWithShape="1" flip="none">
            <a:gsLst>
              <a:gs pos="0">
                <a:srgbClr val="D4A373">
                  <a:alpha val="30000"/>
                </a:srgbClr>
              </a:gs>
              <a:gs pos="100000">
                <a:srgbClr val="D4A373">
                  <a:alpha val="10000"/>
                </a:srgbClr>
              </a:gs>
            </a:gsLst>
            <a:lin ang="2700000" scaled="1"/>
          </a:gradFill>
          <a:ln w="20320">
            <a:solidFill>
              <a:srgbClr val="D4A373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396740" y="16154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518184" y="1748791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125016"/>
                </a:moveTo>
                <a:cubicBezTo>
                  <a:pt x="0" y="154595"/>
                  <a:pt x="23999" y="178594"/>
                  <a:pt x="53578" y="178594"/>
                </a:cubicBezTo>
                <a:lnTo>
                  <a:pt x="166688" y="178594"/>
                </a:lnTo>
                <a:cubicBezTo>
                  <a:pt x="192993" y="178594"/>
                  <a:pt x="214313" y="157274"/>
                  <a:pt x="214313" y="130969"/>
                </a:cubicBezTo>
                <a:cubicBezTo>
                  <a:pt x="214313" y="111770"/>
                  <a:pt x="202964" y="95213"/>
                  <a:pt x="186593" y="87697"/>
                </a:cubicBezTo>
                <a:cubicBezTo>
                  <a:pt x="189086" y="82823"/>
                  <a:pt x="190500" y="77279"/>
                  <a:pt x="190500" y="71438"/>
                </a:cubicBezTo>
                <a:cubicBezTo>
                  <a:pt x="190500" y="51718"/>
                  <a:pt x="174501" y="35719"/>
                  <a:pt x="154781" y="35719"/>
                </a:cubicBezTo>
                <a:cubicBezTo>
                  <a:pt x="148196" y="35719"/>
                  <a:pt x="142056" y="37505"/>
                  <a:pt x="136773" y="40593"/>
                </a:cubicBezTo>
                <a:cubicBezTo>
                  <a:pt x="127806" y="23552"/>
                  <a:pt x="109910" y="11906"/>
                  <a:pt x="89297" y="11906"/>
                </a:cubicBezTo>
                <a:cubicBezTo>
                  <a:pt x="59717" y="11906"/>
                  <a:pt x="35719" y="35905"/>
                  <a:pt x="35719" y="65484"/>
                </a:cubicBezTo>
                <a:cubicBezTo>
                  <a:pt x="35719" y="68461"/>
                  <a:pt x="35979" y="71400"/>
                  <a:pt x="36426" y="74228"/>
                </a:cubicBezTo>
                <a:cubicBezTo>
                  <a:pt x="15255" y="81372"/>
                  <a:pt x="0" y="101426"/>
                  <a:pt x="0" y="125016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968240" y="1710691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ERP System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25315" y="222504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663440" y="2186941"/>
            <a:ext cx="1609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Inventory management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25315" y="249174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663440" y="2453641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Batch tracking (spawn→harvest)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25315" y="275844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663440" y="2720341"/>
            <a:ext cx="147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Worker time tracking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25315" y="302514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663440" y="2987041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Yield analytics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25315" y="329184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663440" y="3253741"/>
            <a:ext cx="128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reporting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084820" y="1455420"/>
            <a:ext cx="3720465" cy="2186940"/>
          </a:xfrm>
          <a:custGeom>
            <a:avLst/>
            <a:gdLst/>
            <a:ahLst/>
            <a:cxnLst/>
            <a:rect l="l" t="t" r="r" b="b"/>
            <a:pathLst>
              <a:path w="3720465" h="2186940">
                <a:moveTo>
                  <a:pt x="114289" y="0"/>
                </a:moveTo>
                <a:lnTo>
                  <a:pt x="3606176" y="0"/>
                </a:lnTo>
                <a:cubicBezTo>
                  <a:pt x="3669296" y="0"/>
                  <a:pt x="3720465" y="51169"/>
                  <a:pt x="3720465" y="114289"/>
                </a:cubicBezTo>
                <a:lnTo>
                  <a:pt x="3720465" y="2072651"/>
                </a:lnTo>
                <a:cubicBezTo>
                  <a:pt x="3720465" y="2135729"/>
                  <a:pt x="3669254" y="2186940"/>
                  <a:pt x="3606176" y="2186940"/>
                </a:cubicBezTo>
                <a:lnTo>
                  <a:pt x="114289" y="2186940"/>
                </a:lnTo>
                <a:cubicBezTo>
                  <a:pt x="51169" y="2186940"/>
                  <a:pt x="0" y="2135771"/>
                  <a:pt x="0" y="207265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gradFill rotWithShape="1" flip="none">
            <a:gsLst>
              <a:gs pos="0">
                <a:srgbClr val="E9C46A">
                  <a:alpha val="30000"/>
                </a:srgbClr>
              </a:gs>
              <a:gs pos="100000">
                <a:srgbClr val="E9C46A">
                  <a:alpha val="10000"/>
                </a:srgbClr>
              </a:gs>
            </a:gsLst>
            <a:lin ang="2700000" scaled="1"/>
          </a:gradFill>
          <a:ln w="20320">
            <a:solidFill>
              <a:srgbClr val="E9C46A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8244840" y="16154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8378190" y="174879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423" y="26901"/>
                </a:moveTo>
                <a:cubicBezTo>
                  <a:pt x="13990" y="18008"/>
                  <a:pt x="22138" y="11906"/>
                  <a:pt x="31403" y="11906"/>
                </a:cubicBezTo>
                <a:lnTo>
                  <a:pt x="159395" y="11906"/>
                </a:lnTo>
                <a:cubicBezTo>
                  <a:pt x="168659" y="11906"/>
                  <a:pt x="176808" y="18008"/>
                  <a:pt x="179412" y="26901"/>
                </a:cubicBezTo>
                <a:lnTo>
                  <a:pt x="188119" y="56741"/>
                </a:lnTo>
                <a:cubicBezTo>
                  <a:pt x="192881" y="73000"/>
                  <a:pt x="180640" y="89297"/>
                  <a:pt x="163711" y="89297"/>
                </a:cubicBezTo>
                <a:cubicBezTo>
                  <a:pt x="153925" y="89297"/>
                  <a:pt x="145331" y="83753"/>
                  <a:pt x="141089" y="75493"/>
                </a:cubicBezTo>
                <a:cubicBezTo>
                  <a:pt x="136773" y="83641"/>
                  <a:pt x="128215" y="89297"/>
                  <a:pt x="118244" y="89297"/>
                </a:cubicBezTo>
                <a:cubicBezTo>
                  <a:pt x="108347" y="89297"/>
                  <a:pt x="99752" y="83716"/>
                  <a:pt x="95436" y="75530"/>
                </a:cubicBezTo>
                <a:cubicBezTo>
                  <a:pt x="91120" y="83716"/>
                  <a:pt x="82525" y="89297"/>
                  <a:pt x="72628" y="89297"/>
                </a:cubicBezTo>
                <a:cubicBezTo>
                  <a:pt x="62657" y="89297"/>
                  <a:pt x="54099" y="83679"/>
                  <a:pt x="49783" y="75493"/>
                </a:cubicBezTo>
                <a:cubicBezTo>
                  <a:pt x="45541" y="83716"/>
                  <a:pt x="36947" y="89297"/>
                  <a:pt x="27161" y="89297"/>
                </a:cubicBezTo>
                <a:cubicBezTo>
                  <a:pt x="10195" y="89297"/>
                  <a:pt x="-2009" y="73037"/>
                  <a:pt x="2753" y="56741"/>
                </a:cubicBezTo>
                <a:lnTo>
                  <a:pt x="11423" y="26901"/>
                </a:lnTo>
                <a:close/>
                <a:moveTo>
                  <a:pt x="35868" y="130969"/>
                </a:moveTo>
                <a:lnTo>
                  <a:pt x="154930" y="130969"/>
                </a:lnTo>
                <a:lnTo>
                  <a:pt x="154930" y="106263"/>
                </a:lnTo>
                <a:cubicBezTo>
                  <a:pt x="157758" y="106859"/>
                  <a:pt x="160697" y="107156"/>
                  <a:pt x="163674" y="107156"/>
                </a:cubicBezTo>
                <a:cubicBezTo>
                  <a:pt x="168994" y="107156"/>
                  <a:pt x="174092" y="106189"/>
                  <a:pt x="178743" y="104477"/>
                </a:cubicBezTo>
                <a:lnTo>
                  <a:pt x="178743" y="160734"/>
                </a:lnTo>
                <a:cubicBezTo>
                  <a:pt x="178743" y="170594"/>
                  <a:pt x="170743" y="178594"/>
                  <a:pt x="160883" y="178594"/>
                </a:cubicBezTo>
                <a:lnTo>
                  <a:pt x="29914" y="178594"/>
                </a:lnTo>
                <a:cubicBezTo>
                  <a:pt x="20055" y="178594"/>
                  <a:pt x="12055" y="170594"/>
                  <a:pt x="12055" y="160734"/>
                </a:cubicBezTo>
                <a:lnTo>
                  <a:pt x="12055" y="104477"/>
                </a:lnTo>
                <a:cubicBezTo>
                  <a:pt x="16706" y="106189"/>
                  <a:pt x="21766" y="107156"/>
                  <a:pt x="27124" y="107156"/>
                </a:cubicBezTo>
                <a:cubicBezTo>
                  <a:pt x="30138" y="107156"/>
                  <a:pt x="33040" y="106859"/>
                  <a:pt x="35868" y="106263"/>
                </a:cubicBezTo>
                <a:lnTo>
                  <a:pt x="35868" y="130969"/>
                </a:ln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816340" y="1710691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Marketplace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73415" y="222504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511540" y="2186941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Verified spawn suppliers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73415" y="249174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511540" y="2453641"/>
            <a:ext cx="136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Equipment vendors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73415" y="275844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8511540" y="2720341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Expert consultants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73415" y="302514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8511540" y="2987041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Escrow payments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73415" y="329184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8511540" y="3253741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buying discounts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84810" y="3729992"/>
            <a:ext cx="11418570" cy="1264920"/>
          </a:xfrm>
          <a:custGeom>
            <a:avLst/>
            <a:gdLst/>
            <a:ahLst/>
            <a:cxnLst/>
            <a:rect l="l" t="t" r="r" b="b"/>
            <a:pathLst>
              <a:path w="11418570" h="1264920">
                <a:moveTo>
                  <a:pt x="114298" y="0"/>
                </a:moveTo>
                <a:lnTo>
                  <a:pt x="11304272" y="0"/>
                </a:lnTo>
                <a:cubicBezTo>
                  <a:pt x="11367397" y="0"/>
                  <a:pt x="11418570" y="51173"/>
                  <a:pt x="11418570" y="114298"/>
                </a:cubicBezTo>
                <a:lnTo>
                  <a:pt x="11418570" y="1150622"/>
                </a:lnTo>
                <a:cubicBezTo>
                  <a:pt x="11418570" y="1213747"/>
                  <a:pt x="11367397" y="1264920"/>
                  <a:pt x="11304272" y="1264920"/>
                </a:cubicBezTo>
                <a:lnTo>
                  <a:pt x="114298" y="1264920"/>
                </a:lnTo>
                <a:cubicBezTo>
                  <a:pt x="51173" y="1264920"/>
                  <a:pt x="0" y="1213747"/>
                  <a:pt x="0" y="115062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502920" y="3848100"/>
            <a:ext cx="1124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TRANSFORMATION IMPACT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31482" y="411480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12-18%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69582" y="4495800"/>
            <a:ext cx="2781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</a:t>
            </a:r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6B8E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&lt;7%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74345" y="4724400"/>
            <a:ext cx="2771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Contamination Loss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3256597" y="411480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hrs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3294697" y="4495800"/>
            <a:ext cx="2781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</a:t>
            </a:r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6B8E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&lt;15 min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3299460" y="4724400"/>
            <a:ext cx="2771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Time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081713" y="411480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2-3 hrs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119813" y="4495800"/>
            <a:ext cx="2781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</a:t>
            </a:r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6B8E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&lt;30 min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124575" y="4724400"/>
            <a:ext cx="2771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 Data Entry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906828" y="411480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80-85%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944928" y="4495800"/>
            <a:ext cx="2781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</a:t>
            </a:r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6B8E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&gt;95%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949690" y="4724400"/>
            <a:ext cx="2771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Inventory Accuracy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00050" y="5074802"/>
            <a:ext cx="11410950" cy="381000"/>
          </a:xfrm>
          <a:custGeom>
            <a:avLst/>
            <a:gdLst/>
            <a:ahLst/>
            <a:cxnLst/>
            <a:rect l="l" t="t" r="r" b="b"/>
            <a:pathLst>
              <a:path w="11410950" h="381000">
                <a:moveTo>
                  <a:pt x="0" y="0"/>
                </a:moveTo>
                <a:lnTo>
                  <a:pt x="11334750" y="0"/>
                </a:lnTo>
                <a:cubicBezTo>
                  <a:pt x="11376806" y="0"/>
                  <a:pt x="11410950" y="34144"/>
                  <a:pt x="11410950" y="76200"/>
                </a:cubicBezTo>
                <a:lnTo>
                  <a:pt x="11410950" y="304800"/>
                </a:lnTo>
                <a:cubicBezTo>
                  <a:pt x="11410950" y="346856"/>
                  <a:pt x="11376806" y="381000"/>
                  <a:pt x="11334750" y="381000"/>
                </a:cubicBez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9C46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400050" y="5074802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533400" y="5181484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742950" y="5151002"/>
            <a:ext cx="11068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 Savings: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₹2-3L annually per farm vs ₹50K-1L platform cost =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6B8E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3-6x ROI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472" y="342472"/>
            <a:ext cx="11566989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b="1" spc="94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2472" y="582202"/>
            <a:ext cx="11661169" cy="342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27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Edge-to-Cloud Intelligence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2472" y="993169"/>
            <a:ext cx="11592674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8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for Rural India: Offline-First, Cloud-Enabled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5897" y="1373312"/>
            <a:ext cx="3739793" cy="2438400"/>
          </a:xfrm>
          <a:custGeom>
            <a:avLst/>
            <a:gdLst/>
            <a:ahLst/>
            <a:cxnLst/>
            <a:rect l="l" t="t" r="r" b="b"/>
            <a:pathLst>
              <a:path w="3739793" h="2438400">
                <a:moveTo>
                  <a:pt x="102730" y="0"/>
                </a:moveTo>
                <a:lnTo>
                  <a:pt x="3637063" y="0"/>
                </a:lnTo>
                <a:cubicBezTo>
                  <a:pt x="3693800" y="0"/>
                  <a:pt x="3739793" y="45994"/>
                  <a:pt x="3739793" y="102730"/>
                </a:cubicBezTo>
                <a:lnTo>
                  <a:pt x="3739793" y="2335670"/>
                </a:lnTo>
                <a:cubicBezTo>
                  <a:pt x="3739793" y="2392406"/>
                  <a:pt x="3693800" y="2438400"/>
                  <a:pt x="3637063" y="2438400"/>
                </a:cubicBezTo>
                <a:lnTo>
                  <a:pt x="102730" y="2438400"/>
                </a:lnTo>
                <a:cubicBezTo>
                  <a:pt x="45994" y="2438400"/>
                  <a:pt x="0" y="2392406"/>
                  <a:pt x="0" y="2335670"/>
                </a:cubicBezTo>
                <a:lnTo>
                  <a:pt x="0" y="102730"/>
                </a:lnTo>
                <a:cubicBezTo>
                  <a:pt x="0" y="45994"/>
                  <a:pt x="45994" y="0"/>
                  <a:pt x="102730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86310" y="1513728"/>
            <a:ext cx="342472" cy="342472"/>
          </a:xfrm>
          <a:custGeom>
            <a:avLst/>
            <a:gdLst/>
            <a:ahLst/>
            <a:cxnLst/>
            <a:rect l="l" t="t" r="r" b="b"/>
            <a:pathLst>
              <a:path w="342472" h="342472">
                <a:moveTo>
                  <a:pt x="171236" y="0"/>
                </a:moveTo>
                <a:lnTo>
                  <a:pt x="171236" y="0"/>
                </a:lnTo>
                <a:cubicBezTo>
                  <a:pt x="265744" y="0"/>
                  <a:pt x="342472" y="76728"/>
                  <a:pt x="342472" y="171236"/>
                </a:cubicBezTo>
                <a:lnTo>
                  <a:pt x="342472" y="171236"/>
                </a:lnTo>
                <a:cubicBezTo>
                  <a:pt x="342472" y="265744"/>
                  <a:pt x="265744" y="342472"/>
                  <a:pt x="171236" y="342472"/>
                </a:cubicBezTo>
                <a:lnTo>
                  <a:pt x="171236" y="342472"/>
                </a:lnTo>
                <a:cubicBezTo>
                  <a:pt x="76728" y="342472"/>
                  <a:pt x="0" y="265744"/>
                  <a:pt x="0" y="171236"/>
                </a:cubicBezTo>
                <a:lnTo>
                  <a:pt x="0" y="171236"/>
                </a:lnTo>
                <a:cubicBezTo>
                  <a:pt x="0" y="76728"/>
                  <a:pt x="76728" y="0"/>
                  <a:pt x="171236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89052" y="1616470"/>
            <a:ext cx="136989" cy="136989"/>
          </a:xfrm>
          <a:custGeom>
            <a:avLst/>
            <a:gdLst/>
            <a:ahLst/>
            <a:cxnLst/>
            <a:rect l="l" t="t" r="r" b="b"/>
            <a:pathLst>
              <a:path w="136989" h="136989">
                <a:moveTo>
                  <a:pt x="47090" y="6421"/>
                </a:moveTo>
                <a:cubicBezTo>
                  <a:pt x="47090" y="2863"/>
                  <a:pt x="44227" y="0"/>
                  <a:pt x="40669" y="0"/>
                </a:cubicBezTo>
                <a:cubicBezTo>
                  <a:pt x="37110" y="0"/>
                  <a:pt x="34247" y="2863"/>
                  <a:pt x="34247" y="6421"/>
                </a:cubicBezTo>
                <a:lnTo>
                  <a:pt x="34247" y="17124"/>
                </a:lnTo>
                <a:cubicBezTo>
                  <a:pt x="24802" y="17124"/>
                  <a:pt x="17124" y="24802"/>
                  <a:pt x="17124" y="34247"/>
                </a:cubicBezTo>
                <a:lnTo>
                  <a:pt x="6421" y="34247"/>
                </a:lnTo>
                <a:cubicBezTo>
                  <a:pt x="2863" y="34247"/>
                  <a:pt x="0" y="37110"/>
                  <a:pt x="0" y="40669"/>
                </a:cubicBezTo>
                <a:cubicBezTo>
                  <a:pt x="0" y="44227"/>
                  <a:pt x="2863" y="47090"/>
                  <a:pt x="6421" y="47090"/>
                </a:cubicBezTo>
                <a:lnTo>
                  <a:pt x="17124" y="47090"/>
                </a:lnTo>
                <a:lnTo>
                  <a:pt x="17124" y="62073"/>
                </a:lnTo>
                <a:lnTo>
                  <a:pt x="6421" y="62073"/>
                </a:lnTo>
                <a:cubicBezTo>
                  <a:pt x="2863" y="62073"/>
                  <a:pt x="0" y="64936"/>
                  <a:pt x="0" y="68494"/>
                </a:cubicBezTo>
                <a:cubicBezTo>
                  <a:pt x="0" y="72053"/>
                  <a:pt x="2863" y="74916"/>
                  <a:pt x="6421" y="74916"/>
                </a:cubicBezTo>
                <a:lnTo>
                  <a:pt x="17124" y="74916"/>
                </a:lnTo>
                <a:lnTo>
                  <a:pt x="17124" y="89899"/>
                </a:lnTo>
                <a:lnTo>
                  <a:pt x="6421" y="89899"/>
                </a:lnTo>
                <a:cubicBezTo>
                  <a:pt x="2863" y="89899"/>
                  <a:pt x="0" y="92762"/>
                  <a:pt x="0" y="96320"/>
                </a:cubicBezTo>
                <a:cubicBezTo>
                  <a:pt x="0" y="99879"/>
                  <a:pt x="2863" y="102742"/>
                  <a:pt x="6421" y="102742"/>
                </a:cubicBezTo>
                <a:lnTo>
                  <a:pt x="17124" y="102742"/>
                </a:lnTo>
                <a:cubicBezTo>
                  <a:pt x="17124" y="112186"/>
                  <a:pt x="24802" y="119865"/>
                  <a:pt x="34247" y="119865"/>
                </a:cubicBezTo>
                <a:lnTo>
                  <a:pt x="34247" y="130567"/>
                </a:lnTo>
                <a:cubicBezTo>
                  <a:pt x="34247" y="134126"/>
                  <a:pt x="37110" y="136989"/>
                  <a:pt x="40669" y="136989"/>
                </a:cubicBezTo>
                <a:cubicBezTo>
                  <a:pt x="44227" y="136989"/>
                  <a:pt x="47090" y="134126"/>
                  <a:pt x="47090" y="130567"/>
                </a:cubicBezTo>
                <a:lnTo>
                  <a:pt x="47090" y="119865"/>
                </a:lnTo>
                <a:lnTo>
                  <a:pt x="62073" y="119865"/>
                </a:lnTo>
                <a:lnTo>
                  <a:pt x="62073" y="130567"/>
                </a:lnTo>
                <a:cubicBezTo>
                  <a:pt x="62073" y="134126"/>
                  <a:pt x="64936" y="136989"/>
                  <a:pt x="68494" y="136989"/>
                </a:cubicBezTo>
                <a:cubicBezTo>
                  <a:pt x="72053" y="136989"/>
                  <a:pt x="74916" y="134126"/>
                  <a:pt x="74916" y="130567"/>
                </a:cubicBezTo>
                <a:lnTo>
                  <a:pt x="74916" y="119865"/>
                </a:lnTo>
                <a:lnTo>
                  <a:pt x="89899" y="119865"/>
                </a:lnTo>
                <a:lnTo>
                  <a:pt x="89899" y="130567"/>
                </a:lnTo>
                <a:cubicBezTo>
                  <a:pt x="89899" y="134126"/>
                  <a:pt x="92762" y="136989"/>
                  <a:pt x="96320" y="136989"/>
                </a:cubicBezTo>
                <a:cubicBezTo>
                  <a:pt x="99879" y="136989"/>
                  <a:pt x="102742" y="134126"/>
                  <a:pt x="102742" y="130567"/>
                </a:cubicBezTo>
                <a:lnTo>
                  <a:pt x="102742" y="119865"/>
                </a:lnTo>
                <a:cubicBezTo>
                  <a:pt x="112186" y="119865"/>
                  <a:pt x="119865" y="112186"/>
                  <a:pt x="119865" y="102742"/>
                </a:cubicBezTo>
                <a:lnTo>
                  <a:pt x="130567" y="102742"/>
                </a:lnTo>
                <a:cubicBezTo>
                  <a:pt x="134126" y="102742"/>
                  <a:pt x="136989" y="99879"/>
                  <a:pt x="136989" y="96320"/>
                </a:cubicBezTo>
                <a:cubicBezTo>
                  <a:pt x="136989" y="92762"/>
                  <a:pt x="134126" y="89899"/>
                  <a:pt x="130567" y="89899"/>
                </a:cubicBezTo>
                <a:lnTo>
                  <a:pt x="119865" y="89899"/>
                </a:lnTo>
                <a:lnTo>
                  <a:pt x="119865" y="74916"/>
                </a:lnTo>
                <a:lnTo>
                  <a:pt x="130567" y="74916"/>
                </a:lnTo>
                <a:cubicBezTo>
                  <a:pt x="134126" y="74916"/>
                  <a:pt x="136989" y="72053"/>
                  <a:pt x="136989" y="68494"/>
                </a:cubicBezTo>
                <a:cubicBezTo>
                  <a:pt x="136989" y="64936"/>
                  <a:pt x="134126" y="62073"/>
                  <a:pt x="130567" y="62073"/>
                </a:cubicBezTo>
                <a:lnTo>
                  <a:pt x="119865" y="62073"/>
                </a:lnTo>
                <a:lnTo>
                  <a:pt x="119865" y="47090"/>
                </a:lnTo>
                <a:lnTo>
                  <a:pt x="130567" y="47090"/>
                </a:lnTo>
                <a:cubicBezTo>
                  <a:pt x="134126" y="47090"/>
                  <a:pt x="136989" y="44227"/>
                  <a:pt x="136989" y="40669"/>
                </a:cubicBezTo>
                <a:cubicBezTo>
                  <a:pt x="136989" y="37110"/>
                  <a:pt x="134126" y="34247"/>
                  <a:pt x="130567" y="34247"/>
                </a:cubicBezTo>
                <a:lnTo>
                  <a:pt x="119865" y="34247"/>
                </a:lnTo>
                <a:cubicBezTo>
                  <a:pt x="119865" y="24802"/>
                  <a:pt x="112186" y="17124"/>
                  <a:pt x="102742" y="17124"/>
                </a:cubicBezTo>
                <a:lnTo>
                  <a:pt x="102742" y="6421"/>
                </a:lnTo>
                <a:cubicBezTo>
                  <a:pt x="102742" y="2863"/>
                  <a:pt x="99879" y="0"/>
                  <a:pt x="96320" y="0"/>
                </a:cubicBezTo>
                <a:cubicBezTo>
                  <a:pt x="92762" y="0"/>
                  <a:pt x="89899" y="2863"/>
                  <a:pt x="89899" y="6421"/>
                </a:cubicBezTo>
                <a:lnTo>
                  <a:pt x="89899" y="17124"/>
                </a:lnTo>
                <a:lnTo>
                  <a:pt x="74916" y="17124"/>
                </a:lnTo>
                <a:lnTo>
                  <a:pt x="74916" y="6421"/>
                </a:lnTo>
                <a:cubicBezTo>
                  <a:pt x="74916" y="2863"/>
                  <a:pt x="72053" y="0"/>
                  <a:pt x="68494" y="0"/>
                </a:cubicBezTo>
                <a:cubicBezTo>
                  <a:pt x="64936" y="0"/>
                  <a:pt x="62073" y="2863"/>
                  <a:pt x="62073" y="6421"/>
                </a:cubicBezTo>
                <a:lnTo>
                  <a:pt x="62073" y="17124"/>
                </a:lnTo>
                <a:lnTo>
                  <a:pt x="47090" y="17124"/>
                </a:lnTo>
                <a:lnTo>
                  <a:pt x="47090" y="6421"/>
                </a:lnTo>
                <a:close/>
                <a:moveTo>
                  <a:pt x="42809" y="34247"/>
                </a:moveTo>
                <a:lnTo>
                  <a:pt x="94180" y="34247"/>
                </a:lnTo>
                <a:cubicBezTo>
                  <a:pt x="98916" y="34247"/>
                  <a:pt x="102742" y="38073"/>
                  <a:pt x="102742" y="42809"/>
                </a:cubicBezTo>
                <a:lnTo>
                  <a:pt x="102742" y="94180"/>
                </a:lnTo>
                <a:cubicBezTo>
                  <a:pt x="102742" y="98916"/>
                  <a:pt x="98916" y="102742"/>
                  <a:pt x="94180" y="102742"/>
                </a:cubicBezTo>
                <a:lnTo>
                  <a:pt x="42809" y="102742"/>
                </a:lnTo>
                <a:cubicBezTo>
                  <a:pt x="38073" y="102742"/>
                  <a:pt x="34247" y="98916"/>
                  <a:pt x="34247" y="94180"/>
                </a:cubicBezTo>
                <a:lnTo>
                  <a:pt x="34247" y="42809"/>
                </a:lnTo>
                <a:cubicBezTo>
                  <a:pt x="34247" y="38073"/>
                  <a:pt x="38073" y="34247"/>
                  <a:pt x="42809" y="34247"/>
                </a:cubicBezTo>
                <a:close/>
                <a:moveTo>
                  <a:pt x="47090" y="47090"/>
                </a:moveTo>
                <a:lnTo>
                  <a:pt x="47090" y="89899"/>
                </a:lnTo>
                <a:lnTo>
                  <a:pt x="89899" y="89899"/>
                </a:lnTo>
                <a:lnTo>
                  <a:pt x="89899" y="47090"/>
                </a:lnTo>
                <a:lnTo>
                  <a:pt x="47090" y="47090"/>
                </a:lnTo>
                <a:close/>
              </a:path>
            </a:pathLst>
          </a:custGeom>
          <a:solidFill>
            <a:srgbClr val="F5F1E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31524" y="1565099"/>
            <a:ext cx="839056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3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Edge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6310" y="1958942"/>
            <a:ext cx="3518899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On-Farm, Offline-First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6310" y="2198672"/>
            <a:ext cx="3518899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ESP32 (ESP32DA) direct-to-cloud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6310" y="2404155"/>
            <a:ext cx="3518899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PostgreSQL 15 (Cloud) + Redis cache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6310" y="2609638"/>
            <a:ext cx="3518899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Cloud-first, RPi offline buffer (Phase 2)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6310" y="2815122"/>
            <a:ext cx="3518899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HTTP REST + JSON (Phase 1)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6310" y="3020605"/>
            <a:ext cx="3518899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Auto-sync every 30 seconds (target)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6310" y="3298007"/>
            <a:ext cx="3458966" cy="6849"/>
          </a:xfrm>
          <a:custGeom>
            <a:avLst/>
            <a:gdLst/>
            <a:ahLst/>
            <a:cxnLst/>
            <a:rect l="l" t="t" r="r" b="b"/>
            <a:pathLst>
              <a:path w="3458966" h="6849">
                <a:moveTo>
                  <a:pt x="0" y="0"/>
                </a:moveTo>
                <a:lnTo>
                  <a:pt x="3458966" y="0"/>
                </a:lnTo>
                <a:lnTo>
                  <a:pt x="3458966" y="6849"/>
                </a:lnTo>
                <a:lnTo>
                  <a:pt x="0" y="6849"/>
                </a:lnTo>
                <a:lnTo>
                  <a:pt x="0" y="0"/>
                </a:lnTo>
                <a:close/>
              </a:path>
            </a:pathLst>
          </a:custGeom>
          <a:solidFill>
            <a:srgbClr val="6B8E6E">
              <a:alpha val="30196"/>
            </a:srgbClr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86310" y="3404172"/>
            <a:ext cx="3510337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9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Sensors: SCD4x (₹2,500), DHT11 (₹250), DS18B20 x10 (₹1,500), ESP32 (₹600)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27174" y="1373312"/>
            <a:ext cx="3739793" cy="2438400"/>
          </a:xfrm>
          <a:custGeom>
            <a:avLst/>
            <a:gdLst/>
            <a:ahLst/>
            <a:cxnLst/>
            <a:rect l="l" t="t" r="r" b="b"/>
            <a:pathLst>
              <a:path w="3739793" h="2438400">
                <a:moveTo>
                  <a:pt x="102730" y="0"/>
                </a:moveTo>
                <a:lnTo>
                  <a:pt x="3637063" y="0"/>
                </a:lnTo>
                <a:cubicBezTo>
                  <a:pt x="3693800" y="0"/>
                  <a:pt x="3739793" y="45994"/>
                  <a:pt x="3739793" y="102730"/>
                </a:cubicBezTo>
                <a:lnTo>
                  <a:pt x="3739793" y="2335670"/>
                </a:lnTo>
                <a:cubicBezTo>
                  <a:pt x="3739793" y="2392406"/>
                  <a:pt x="3693800" y="2438400"/>
                  <a:pt x="3637063" y="2438400"/>
                </a:cubicBezTo>
                <a:lnTo>
                  <a:pt x="102730" y="2438400"/>
                </a:lnTo>
                <a:cubicBezTo>
                  <a:pt x="45994" y="2438400"/>
                  <a:pt x="0" y="2392406"/>
                  <a:pt x="0" y="2335670"/>
                </a:cubicBezTo>
                <a:lnTo>
                  <a:pt x="0" y="102730"/>
                </a:lnTo>
                <a:cubicBezTo>
                  <a:pt x="0" y="45994"/>
                  <a:pt x="45994" y="0"/>
                  <a:pt x="102730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0160">
            <a:solidFill>
              <a:srgbClr val="D4A373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367587" y="1513728"/>
            <a:ext cx="342472" cy="342472"/>
          </a:xfrm>
          <a:custGeom>
            <a:avLst/>
            <a:gdLst/>
            <a:ahLst/>
            <a:cxnLst/>
            <a:rect l="l" t="t" r="r" b="b"/>
            <a:pathLst>
              <a:path w="342472" h="342472">
                <a:moveTo>
                  <a:pt x="171236" y="0"/>
                </a:moveTo>
                <a:lnTo>
                  <a:pt x="171236" y="0"/>
                </a:lnTo>
                <a:cubicBezTo>
                  <a:pt x="265744" y="0"/>
                  <a:pt x="342472" y="76728"/>
                  <a:pt x="342472" y="171236"/>
                </a:cubicBezTo>
                <a:lnTo>
                  <a:pt x="342472" y="171236"/>
                </a:lnTo>
                <a:cubicBezTo>
                  <a:pt x="342472" y="265744"/>
                  <a:pt x="265744" y="342472"/>
                  <a:pt x="171236" y="342472"/>
                </a:cubicBezTo>
                <a:lnTo>
                  <a:pt x="171236" y="342472"/>
                </a:lnTo>
                <a:cubicBezTo>
                  <a:pt x="76728" y="342472"/>
                  <a:pt x="0" y="265744"/>
                  <a:pt x="0" y="171236"/>
                </a:cubicBezTo>
                <a:lnTo>
                  <a:pt x="0" y="171236"/>
                </a:lnTo>
                <a:cubicBezTo>
                  <a:pt x="0" y="76728"/>
                  <a:pt x="76728" y="0"/>
                  <a:pt x="171236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461767" y="1616470"/>
            <a:ext cx="154112" cy="136989"/>
          </a:xfrm>
          <a:custGeom>
            <a:avLst/>
            <a:gdLst/>
            <a:ahLst/>
            <a:cxnLst/>
            <a:rect l="l" t="t" r="r" b="b"/>
            <a:pathLst>
              <a:path w="154112" h="136989">
                <a:moveTo>
                  <a:pt x="0" y="89899"/>
                </a:moveTo>
                <a:cubicBezTo>
                  <a:pt x="0" y="111170"/>
                  <a:pt x="17257" y="128427"/>
                  <a:pt x="38528" y="128427"/>
                </a:cubicBezTo>
                <a:lnTo>
                  <a:pt x="119865" y="128427"/>
                </a:lnTo>
                <a:cubicBezTo>
                  <a:pt x="138781" y="128427"/>
                  <a:pt x="154112" y="113096"/>
                  <a:pt x="154112" y="94180"/>
                </a:cubicBezTo>
                <a:cubicBezTo>
                  <a:pt x="154112" y="80374"/>
                  <a:pt x="145952" y="68468"/>
                  <a:pt x="134179" y="63063"/>
                </a:cubicBezTo>
                <a:cubicBezTo>
                  <a:pt x="135972" y="59558"/>
                  <a:pt x="136989" y="55571"/>
                  <a:pt x="136989" y="51371"/>
                </a:cubicBezTo>
                <a:cubicBezTo>
                  <a:pt x="136989" y="37190"/>
                  <a:pt x="125484" y="25685"/>
                  <a:pt x="111303" y="25685"/>
                </a:cubicBezTo>
                <a:cubicBezTo>
                  <a:pt x="106568" y="25685"/>
                  <a:pt x="102153" y="26970"/>
                  <a:pt x="98354" y="29190"/>
                </a:cubicBezTo>
                <a:cubicBezTo>
                  <a:pt x="91906" y="16936"/>
                  <a:pt x="79036" y="8562"/>
                  <a:pt x="64213" y="8562"/>
                </a:cubicBezTo>
                <a:cubicBezTo>
                  <a:pt x="42943" y="8562"/>
                  <a:pt x="25685" y="25819"/>
                  <a:pt x="25685" y="47090"/>
                </a:cubicBezTo>
                <a:cubicBezTo>
                  <a:pt x="25685" y="49230"/>
                  <a:pt x="25873" y="51344"/>
                  <a:pt x="26194" y="53377"/>
                </a:cubicBezTo>
                <a:cubicBezTo>
                  <a:pt x="10970" y="58515"/>
                  <a:pt x="0" y="72936"/>
                  <a:pt x="0" y="89899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812801" y="1565099"/>
            <a:ext cx="890427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3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Layer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67587" y="1958942"/>
            <a:ext cx="3518899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AWS/GCP Centralized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67587" y="2198672"/>
            <a:ext cx="3458966" cy="445213"/>
          </a:xfrm>
          <a:custGeom>
            <a:avLst/>
            <a:gdLst/>
            <a:ahLst/>
            <a:cxnLst/>
            <a:rect l="l" t="t" r="r" b="b"/>
            <a:pathLst>
              <a:path w="3458966" h="445213">
                <a:moveTo>
                  <a:pt x="34246" y="0"/>
                </a:moveTo>
                <a:lnTo>
                  <a:pt x="3424720" y="0"/>
                </a:lnTo>
                <a:cubicBezTo>
                  <a:pt x="3443634" y="0"/>
                  <a:pt x="3458966" y="15332"/>
                  <a:pt x="3458966" y="34246"/>
                </a:cubicBezTo>
                <a:lnTo>
                  <a:pt x="3458966" y="410968"/>
                </a:lnTo>
                <a:cubicBezTo>
                  <a:pt x="3458966" y="429881"/>
                  <a:pt x="3443634" y="445213"/>
                  <a:pt x="3424720" y="445213"/>
                </a:cubicBezTo>
                <a:lnTo>
                  <a:pt x="34246" y="445213"/>
                </a:lnTo>
                <a:cubicBezTo>
                  <a:pt x="15332" y="445213"/>
                  <a:pt x="0" y="429881"/>
                  <a:pt x="0" y="410968"/>
                </a:cubicBezTo>
                <a:lnTo>
                  <a:pt x="0" y="34246"/>
                </a:lnTo>
                <a:cubicBezTo>
                  <a:pt x="0" y="15345"/>
                  <a:pt x="15345" y="0"/>
                  <a:pt x="34246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436081" y="2267167"/>
            <a:ext cx="3381910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1-2 (0-100 farms)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36081" y="2438403"/>
            <a:ext cx="3373348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9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 Compose on EC2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67587" y="2712271"/>
            <a:ext cx="3458966" cy="445213"/>
          </a:xfrm>
          <a:custGeom>
            <a:avLst/>
            <a:gdLst/>
            <a:ahLst/>
            <a:cxnLst/>
            <a:rect l="l" t="t" r="r" b="b"/>
            <a:pathLst>
              <a:path w="3458966" h="445213">
                <a:moveTo>
                  <a:pt x="34246" y="0"/>
                </a:moveTo>
                <a:lnTo>
                  <a:pt x="3424720" y="0"/>
                </a:lnTo>
                <a:cubicBezTo>
                  <a:pt x="3443634" y="0"/>
                  <a:pt x="3458966" y="15332"/>
                  <a:pt x="3458966" y="34246"/>
                </a:cubicBezTo>
                <a:lnTo>
                  <a:pt x="3458966" y="410968"/>
                </a:lnTo>
                <a:cubicBezTo>
                  <a:pt x="3458966" y="429881"/>
                  <a:pt x="3443634" y="445213"/>
                  <a:pt x="3424720" y="445213"/>
                </a:cubicBezTo>
                <a:lnTo>
                  <a:pt x="34246" y="445213"/>
                </a:lnTo>
                <a:cubicBezTo>
                  <a:pt x="15332" y="445213"/>
                  <a:pt x="0" y="429881"/>
                  <a:pt x="0" y="410968"/>
                </a:cubicBezTo>
                <a:lnTo>
                  <a:pt x="0" y="34246"/>
                </a:lnTo>
                <a:cubicBezTo>
                  <a:pt x="0" y="15345"/>
                  <a:pt x="15345" y="0"/>
                  <a:pt x="34246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436081" y="2780766"/>
            <a:ext cx="3381910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 (100-200 farms)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36081" y="2952002"/>
            <a:ext cx="3373348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9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ECS Auto-Scaling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67587" y="3225871"/>
            <a:ext cx="3458966" cy="445213"/>
          </a:xfrm>
          <a:custGeom>
            <a:avLst/>
            <a:gdLst/>
            <a:ahLst/>
            <a:cxnLst/>
            <a:rect l="l" t="t" r="r" b="b"/>
            <a:pathLst>
              <a:path w="3458966" h="445213">
                <a:moveTo>
                  <a:pt x="34246" y="0"/>
                </a:moveTo>
                <a:lnTo>
                  <a:pt x="3424720" y="0"/>
                </a:lnTo>
                <a:cubicBezTo>
                  <a:pt x="3443634" y="0"/>
                  <a:pt x="3458966" y="15332"/>
                  <a:pt x="3458966" y="34246"/>
                </a:cubicBezTo>
                <a:lnTo>
                  <a:pt x="3458966" y="410968"/>
                </a:lnTo>
                <a:cubicBezTo>
                  <a:pt x="3458966" y="429881"/>
                  <a:pt x="3443634" y="445213"/>
                  <a:pt x="3424720" y="445213"/>
                </a:cubicBezTo>
                <a:lnTo>
                  <a:pt x="34246" y="445213"/>
                </a:lnTo>
                <a:cubicBezTo>
                  <a:pt x="15332" y="445213"/>
                  <a:pt x="0" y="429881"/>
                  <a:pt x="0" y="410968"/>
                </a:cubicBezTo>
                <a:lnTo>
                  <a:pt x="0" y="34246"/>
                </a:lnTo>
                <a:cubicBezTo>
                  <a:pt x="0" y="15345"/>
                  <a:pt x="15345" y="0"/>
                  <a:pt x="34246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436081" y="3294365"/>
            <a:ext cx="3381910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4+ (200+ farms)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36081" y="3465601"/>
            <a:ext cx="3373348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9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Optional Kubernetes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08558" y="1373312"/>
            <a:ext cx="3739793" cy="2438400"/>
          </a:xfrm>
          <a:custGeom>
            <a:avLst/>
            <a:gdLst/>
            <a:ahLst/>
            <a:cxnLst/>
            <a:rect l="l" t="t" r="r" b="b"/>
            <a:pathLst>
              <a:path w="3739793" h="2438400">
                <a:moveTo>
                  <a:pt x="102730" y="0"/>
                </a:moveTo>
                <a:lnTo>
                  <a:pt x="3637063" y="0"/>
                </a:lnTo>
                <a:cubicBezTo>
                  <a:pt x="3693800" y="0"/>
                  <a:pt x="3739793" y="45994"/>
                  <a:pt x="3739793" y="102730"/>
                </a:cubicBezTo>
                <a:lnTo>
                  <a:pt x="3739793" y="2335670"/>
                </a:lnTo>
                <a:cubicBezTo>
                  <a:pt x="3739793" y="2392406"/>
                  <a:pt x="3693800" y="2438400"/>
                  <a:pt x="3637063" y="2438400"/>
                </a:cubicBezTo>
                <a:lnTo>
                  <a:pt x="102730" y="2438400"/>
                </a:lnTo>
                <a:cubicBezTo>
                  <a:pt x="45994" y="2438400"/>
                  <a:pt x="0" y="2392406"/>
                  <a:pt x="0" y="2335670"/>
                </a:cubicBezTo>
                <a:lnTo>
                  <a:pt x="0" y="102730"/>
                </a:lnTo>
                <a:cubicBezTo>
                  <a:pt x="0" y="45994"/>
                  <a:pt x="45994" y="0"/>
                  <a:pt x="102730" y="0"/>
                </a:cubicBezTo>
                <a:close/>
              </a:path>
            </a:pathLst>
          </a:custGeom>
          <a:solidFill>
            <a:srgbClr val="E9C46A">
              <a:alpha val="10196"/>
            </a:srgbClr>
          </a:solidFill>
          <a:ln w="10160">
            <a:solidFill>
              <a:srgbClr val="E9C46A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8248971" y="1513728"/>
            <a:ext cx="342472" cy="342472"/>
          </a:xfrm>
          <a:custGeom>
            <a:avLst/>
            <a:gdLst/>
            <a:ahLst/>
            <a:cxnLst/>
            <a:rect l="l" t="t" r="r" b="b"/>
            <a:pathLst>
              <a:path w="342472" h="342472">
                <a:moveTo>
                  <a:pt x="171236" y="0"/>
                </a:moveTo>
                <a:lnTo>
                  <a:pt x="171236" y="0"/>
                </a:lnTo>
                <a:cubicBezTo>
                  <a:pt x="265744" y="0"/>
                  <a:pt x="342472" y="76728"/>
                  <a:pt x="342472" y="171236"/>
                </a:cubicBezTo>
                <a:lnTo>
                  <a:pt x="342472" y="171236"/>
                </a:lnTo>
                <a:cubicBezTo>
                  <a:pt x="342472" y="265744"/>
                  <a:pt x="265744" y="342472"/>
                  <a:pt x="171236" y="342472"/>
                </a:cubicBezTo>
                <a:lnTo>
                  <a:pt x="171236" y="342472"/>
                </a:lnTo>
                <a:cubicBezTo>
                  <a:pt x="76728" y="342472"/>
                  <a:pt x="0" y="265744"/>
                  <a:pt x="0" y="171236"/>
                </a:cubicBezTo>
                <a:lnTo>
                  <a:pt x="0" y="171236"/>
                </a:lnTo>
                <a:cubicBezTo>
                  <a:pt x="0" y="76728"/>
                  <a:pt x="76728" y="0"/>
                  <a:pt x="171236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8368836" y="1616470"/>
            <a:ext cx="102742" cy="136989"/>
          </a:xfrm>
          <a:custGeom>
            <a:avLst/>
            <a:gdLst/>
            <a:ahLst/>
            <a:cxnLst/>
            <a:rect l="l" t="t" r="r" b="b"/>
            <a:pathLst>
              <a:path w="102742" h="136989">
                <a:moveTo>
                  <a:pt x="4281" y="17124"/>
                </a:moveTo>
                <a:cubicBezTo>
                  <a:pt x="4281" y="7679"/>
                  <a:pt x="11960" y="0"/>
                  <a:pt x="21404" y="0"/>
                </a:cubicBezTo>
                <a:lnTo>
                  <a:pt x="81337" y="0"/>
                </a:lnTo>
                <a:cubicBezTo>
                  <a:pt x="90782" y="0"/>
                  <a:pt x="98461" y="7679"/>
                  <a:pt x="98461" y="17124"/>
                </a:cubicBezTo>
                <a:lnTo>
                  <a:pt x="98461" y="119865"/>
                </a:lnTo>
                <a:cubicBezTo>
                  <a:pt x="98461" y="129310"/>
                  <a:pt x="90782" y="136989"/>
                  <a:pt x="81337" y="136989"/>
                </a:cubicBezTo>
                <a:lnTo>
                  <a:pt x="21404" y="136989"/>
                </a:lnTo>
                <a:cubicBezTo>
                  <a:pt x="11960" y="136989"/>
                  <a:pt x="4281" y="129310"/>
                  <a:pt x="4281" y="119865"/>
                </a:cubicBezTo>
                <a:lnTo>
                  <a:pt x="4281" y="17124"/>
                </a:lnTo>
                <a:close/>
                <a:moveTo>
                  <a:pt x="21404" y="17124"/>
                </a:moveTo>
                <a:lnTo>
                  <a:pt x="21404" y="98461"/>
                </a:lnTo>
                <a:lnTo>
                  <a:pt x="81337" y="98461"/>
                </a:lnTo>
                <a:lnTo>
                  <a:pt x="81337" y="17124"/>
                </a:lnTo>
                <a:lnTo>
                  <a:pt x="21404" y="17124"/>
                </a:lnTo>
                <a:close/>
                <a:moveTo>
                  <a:pt x="51371" y="126287"/>
                </a:moveTo>
                <a:cubicBezTo>
                  <a:pt x="56107" y="126287"/>
                  <a:pt x="59933" y="122460"/>
                  <a:pt x="59933" y="117725"/>
                </a:cubicBezTo>
                <a:cubicBezTo>
                  <a:pt x="59933" y="112989"/>
                  <a:pt x="56107" y="109163"/>
                  <a:pt x="51371" y="109163"/>
                </a:cubicBezTo>
                <a:cubicBezTo>
                  <a:pt x="46635" y="109163"/>
                  <a:pt x="42809" y="112989"/>
                  <a:pt x="42809" y="117725"/>
                </a:cubicBezTo>
                <a:cubicBezTo>
                  <a:pt x="42809" y="122460"/>
                  <a:pt x="46635" y="126287"/>
                  <a:pt x="51371" y="126287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694185" y="1565099"/>
            <a:ext cx="890427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3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 Layer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48971" y="1958942"/>
            <a:ext cx="3518899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Progressive Web App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48971" y="2198672"/>
            <a:ext cx="3518899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React 18 + TypeScript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48971" y="2404155"/>
            <a:ext cx="3518899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Real-time dashboard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248971" y="2609638"/>
            <a:ext cx="3518899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SMS + Push alerts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48971" y="2815122"/>
            <a:ext cx="3518899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Works offline (Service Worker)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48971" y="3020605"/>
            <a:ext cx="3518899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No app store needed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48971" y="3298007"/>
            <a:ext cx="3458966" cy="6849"/>
          </a:xfrm>
          <a:custGeom>
            <a:avLst/>
            <a:gdLst/>
            <a:ahLst/>
            <a:cxnLst/>
            <a:rect l="l" t="t" r="r" b="b"/>
            <a:pathLst>
              <a:path w="3458966" h="6849">
                <a:moveTo>
                  <a:pt x="0" y="0"/>
                </a:moveTo>
                <a:lnTo>
                  <a:pt x="3458966" y="0"/>
                </a:lnTo>
                <a:lnTo>
                  <a:pt x="3458966" y="6849"/>
                </a:lnTo>
                <a:lnTo>
                  <a:pt x="0" y="6849"/>
                </a:lnTo>
                <a:lnTo>
                  <a:pt x="0" y="0"/>
                </a:lnTo>
                <a:close/>
              </a:path>
            </a:pathLst>
          </a:custGeom>
          <a:solidFill>
            <a:srgbClr val="E9C46A">
              <a:alpha val="30196"/>
            </a:srgbClr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8248971" y="3404172"/>
            <a:ext cx="3510337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9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WebSocket: &lt;1s live updates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45897" y="3955229"/>
            <a:ext cx="11496782" cy="1650715"/>
          </a:xfrm>
          <a:custGeom>
            <a:avLst/>
            <a:gdLst/>
            <a:ahLst/>
            <a:cxnLst/>
            <a:rect l="l" t="t" r="r" b="b"/>
            <a:pathLst>
              <a:path w="11496782" h="1650715">
                <a:moveTo>
                  <a:pt x="102740" y="0"/>
                </a:moveTo>
                <a:lnTo>
                  <a:pt x="11394042" y="0"/>
                </a:lnTo>
                <a:cubicBezTo>
                  <a:pt x="11450784" y="0"/>
                  <a:pt x="11496782" y="45998"/>
                  <a:pt x="11496782" y="102740"/>
                </a:cubicBezTo>
                <a:lnTo>
                  <a:pt x="11496782" y="1547974"/>
                </a:lnTo>
                <a:cubicBezTo>
                  <a:pt x="11496782" y="1604716"/>
                  <a:pt x="11450784" y="1650715"/>
                  <a:pt x="11394042" y="1650715"/>
                </a:cubicBezTo>
                <a:lnTo>
                  <a:pt x="102740" y="1650715"/>
                </a:lnTo>
                <a:cubicBezTo>
                  <a:pt x="45998" y="1650715"/>
                  <a:pt x="0" y="1604716"/>
                  <a:pt x="0" y="1547974"/>
                </a:cubicBezTo>
                <a:lnTo>
                  <a:pt x="0" y="102740"/>
                </a:lnTo>
                <a:cubicBezTo>
                  <a:pt x="0" y="46036"/>
                  <a:pt x="46036" y="0"/>
                  <a:pt x="102740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86310" y="4095645"/>
            <a:ext cx="11275888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b="1" spc="47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PHASED INFRASTRUCTURE APPROACH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2010845" y="4369623"/>
            <a:ext cx="547955" cy="547955"/>
          </a:xfrm>
          <a:custGeom>
            <a:avLst/>
            <a:gdLst/>
            <a:ahLst/>
            <a:cxnLst/>
            <a:rect l="l" t="t" r="r" b="b"/>
            <a:pathLst>
              <a:path w="547955" h="547955">
                <a:moveTo>
                  <a:pt x="273978" y="0"/>
                </a:moveTo>
                <a:lnTo>
                  <a:pt x="273978" y="0"/>
                </a:lnTo>
                <a:cubicBezTo>
                  <a:pt x="425291" y="0"/>
                  <a:pt x="547955" y="122664"/>
                  <a:pt x="547955" y="273978"/>
                </a:cubicBezTo>
                <a:lnTo>
                  <a:pt x="547955" y="273978"/>
                </a:lnTo>
                <a:cubicBezTo>
                  <a:pt x="547955" y="425291"/>
                  <a:pt x="425291" y="547955"/>
                  <a:pt x="273978" y="547955"/>
                </a:cubicBezTo>
                <a:lnTo>
                  <a:pt x="273978" y="547955"/>
                </a:lnTo>
                <a:cubicBezTo>
                  <a:pt x="122664" y="547955"/>
                  <a:pt x="0" y="425291"/>
                  <a:pt x="0" y="273978"/>
                </a:cubicBezTo>
                <a:lnTo>
                  <a:pt x="0" y="273978"/>
                </a:lnTo>
                <a:cubicBezTo>
                  <a:pt x="0" y="122664"/>
                  <a:pt x="122664" y="0"/>
                  <a:pt x="273978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2228850" y="4540859"/>
            <a:ext cx="111303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9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56344" y="4986072"/>
            <a:ext cx="3655888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4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Months 1-12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60625" y="5157308"/>
            <a:ext cx="3647326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9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0-100 farms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60625" y="5328436"/>
            <a:ext cx="3647326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9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₹15-25K/mo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104740" y="4831851"/>
            <a:ext cx="171236" cy="171236"/>
          </a:xfrm>
          <a:custGeom>
            <a:avLst/>
            <a:gdLst/>
            <a:ahLst/>
            <a:cxnLst/>
            <a:rect l="l" t="t" r="r" b="b"/>
            <a:pathLst>
              <a:path w="171236" h="171236">
                <a:moveTo>
                  <a:pt x="168092" y="93176"/>
                </a:moveTo>
                <a:cubicBezTo>
                  <a:pt x="172273" y="88996"/>
                  <a:pt x="172273" y="82207"/>
                  <a:pt x="168092" y="78026"/>
                </a:cubicBezTo>
                <a:lnTo>
                  <a:pt x="114581" y="24515"/>
                </a:lnTo>
                <a:cubicBezTo>
                  <a:pt x="110400" y="20334"/>
                  <a:pt x="103611" y="20334"/>
                  <a:pt x="99431" y="24515"/>
                </a:cubicBezTo>
                <a:cubicBezTo>
                  <a:pt x="95250" y="28695"/>
                  <a:pt x="95250" y="35485"/>
                  <a:pt x="99431" y="39665"/>
                </a:cubicBezTo>
                <a:lnTo>
                  <a:pt x="134681" y="74916"/>
                </a:lnTo>
                <a:lnTo>
                  <a:pt x="10702" y="74916"/>
                </a:lnTo>
                <a:cubicBezTo>
                  <a:pt x="4783" y="74916"/>
                  <a:pt x="0" y="79698"/>
                  <a:pt x="0" y="85618"/>
                </a:cubicBezTo>
                <a:cubicBezTo>
                  <a:pt x="0" y="91538"/>
                  <a:pt x="4783" y="96320"/>
                  <a:pt x="10702" y="96320"/>
                </a:cubicBezTo>
                <a:lnTo>
                  <a:pt x="134681" y="96320"/>
                </a:lnTo>
                <a:lnTo>
                  <a:pt x="99431" y="131571"/>
                </a:lnTo>
                <a:cubicBezTo>
                  <a:pt x="95250" y="135751"/>
                  <a:pt x="95250" y="142541"/>
                  <a:pt x="99431" y="146721"/>
                </a:cubicBezTo>
                <a:cubicBezTo>
                  <a:pt x="103611" y="150902"/>
                  <a:pt x="110400" y="150902"/>
                  <a:pt x="114581" y="146721"/>
                </a:cubicBezTo>
                <a:lnTo>
                  <a:pt x="168092" y="9321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5821915" y="4369623"/>
            <a:ext cx="547955" cy="547955"/>
          </a:xfrm>
          <a:custGeom>
            <a:avLst/>
            <a:gdLst/>
            <a:ahLst/>
            <a:cxnLst/>
            <a:rect l="l" t="t" r="r" b="b"/>
            <a:pathLst>
              <a:path w="547955" h="547955">
                <a:moveTo>
                  <a:pt x="273978" y="0"/>
                </a:moveTo>
                <a:lnTo>
                  <a:pt x="273978" y="0"/>
                </a:lnTo>
                <a:cubicBezTo>
                  <a:pt x="425291" y="0"/>
                  <a:pt x="547955" y="122664"/>
                  <a:pt x="547955" y="273978"/>
                </a:cubicBezTo>
                <a:lnTo>
                  <a:pt x="547955" y="273978"/>
                </a:lnTo>
                <a:cubicBezTo>
                  <a:pt x="547955" y="425291"/>
                  <a:pt x="425291" y="547955"/>
                  <a:pt x="273978" y="547955"/>
                </a:cubicBezTo>
                <a:lnTo>
                  <a:pt x="273978" y="547955"/>
                </a:lnTo>
                <a:cubicBezTo>
                  <a:pt x="122664" y="547955"/>
                  <a:pt x="0" y="425291"/>
                  <a:pt x="0" y="273978"/>
                </a:cubicBezTo>
                <a:lnTo>
                  <a:pt x="0" y="273978"/>
                </a:lnTo>
                <a:cubicBezTo>
                  <a:pt x="0" y="122664"/>
                  <a:pt x="122664" y="0"/>
                  <a:pt x="273978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6026757" y="4540859"/>
            <a:ext cx="136989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9" b="1" dirty="0">
                <a:solidFill>
                  <a:srgbClr val="1A2E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267414" y="4986072"/>
            <a:ext cx="3655888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4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Months 13-22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271695" y="5157308"/>
            <a:ext cx="3647326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9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100-200 farms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271695" y="5328436"/>
            <a:ext cx="3647326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9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₹35-60K/mo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915917" y="4831851"/>
            <a:ext cx="171236" cy="171236"/>
          </a:xfrm>
          <a:custGeom>
            <a:avLst/>
            <a:gdLst/>
            <a:ahLst/>
            <a:cxnLst/>
            <a:rect l="l" t="t" r="r" b="b"/>
            <a:pathLst>
              <a:path w="171236" h="171236">
                <a:moveTo>
                  <a:pt x="168092" y="93176"/>
                </a:moveTo>
                <a:cubicBezTo>
                  <a:pt x="172273" y="88996"/>
                  <a:pt x="172273" y="82207"/>
                  <a:pt x="168092" y="78026"/>
                </a:cubicBezTo>
                <a:lnTo>
                  <a:pt x="114581" y="24515"/>
                </a:lnTo>
                <a:cubicBezTo>
                  <a:pt x="110400" y="20334"/>
                  <a:pt x="103611" y="20334"/>
                  <a:pt x="99431" y="24515"/>
                </a:cubicBezTo>
                <a:cubicBezTo>
                  <a:pt x="95250" y="28695"/>
                  <a:pt x="95250" y="35485"/>
                  <a:pt x="99431" y="39665"/>
                </a:cubicBezTo>
                <a:lnTo>
                  <a:pt x="134681" y="74916"/>
                </a:lnTo>
                <a:lnTo>
                  <a:pt x="10702" y="74916"/>
                </a:lnTo>
                <a:cubicBezTo>
                  <a:pt x="4783" y="74916"/>
                  <a:pt x="0" y="79698"/>
                  <a:pt x="0" y="85618"/>
                </a:cubicBezTo>
                <a:cubicBezTo>
                  <a:pt x="0" y="91538"/>
                  <a:pt x="4783" y="96320"/>
                  <a:pt x="10702" y="96320"/>
                </a:cubicBezTo>
                <a:lnTo>
                  <a:pt x="134681" y="96320"/>
                </a:lnTo>
                <a:lnTo>
                  <a:pt x="99431" y="131571"/>
                </a:lnTo>
                <a:cubicBezTo>
                  <a:pt x="95250" y="135751"/>
                  <a:pt x="95250" y="142541"/>
                  <a:pt x="99431" y="146721"/>
                </a:cubicBezTo>
                <a:cubicBezTo>
                  <a:pt x="103611" y="150902"/>
                  <a:pt x="110400" y="150902"/>
                  <a:pt x="114581" y="146721"/>
                </a:cubicBezTo>
                <a:lnTo>
                  <a:pt x="168092" y="9321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9633093" y="4369623"/>
            <a:ext cx="547955" cy="547955"/>
          </a:xfrm>
          <a:custGeom>
            <a:avLst/>
            <a:gdLst/>
            <a:ahLst/>
            <a:cxnLst/>
            <a:rect l="l" t="t" r="r" b="b"/>
            <a:pathLst>
              <a:path w="547955" h="547955">
                <a:moveTo>
                  <a:pt x="273978" y="0"/>
                </a:moveTo>
                <a:lnTo>
                  <a:pt x="273978" y="0"/>
                </a:lnTo>
                <a:cubicBezTo>
                  <a:pt x="425291" y="0"/>
                  <a:pt x="547955" y="122664"/>
                  <a:pt x="547955" y="273978"/>
                </a:cubicBezTo>
                <a:lnTo>
                  <a:pt x="547955" y="273978"/>
                </a:lnTo>
                <a:cubicBezTo>
                  <a:pt x="547955" y="425291"/>
                  <a:pt x="425291" y="547955"/>
                  <a:pt x="273978" y="547955"/>
                </a:cubicBezTo>
                <a:lnTo>
                  <a:pt x="273978" y="547955"/>
                </a:lnTo>
                <a:cubicBezTo>
                  <a:pt x="122664" y="547955"/>
                  <a:pt x="0" y="425291"/>
                  <a:pt x="0" y="273978"/>
                </a:cubicBezTo>
                <a:lnTo>
                  <a:pt x="0" y="273978"/>
                </a:lnTo>
                <a:cubicBezTo>
                  <a:pt x="0" y="122664"/>
                  <a:pt x="122664" y="0"/>
                  <a:pt x="273978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9836115" y="4540859"/>
            <a:ext cx="145551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9" b="1" dirty="0">
                <a:solidFill>
                  <a:srgbClr val="1A2E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078591" y="4986072"/>
            <a:ext cx="3655888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4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 19+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082872" y="5157308"/>
            <a:ext cx="3647326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9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200+ farms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082872" y="5328436"/>
            <a:ext cx="3647326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9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₹60-100K/mo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345897" y="5749570"/>
            <a:ext cx="3756917" cy="760288"/>
          </a:xfrm>
          <a:custGeom>
            <a:avLst/>
            <a:gdLst/>
            <a:ahLst/>
            <a:cxnLst/>
            <a:rect l="l" t="t" r="r" b="b"/>
            <a:pathLst>
              <a:path w="3756917" h="760288">
                <a:moveTo>
                  <a:pt x="68494" y="0"/>
                </a:moveTo>
                <a:lnTo>
                  <a:pt x="3688423" y="0"/>
                </a:lnTo>
                <a:cubicBezTo>
                  <a:pt x="3726251" y="0"/>
                  <a:pt x="3756917" y="30666"/>
                  <a:pt x="3756917" y="68494"/>
                </a:cubicBezTo>
                <a:lnTo>
                  <a:pt x="3756917" y="691793"/>
                </a:lnTo>
                <a:cubicBezTo>
                  <a:pt x="3756917" y="729622"/>
                  <a:pt x="3726251" y="760288"/>
                  <a:pt x="3688423" y="760288"/>
                </a:cubicBezTo>
                <a:lnTo>
                  <a:pt x="68494" y="760288"/>
                </a:lnTo>
                <a:cubicBezTo>
                  <a:pt x="30666" y="760288"/>
                  <a:pt x="0" y="729622"/>
                  <a:pt x="0" y="691793"/>
                </a:cubicBezTo>
                <a:lnTo>
                  <a:pt x="0" y="68494"/>
                </a:lnTo>
                <a:cubicBezTo>
                  <a:pt x="0" y="30691"/>
                  <a:pt x="30691" y="0"/>
                  <a:pt x="68494" y="0"/>
                </a:cubicBezTo>
                <a:close/>
              </a:path>
            </a:pathLst>
          </a:custGeom>
          <a:solidFill>
            <a:srgbClr val="E9C46A">
              <a:alpha val="10196"/>
            </a:srgbClr>
          </a:solidFill>
          <a:ln w="10160">
            <a:solidFill>
              <a:srgbClr val="E9C46A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2151152" y="5855735"/>
            <a:ext cx="149831" cy="171236"/>
          </a:xfrm>
          <a:custGeom>
            <a:avLst/>
            <a:gdLst/>
            <a:ahLst/>
            <a:cxnLst/>
            <a:rect l="l" t="t" r="r" b="b"/>
            <a:pathLst>
              <a:path w="149831" h="171236">
                <a:moveTo>
                  <a:pt x="149831" y="68829"/>
                </a:moveTo>
                <a:cubicBezTo>
                  <a:pt x="144882" y="72106"/>
                  <a:pt x="139196" y="74749"/>
                  <a:pt x="133276" y="76856"/>
                </a:cubicBezTo>
                <a:cubicBezTo>
                  <a:pt x="117557" y="82474"/>
                  <a:pt x="96922" y="85618"/>
                  <a:pt x="74916" y="85618"/>
                </a:cubicBezTo>
                <a:cubicBezTo>
                  <a:pt x="52909" y="85618"/>
                  <a:pt x="32241" y="82441"/>
                  <a:pt x="16555" y="76856"/>
                </a:cubicBezTo>
                <a:cubicBezTo>
                  <a:pt x="10669" y="74749"/>
                  <a:pt x="4950" y="72106"/>
                  <a:pt x="0" y="68829"/>
                </a:cubicBezTo>
                <a:lnTo>
                  <a:pt x="0" y="96320"/>
                </a:lnTo>
                <a:cubicBezTo>
                  <a:pt x="0" y="111103"/>
                  <a:pt x="33545" y="123076"/>
                  <a:pt x="74916" y="123076"/>
                </a:cubicBezTo>
                <a:cubicBezTo>
                  <a:pt x="116287" y="123076"/>
                  <a:pt x="149831" y="111103"/>
                  <a:pt x="149831" y="96320"/>
                </a:cubicBezTo>
                <a:lnTo>
                  <a:pt x="149831" y="68829"/>
                </a:lnTo>
                <a:close/>
                <a:moveTo>
                  <a:pt x="149831" y="42809"/>
                </a:moveTo>
                <a:lnTo>
                  <a:pt x="149831" y="26756"/>
                </a:lnTo>
                <a:cubicBezTo>
                  <a:pt x="149831" y="11973"/>
                  <a:pt x="116287" y="0"/>
                  <a:pt x="74916" y="0"/>
                </a:cubicBezTo>
                <a:cubicBezTo>
                  <a:pt x="33545" y="0"/>
                  <a:pt x="0" y="11973"/>
                  <a:pt x="0" y="26756"/>
                </a:cubicBezTo>
                <a:lnTo>
                  <a:pt x="0" y="42809"/>
                </a:lnTo>
                <a:cubicBezTo>
                  <a:pt x="0" y="57591"/>
                  <a:pt x="33545" y="69565"/>
                  <a:pt x="74916" y="69565"/>
                </a:cubicBezTo>
                <a:cubicBezTo>
                  <a:pt x="116287" y="69565"/>
                  <a:pt x="149831" y="57591"/>
                  <a:pt x="149831" y="42809"/>
                </a:cubicBezTo>
                <a:close/>
                <a:moveTo>
                  <a:pt x="133276" y="130367"/>
                </a:moveTo>
                <a:cubicBezTo>
                  <a:pt x="117591" y="135952"/>
                  <a:pt x="96956" y="139129"/>
                  <a:pt x="74916" y="139129"/>
                </a:cubicBezTo>
                <a:cubicBezTo>
                  <a:pt x="52876" y="139129"/>
                  <a:pt x="32241" y="135952"/>
                  <a:pt x="16555" y="130367"/>
                </a:cubicBezTo>
                <a:cubicBezTo>
                  <a:pt x="10669" y="128260"/>
                  <a:pt x="4950" y="125618"/>
                  <a:pt x="0" y="122340"/>
                </a:cubicBezTo>
                <a:lnTo>
                  <a:pt x="0" y="144480"/>
                </a:lnTo>
                <a:cubicBezTo>
                  <a:pt x="0" y="159263"/>
                  <a:pt x="33545" y="171236"/>
                  <a:pt x="74916" y="171236"/>
                </a:cubicBezTo>
                <a:cubicBezTo>
                  <a:pt x="116287" y="171236"/>
                  <a:pt x="149831" y="159263"/>
                  <a:pt x="149831" y="144480"/>
                </a:cubicBezTo>
                <a:lnTo>
                  <a:pt x="149831" y="122340"/>
                </a:lnTo>
                <a:cubicBezTo>
                  <a:pt x="144882" y="125618"/>
                  <a:pt x="139196" y="128260"/>
                  <a:pt x="133276" y="130367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422097" y="6095465"/>
            <a:ext cx="3604517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4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 15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426378" y="6266701"/>
            <a:ext cx="3595955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9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TimescaleDB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4215829" y="5749570"/>
            <a:ext cx="3756917" cy="760288"/>
          </a:xfrm>
          <a:custGeom>
            <a:avLst/>
            <a:gdLst/>
            <a:ahLst/>
            <a:cxnLst/>
            <a:rect l="l" t="t" r="r" b="b"/>
            <a:pathLst>
              <a:path w="3756917" h="760288">
                <a:moveTo>
                  <a:pt x="68494" y="0"/>
                </a:moveTo>
                <a:lnTo>
                  <a:pt x="3688423" y="0"/>
                </a:lnTo>
                <a:cubicBezTo>
                  <a:pt x="3726251" y="0"/>
                  <a:pt x="3756917" y="30666"/>
                  <a:pt x="3756917" y="68494"/>
                </a:cubicBezTo>
                <a:lnTo>
                  <a:pt x="3756917" y="691793"/>
                </a:lnTo>
                <a:cubicBezTo>
                  <a:pt x="3756917" y="729622"/>
                  <a:pt x="3726251" y="760288"/>
                  <a:pt x="3688423" y="760288"/>
                </a:cubicBezTo>
                <a:lnTo>
                  <a:pt x="68494" y="760288"/>
                </a:lnTo>
                <a:cubicBezTo>
                  <a:pt x="30666" y="760288"/>
                  <a:pt x="0" y="729622"/>
                  <a:pt x="0" y="691793"/>
                </a:cubicBezTo>
                <a:lnTo>
                  <a:pt x="0" y="68494"/>
                </a:lnTo>
                <a:cubicBezTo>
                  <a:pt x="0" y="30691"/>
                  <a:pt x="30691" y="0"/>
                  <a:pt x="68494" y="0"/>
                </a:cubicBezTo>
                <a:close/>
              </a:path>
            </a:pathLst>
          </a:custGeom>
          <a:solidFill>
            <a:srgbClr val="E9C46A">
              <a:alpha val="10196"/>
            </a:srgbClr>
          </a:solidFill>
          <a:ln w="10160">
            <a:solidFill>
              <a:srgbClr val="E9C46A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7" name="Shape 65"/>
          <p:cNvSpPr/>
          <p:nvPr/>
        </p:nvSpPr>
        <p:spPr>
          <a:xfrm>
            <a:off x="6021084" y="5855735"/>
            <a:ext cx="149831" cy="171236"/>
          </a:xfrm>
          <a:custGeom>
            <a:avLst/>
            <a:gdLst/>
            <a:ahLst/>
            <a:cxnLst/>
            <a:rect l="l" t="t" r="r" b="b"/>
            <a:pathLst>
              <a:path w="149831" h="171236">
                <a:moveTo>
                  <a:pt x="21404" y="10702"/>
                </a:moveTo>
                <a:cubicBezTo>
                  <a:pt x="9599" y="10702"/>
                  <a:pt x="0" y="20301"/>
                  <a:pt x="0" y="32107"/>
                </a:cubicBezTo>
                <a:lnTo>
                  <a:pt x="0" y="53511"/>
                </a:lnTo>
                <a:cubicBezTo>
                  <a:pt x="0" y="65317"/>
                  <a:pt x="9599" y="74916"/>
                  <a:pt x="21404" y="74916"/>
                </a:cubicBezTo>
                <a:lnTo>
                  <a:pt x="128427" y="74916"/>
                </a:lnTo>
                <a:cubicBezTo>
                  <a:pt x="140233" y="74916"/>
                  <a:pt x="149831" y="65317"/>
                  <a:pt x="149831" y="53511"/>
                </a:cubicBezTo>
                <a:lnTo>
                  <a:pt x="149831" y="32107"/>
                </a:lnTo>
                <a:cubicBezTo>
                  <a:pt x="149831" y="20301"/>
                  <a:pt x="140233" y="10702"/>
                  <a:pt x="128427" y="10702"/>
                </a:cubicBezTo>
                <a:lnTo>
                  <a:pt x="21404" y="10702"/>
                </a:lnTo>
                <a:close/>
                <a:moveTo>
                  <a:pt x="93645" y="34782"/>
                </a:moveTo>
                <a:cubicBezTo>
                  <a:pt x="98075" y="34782"/>
                  <a:pt x="101671" y="38379"/>
                  <a:pt x="101671" y="42809"/>
                </a:cubicBezTo>
                <a:cubicBezTo>
                  <a:pt x="101671" y="47239"/>
                  <a:pt x="98075" y="50836"/>
                  <a:pt x="93645" y="50836"/>
                </a:cubicBezTo>
                <a:cubicBezTo>
                  <a:pt x="89215" y="50836"/>
                  <a:pt x="85618" y="47239"/>
                  <a:pt x="85618" y="42809"/>
                </a:cubicBezTo>
                <a:cubicBezTo>
                  <a:pt x="85618" y="38379"/>
                  <a:pt x="89215" y="34782"/>
                  <a:pt x="93645" y="34782"/>
                </a:cubicBezTo>
                <a:close/>
                <a:moveTo>
                  <a:pt x="112374" y="42809"/>
                </a:moveTo>
                <a:cubicBezTo>
                  <a:pt x="112374" y="38379"/>
                  <a:pt x="115970" y="34782"/>
                  <a:pt x="120400" y="34782"/>
                </a:cubicBezTo>
                <a:cubicBezTo>
                  <a:pt x="124830" y="34782"/>
                  <a:pt x="128427" y="38379"/>
                  <a:pt x="128427" y="42809"/>
                </a:cubicBezTo>
                <a:cubicBezTo>
                  <a:pt x="128427" y="47239"/>
                  <a:pt x="124830" y="50836"/>
                  <a:pt x="120400" y="50836"/>
                </a:cubicBezTo>
                <a:cubicBezTo>
                  <a:pt x="115970" y="50836"/>
                  <a:pt x="112374" y="47239"/>
                  <a:pt x="112374" y="42809"/>
                </a:cubicBezTo>
                <a:close/>
                <a:moveTo>
                  <a:pt x="21404" y="96320"/>
                </a:moveTo>
                <a:cubicBezTo>
                  <a:pt x="9599" y="96320"/>
                  <a:pt x="0" y="105919"/>
                  <a:pt x="0" y="117725"/>
                </a:cubicBezTo>
                <a:lnTo>
                  <a:pt x="0" y="139129"/>
                </a:lnTo>
                <a:cubicBezTo>
                  <a:pt x="0" y="150935"/>
                  <a:pt x="9599" y="160534"/>
                  <a:pt x="21404" y="160534"/>
                </a:cubicBezTo>
                <a:lnTo>
                  <a:pt x="128427" y="160534"/>
                </a:lnTo>
                <a:cubicBezTo>
                  <a:pt x="140233" y="160534"/>
                  <a:pt x="149831" y="150935"/>
                  <a:pt x="149831" y="139129"/>
                </a:cubicBezTo>
                <a:lnTo>
                  <a:pt x="149831" y="117725"/>
                </a:lnTo>
                <a:cubicBezTo>
                  <a:pt x="149831" y="105919"/>
                  <a:pt x="140233" y="96320"/>
                  <a:pt x="128427" y="96320"/>
                </a:cubicBezTo>
                <a:lnTo>
                  <a:pt x="21404" y="96320"/>
                </a:lnTo>
                <a:close/>
                <a:moveTo>
                  <a:pt x="93645" y="120400"/>
                </a:moveTo>
                <a:cubicBezTo>
                  <a:pt x="98075" y="120400"/>
                  <a:pt x="101671" y="123997"/>
                  <a:pt x="101671" y="128427"/>
                </a:cubicBezTo>
                <a:cubicBezTo>
                  <a:pt x="101671" y="132857"/>
                  <a:pt x="98075" y="136454"/>
                  <a:pt x="93645" y="136454"/>
                </a:cubicBezTo>
                <a:cubicBezTo>
                  <a:pt x="89215" y="136454"/>
                  <a:pt x="85618" y="132857"/>
                  <a:pt x="85618" y="128427"/>
                </a:cubicBezTo>
                <a:cubicBezTo>
                  <a:pt x="85618" y="123997"/>
                  <a:pt x="89215" y="120400"/>
                  <a:pt x="93645" y="120400"/>
                </a:cubicBezTo>
                <a:close/>
                <a:moveTo>
                  <a:pt x="112374" y="128427"/>
                </a:moveTo>
                <a:cubicBezTo>
                  <a:pt x="112374" y="123997"/>
                  <a:pt x="115970" y="120400"/>
                  <a:pt x="120400" y="120400"/>
                </a:cubicBezTo>
                <a:cubicBezTo>
                  <a:pt x="124830" y="120400"/>
                  <a:pt x="128427" y="123997"/>
                  <a:pt x="128427" y="128427"/>
                </a:cubicBezTo>
                <a:cubicBezTo>
                  <a:pt x="128427" y="132857"/>
                  <a:pt x="124830" y="136454"/>
                  <a:pt x="120400" y="136454"/>
                </a:cubicBezTo>
                <a:cubicBezTo>
                  <a:pt x="115970" y="136454"/>
                  <a:pt x="112374" y="132857"/>
                  <a:pt x="112374" y="128427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4292029" y="6095465"/>
            <a:ext cx="3604517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4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 (Python)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4296310" y="6266701"/>
            <a:ext cx="3595955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9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 + WebSocket APIs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085762" y="5749570"/>
            <a:ext cx="3756917" cy="760288"/>
          </a:xfrm>
          <a:custGeom>
            <a:avLst/>
            <a:gdLst/>
            <a:ahLst/>
            <a:cxnLst/>
            <a:rect l="l" t="t" r="r" b="b"/>
            <a:pathLst>
              <a:path w="3756917" h="760288">
                <a:moveTo>
                  <a:pt x="68494" y="0"/>
                </a:moveTo>
                <a:lnTo>
                  <a:pt x="3688423" y="0"/>
                </a:lnTo>
                <a:cubicBezTo>
                  <a:pt x="3726251" y="0"/>
                  <a:pt x="3756917" y="30666"/>
                  <a:pt x="3756917" y="68494"/>
                </a:cubicBezTo>
                <a:lnTo>
                  <a:pt x="3756917" y="691793"/>
                </a:lnTo>
                <a:cubicBezTo>
                  <a:pt x="3756917" y="729622"/>
                  <a:pt x="3726251" y="760288"/>
                  <a:pt x="3688423" y="760288"/>
                </a:cubicBezTo>
                <a:lnTo>
                  <a:pt x="68494" y="760288"/>
                </a:lnTo>
                <a:cubicBezTo>
                  <a:pt x="30666" y="760288"/>
                  <a:pt x="0" y="729622"/>
                  <a:pt x="0" y="691793"/>
                </a:cubicBezTo>
                <a:lnTo>
                  <a:pt x="0" y="68494"/>
                </a:lnTo>
                <a:cubicBezTo>
                  <a:pt x="0" y="30691"/>
                  <a:pt x="30691" y="0"/>
                  <a:pt x="68494" y="0"/>
                </a:cubicBezTo>
                <a:close/>
              </a:path>
            </a:pathLst>
          </a:custGeom>
          <a:solidFill>
            <a:srgbClr val="E9C46A">
              <a:alpha val="10196"/>
            </a:srgbClr>
          </a:solidFill>
          <a:ln w="10160">
            <a:solidFill>
              <a:srgbClr val="E9C46A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9880315" y="5855735"/>
            <a:ext cx="171236" cy="171236"/>
          </a:xfrm>
          <a:custGeom>
            <a:avLst/>
            <a:gdLst/>
            <a:ahLst/>
            <a:cxnLst/>
            <a:rect l="l" t="t" r="r" b="b"/>
            <a:pathLst>
              <a:path w="171236" h="171236">
                <a:moveTo>
                  <a:pt x="85618" y="0"/>
                </a:moveTo>
                <a:cubicBezTo>
                  <a:pt x="87156" y="0"/>
                  <a:pt x="88695" y="334"/>
                  <a:pt x="90100" y="970"/>
                </a:cubicBezTo>
                <a:lnTo>
                  <a:pt x="153109" y="27692"/>
                </a:lnTo>
                <a:cubicBezTo>
                  <a:pt x="160467" y="30802"/>
                  <a:pt x="165952" y="38060"/>
                  <a:pt x="165918" y="46822"/>
                </a:cubicBezTo>
                <a:cubicBezTo>
                  <a:pt x="165751" y="79999"/>
                  <a:pt x="152106" y="140701"/>
                  <a:pt x="94481" y="168293"/>
                </a:cubicBezTo>
                <a:cubicBezTo>
                  <a:pt x="88896" y="170968"/>
                  <a:pt x="82407" y="170968"/>
                  <a:pt x="76822" y="168293"/>
                </a:cubicBezTo>
                <a:cubicBezTo>
                  <a:pt x="19164" y="140701"/>
                  <a:pt x="5552" y="79999"/>
                  <a:pt x="5385" y="46822"/>
                </a:cubicBezTo>
                <a:cubicBezTo>
                  <a:pt x="5351" y="38060"/>
                  <a:pt x="10836" y="30802"/>
                  <a:pt x="18194" y="27692"/>
                </a:cubicBezTo>
                <a:lnTo>
                  <a:pt x="81170" y="970"/>
                </a:lnTo>
                <a:cubicBezTo>
                  <a:pt x="82575" y="334"/>
                  <a:pt x="84080" y="0"/>
                  <a:pt x="85618" y="0"/>
                </a:cubicBezTo>
                <a:close/>
                <a:moveTo>
                  <a:pt x="85618" y="22341"/>
                </a:moveTo>
                <a:lnTo>
                  <a:pt x="85618" y="148795"/>
                </a:lnTo>
                <a:cubicBezTo>
                  <a:pt x="131771" y="126454"/>
                  <a:pt x="144179" y="76956"/>
                  <a:pt x="144480" y="47324"/>
                </a:cubicBezTo>
                <a:lnTo>
                  <a:pt x="85618" y="22374"/>
                </a:lnTo>
                <a:lnTo>
                  <a:pt x="85618" y="22374"/>
                </a:ln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8161962" y="6095465"/>
            <a:ext cx="3604517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4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Row-Level Security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166243" y="6266701"/>
            <a:ext cx="3595955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9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Multi-tenant isolation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FEATURES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Monitoring to Intelligence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Farm Management in Your Pocket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527810"/>
            <a:ext cx="5627370" cy="1055370"/>
          </a:xfrm>
          <a:custGeom>
            <a:avLst/>
            <a:gdLst/>
            <a:ahLst/>
            <a:cxnLst/>
            <a:rect l="l" t="t" r="r" b="b"/>
            <a:pathLst>
              <a:path w="5627370" h="1055370">
                <a:moveTo>
                  <a:pt x="114297" y="0"/>
                </a:moveTo>
                <a:lnTo>
                  <a:pt x="5513073" y="0"/>
                </a:lnTo>
                <a:cubicBezTo>
                  <a:pt x="5576198" y="0"/>
                  <a:pt x="5627370" y="51172"/>
                  <a:pt x="5627370" y="114297"/>
                </a:cubicBezTo>
                <a:lnTo>
                  <a:pt x="5627370" y="941073"/>
                </a:lnTo>
                <a:cubicBezTo>
                  <a:pt x="5627370" y="1004198"/>
                  <a:pt x="5576198" y="1055370"/>
                  <a:pt x="5513073" y="1055370"/>
                </a:cubicBezTo>
                <a:lnTo>
                  <a:pt x="114297" y="1055370"/>
                </a:lnTo>
                <a:cubicBezTo>
                  <a:pt x="51172" y="1055370"/>
                  <a:pt x="0" y="1004198"/>
                  <a:pt x="0" y="94107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1020" y="16840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55320" y="17983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F5F1E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36320" y="1684023"/>
            <a:ext cx="490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Monitoring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6320" y="1988823"/>
            <a:ext cx="48863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temperature, humidity, and CO2 tracking with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&lt;15 minute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alert response time. Dashboard shows all rooms at a glance.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810" y="2700338"/>
            <a:ext cx="5627370" cy="1055370"/>
          </a:xfrm>
          <a:custGeom>
            <a:avLst/>
            <a:gdLst/>
            <a:ahLst/>
            <a:cxnLst/>
            <a:rect l="l" t="t" r="r" b="b"/>
            <a:pathLst>
              <a:path w="5627370" h="1055370">
                <a:moveTo>
                  <a:pt x="114297" y="0"/>
                </a:moveTo>
                <a:lnTo>
                  <a:pt x="5513073" y="0"/>
                </a:lnTo>
                <a:cubicBezTo>
                  <a:pt x="5576198" y="0"/>
                  <a:pt x="5627370" y="51172"/>
                  <a:pt x="5627370" y="114297"/>
                </a:cubicBezTo>
                <a:lnTo>
                  <a:pt x="5627370" y="941073"/>
                </a:lnTo>
                <a:cubicBezTo>
                  <a:pt x="5627370" y="1004198"/>
                  <a:pt x="5576198" y="1055370"/>
                  <a:pt x="5513073" y="1055370"/>
                </a:cubicBezTo>
                <a:lnTo>
                  <a:pt x="114297" y="1055370"/>
                </a:lnTo>
                <a:cubicBezTo>
                  <a:pt x="51172" y="1055370"/>
                  <a:pt x="0" y="1004198"/>
                  <a:pt x="0" y="94107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41020" y="285654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55320" y="297084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7625" y="42863"/>
                </a:moveTo>
                <a:cubicBezTo>
                  <a:pt x="47625" y="19199"/>
                  <a:pt x="66824" y="0"/>
                  <a:pt x="90488" y="0"/>
                </a:cubicBezTo>
                <a:cubicBezTo>
                  <a:pt x="93107" y="0"/>
                  <a:pt x="95250" y="2143"/>
                  <a:pt x="95250" y="4763"/>
                </a:cubicBezTo>
                <a:lnTo>
                  <a:pt x="95250" y="50066"/>
                </a:lnTo>
                <a:cubicBezTo>
                  <a:pt x="99715" y="48488"/>
                  <a:pt x="104537" y="47625"/>
                  <a:pt x="109537" y="47625"/>
                </a:cubicBezTo>
                <a:cubicBezTo>
                  <a:pt x="133201" y="47625"/>
                  <a:pt x="152400" y="66824"/>
                  <a:pt x="152400" y="90488"/>
                </a:cubicBezTo>
                <a:cubicBezTo>
                  <a:pt x="152400" y="93107"/>
                  <a:pt x="150257" y="95250"/>
                  <a:pt x="147638" y="95250"/>
                </a:cubicBezTo>
                <a:lnTo>
                  <a:pt x="102334" y="95250"/>
                </a:lnTo>
                <a:cubicBezTo>
                  <a:pt x="103912" y="99715"/>
                  <a:pt x="104775" y="104537"/>
                  <a:pt x="104775" y="109537"/>
                </a:cubicBezTo>
                <a:cubicBezTo>
                  <a:pt x="104775" y="133201"/>
                  <a:pt x="85576" y="152400"/>
                  <a:pt x="61912" y="152400"/>
                </a:cubicBezTo>
                <a:cubicBezTo>
                  <a:pt x="59293" y="152400"/>
                  <a:pt x="57150" y="150257"/>
                  <a:pt x="57150" y="147638"/>
                </a:cubicBezTo>
                <a:lnTo>
                  <a:pt x="57150" y="102334"/>
                </a:lnTo>
                <a:cubicBezTo>
                  <a:pt x="52685" y="103912"/>
                  <a:pt x="47863" y="104775"/>
                  <a:pt x="42863" y="104775"/>
                </a:cubicBezTo>
                <a:cubicBezTo>
                  <a:pt x="19199" y="104775"/>
                  <a:pt x="0" y="85576"/>
                  <a:pt x="0" y="61912"/>
                </a:cubicBezTo>
                <a:cubicBezTo>
                  <a:pt x="0" y="59293"/>
                  <a:pt x="2143" y="57150"/>
                  <a:pt x="4763" y="57150"/>
                </a:cubicBezTo>
                <a:lnTo>
                  <a:pt x="50066" y="57150"/>
                </a:lnTo>
                <a:cubicBezTo>
                  <a:pt x="48488" y="52685"/>
                  <a:pt x="47625" y="47863"/>
                  <a:pt x="47625" y="42863"/>
                </a:cubicBezTo>
                <a:close/>
                <a:moveTo>
                  <a:pt x="76200" y="85725"/>
                </a:moveTo>
                <a:cubicBezTo>
                  <a:pt x="81457" y="85725"/>
                  <a:pt x="85725" y="81457"/>
                  <a:pt x="85725" y="76200"/>
                </a:cubicBezTo>
                <a:cubicBezTo>
                  <a:pt x="85725" y="70943"/>
                  <a:pt x="81457" y="66675"/>
                  <a:pt x="76200" y="66675"/>
                </a:cubicBezTo>
                <a:cubicBezTo>
                  <a:pt x="70943" y="66675"/>
                  <a:pt x="66675" y="70943"/>
                  <a:pt x="66675" y="76200"/>
                </a:cubicBezTo>
                <a:cubicBezTo>
                  <a:pt x="66675" y="81457"/>
                  <a:pt x="70943" y="85725"/>
                  <a:pt x="76200" y="85725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36320" y="2856547"/>
            <a:ext cx="490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HVAC Control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36320" y="3161347"/>
            <a:ext cx="48863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rules: "IF temp &gt;28°C THEN turn on fan." Manual override always available. Reduces labor by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50%+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4810" y="3872867"/>
            <a:ext cx="5627370" cy="1055370"/>
          </a:xfrm>
          <a:custGeom>
            <a:avLst/>
            <a:gdLst/>
            <a:ahLst/>
            <a:cxnLst/>
            <a:rect l="l" t="t" r="r" b="b"/>
            <a:pathLst>
              <a:path w="5627370" h="1055370">
                <a:moveTo>
                  <a:pt x="114297" y="0"/>
                </a:moveTo>
                <a:lnTo>
                  <a:pt x="5513073" y="0"/>
                </a:lnTo>
                <a:cubicBezTo>
                  <a:pt x="5576198" y="0"/>
                  <a:pt x="5627370" y="51172"/>
                  <a:pt x="5627370" y="114297"/>
                </a:cubicBezTo>
                <a:lnTo>
                  <a:pt x="5627370" y="941073"/>
                </a:lnTo>
                <a:cubicBezTo>
                  <a:pt x="5627370" y="1004198"/>
                  <a:pt x="5576198" y="1055370"/>
                  <a:pt x="5513073" y="1055370"/>
                </a:cubicBezTo>
                <a:lnTo>
                  <a:pt x="114297" y="1055370"/>
                </a:lnTo>
                <a:cubicBezTo>
                  <a:pt x="51172" y="1055370"/>
                  <a:pt x="0" y="1004198"/>
                  <a:pt x="0" y="94107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41020" y="40290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36270" y="414337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76200" y="-9525"/>
                </a:moveTo>
                <a:cubicBezTo>
                  <a:pt x="80159" y="-9525"/>
                  <a:pt x="83344" y="-6340"/>
                  <a:pt x="83344" y="-2381"/>
                </a:cubicBezTo>
                <a:lnTo>
                  <a:pt x="83344" y="893"/>
                </a:lnTo>
                <a:cubicBezTo>
                  <a:pt x="85904" y="1548"/>
                  <a:pt x="88374" y="2560"/>
                  <a:pt x="90726" y="3959"/>
                </a:cubicBezTo>
                <a:lnTo>
                  <a:pt x="92571" y="2084"/>
                </a:lnTo>
                <a:cubicBezTo>
                  <a:pt x="95369" y="-714"/>
                  <a:pt x="99893" y="-714"/>
                  <a:pt x="102662" y="2084"/>
                </a:cubicBezTo>
                <a:cubicBezTo>
                  <a:pt x="105430" y="4882"/>
                  <a:pt x="105460" y="9406"/>
                  <a:pt x="102662" y="12174"/>
                </a:cubicBezTo>
                <a:lnTo>
                  <a:pt x="100786" y="14049"/>
                </a:lnTo>
                <a:cubicBezTo>
                  <a:pt x="102156" y="16371"/>
                  <a:pt x="103168" y="18871"/>
                  <a:pt x="103852" y="21431"/>
                </a:cubicBezTo>
                <a:lnTo>
                  <a:pt x="107126" y="21431"/>
                </a:lnTo>
                <a:cubicBezTo>
                  <a:pt x="111085" y="21431"/>
                  <a:pt x="114270" y="24616"/>
                  <a:pt x="114270" y="28575"/>
                </a:cubicBezTo>
                <a:cubicBezTo>
                  <a:pt x="114270" y="32534"/>
                  <a:pt x="111085" y="35719"/>
                  <a:pt x="107126" y="35719"/>
                </a:cubicBezTo>
                <a:lnTo>
                  <a:pt x="103852" y="35719"/>
                </a:lnTo>
                <a:cubicBezTo>
                  <a:pt x="103197" y="38279"/>
                  <a:pt x="102185" y="40749"/>
                  <a:pt x="100786" y="43101"/>
                </a:cubicBezTo>
                <a:lnTo>
                  <a:pt x="102691" y="44946"/>
                </a:lnTo>
                <a:cubicBezTo>
                  <a:pt x="105489" y="47744"/>
                  <a:pt x="105489" y="52268"/>
                  <a:pt x="102691" y="55037"/>
                </a:cubicBezTo>
                <a:cubicBezTo>
                  <a:pt x="99893" y="57805"/>
                  <a:pt x="95369" y="57835"/>
                  <a:pt x="92601" y="55037"/>
                </a:cubicBezTo>
                <a:lnTo>
                  <a:pt x="91380" y="53816"/>
                </a:lnTo>
                <a:lnTo>
                  <a:pt x="82421" y="62776"/>
                </a:lnTo>
                <a:lnTo>
                  <a:pt x="83641" y="63996"/>
                </a:lnTo>
                <a:cubicBezTo>
                  <a:pt x="86439" y="66794"/>
                  <a:pt x="86439" y="71318"/>
                  <a:pt x="83641" y="74087"/>
                </a:cubicBezTo>
                <a:cubicBezTo>
                  <a:pt x="80843" y="76855"/>
                  <a:pt x="76319" y="76885"/>
                  <a:pt x="73551" y="74087"/>
                </a:cubicBezTo>
                <a:lnTo>
                  <a:pt x="72330" y="72866"/>
                </a:lnTo>
                <a:cubicBezTo>
                  <a:pt x="69354" y="75843"/>
                  <a:pt x="66377" y="78819"/>
                  <a:pt x="63371" y="81826"/>
                </a:cubicBezTo>
                <a:lnTo>
                  <a:pt x="64591" y="83046"/>
                </a:lnTo>
                <a:cubicBezTo>
                  <a:pt x="67389" y="85844"/>
                  <a:pt x="67389" y="90368"/>
                  <a:pt x="64591" y="93137"/>
                </a:cubicBezTo>
                <a:cubicBezTo>
                  <a:pt x="61793" y="95905"/>
                  <a:pt x="57269" y="95935"/>
                  <a:pt x="54501" y="93137"/>
                </a:cubicBezTo>
                <a:lnTo>
                  <a:pt x="52626" y="91261"/>
                </a:lnTo>
                <a:cubicBezTo>
                  <a:pt x="50304" y="92631"/>
                  <a:pt x="47804" y="93643"/>
                  <a:pt x="45244" y="94327"/>
                </a:cubicBezTo>
                <a:lnTo>
                  <a:pt x="45244" y="97601"/>
                </a:lnTo>
                <a:cubicBezTo>
                  <a:pt x="45244" y="101560"/>
                  <a:pt x="42059" y="104745"/>
                  <a:pt x="38100" y="104745"/>
                </a:cubicBezTo>
                <a:cubicBezTo>
                  <a:pt x="34141" y="104745"/>
                  <a:pt x="30956" y="101560"/>
                  <a:pt x="30956" y="97601"/>
                </a:cubicBezTo>
                <a:lnTo>
                  <a:pt x="30956" y="94327"/>
                </a:lnTo>
                <a:cubicBezTo>
                  <a:pt x="28396" y="93672"/>
                  <a:pt x="25926" y="92660"/>
                  <a:pt x="23574" y="91261"/>
                </a:cubicBezTo>
                <a:lnTo>
                  <a:pt x="21729" y="93166"/>
                </a:lnTo>
                <a:cubicBezTo>
                  <a:pt x="18931" y="95964"/>
                  <a:pt x="14407" y="95964"/>
                  <a:pt x="11638" y="93166"/>
                </a:cubicBezTo>
                <a:cubicBezTo>
                  <a:pt x="8870" y="90368"/>
                  <a:pt x="8840" y="85844"/>
                  <a:pt x="11638" y="83076"/>
                </a:cubicBezTo>
                <a:lnTo>
                  <a:pt x="13514" y="81201"/>
                </a:lnTo>
                <a:cubicBezTo>
                  <a:pt x="12144" y="78879"/>
                  <a:pt x="11132" y="76379"/>
                  <a:pt x="10448" y="73819"/>
                </a:cubicBezTo>
                <a:lnTo>
                  <a:pt x="7174" y="73819"/>
                </a:lnTo>
                <a:cubicBezTo>
                  <a:pt x="3215" y="73819"/>
                  <a:pt x="30" y="70634"/>
                  <a:pt x="30" y="66675"/>
                </a:cubicBezTo>
                <a:cubicBezTo>
                  <a:pt x="30" y="62716"/>
                  <a:pt x="3215" y="59531"/>
                  <a:pt x="7174" y="59531"/>
                </a:cubicBezTo>
                <a:lnTo>
                  <a:pt x="10448" y="59531"/>
                </a:lnTo>
                <a:cubicBezTo>
                  <a:pt x="11103" y="56971"/>
                  <a:pt x="12115" y="54501"/>
                  <a:pt x="13514" y="52149"/>
                </a:cubicBezTo>
                <a:lnTo>
                  <a:pt x="11609" y="50304"/>
                </a:lnTo>
                <a:cubicBezTo>
                  <a:pt x="8811" y="47506"/>
                  <a:pt x="8811" y="42982"/>
                  <a:pt x="11609" y="40213"/>
                </a:cubicBezTo>
                <a:cubicBezTo>
                  <a:pt x="14407" y="37445"/>
                  <a:pt x="18931" y="37415"/>
                  <a:pt x="21699" y="40213"/>
                </a:cubicBezTo>
                <a:lnTo>
                  <a:pt x="22920" y="41434"/>
                </a:lnTo>
                <a:cubicBezTo>
                  <a:pt x="25896" y="38457"/>
                  <a:pt x="28873" y="35481"/>
                  <a:pt x="31879" y="32474"/>
                </a:cubicBezTo>
                <a:lnTo>
                  <a:pt x="30659" y="31254"/>
                </a:lnTo>
                <a:cubicBezTo>
                  <a:pt x="27861" y="28456"/>
                  <a:pt x="27861" y="23932"/>
                  <a:pt x="30659" y="21163"/>
                </a:cubicBezTo>
                <a:cubicBezTo>
                  <a:pt x="33457" y="18395"/>
                  <a:pt x="37981" y="18365"/>
                  <a:pt x="40749" y="21163"/>
                </a:cubicBezTo>
                <a:lnTo>
                  <a:pt x="41970" y="22384"/>
                </a:lnTo>
                <a:lnTo>
                  <a:pt x="50929" y="13424"/>
                </a:lnTo>
                <a:lnTo>
                  <a:pt x="49709" y="12204"/>
                </a:lnTo>
                <a:cubicBezTo>
                  <a:pt x="46911" y="9406"/>
                  <a:pt x="46911" y="4882"/>
                  <a:pt x="49709" y="2113"/>
                </a:cubicBezTo>
                <a:cubicBezTo>
                  <a:pt x="52507" y="-655"/>
                  <a:pt x="57031" y="-685"/>
                  <a:pt x="59829" y="2084"/>
                </a:cubicBezTo>
                <a:lnTo>
                  <a:pt x="61704" y="3959"/>
                </a:lnTo>
                <a:cubicBezTo>
                  <a:pt x="64026" y="2590"/>
                  <a:pt x="66526" y="1578"/>
                  <a:pt x="69086" y="893"/>
                </a:cubicBezTo>
                <a:lnTo>
                  <a:pt x="69086" y="-2381"/>
                </a:lnTo>
                <a:cubicBezTo>
                  <a:pt x="69086" y="-6340"/>
                  <a:pt x="72271" y="-9525"/>
                  <a:pt x="76230" y="-9525"/>
                </a:cubicBezTo>
                <a:close/>
                <a:moveTo>
                  <a:pt x="38100" y="76200"/>
                </a:moveTo>
                <a:cubicBezTo>
                  <a:pt x="43357" y="76200"/>
                  <a:pt x="47625" y="71932"/>
                  <a:pt x="47625" y="66675"/>
                </a:cubicBezTo>
                <a:cubicBezTo>
                  <a:pt x="47625" y="61418"/>
                  <a:pt x="43357" y="57150"/>
                  <a:pt x="38100" y="57150"/>
                </a:cubicBezTo>
                <a:cubicBezTo>
                  <a:pt x="32843" y="57150"/>
                  <a:pt x="28575" y="61418"/>
                  <a:pt x="28575" y="66675"/>
                </a:cubicBezTo>
                <a:cubicBezTo>
                  <a:pt x="28575" y="71932"/>
                  <a:pt x="32843" y="76200"/>
                  <a:pt x="38100" y="76200"/>
                </a:cubicBezTo>
                <a:close/>
                <a:moveTo>
                  <a:pt x="71438" y="42863"/>
                </a:moveTo>
                <a:cubicBezTo>
                  <a:pt x="71438" y="37606"/>
                  <a:pt x="67169" y="33338"/>
                  <a:pt x="61912" y="33338"/>
                </a:cubicBezTo>
                <a:cubicBezTo>
                  <a:pt x="56656" y="33338"/>
                  <a:pt x="52388" y="37606"/>
                  <a:pt x="52388" y="42863"/>
                </a:cubicBezTo>
                <a:cubicBezTo>
                  <a:pt x="52388" y="48119"/>
                  <a:pt x="56656" y="52388"/>
                  <a:pt x="61912" y="52388"/>
                </a:cubicBezTo>
                <a:cubicBezTo>
                  <a:pt x="67169" y="52388"/>
                  <a:pt x="71438" y="48119"/>
                  <a:pt x="71438" y="42863"/>
                </a:cubicBezTo>
                <a:close/>
                <a:moveTo>
                  <a:pt x="159544" y="54769"/>
                </a:moveTo>
                <a:lnTo>
                  <a:pt x="159544" y="58043"/>
                </a:lnTo>
                <a:cubicBezTo>
                  <a:pt x="162104" y="58698"/>
                  <a:pt x="164574" y="59710"/>
                  <a:pt x="166926" y="61109"/>
                </a:cubicBezTo>
                <a:lnTo>
                  <a:pt x="168771" y="59234"/>
                </a:lnTo>
                <a:cubicBezTo>
                  <a:pt x="171569" y="56436"/>
                  <a:pt x="176093" y="56436"/>
                  <a:pt x="178862" y="59234"/>
                </a:cubicBezTo>
                <a:cubicBezTo>
                  <a:pt x="181630" y="62032"/>
                  <a:pt x="181660" y="66556"/>
                  <a:pt x="178862" y="69324"/>
                </a:cubicBezTo>
                <a:lnTo>
                  <a:pt x="176986" y="71199"/>
                </a:lnTo>
                <a:cubicBezTo>
                  <a:pt x="178356" y="73521"/>
                  <a:pt x="179368" y="76021"/>
                  <a:pt x="180052" y="78581"/>
                </a:cubicBezTo>
                <a:lnTo>
                  <a:pt x="183326" y="78581"/>
                </a:lnTo>
                <a:cubicBezTo>
                  <a:pt x="187285" y="78581"/>
                  <a:pt x="190470" y="81766"/>
                  <a:pt x="190470" y="85725"/>
                </a:cubicBezTo>
                <a:cubicBezTo>
                  <a:pt x="190470" y="89684"/>
                  <a:pt x="187285" y="92869"/>
                  <a:pt x="183326" y="92869"/>
                </a:cubicBezTo>
                <a:lnTo>
                  <a:pt x="180052" y="92869"/>
                </a:lnTo>
                <a:cubicBezTo>
                  <a:pt x="179397" y="95429"/>
                  <a:pt x="178385" y="97899"/>
                  <a:pt x="176986" y="100251"/>
                </a:cubicBezTo>
                <a:lnTo>
                  <a:pt x="178891" y="102096"/>
                </a:lnTo>
                <a:cubicBezTo>
                  <a:pt x="181689" y="104894"/>
                  <a:pt x="181689" y="109418"/>
                  <a:pt x="178891" y="112187"/>
                </a:cubicBezTo>
                <a:cubicBezTo>
                  <a:pt x="176093" y="114955"/>
                  <a:pt x="171569" y="114985"/>
                  <a:pt x="168801" y="112187"/>
                </a:cubicBezTo>
                <a:lnTo>
                  <a:pt x="167580" y="110966"/>
                </a:lnTo>
                <a:lnTo>
                  <a:pt x="158621" y="119926"/>
                </a:lnTo>
                <a:lnTo>
                  <a:pt x="159841" y="121146"/>
                </a:lnTo>
                <a:cubicBezTo>
                  <a:pt x="162639" y="123944"/>
                  <a:pt x="162639" y="128468"/>
                  <a:pt x="159841" y="131237"/>
                </a:cubicBezTo>
                <a:cubicBezTo>
                  <a:pt x="157043" y="134005"/>
                  <a:pt x="152519" y="134035"/>
                  <a:pt x="149751" y="131237"/>
                </a:cubicBezTo>
                <a:lnTo>
                  <a:pt x="148530" y="130016"/>
                </a:lnTo>
                <a:cubicBezTo>
                  <a:pt x="145554" y="132993"/>
                  <a:pt x="142577" y="135969"/>
                  <a:pt x="139571" y="138976"/>
                </a:cubicBezTo>
                <a:lnTo>
                  <a:pt x="140791" y="140196"/>
                </a:lnTo>
                <a:cubicBezTo>
                  <a:pt x="143589" y="142994"/>
                  <a:pt x="143589" y="147518"/>
                  <a:pt x="140791" y="150287"/>
                </a:cubicBezTo>
                <a:cubicBezTo>
                  <a:pt x="137993" y="153055"/>
                  <a:pt x="133469" y="153085"/>
                  <a:pt x="130701" y="150287"/>
                </a:cubicBezTo>
                <a:lnTo>
                  <a:pt x="128826" y="148411"/>
                </a:lnTo>
                <a:cubicBezTo>
                  <a:pt x="126504" y="149781"/>
                  <a:pt x="124004" y="150793"/>
                  <a:pt x="121444" y="151477"/>
                </a:cubicBezTo>
                <a:lnTo>
                  <a:pt x="121444" y="154751"/>
                </a:lnTo>
                <a:cubicBezTo>
                  <a:pt x="121444" y="158710"/>
                  <a:pt x="118259" y="161895"/>
                  <a:pt x="114300" y="161895"/>
                </a:cubicBezTo>
                <a:cubicBezTo>
                  <a:pt x="110341" y="161895"/>
                  <a:pt x="107156" y="158710"/>
                  <a:pt x="107156" y="154751"/>
                </a:cubicBezTo>
                <a:lnTo>
                  <a:pt x="107156" y="151477"/>
                </a:lnTo>
                <a:cubicBezTo>
                  <a:pt x="104596" y="150822"/>
                  <a:pt x="102126" y="149810"/>
                  <a:pt x="99774" y="148411"/>
                </a:cubicBezTo>
                <a:lnTo>
                  <a:pt x="97929" y="150316"/>
                </a:lnTo>
                <a:cubicBezTo>
                  <a:pt x="95131" y="153114"/>
                  <a:pt x="90607" y="153114"/>
                  <a:pt x="87838" y="150316"/>
                </a:cubicBezTo>
                <a:cubicBezTo>
                  <a:pt x="85070" y="147518"/>
                  <a:pt x="85040" y="142994"/>
                  <a:pt x="87838" y="140226"/>
                </a:cubicBezTo>
                <a:lnTo>
                  <a:pt x="89714" y="138351"/>
                </a:lnTo>
                <a:cubicBezTo>
                  <a:pt x="88344" y="136029"/>
                  <a:pt x="87332" y="133529"/>
                  <a:pt x="86648" y="130969"/>
                </a:cubicBezTo>
                <a:lnTo>
                  <a:pt x="83374" y="130969"/>
                </a:lnTo>
                <a:cubicBezTo>
                  <a:pt x="79415" y="130969"/>
                  <a:pt x="76230" y="127784"/>
                  <a:pt x="76230" y="123825"/>
                </a:cubicBezTo>
                <a:cubicBezTo>
                  <a:pt x="76230" y="119866"/>
                  <a:pt x="79415" y="116681"/>
                  <a:pt x="83374" y="116681"/>
                </a:cubicBezTo>
                <a:lnTo>
                  <a:pt x="86648" y="116681"/>
                </a:lnTo>
                <a:cubicBezTo>
                  <a:pt x="87303" y="114121"/>
                  <a:pt x="88315" y="111651"/>
                  <a:pt x="89714" y="109299"/>
                </a:cubicBezTo>
                <a:lnTo>
                  <a:pt x="87809" y="107454"/>
                </a:lnTo>
                <a:cubicBezTo>
                  <a:pt x="85011" y="104656"/>
                  <a:pt x="85011" y="100132"/>
                  <a:pt x="87809" y="97363"/>
                </a:cubicBezTo>
                <a:cubicBezTo>
                  <a:pt x="90607" y="94595"/>
                  <a:pt x="95131" y="94565"/>
                  <a:pt x="97899" y="97363"/>
                </a:cubicBezTo>
                <a:lnTo>
                  <a:pt x="99120" y="98584"/>
                </a:lnTo>
                <a:cubicBezTo>
                  <a:pt x="102096" y="95607"/>
                  <a:pt x="105073" y="92631"/>
                  <a:pt x="108079" y="89624"/>
                </a:cubicBezTo>
                <a:lnTo>
                  <a:pt x="106859" y="88404"/>
                </a:lnTo>
                <a:cubicBezTo>
                  <a:pt x="104061" y="85606"/>
                  <a:pt x="104061" y="81082"/>
                  <a:pt x="106859" y="78313"/>
                </a:cubicBezTo>
                <a:cubicBezTo>
                  <a:pt x="109657" y="75545"/>
                  <a:pt x="114181" y="75515"/>
                  <a:pt x="116949" y="78313"/>
                </a:cubicBezTo>
                <a:lnTo>
                  <a:pt x="118170" y="79534"/>
                </a:lnTo>
                <a:lnTo>
                  <a:pt x="127129" y="70574"/>
                </a:lnTo>
                <a:lnTo>
                  <a:pt x="125909" y="69354"/>
                </a:lnTo>
                <a:cubicBezTo>
                  <a:pt x="123111" y="66556"/>
                  <a:pt x="123111" y="62032"/>
                  <a:pt x="125909" y="59263"/>
                </a:cubicBezTo>
                <a:cubicBezTo>
                  <a:pt x="128707" y="56495"/>
                  <a:pt x="133231" y="56465"/>
                  <a:pt x="135999" y="59263"/>
                </a:cubicBezTo>
                <a:lnTo>
                  <a:pt x="137874" y="61139"/>
                </a:lnTo>
                <a:cubicBezTo>
                  <a:pt x="140196" y="59769"/>
                  <a:pt x="142696" y="58757"/>
                  <a:pt x="145256" y="58073"/>
                </a:cubicBezTo>
                <a:lnTo>
                  <a:pt x="145256" y="54799"/>
                </a:lnTo>
                <a:cubicBezTo>
                  <a:pt x="145256" y="50840"/>
                  <a:pt x="148441" y="47655"/>
                  <a:pt x="152400" y="47655"/>
                </a:cubicBezTo>
                <a:cubicBezTo>
                  <a:pt x="156359" y="47655"/>
                  <a:pt x="159544" y="50840"/>
                  <a:pt x="159544" y="54799"/>
                </a:cubicBezTo>
                <a:close/>
                <a:moveTo>
                  <a:pt x="133350" y="114300"/>
                </a:moveTo>
                <a:cubicBezTo>
                  <a:pt x="133350" y="109043"/>
                  <a:pt x="129082" y="104775"/>
                  <a:pt x="123825" y="104775"/>
                </a:cubicBezTo>
                <a:cubicBezTo>
                  <a:pt x="118568" y="104775"/>
                  <a:pt x="114300" y="109043"/>
                  <a:pt x="114300" y="114300"/>
                </a:cubicBezTo>
                <a:cubicBezTo>
                  <a:pt x="114300" y="119557"/>
                  <a:pt x="118568" y="123825"/>
                  <a:pt x="123825" y="123825"/>
                </a:cubicBezTo>
                <a:cubicBezTo>
                  <a:pt x="129082" y="123825"/>
                  <a:pt x="133350" y="119557"/>
                  <a:pt x="133350" y="114300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36320" y="4029075"/>
            <a:ext cx="490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Contamination Early Warning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36320" y="4333875"/>
            <a:ext cx="48863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detects infection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3-5 days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before visible signs. Pattern recognition from 1000+ contamination incidents.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6010" y="1527810"/>
            <a:ext cx="5627370" cy="1055370"/>
          </a:xfrm>
          <a:custGeom>
            <a:avLst/>
            <a:gdLst/>
            <a:ahLst/>
            <a:cxnLst/>
            <a:rect l="l" t="t" r="r" b="b"/>
            <a:pathLst>
              <a:path w="5627370" h="1055370">
                <a:moveTo>
                  <a:pt x="114297" y="0"/>
                </a:moveTo>
                <a:lnTo>
                  <a:pt x="5513073" y="0"/>
                </a:lnTo>
                <a:cubicBezTo>
                  <a:pt x="5576198" y="0"/>
                  <a:pt x="5627370" y="51172"/>
                  <a:pt x="5627370" y="114297"/>
                </a:cubicBezTo>
                <a:lnTo>
                  <a:pt x="5627370" y="941073"/>
                </a:lnTo>
                <a:cubicBezTo>
                  <a:pt x="5627370" y="1004198"/>
                  <a:pt x="5576198" y="1055370"/>
                  <a:pt x="5513073" y="1055370"/>
                </a:cubicBezTo>
                <a:lnTo>
                  <a:pt x="114297" y="1055370"/>
                </a:lnTo>
                <a:cubicBezTo>
                  <a:pt x="51172" y="1055370"/>
                  <a:pt x="0" y="1004198"/>
                  <a:pt x="0" y="94107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332220" y="16840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446520" y="17983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9525"/>
                </a:moveTo>
                <a:cubicBezTo>
                  <a:pt x="152400" y="41702"/>
                  <a:pt x="129600" y="68550"/>
                  <a:pt x="99298" y="74831"/>
                </a:cubicBezTo>
                <a:cubicBezTo>
                  <a:pt x="96947" y="57537"/>
                  <a:pt x="89178" y="41970"/>
                  <a:pt x="77718" y="29914"/>
                </a:cubicBezTo>
                <a:cubicBezTo>
                  <a:pt x="89654" y="11906"/>
                  <a:pt x="110103" y="0"/>
                  <a:pt x="133350" y="0"/>
                </a:cubicBezTo>
                <a:lnTo>
                  <a:pt x="142875" y="0"/>
                </a:lnTo>
                <a:cubicBezTo>
                  <a:pt x="148144" y="0"/>
                  <a:pt x="152400" y="4256"/>
                  <a:pt x="152400" y="9525"/>
                </a:cubicBezTo>
                <a:close/>
                <a:moveTo>
                  <a:pt x="0" y="28575"/>
                </a:moveTo>
                <a:cubicBezTo>
                  <a:pt x="0" y="23306"/>
                  <a:pt x="4256" y="19050"/>
                  <a:pt x="9525" y="19050"/>
                </a:cubicBezTo>
                <a:lnTo>
                  <a:pt x="19050" y="19050"/>
                </a:lnTo>
                <a:cubicBezTo>
                  <a:pt x="55870" y="19050"/>
                  <a:pt x="85725" y="48905"/>
                  <a:pt x="85725" y="85725"/>
                </a:cubicBezTo>
                <a:lnTo>
                  <a:pt x="85725" y="142875"/>
                </a:lnTo>
                <a:cubicBezTo>
                  <a:pt x="85725" y="148144"/>
                  <a:pt x="81469" y="152400"/>
                  <a:pt x="76200" y="152400"/>
                </a:cubicBezTo>
                <a:cubicBezTo>
                  <a:pt x="70931" y="152400"/>
                  <a:pt x="66675" y="148144"/>
                  <a:pt x="66675" y="142875"/>
                </a:cubicBezTo>
                <a:lnTo>
                  <a:pt x="66675" y="95250"/>
                </a:lnTo>
                <a:cubicBezTo>
                  <a:pt x="29855" y="95250"/>
                  <a:pt x="0" y="65395"/>
                  <a:pt x="0" y="28575"/>
                </a:cubicBezTo>
                <a:close/>
              </a:path>
            </a:pathLst>
          </a:custGeom>
          <a:solidFill>
            <a:srgbClr val="F5F1E8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827520" y="1684023"/>
            <a:ext cx="490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Batch Tracking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27520" y="1988823"/>
            <a:ext cx="48863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lifecycle from spawn to harvest. Track every batch's environmental conditions, inputs, and outcomes. FDA FSMA compliant.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6010" y="2700338"/>
            <a:ext cx="5627370" cy="1055370"/>
          </a:xfrm>
          <a:custGeom>
            <a:avLst/>
            <a:gdLst/>
            <a:ahLst/>
            <a:cxnLst/>
            <a:rect l="l" t="t" r="r" b="b"/>
            <a:pathLst>
              <a:path w="5627370" h="1055370">
                <a:moveTo>
                  <a:pt x="114297" y="0"/>
                </a:moveTo>
                <a:lnTo>
                  <a:pt x="5513073" y="0"/>
                </a:lnTo>
                <a:cubicBezTo>
                  <a:pt x="5576198" y="0"/>
                  <a:pt x="5627370" y="51172"/>
                  <a:pt x="5627370" y="114297"/>
                </a:cubicBezTo>
                <a:lnTo>
                  <a:pt x="5627370" y="941073"/>
                </a:lnTo>
                <a:cubicBezTo>
                  <a:pt x="5627370" y="1004198"/>
                  <a:pt x="5576198" y="1055370"/>
                  <a:pt x="5513073" y="1055370"/>
                </a:cubicBezTo>
                <a:lnTo>
                  <a:pt x="114297" y="1055370"/>
                </a:lnTo>
                <a:cubicBezTo>
                  <a:pt x="51172" y="1055370"/>
                  <a:pt x="0" y="1004198"/>
                  <a:pt x="0" y="94107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332220" y="285654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446520" y="297084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675" y="0"/>
                </a:moveTo>
                <a:lnTo>
                  <a:pt x="66675" y="19050"/>
                </a:lnTo>
                <a:cubicBezTo>
                  <a:pt x="66675" y="21669"/>
                  <a:pt x="68818" y="23813"/>
                  <a:pt x="71438" y="23813"/>
                </a:cubicBezTo>
                <a:lnTo>
                  <a:pt x="80962" y="23813"/>
                </a:lnTo>
                <a:cubicBezTo>
                  <a:pt x="83582" y="23813"/>
                  <a:pt x="85725" y="21669"/>
                  <a:pt x="85725" y="19050"/>
                </a:cubicBezTo>
                <a:lnTo>
                  <a:pt x="85725" y="0"/>
                </a:lnTo>
                <a:lnTo>
                  <a:pt x="95250" y="0"/>
                </a:lnTo>
                <a:cubicBezTo>
                  <a:pt x="105757" y="0"/>
                  <a:pt x="114300" y="8543"/>
                  <a:pt x="114300" y="19050"/>
                </a:cubicBezTo>
                <a:lnTo>
                  <a:pt x="114300" y="57150"/>
                </a:lnTo>
                <a:cubicBezTo>
                  <a:pt x="114300" y="58787"/>
                  <a:pt x="114092" y="60394"/>
                  <a:pt x="113705" y="61912"/>
                </a:cubicBezTo>
                <a:lnTo>
                  <a:pt x="38695" y="61912"/>
                </a:lnTo>
                <a:cubicBezTo>
                  <a:pt x="38308" y="60394"/>
                  <a:pt x="38100" y="58787"/>
                  <a:pt x="38100" y="57150"/>
                </a:cubicBezTo>
                <a:lnTo>
                  <a:pt x="38100" y="19050"/>
                </a:lnTo>
                <a:cubicBezTo>
                  <a:pt x="38100" y="8543"/>
                  <a:pt x="46643" y="0"/>
                  <a:pt x="57150" y="0"/>
                </a:cubicBezTo>
                <a:lnTo>
                  <a:pt x="66675" y="0"/>
                </a:lnTo>
                <a:close/>
                <a:moveTo>
                  <a:pt x="95250" y="152400"/>
                </a:moveTo>
                <a:cubicBezTo>
                  <a:pt x="91916" y="152400"/>
                  <a:pt x="88761" y="151537"/>
                  <a:pt x="86023" y="150019"/>
                </a:cubicBezTo>
                <a:cubicBezTo>
                  <a:pt x="88850" y="145107"/>
                  <a:pt x="90488" y="139422"/>
                  <a:pt x="90488" y="133350"/>
                </a:cubicBezTo>
                <a:lnTo>
                  <a:pt x="90488" y="95250"/>
                </a:lnTo>
                <a:cubicBezTo>
                  <a:pt x="90488" y="89178"/>
                  <a:pt x="88850" y="83493"/>
                  <a:pt x="86023" y="78581"/>
                </a:cubicBezTo>
                <a:cubicBezTo>
                  <a:pt x="88761" y="77063"/>
                  <a:pt x="91886" y="76200"/>
                  <a:pt x="95250" y="76200"/>
                </a:cubicBezTo>
                <a:lnTo>
                  <a:pt x="104775" y="76200"/>
                </a:lnTo>
                <a:lnTo>
                  <a:pt x="104775" y="95250"/>
                </a:lnTo>
                <a:cubicBezTo>
                  <a:pt x="104775" y="97869"/>
                  <a:pt x="106918" y="100013"/>
                  <a:pt x="109537" y="100013"/>
                </a:cubicBezTo>
                <a:lnTo>
                  <a:pt x="119062" y="100013"/>
                </a:lnTo>
                <a:cubicBezTo>
                  <a:pt x="121682" y="100013"/>
                  <a:pt x="123825" y="97869"/>
                  <a:pt x="123825" y="95250"/>
                </a:cubicBezTo>
                <a:lnTo>
                  <a:pt x="123825" y="76200"/>
                </a:lnTo>
                <a:lnTo>
                  <a:pt x="133350" y="76200"/>
                </a:lnTo>
                <a:cubicBezTo>
                  <a:pt x="143857" y="76200"/>
                  <a:pt x="152400" y="84743"/>
                  <a:pt x="152400" y="95250"/>
                </a:cubicBezTo>
                <a:lnTo>
                  <a:pt x="152400" y="133350"/>
                </a:lnTo>
                <a:cubicBezTo>
                  <a:pt x="152400" y="143857"/>
                  <a:pt x="143857" y="152400"/>
                  <a:pt x="133350" y="152400"/>
                </a:cubicBezTo>
                <a:lnTo>
                  <a:pt x="95250" y="152400"/>
                </a:lnTo>
                <a:close/>
                <a:moveTo>
                  <a:pt x="0" y="95250"/>
                </a:moveTo>
                <a:cubicBezTo>
                  <a:pt x="0" y="84743"/>
                  <a:pt x="8543" y="76200"/>
                  <a:pt x="19050" y="76200"/>
                </a:cubicBezTo>
                <a:lnTo>
                  <a:pt x="28575" y="76200"/>
                </a:lnTo>
                <a:lnTo>
                  <a:pt x="28575" y="95250"/>
                </a:lnTo>
                <a:cubicBezTo>
                  <a:pt x="28575" y="97869"/>
                  <a:pt x="30718" y="100013"/>
                  <a:pt x="33338" y="100013"/>
                </a:cubicBezTo>
                <a:lnTo>
                  <a:pt x="42863" y="100013"/>
                </a:lnTo>
                <a:cubicBezTo>
                  <a:pt x="45482" y="100013"/>
                  <a:pt x="47625" y="97869"/>
                  <a:pt x="47625" y="95250"/>
                </a:cubicBezTo>
                <a:lnTo>
                  <a:pt x="47625" y="76200"/>
                </a:lnTo>
                <a:lnTo>
                  <a:pt x="57150" y="76200"/>
                </a:lnTo>
                <a:cubicBezTo>
                  <a:pt x="67657" y="76200"/>
                  <a:pt x="76200" y="84743"/>
                  <a:pt x="76200" y="95250"/>
                </a:cubicBezTo>
                <a:lnTo>
                  <a:pt x="76200" y="133350"/>
                </a:lnTo>
                <a:cubicBezTo>
                  <a:pt x="76200" y="143857"/>
                  <a:pt x="67657" y="152400"/>
                  <a:pt x="571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95250"/>
                </a:ln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27520" y="2856547"/>
            <a:ext cx="490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Inventory Management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27520" y="3161347"/>
            <a:ext cx="48863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spawn, substrate, casing, and supplies. Auto-reorder alerts when stock &lt;20%. Eliminate Excel spreadsheets.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76010" y="3872867"/>
            <a:ext cx="5627370" cy="1055370"/>
          </a:xfrm>
          <a:custGeom>
            <a:avLst/>
            <a:gdLst/>
            <a:ahLst/>
            <a:cxnLst/>
            <a:rect l="l" t="t" r="r" b="b"/>
            <a:pathLst>
              <a:path w="5627370" h="1055370">
                <a:moveTo>
                  <a:pt x="114297" y="0"/>
                </a:moveTo>
                <a:lnTo>
                  <a:pt x="5513073" y="0"/>
                </a:lnTo>
                <a:cubicBezTo>
                  <a:pt x="5576198" y="0"/>
                  <a:pt x="5627370" y="51172"/>
                  <a:pt x="5627370" y="114297"/>
                </a:cubicBezTo>
                <a:lnTo>
                  <a:pt x="5627370" y="941073"/>
                </a:lnTo>
                <a:cubicBezTo>
                  <a:pt x="5627370" y="1004198"/>
                  <a:pt x="5576198" y="1055370"/>
                  <a:pt x="5513073" y="1055370"/>
                </a:cubicBezTo>
                <a:lnTo>
                  <a:pt x="114297" y="1055370"/>
                </a:lnTo>
                <a:cubicBezTo>
                  <a:pt x="51172" y="1055370"/>
                  <a:pt x="0" y="1004198"/>
                  <a:pt x="0" y="94107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332220" y="40290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465570" y="414337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4763" y="19050"/>
                </a:moveTo>
                <a:cubicBezTo>
                  <a:pt x="4763" y="8543"/>
                  <a:pt x="13305" y="0"/>
                  <a:pt x="23813" y="0"/>
                </a:cubicBezTo>
                <a:lnTo>
                  <a:pt x="90488" y="0"/>
                </a:lnTo>
                <a:cubicBezTo>
                  <a:pt x="100995" y="0"/>
                  <a:pt x="109537" y="8543"/>
                  <a:pt x="109537" y="19050"/>
                </a:cubicBezTo>
                <a:lnTo>
                  <a:pt x="109537" y="133350"/>
                </a:lnTo>
                <a:cubicBezTo>
                  <a:pt x="109537" y="143857"/>
                  <a:pt x="100995" y="152400"/>
                  <a:pt x="90488" y="152400"/>
                </a:cubicBezTo>
                <a:lnTo>
                  <a:pt x="23813" y="152400"/>
                </a:lnTo>
                <a:cubicBezTo>
                  <a:pt x="13305" y="152400"/>
                  <a:pt x="4763" y="143857"/>
                  <a:pt x="4763" y="133350"/>
                </a:cubicBezTo>
                <a:lnTo>
                  <a:pt x="4763" y="19050"/>
                </a:lnTo>
                <a:close/>
                <a:moveTo>
                  <a:pt x="23813" y="19050"/>
                </a:moveTo>
                <a:lnTo>
                  <a:pt x="23813" y="109537"/>
                </a:lnTo>
                <a:lnTo>
                  <a:pt x="90488" y="109537"/>
                </a:lnTo>
                <a:lnTo>
                  <a:pt x="90488" y="19050"/>
                </a:lnTo>
                <a:lnTo>
                  <a:pt x="23813" y="19050"/>
                </a:lnTo>
                <a:close/>
                <a:moveTo>
                  <a:pt x="57150" y="140494"/>
                </a:moveTo>
                <a:cubicBezTo>
                  <a:pt x="62419" y="140494"/>
                  <a:pt x="66675" y="136237"/>
                  <a:pt x="66675" y="130969"/>
                </a:cubicBezTo>
                <a:cubicBezTo>
                  <a:pt x="66675" y="125700"/>
                  <a:pt x="62419" y="121444"/>
                  <a:pt x="57150" y="121444"/>
                </a:cubicBezTo>
                <a:cubicBezTo>
                  <a:pt x="51881" y="121444"/>
                  <a:pt x="47625" y="125700"/>
                  <a:pt x="47625" y="130969"/>
                </a:cubicBezTo>
                <a:cubicBezTo>
                  <a:pt x="47625" y="136237"/>
                  <a:pt x="51881" y="140494"/>
                  <a:pt x="57150" y="140494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827520" y="4029075"/>
            <a:ext cx="490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Offline-First Mobile App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27520" y="4333875"/>
            <a:ext cx="48863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PWA works without internet for weeks. Data syncs automatically when connection returns. Designed for rural India's connectivity challenges.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4810" y="5083495"/>
            <a:ext cx="11418570" cy="845820"/>
          </a:xfrm>
          <a:custGeom>
            <a:avLst/>
            <a:gdLst/>
            <a:ahLst/>
            <a:cxnLst/>
            <a:rect l="l" t="t" r="r" b="b"/>
            <a:pathLst>
              <a:path w="11418570" h="845820">
                <a:moveTo>
                  <a:pt x="114304" y="0"/>
                </a:moveTo>
                <a:lnTo>
                  <a:pt x="11304266" y="0"/>
                </a:lnTo>
                <a:cubicBezTo>
                  <a:pt x="11367394" y="0"/>
                  <a:pt x="11418570" y="51176"/>
                  <a:pt x="11418570" y="114304"/>
                </a:cubicBezTo>
                <a:lnTo>
                  <a:pt x="11418570" y="731516"/>
                </a:lnTo>
                <a:cubicBezTo>
                  <a:pt x="11418570" y="794644"/>
                  <a:pt x="11367394" y="845820"/>
                  <a:pt x="11304266" y="845820"/>
                </a:cubicBezTo>
                <a:lnTo>
                  <a:pt x="114304" y="845820"/>
                </a:lnTo>
                <a:cubicBezTo>
                  <a:pt x="51176" y="845820"/>
                  <a:pt x="0" y="794644"/>
                  <a:pt x="0" y="73151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E9C46A">
                  <a:alpha val="20000"/>
                </a:srgbClr>
              </a:gs>
              <a:gs pos="100000">
                <a:srgbClr val="D4A373">
                  <a:alpha val="20000"/>
                </a:srgbClr>
              </a:gs>
            </a:gsLst>
            <a:lin ang="0" scaled="1"/>
          </a:gradFill>
          <a:ln w="10160">
            <a:solidFill>
              <a:srgbClr val="E9C46A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596979" y="536352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37238" y="-14455"/>
                </a:moveTo>
                <a:cubicBezTo>
                  <a:pt x="129760" y="-19031"/>
                  <a:pt x="120328" y="-19031"/>
                  <a:pt x="112849" y="-14455"/>
                </a:cubicBezTo>
                <a:cubicBezTo>
                  <a:pt x="99231" y="-6139"/>
                  <a:pt x="90804" y="-3907"/>
                  <a:pt x="74842" y="-4242"/>
                </a:cubicBezTo>
                <a:cubicBezTo>
                  <a:pt x="66080" y="-4465"/>
                  <a:pt x="57931" y="279"/>
                  <a:pt x="53690" y="7981"/>
                </a:cubicBezTo>
                <a:cubicBezTo>
                  <a:pt x="46044" y="21989"/>
                  <a:pt x="39849" y="28184"/>
                  <a:pt x="25840" y="35830"/>
                </a:cubicBezTo>
                <a:cubicBezTo>
                  <a:pt x="18138" y="40016"/>
                  <a:pt x="13450" y="48220"/>
                  <a:pt x="13618" y="56983"/>
                </a:cubicBezTo>
                <a:cubicBezTo>
                  <a:pt x="14008" y="72944"/>
                  <a:pt x="11720" y="81372"/>
                  <a:pt x="3404" y="94990"/>
                </a:cubicBezTo>
                <a:cubicBezTo>
                  <a:pt x="-1172" y="102468"/>
                  <a:pt x="-1172" y="111900"/>
                  <a:pt x="3404" y="119379"/>
                </a:cubicBezTo>
                <a:cubicBezTo>
                  <a:pt x="11720" y="132997"/>
                  <a:pt x="13953" y="141424"/>
                  <a:pt x="13618" y="157386"/>
                </a:cubicBezTo>
                <a:cubicBezTo>
                  <a:pt x="13395" y="166148"/>
                  <a:pt x="18138" y="174296"/>
                  <a:pt x="25840" y="178538"/>
                </a:cubicBezTo>
                <a:cubicBezTo>
                  <a:pt x="38174" y="185291"/>
                  <a:pt x="44425" y="190872"/>
                  <a:pt x="51011" y="201699"/>
                </a:cubicBezTo>
                <a:lnTo>
                  <a:pt x="23831" y="255891"/>
                </a:lnTo>
                <a:cubicBezTo>
                  <a:pt x="20538" y="262533"/>
                  <a:pt x="23217" y="270570"/>
                  <a:pt x="29803" y="273862"/>
                </a:cubicBezTo>
                <a:lnTo>
                  <a:pt x="77800" y="297861"/>
                </a:lnTo>
                <a:cubicBezTo>
                  <a:pt x="84218" y="301042"/>
                  <a:pt x="92032" y="298642"/>
                  <a:pt x="95492" y="292391"/>
                </a:cubicBezTo>
                <a:lnTo>
                  <a:pt x="124960" y="239316"/>
                </a:lnTo>
                <a:lnTo>
                  <a:pt x="154428" y="292391"/>
                </a:lnTo>
                <a:cubicBezTo>
                  <a:pt x="157888" y="298642"/>
                  <a:pt x="165702" y="301098"/>
                  <a:pt x="172120" y="297861"/>
                </a:cubicBezTo>
                <a:lnTo>
                  <a:pt x="220117" y="273862"/>
                </a:lnTo>
                <a:cubicBezTo>
                  <a:pt x="226758" y="270570"/>
                  <a:pt x="229437" y="262533"/>
                  <a:pt x="226089" y="255891"/>
                </a:cubicBezTo>
                <a:lnTo>
                  <a:pt x="198965" y="201644"/>
                </a:lnTo>
                <a:cubicBezTo>
                  <a:pt x="205494" y="190816"/>
                  <a:pt x="211801" y="185235"/>
                  <a:pt x="224135" y="178482"/>
                </a:cubicBezTo>
                <a:cubicBezTo>
                  <a:pt x="231837" y="174296"/>
                  <a:pt x="236525" y="166092"/>
                  <a:pt x="236358" y="157330"/>
                </a:cubicBezTo>
                <a:cubicBezTo>
                  <a:pt x="235967" y="141368"/>
                  <a:pt x="238255" y="132941"/>
                  <a:pt x="246571" y="119323"/>
                </a:cubicBezTo>
                <a:cubicBezTo>
                  <a:pt x="251147" y="111844"/>
                  <a:pt x="251147" y="102412"/>
                  <a:pt x="246571" y="94934"/>
                </a:cubicBezTo>
                <a:cubicBezTo>
                  <a:pt x="238255" y="81316"/>
                  <a:pt x="236023" y="72889"/>
                  <a:pt x="236358" y="56927"/>
                </a:cubicBezTo>
                <a:cubicBezTo>
                  <a:pt x="236581" y="48165"/>
                  <a:pt x="231837" y="40016"/>
                  <a:pt x="224135" y="35775"/>
                </a:cubicBezTo>
                <a:cubicBezTo>
                  <a:pt x="210127" y="28129"/>
                  <a:pt x="203932" y="21934"/>
                  <a:pt x="196286" y="7925"/>
                </a:cubicBezTo>
                <a:cubicBezTo>
                  <a:pt x="192100" y="223"/>
                  <a:pt x="183896" y="-4465"/>
                  <a:pt x="175133" y="-4297"/>
                </a:cubicBezTo>
                <a:cubicBezTo>
                  <a:pt x="159172" y="-3907"/>
                  <a:pt x="150744" y="-6195"/>
                  <a:pt x="137127" y="-14511"/>
                </a:cubicBezTo>
                <a:close/>
                <a:moveTo>
                  <a:pt x="125016" y="53578"/>
                </a:moveTo>
                <a:cubicBezTo>
                  <a:pt x="154586" y="53578"/>
                  <a:pt x="178594" y="77586"/>
                  <a:pt x="178594" y="107156"/>
                </a:cubicBezTo>
                <a:cubicBezTo>
                  <a:pt x="178594" y="136727"/>
                  <a:pt x="154586" y="160734"/>
                  <a:pt x="125016" y="160734"/>
                </a:cubicBezTo>
                <a:cubicBezTo>
                  <a:pt x="95445" y="160734"/>
                  <a:pt x="71438" y="136727"/>
                  <a:pt x="71438" y="107156"/>
                </a:cubicBezTo>
                <a:cubicBezTo>
                  <a:pt x="71438" y="77586"/>
                  <a:pt x="95445" y="53578"/>
                  <a:pt x="125016" y="53578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050608" y="5277803"/>
            <a:ext cx="4676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Yield Analytics &amp; Benchmarking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50608" y="5544503"/>
            <a:ext cx="465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 your farm against regional leaders. Identify optimization opportunities.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163056" y="5239703"/>
            <a:ext cx="1485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15%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239256" y="5582603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 yield improvement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COMPETITIVE MOAT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Data Flywheel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Effects That Compound Over Time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527810"/>
            <a:ext cx="11418570" cy="1836420"/>
          </a:xfrm>
          <a:custGeom>
            <a:avLst/>
            <a:gdLst/>
            <a:ahLst/>
            <a:cxnLst/>
            <a:rect l="l" t="t" r="r" b="b"/>
            <a:pathLst>
              <a:path w="11418570" h="1836420">
                <a:moveTo>
                  <a:pt x="114299" y="0"/>
                </a:moveTo>
                <a:lnTo>
                  <a:pt x="11304271" y="0"/>
                </a:lnTo>
                <a:cubicBezTo>
                  <a:pt x="11367397" y="0"/>
                  <a:pt x="11418570" y="51173"/>
                  <a:pt x="11418570" y="114299"/>
                </a:cubicBezTo>
                <a:lnTo>
                  <a:pt x="11418570" y="1722121"/>
                </a:lnTo>
                <a:cubicBezTo>
                  <a:pt x="11418570" y="1785247"/>
                  <a:pt x="11367397" y="1836420"/>
                  <a:pt x="11304271" y="1836420"/>
                </a:cubicBezTo>
                <a:lnTo>
                  <a:pt x="114299" y="1836420"/>
                </a:lnTo>
                <a:cubicBezTo>
                  <a:pt x="51173" y="1836420"/>
                  <a:pt x="0" y="1785247"/>
                  <a:pt x="0" y="172212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947035" y="172212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185160" y="1988823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F5F1E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896910" y="2560323"/>
            <a:ext cx="866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Farms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02155" y="21412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11730" y="172212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92717" y="198882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273630" y="2560323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Data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54704" y="21412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664279" y="172212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30979" y="19888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626179" y="2560323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AI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07254" y="21412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067550" y="172212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334250" y="19888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5F1E8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978729" y="2560323"/>
            <a:ext cx="94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Yields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61246" y="21412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482846" y="172212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749546" y="19888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432721" y="2560323"/>
            <a:ext cx="866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Farms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1020" y="2941323"/>
            <a:ext cx="1110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new farm makes the platform more valuable for everyone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4810" y="3524251"/>
            <a:ext cx="5627370" cy="2331720"/>
          </a:xfrm>
          <a:custGeom>
            <a:avLst/>
            <a:gdLst/>
            <a:ahLst/>
            <a:cxnLst/>
            <a:rect l="l" t="t" r="r" b="b"/>
            <a:pathLst>
              <a:path w="5627370" h="2331720">
                <a:moveTo>
                  <a:pt x="114301" y="0"/>
                </a:moveTo>
                <a:lnTo>
                  <a:pt x="5513069" y="0"/>
                </a:lnTo>
                <a:cubicBezTo>
                  <a:pt x="5576196" y="0"/>
                  <a:pt x="5627370" y="51174"/>
                  <a:pt x="5627370" y="114301"/>
                </a:cubicBezTo>
                <a:lnTo>
                  <a:pt x="5627370" y="2217419"/>
                </a:lnTo>
                <a:cubicBezTo>
                  <a:pt x="5627370" y="2280546"/>
                  <a:pt x="5576196" y="2331720"/>
                  <a:pt x="5513069" y="2331720"/>
                </a:cubicBezTo>
                <a:lnTo>
                  <a:pt x="114301" y="2331720"/>
                </a:lnTo>
                <a:cubicBezTo>
                  <a:pt x="51174" y="2331720"/>
                  <a:pt x="0" y="2280546"/>
                  <a:pt x="0" y="221741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41020" y="3680459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ASSETS ACCUMULATED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1020" y="3985259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Environmental Patterns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25566" y="3985259"/>
            <a:ext cx="140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50M+ readings/year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1020" y="4290059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Yield Benchmarks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275415" y="4290059"/>
            <a:ext cx="1657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region, season, strain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1020" y="4594859"/>
            <a:ext cx="1381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Contamination Logs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85134" y="4594859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1000+ batches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1020" y="4899659"/>
            <a:ext cx="108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Structures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465915" y="4899659"/>
            <a:ext cx="146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profitability data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41020" y="5204459"/>
            <a:ext cx="981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885015" y="5204459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10% farms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76010" y="3524251"/>
            <a:ext cx="5627370" cy="2331720"/>
          </a:xfrm>
          <a:custGeom>
            <a:avLst/>
            <a:gdLst/>
            <a:ahLst/>
            <a:cxnLst/>
            <a:rect l="l" t="t" r="r" b="b"/>
            <a:pathLst>
              <a:path w="5627370" h="2331720">
                <a:moveTo>
                  <a:pt x="114301" y="0"/>
                </a:moveTo>
                <a:lnTo>
                  <a:pt x="5513069" y="0"/>
                </a:lnTo>
                <a:cubicBezTo>
                  <a:pt x="5576196" y="0"/>
                  <a:pt x="5627370" y="51174"/>
                  <a:pt x="5627370" y="114301"/>
                </a:cubicBezTo>
                <a:lnTo>
                  <a:pt x="5627370" y="2217419"/>
                </a:lnTo>
                <a:cubicBezTo>
                  <a:pt x="5627370" y="2280546"/>
                  <a:pt x="5576196" y="2331720"/>
                  <a:pt x="5513069" y="2331720"/>
                </a:cubicBezTo>
                <a:lnTo>
                  <a:pt x="114301" y="2331720"/>
                </a:lnTo>
                <a:cubicBezTo>
                  <a:pt x="51174" y="2331720"/>
                  <a:pt x="0" y="2280546"/>
                  <a:pt x="0" y="221741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332220" y="3680459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YIELD OPTIMIZATION ENGINE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32220" y="3985259"/>
            <a:ext cx="5314950" cy="990600"/>
          </a:xfrm>
          <a:custGeom>
            <a:avLst/>
            <a:gdLst/>
            <a:ahLst/>
            <a:cxnLst/>
            <a:rect l="l" t="t" r="r" b="b"/>
            <a:pathLst>
              <a:path w="5314950" h="990600">
                <a:moveTo>
                  <a:pt x="76197" y="0"/>
                </a:moveTo>
                <a:lnTo>
                  <a:pt x="5238753" y="0"/>
                </a:lnTo>
                <a:cubicBezTo>
                  <a:pt x="5280835" y="0"/>
                  <a:pt x="5314950" y="34115"/>
                  <a:pt x="5314950" y="76197"/>
                </a:cubicBezTo>
                <a:lnTo>
                  <a:pt x="5314950" y="914403"/>
                </a:lnTo>
                <a:cubicBezTo>
                  <a:pt x="5314950" y="956485"/>
                  <a:pt x="5280835" y="990600"/>
                  <a:pt x="523875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446520" y="4099559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10% Farms Achieve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46520" y="4328159"/>
            <a:ext cx="5229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40%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46520" y="4709159"/>
            <a:ext cx="514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yields than average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32220" y="5051943"/>
            <a:ext cx="5314950" cy="647700"/>
          </a:xfrm>
          <a:custGeom>
            <a:avLst/>
            <a:gdLst/>
            <a:ahLst/>
            <a:cxnLst/>
            <a:rect l="l" t="t" r="r" b="b"/>
            <a:pathLst>
              <a:path w="5314950" h="647700">
                <a:moveTo>
                  <a:pt x="76202" y="0"/>
                </a:moveTo>
                <a:lnTo>
                  <a:pt x="5238748" y="0"/>
                </a:lnTo>
                <a:cubicBezTo>
                  <a:pt x="5280833" y="0"/>
                  <a:pt x="5314950" y="34117"/>
                  <a:pt x="5314950" y="76202"/>
                </a:cubicBezTo>
                <a:lnTo>
                  <a:pt x="5314950" y="571498"/>
                </a:lnTo>
                <a:cubicBezTo>
                  <a:pt x="5314950" y="613583"/>
                  <a:pt x="5280833" y="647700"/>
                  <a:pt x="523874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446520" y="5166243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 Democratized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46520" y="5394843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analyzes successful patterns and recommends optimizations to all farms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00050" y="6012061"/>
            <a:ext cx="11410950" cy="457200"/>
          </a:xfrm>
          <a:custGeom>
            <a:avLst/>
            <a:gdLst/>
            <a:ahLst/>
            <a:cxnLst/>
            <a:rect l="l" t="t" r="r" b="b"/>
            <a:pathLst>
              <a:path w="11410950" h="457200">
                <a:moveTo>
                  <a:pt x="0" y="0"/>
                </a:moveTo>
                <a:lnTo>
                  <a:pt x="11334748" y="0"/>
                </a:lnTo>
                <a:cubicBezTo>
                  <a:pt x="11376833" y="0"/>
                  <a:pt x="11410950" y="34117"/>
                  <a:pt x="11410950" y="76202"/>
                </a:cubicBezTo>
                <a:lnTo>
                  <a:pt x="11410950" y="380998"/>
                </a:lnTo>
                <a:cubicBezTo>
                  <a:pt x="11410950" y="423083"/>
                  <a:pt x="11376833" y="457200"/>
                  <a:pt x="11334748" y="457200"/>
                </a:cubicBez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9C46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400050" y="6012061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571500" y="615684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38100" y="28575"/>
                </a:moveTo>
                <a:lnTo>
                  <a:pt x="38100" y="47625"/>
                </a:lnTo>
                <a:lnTo>
                  <a:pt x="76200" y="47625"/>
                </a:lnTo>
                <a:lnTo>
                  <a:pt x="76200" y="28575"/>
                </a:lnTo>
                <a:cubicBezTo>
                  <a:pt x="76200" y="18068"/>
                  <a:pt x="67657" y="9525"/>
                  <a:pt x="57150" y="9525"/>
                </a:cubicBezTo>
                <a:cubicBezTo>
                  <a:pt x="46643" y="9525"/>
                  <a:pt x="38100" y="18068"/>
                  <a:pt x="38100" y="28575"/>
                </a:cubicBezTo>
                <a:close/>
                <a:moveTo>
                  <a:pt x="19050" y="47625"/>
                </a:moveTo>
                <a:lnTo>
                  <a:pt x="19050" y="28575"/>
                </a:lnTo>
                <a:cubicBezTo>
                  <a:pt x="19050" y="7531"/>
                  <a:pt x="36106" y="-9525"/>
                  <a:pt x="57150" y="-9525"/>
                </a:cubicBezTo>
                <a:cubicBezTo>
                  <a:pt x="78194" y="-9525"/>
                  <a:pt x="95250" y="7531"/>
                  <a:pt x="95250" y="28575"/>
                </a:cubicBezTo>
                <a:lnTo>
                  <a:pt x="95250" y="47625"/>
                </a:lnTo>
                <a:cubicBezTo>
                  <a:pt x="105757" y="47625"/>
                  <a:pt x="114300" y="56168"/>
                  <a:pt x="114300" y="666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66675"/>
                </a:lnTo>
                <a:cubicBezTo>
                  <a:pt x="0" y="56168"/>
                  <a:pt x="8543" y="47625"/>
                  <a:pt x="19050" y="47625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781050" y="6126361"/>
            <a:ext cx="10991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Defensibility: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After 3 years of data, switching costs become prohibitively high. Competitors can't replicate the dataset.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ECOSYSTEM EXPANSION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Mushroom Mandi Marketplace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B2B Ecosystem: One-Stop Procurement Network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527810"/>
            <a:ext cx="2188845" cy="1150620"/>
          </a:xfrm>
          <a:custGeom>
            <a:avLst/>
            <a:gdLst/>
            <a:ahLst/>
            <a:cxnLst/>
            <a:rect l="l" t="t" r="r" b="b"/>
            <a:pathLst>
              <a:path w="2188845" h="1150620">
                <a:moveTo>
                  <a:pt x="114303" y="0"/>
                </a:moveTo>
                <a:lnTo>
                  <a:pt x="2074542" y="0"/>
                </a:lnTo>
                <a:cubicBezTo>
                  <a:pt x="2137670" y="0"/>
                  <a:pt x="2188845" y="51175"/>
                  <a:pt x="2188845" y="114303"/>
                </a:cubicBezTo>
                <a:lnTo>
                  <a:pt x="2188845" y="1036317"/>
                </a:lnTo>
                <a:cubicBezTo>
                  <a:pt x="2188845" y="1099445"/>
                  <a:pt x="2137670" y="1150620"/>
                  <a:pt x="2074542" y="1150620"/>
                </a:cubicBezTo>
                <a:lnTo>
                  <a:pt x="114303" y="1150620"/>
                </a:lnTo>
                <a:cubicBezTo>
                  <a:pt x="51175" y="1150620"/>
                  <a:pt x="0" y="1099445"/>
                  <a:pt x="0" y="10363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249680" y="16459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394936" y="177927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07156" y="0"/>
                </a:moveTo>
                <a:lnTo>
                  <a:pt x="47625" y="0"/>
                </a:lnTo>
                <a:cubicBezTo>
                  <a:pt x="41039" y="0"/>
                  <a:pt x="35719" y="5321"/>
                  <a:pt x="35719" y="11906"/>
                </a:cubicBezTo>
                <a:cubicBezTo>
                  <a:pt x="35719" y="18492"/>
                  <a:pt x="41039" y="23812"/>
                  <a:pt x="47625" y="23812"/>
                </a:cubicBezTo>
                <a:lnTo>
                  <a:pt x="47625" y="80181"/>
                </a:lnTo>
                <a:lnTo>
                  <a:pt x="2791" y="158614"/>
                </a:lnTo>
                <a:cubicBezTo>
                  <a:pt x="967" y="161851"/>
                  <a:pt x="0" y="165460"/>
                  <a:pt x="0" y="169180"/>
                </a:cubicBezTo>
                <a:cubicBezTo>
                  <a:pt x="0" y="180975"/>
                  <a:pt x="9525" y="190500"/>
                  <a:pt x="21320" y="190500"/>
                </a:cubicBezTo>
                <a:lnTo>
                  <a:pt x="145368" y="190500"/>
                </a:lnTo>
                <a:cubicBezTo>
                  <a:pt x="157125" y="190500"/>
                  <a:pt x="166688" y="180975"/>
                  <a:pt x="166688" y="169180"/>
                </a:cubicBezTo>
                <a:cubicBezTo>
                  <a:pt x="166688" y="165460"/>
                  <a:pt x="165720" y="161813"/>
                  <a:pt x="163897" y="158614"/>
                </a:cubicBezTo>
                <a:lnTo>
                  <a:pt x="119063" y="80181"/>
                </a:lnTo>
                <a:lnTo>
                  <a:pt x="119063" y="23812"/>
                </a:lnTo>
                <a:cubicBezTo>
                  <a:pt x="125648" y="23812"/>
                  <a:pt x="130969" y="18492"/>
                  <a:pt x="130969" y="11906"/>
                </a:cubicBezTo>
                <a:cubicBezTo>
                  <a:pt x="130969" y="5321"/>
                  <a:pt x="125648" y="0"/>
                  <a:pt x="119063" y="0"/>
                </a:cubicBezTo>
                <a:lnTo>
                  <a:pt x="107156" y="0"/>
                </a:lnTo>
                <a:close/>
                <a:moveTo>
                  <a:pt x="71438" y="80181"/>
                </a:moveTo>
                <a:lnTo>
                  <a:pt x="71438" y="23812"/>
                </a:lnTo>
                <a:lnTo>
                  <a:pt x="95250" y="23812"/>
                </a:lnTo>
                <a:lnTo>
                  <a:pt x="95250" y="80181"/>
                </a:lnTo>
                <a:cubicBezTo>
                  <a:pt x="95250" y="84311"/>
                  <a:pt x="96329" y="88404"/>
                  <a:pt x="98375" y="92013"/>
                </a:cubicBezTo>
                <a:lnTo>
                  <a:pt x="113854" y="119063"/>
                </a:lnTo>
                <a:lnTo>
                  <a:pt x="52834" y="119063"/>
                </a:lnTo>
                <a:lnTo>
                  <a:pt x="68312" y="92013"/>
                </a:lnTo>
                <a:cubicBezTo>
                  <a:pt x="70358" y="88404"/>
                  <a:pt x="71438" y="84348"/>
                  <a:pt x="71438" y="80181"/>
                </a:cubicBezTo>
                <a:close/>
              </a:path>
            </a:pathLst>
          </a:custGeom>
          <a:solidFill>
            <a:srgbClr val="F5F1E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69582" y="2179323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Spawn Labs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4345" y="2407923"/>
            <a:ext cx="2009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Verified suppliers, viability tests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93670" y="1527810"/>
            <a:ext cx="2188845" cy="1150620"/>
          </a:xfrm>
          <a:custGeom>
            <a:avLst/>
            <a:gdLst/>
            <a:ahLst/>
            <a:cxnLst/>
            <a:rect l="l" t="t" r="r" b="b"/>
            <a:pathLst>
              <a:path w="2188845" h="1150620">
                <a:moveTo>
                  <a:pt x="114303" y="0"/>
                </a:moveTo>
                <a:lnTo>
                  <a:pt x="2074542" y="0"/>
                </a:lnTo>
                <a:cubicBezTo>
                  <a:pt x="2137670" y="0"/>
                  <a:pt x="2188845" y="51175"/>
                  <a:pt x="2188845" y="114303"/>
                </a:cubicBezTo>
                <a:lnTo>
                  <a:pt x="2188845" y="1036317"/>
                </a:lnTo>
                <a:cubicBezTo>
                  <a:pt x="2188845" y="1099445"/>
                  <a:pt x="2137670" y="1150620"/>
                  <a:pt x="2074542" y="1150620"/>
                </a:cubicBezTo>
                <a:lnTo>
                  <a:pt x="114303" y="1150620"/>
                </a:lnTo>
                <a:cubicBezTo>
                  <a:pt x="51175" y="1150620"/>
                  <a:pt x="0" y="1099445"/>
                  <a:pt x="0" y="10363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558540" y="16459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691890" y="17792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5357" y="2493"/>
                </a:moveTo>
                <a:cubicBezTo>
                  <a:pt x="177738" y="223"/>
                  <a:pt x="181198" y="-595"/>
                  <a:pt x="184398" y="446"/>
                </a:cubicBezTo>
                <a:cubicBezTo>
                  <a:pt x="188044" y="1674"/>
                  <a:pt x="190500" y="5097"/>
                  <a:pt x="190500" y="8930"/>
                </a:cubicBezTo>
                <a:lnTo>
                  <a:pt x="190500" y="78470"/>
                </a:lnTo>
                <a:cubicBezTo>
                  <a:pt x="190500" y="127285"/>
                  <a:pt x="150279" y="166688"/>
                  <a:pt x="101650" y="166688"/>
                </a:cubicBezTo>
                <a:cubicBezTo>
                  <a:pt x="73000" y="166688"/>
                  <a:pt x="48295" y="148270"/>
                  <a:pt x="39328" y="122523"/>
                </a:cubicBezTo>
                <a:cubicBezTo>
                  <a:pt x="26157" y="133983"/>
                  <a:pt x="17859" y="150837"/>
                  <a:pt x="17859" y="169664"/>
                </a:cubicBezTo>
                <a:cubicBezTo>
                  <a:pt x="17859" y="174613"/>
                  <a:pt x="13878" y="178594"/>
                  <a:pt x="8930" y="178594"/>
                </a:cubicBezTo>
                <a:cubicBezTo>
                  <a:pt x="3981" y="178594"/>
                  <a:pt x="0" y="174613"/>
                  <a:pt x="0" y="169664"/>
                </a:cubicBezTo>
                <a:cubicBezTo>
                  <a:pt x="0" y="141796"/>
                  <a:pt x="14213" y="117239"/>
                  <a:pt x="35756" y="102803"/>
                </a:cubicBezTo>
                <a:cubicBezTo>
                  <a:pt x="48890" y="94022"/>
                  <a:pt x="64554" y="89297"/>
                  <a:pt x="80367" y="89297"/>
                </a:cubicBezTo>
                <a:lnTo>
                  <a:pt x="110133" y="89297"/>
                </a:lnTo>
                <a:cubicBezTo>
                  <a:pt x="115081" y="89297"/>
                  <a:pt x="119063" y="85316"/>
                  <a:pt x="119063" y="80367"/>
                </a:cubicBezTo>
                <a:cubicBezTo>
                  <a:pt x="119063" y="75419"/>
                  <a:pt x="115081" y="71438"/>
                  <a:pt x="110133" y="71438"/>
                </a:cubicBezTo>
                <a:lnTo>
                  <a:pt x="80367" y="71438"/>
                </a:lnTo>
                <a:cubicBezTo>
                  <a:pt x="65596" y="71438"/>
                  <a:pt x="51606" y="74712"/>
                  <a:pt x="39067" y="80553"/>
                </a:cubicBezTo>
                <a:cubicBezTo>
                  <a:pt x="47737" y="54508"/>
                  <a:pt x="72256" y="35719"/>
                  <a:pt x="101203" y="35719"/>
                </a:cubicBezTo>
                <a:cubicBezTo>
                  <a:pt x="125909" y="35719"/>
                  <a:pt x="144289" y="27496"/>
                  <a:pt x="156530" y="19348"/>
                </a:cubicBezTo>
                <a:cubicBezTo>
                  <a:pt x="163674" y="14585"/>
                  <a:pt x="169738" y="8892"/>
                  <a:pt x="175394" y="2493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778443" y="2179323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Substrate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83205" y="2407923"/>
            <a:ext cx="2009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Quality tested, delivery tracking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02530" y="1527810"/>
            <a:ext cx="2188845" cy="1150620"/>
          </a:xfrm>
          <a:custGeom>
            <a:avLst/>
            <a:gdLst/>
            <a:ahLst/>
            <a:cxnLst/>
            <a:rect l="l" t="t" r="r" b="b"/>
            <a:pathLst>
              <a:path w="2188845" h="1150620">
                <a:moveTo>
                  <a:pt x="114303" y="0"/>
                </a:moveTo>
                <a:lnTo>
                  <a:pt x="2074542" y="0"/>
                </a:lnTo>
                <a:cubicBezTo>
                  <a:pt x="2137670" y="0"/>
                  <a:pt x="2188845" y="51175"/>
                  <a:pt x="2188845" y="114303"/>
                </a:cubicBezTo>
                <a:lnTo>
                  <a:pt x="2188845" y="1036317"/>
                </a:lnTo>
                <a:cubicBezTo>
                  <a:pt x="2188845" y="1099445"/>
                  <a:pt x="2137670" y="1150620"/>
                  <a:pt x="2074542" y="1150620"/>
                </a:cubicBezTo>
                <a:lnTo>
                  <a:pt x="114303" y="1150620"/>
                </a:lnTo>
                <a:cubicBezTo>
                  <a:pt x="51175" y="1150620"/>
                  <a:pt x="0" y="1099445"/>
                  <a:pt x="0" y="10363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867400" y="16459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988844" y="177927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81" y="36128"/>
                </a:moveTo>
                <a:lnTo>
                  <a:pt x="83381" y="54583"/>
                </a:lnTo>
                <a:lnTo>
                  <a:pt x="83567" y="54769"/>
                </a:lnTo>
                <a:cubicBezTo>
                  <a:pt x="85985" y="24110"/>
                  <a:pt x="111621" y="0"/>
                  <a:pt x="142912" y="0"/>
                </a:cubicBezTo>
                <a:cubicBezTo>
                  <a:pt x="150391" y="0"/>
                  <a:pt x="157572" y="1377"/>
                  <a:pt x="164157" y="3907"/>
                </a:cubicBezTo>
                <a:cubicBezTo>
                  <a:pt x="167878" y="5321"/>
                  <a:pt x="168548" y="10046"/>
                  <a:pt x="165757" y="12874"/>
                </a:cubicBezTo>
                <a:lnTo>
                  <a:pt x="132755" y="45876"/>
                </a:lnTo>
                <a:cubicBezTo>
                  <a:pt x="131638" y="46992"/>
                  <a:pt x="131006" y="48518"/>
                  <a:pt x="131006" y="50081"/>
                </a:cubicBezTo>
                <a:lnTo>
                  <a:pt x="131006" y="65484"/>
                </a:lnTo>
                <a:cubicBezTo>
                  <a:pt x="131006" y="68759"/>
                  <a:pt x="133685" y="71438"/>
                  <a:pt x="136959" y="71438"/>
                </a:cubicBezTo>
                <a:lnTo>
                  <a:pt x="152363" y="71438"/>
                </a:lnTo>
                <a:cubicBezTo>
                  <a:pt x="153925" y="71438"/>
                  <a:pt x="155451" y="70805"/>
                  <a:pt x="156567" y="69689"/>
                </a:cubicBezTo>
                <a:lnTo>
                  <a:pt x="189570" y="36686"/>
                </a:lnTo>
                <a:cubicBezTo>
                  <a:pt x="192398" y="33858"/>
                  <a:pt x="197123" y="34565"/>
                  <a:pt x="198537" y="38286"/>
                </a:cubicBezTo>
                <a:cubicBezTo>
                  <a:pt x="201067" y="44872"/>
                  <a:pt x="202443" y="52053"/>
                  <a:pt x="202443" y="59531"/>
                </a:cubicBezTo>
                <a:cubicBezTo>
                  <a:pt x="202443" y="82079"/>
                  <a:pt x="189905" y="101724"/>
                  <a:pt x="171376" y="111807"/>
                </a:cubicBezTo>
                <a:lnTo>
                  <a:pt x="201699" y="142131"/>
                </a:lnTo>
                <a:cubicBezTo>
                  <a:pt x="208657" y="149089"/>
                  <a:pt x="208657" y="160400"/>
                  <a:pt x="201699" y="167394"/>
                </a:cubicBezTo>
                <a:lnTo>
                  <a:pt x="179338" y="189756"/>
                </a:lnTo>
                <a:cubicBezTo>
                  <a:pt x="172380" y="196714"/>
                  <a:pt x="161069" y="196714"/>
                  <a:pt x="154074" y="189756"/>
                </a:cubicBezTo>
                <a:lnTo>
                  <a:pt x="107193" y="142875"/>
                </a:lnTo>
                <a:cubicBezTo>
                  <a:pt x="96999" y="132680"/>
                  <a:pt x="94692" y="117611"/>
                  <a:pt x="100310" y="105184"/>
                </a:cubicBezTo>
                <a:lnTo>
                  <a:pt x="66563" y="71438"/>
                </a:lnTo>
                <a:lnTo>
                  <a:pt x="48109" y="71438"/>
                </a:lnTo>
                <a:cubicBezTo>
                  <a:pt x="44128" y="71438"/>
                  <a:pt x="40407" y="69466"/>
                  <a:pt x="38212" y="66154"/>
                </a:cubicBezTo>
                <a:lnTo>
                  <a:pt x="8706" y="21915"/>
                </a:lnTo>
                <a:cubicBezTo>
                  <a:pt x="7144" y="19571"/>
                  <a:pt x="7441" y="16408"/>
                  <a:pt x="9451" y="14399"/>
                </a:cubicBezTo>
                <a:lnTo>
                  <a:pt x="26343" y="-2493"/>
                </a:lnTo>
                <a:cubicBezTo>
                  <a:pt x="28352" y="-4502"/>
                  <a:pt x="31477" y="-4800"/>
                  <a:pt x="33858" y="-3237"/>
                </a:cubicBezTo>
                <a:lnTo>
                  <a:pt x="78098" y="26231"/>
                </a:lnTo>
                <a:cubicBezTo>
                  <a:pt x="81409" y="28426"/>
                  <a:pt x="83381" y="32147"/>
                  <a:pt x="83381" y="36128"/>
                </a:cubicBezTo>
                <a:close/>
                <a:moveTo>
                  <a:pt x="80218" y="110356"/>
                </a:moveTo>
                <a:cubicBezTo>
                  <a:pt x="77874" y="124123"/>
                  <a:pt x="81111" y="138671"/>
                  <a:pt x="90041" y="150316"/>
                </a:cubicBezTo>
                <a:lnTo>
                  <a:pt x="54694" y="185626"/>
                </a:lnTo>
                <a:cubicBezTo>
                  <a:pt x="44239" y="196081"/>
                  <a:pt x="27273" y="196081"/>
                  <a:pt x="16818" y="185626"/>
                </a:cubicBezTo>
                <a:cubicBezTo>
                  <a:pt x="6362" y="175171"/>
                  <a:pt x="6362" y="158204"/>
                  <a:pt x="16818" y="147749"/>
                </a:cubicBezTo>
                <a:lnTo>
                  <a:pt x="67196" y="97371"/>
                </a:lnTo>
                <a:lnTo>
                  <a:pt x="80218" y="110393"/>
                </a:ln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087303" y="2179323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Equipment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92065" y="2407923"/>
            <a:ext cx="2009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HVAC, shelving, demo units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1390" y="1527810"/>
            <a:ext cx="2188845" cy="1150620"/>
          </a:xfrm>
          <a:custGeom>
            <a:avLst/>
            <a:gdLst/>
            <a:ahLst/>
            <a:cxnLst/>
            <a:rect l="l" t="t" r="r" b="b"/>
            <a:pathLst>
              <a:path w="2188845" h="1150620">
                <a:moveTo>
                  <a:pt x="114303" y="0"/>
                </a:moveTo>
                <a:lnTo>
                  <a:pt x="2074542" y="0"/>
                </a:lnTo>
                <a:cubicBezTo>
                  <a:pt x="2137670" y="0"/>
                  <a:pt x="2188845" y="51175"/>
                  <a:pt x="2188845" y="114303"/>
                </a:cubicBezTo>
                <a:lnTo>
                  <a:pt x="2188845" y="1036317"/>
                </a:lnTo>
                <a:cubicBezTo>
                  <a:pt x="2188845" y="1099445"/>
                  <a:pt x="2137670" y="1150620"/>
                  <a:pt x="2074542" y="1150620"/>
                </a:cubicBezTo>
                <a:lnTo>
                  <a:pt x="114303" y="1150620"/>
                </a:lnTo>
                <a:cubicBezTo>
                  <a:pt x="51175" y="1150620"/>
                  <a:pt x="0" y="1099445"/>
                  <a:pt x="0" y="10363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176260" y="16459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321516" y="177927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37443" y="47625"/>
                </a:moveTo>
                <a:lnTo>
                  <a:pt x="124681" y="29766"/>
                </a:lnTo>
                <a:lnTo>
                  <a:pt x="42044" y="29766"/>
                </a:lnTo>
                <a:lnTo>
                  <a:pt x="29282" y="47625"/>
                </a:lnTo>
                <a:lnTo>
                  <a:pt x="137443" y="47625"/>
                </a:lnTo>
                <a:close/>
                <a:moveTo>
                  <a:pt x="0" y="55252"/>
                </a:moveTo>
                <a:cubicBezTo>
                  <a:pt x="0" y="50304"/>
                  <a:pt x="1563" y="45467"/>
                  <a:pt x="4428" y="41411"/>
                </a:cubicBezTo>
                <a:lnTo>
                  <a:pt x="22659" y="15925"/>
                </a:lnTo>
                <a:cubicBezTo>
                  <a:pt x="27124" y="9674"/>
                  <a:pt x="34342" y="5953"/>
                  <a:pt x="42007" y="5953"/>
                </a:cubicBezTo>
                <a:lnTo>
                  <a:pt x="124644" y="5953"/>
                </a:lnTo>
                <a:cubicBezTo>
                  <a:pt x="132345" y="5953"/>
                  <a:pt x="139564" y="9674"/>
                  <a:pt x="144028" y="15925"/>
                </a:cubicBezTo>
                <a:lnTo>
                  <a:pt x="162223" y="41411"/>
                </a:lnTo>
                <a:cubicBezTo>
                  <a:pt x="165125" y="45467"/>
                  <a:pt x="166650" y="50304"/>
                  <a:pt x="166650" y="55252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55252"/>
                </a:lnTo>
                <a:close/>
              </a:path>
            </a:pathLst>
          </a:custGeom>
          <a:solidFill>
            <a:srgbClr val="F5F1E8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396162" y="2179323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Packaging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00925" y="2407923"/>
            <a:ext cx="2009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Food-grade certified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620250" y="1527810"/>
            <a:ext cx="2188845" cy="1150620"/>
          </a:xfrm>
          <a:custGeom>
            <a:avLst/>
            <a:gdLst/>
            <a:ahLst/>
            <a:cxnLst/>
            <a:rect l="l" t="t" r="r" b="b"/>
            <a:pathLst>
              <a:path w="2188845" h="1150620">
                <a:moveTo>
                  <a:pt x="114303" y="0"/>
                </a:moveTo>
                <a:lnTo>
                  <a:pt x="2074542" y="0"/>
                </a:lnTo>
                <a:cubicBezTo>
                  <a:pt x="2137670" y="0"/>
                  <a:pt x="2188845" y="51175"/>
                  <a:pt x="2188845" y="114303"/>
                </a:cubicBezTo>
                <a:lnTo>
                  <a:pt x="2188845" y="1036317"/>
                </a:lnTo>
                <a:cubicBezTo>
                  <a:pt x="2188845" y="1099445"/>
                  <a:pt x="2137670" y="1150620"/>
                  <a:pt x="2074542" y="1150620"/>
                </a:cubicBezTo>
                <a:lnTo>
                  <a:pt x="114303" y="1150620"/>
                </a:lnTo>
                <a:cubicBezTo>
                  <a:pt x="51175" y="1150620"/>
                  <a:pt x="0" y="1099445"/>
                  <a:pt x="0" y="10363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85120" y="16459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606564" y="177927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35719"/>
                </a:moveTo>
                <a:cubicBezTo>
                  <a:pt x="0" y="22585"/>
                  <a:pt x="10678" y="11906"/>
                  <a:pt x="23812" y="11906"/>
                </a:cubicBezTo>
                <a:lnTo>
                  <a:pt x="130969" y="11906"/>
                </a:lnTo>
                <a:cubicBezTo>
                  <a:pt x="144103" y="11906"/>
                  <a:pt x="154781" y="22585"/>
                  <a:pt x="154781" y="35719"/>
                </a:cubicBezTo>
                <a:lnTo>
                  <a:pt x="154781" y="47625"/>
                </a:lnTo>
                <a:lnTo>
                  <a:pt x="173645" y="47625"/>
                </a:lnTo>
                <a:cubicBezTo>
                  <a:pt x="179970" y="47625"/>
                  <a:pt x="186035" y="50118"/>
                  <a:pt x="190500" y="54583"/>
                </a:cubicBezTo>
                <a:lnTo>
                  <a:pt x="207355" y="71438"/>
                </a:lnTo>
                <a:cubicBezTo>
                  <a:pt x="211820" y="75902"/>
                  <a:pt x="214313" y="81967"/>
                  <a:pt x="214313" y="88292"/>
                </a:cubicBezTo>
                <a:lnTo>
                  <a:pt x="214313" y="142875"/>
                </a:lnTo>
                <a:cubicBezTo>
                  <a:pt x="214313" y="156009"/>
                  <a:pt x="203634" y="166688"/>
                  <a:pt x="190500" y="166688"/>
                </a:cubicBezTo>
                <a:lnTo>
                  <a:pt x="189272" y="166688"/>
                </a:lnTo>
                <a:cubicBezTo>
                  <a:pt x="185403" y="180417"/>
                  <a:pt x="172752" y="190500"/>
                  <a:pt x="157758" y="190500"/>
                </a:cubicBezTo>
                <a:cubicBezTo>
                  <a:pt x="142763" y="190500"/>
                  <a:pt x="130150" y="180417"/>
                  <a:pt x="126243" y="166688"/>
                </a:cubicBezTo>
                <a:lnTo>
                  <a:pt x="88069" y="166688"/>
                </a:lnTo>
                <a:cubicBezTo>
                  <a:pt x="84200" y="180417"/>
                  <a:pt x="71549" y="190500"/>
                  <a:pt x="56555" y="190500"/>
                </a:cubicBezTo>
                <a:cubicBezTo>
                  <a:pt x="41560" y="190500"/>
                  <a:pt x="28947" y="180417"/>
                  <a:pt x="25040" y="166688"/>
                </a:cubicBezTo>
                <a:lnTo>
                  <a:pt x="23812" y="166688"/>
                </a:lnTo>
                <a:cubicBezTo>
                  <a:pt x="10678" y="166688"/>
                  <a:pt x="0" y="156009"/>
                  <a:pt x="0" y="142875"/>
                </a:cubicBezTo>
                <a:lnTo>
                  <a:pt x="0" y="35719"/>
                </a:lnTo>
                <a:close/>
                <a:moveTo>
                  <a:pt x="190500" y="107156"/>
                </a:moveTo>
                <a:lnTo>
                  <a:pt x="190500" y="88292"/>
                </a:lnTo>
                <a:lnTo>
                  <a:pt x="173645" y="71438"/>
                </a:lnTo>
                <a:lnTo>
                  <a:pt x="154781" y="71438"/>
                </a:lnTo>
                <a:lnTo>
                  <a:pt x="154781" y="107156"/>
                </a:lnTo>
                <a:lnTo>
                  <a:pt x="190500" y="107156"/>
                </a:lnTo>
                <a:close/>
                <a:moveTo>
                  <a:pt x="71438" y="157758"/>
                </a:moveTo>
                <a:cubicBezTo>
                  <a:pt x="71438" y="149544"/>
                  <a:pt x="64769" y="142875"/>
                  <a:pt x="56555" y="142875"/>
                </a:cubicBezTo>
                <a:cubicBezTo>
                  <a:pt x="48341" y="142875"/>
                  <a:pt x="41672" y="149544"/>
                  <a:pt x="41672" y="157758"/>
                </a:cubicBezTo>
                <a:cubicBezTo>
                  <a:pt x="41672" y="165972"/>
                  <a:pt x="48341" y="172641"/>
                  <a:pt x="56555" y="172641"/>
                </a:cubicBezTo>
                <a:cubicBezTo>
                  <a:pt x="64769" y="172641"/>
                  <a:pt x="71438" y="165972"/>
                  <a:pt x="71438" y="157758"/>
                </a:cubicBezTo>
                <a:close/>
                <a:moveTo>
                  <a:pt x="157758" y="172641"/>
                </a:moveTo>
                <a:cubicBezTo>
                  <a:pt x="165972" y="172641"/>
                  <a:pt x="172641" y="165972"/>
                  <a:pt x="172641" y="157758"/>
                </a:cubicBezTo>
                <a:cubicBezTo>
                  <a:pt x="172641" y="149544"/>
                  <a:pt x="165972" y="142875"/>
                  <a:pt x="157758" y="142875"/>
                </a:cubicBezTo>
                <a:cubicBezTo>
                  <a:pt x="149544" y="142875"/>
                  <a:pt x="142875" y="149544"/>
                  <a:pt x="142875" y="157758"/>
                </a:cubicBezTo>
                <a:cubicBezTo>
                  <a:pt x="142875" y="165972"/>
                  <a:pt x="149544" y="172641"/>
                  <a:pt x="157758" y="172641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705023" y="2179323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Logistics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709785" y="2407923"/>
            <a:ext cx="2009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Cold chain, temp tracking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4810" y="2838330"/>
            <a:ext cx="5627370" cy="1798320"/>
          </a:xfrm>
          <a:custGeom>
            <a:avLst/>
            <a:gdLst/>
            <a:ahLst/>
            <a:cxnLst/>
            <a:rect l="l" t="t" r="r" b="b"/>
            <a:pathLst>
              <a:path w="5627370" h="1798320">
                <a:moveTo>
                  <a:pt x="114301" y="0"/>
                </a:moveTo>
                <a:lnTo>
                  <a:pt x="5513069" y="0"/>
                </a:lnTo>
                <a:cubicBezTo>
                  <a:pt x="5576196" y="0"/>
                  <a:pt x="5627370" y="51174"/>
                  <a:pt x="5627370" y="114301"/>
                </a:cubicBezTo>
                <a:lnTo>
                  <a:pt x="5627370" y="1684019"/>
                </a:lnTo>
                <a:cubicBezTo>
                  <a:pt x="5627370" y="1747103"/>
                  <a:pt x="5576153" y="1798320"/>
                  <a:pt x="5513069" y="1798320"/>
                </a:cubicBezTo>
                <a:lnTo>
                  <a:pt x="114301" y="1798320"/>
                </a:lnTo>
                <a:cubicBezTo>
                  <a:pt x="51174" y="1798320"/>
                  <a:pt x="0" y="1747146"/>
                  <a:pt x="0" y="1684019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41020" y="2994543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VERIFICATION TIERS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41020" y="333744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8E6E">
              <a:alpha val="30196"/>
            </a:srgbClr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36746" y="3394593"/>
            <a:ext cx="180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B8E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T1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60120" y="3299343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Basic (Free)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60120" y="3489843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registration, address verification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41020" y="375654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>
              <a:alpha val="30196"/>
            </a:srgbClr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23888" y="3813693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60120" y="3718443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Verified (₹5K/year)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60120" y="3908943"/>
            <a:ext cx="2333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Quality certification, 3 references, 6mo history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41020" y="417564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9C46A">
              <a:alpha val="30196"/>
            </a:srgbClr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22102" y="4232793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60120" y="4137543"/>
            <a:ext cx="261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Premium (₹15K/year)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60120" y="4328043"/>
            <a:ext cx="2609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On-site audit, batch tracking, "Platform Guaranteed"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76010" y="2838330"/>
            <a:ext cx="5627370" cy="1798320"/>
          </a:xfrm>
          <a:custGeom>
            <a:avLst/>
            <a:gdLst/>
            <a:ahLst/>
            <a:cxnLst/>
            <a:rect l="l" t="t" r="r" b="b"/>
            <a:pathLst>
              <a:path w="5627370" h="1798320">
                <a:moveTo>
                  <a:pt x="114301" y="0"/>
                </a:moveTo>
                <a:lnTo>
                  <a:pt x="5513069" y="0"/>
                </a:lnTo>
                <a:cubicBezTo>
                  <a:pt x="5576196" y="0"/>
                  <a:pt x="5627370" y="51174"/>
                  <a:pt x="5627370" y="114301"/>
                </a:cubicBezTo>
                <a:lnTo>
                  <a:pt x="5627370" y="1684019"/>
                </a:lnTo>
                <a:cubicBezTo>
                  <a:pt x="5627370" y="1747103"/>
                  <a:pt x="5576153" y="1798320"/>
                  <a:pt x="5513069" y="1798320"/>
                </a:cubicBezTo>
                <a:lnTo>
                  <a:pt x="114301" y="1798320"/>
                </a:lnTo>
                <a:cubicBezTo>
                  <a:pt x="51174" y="1798320"/>
                  <a:pt x="0" y="1747146"/>
                  <a:pt x="0" y="1684019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332220" y="2994543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51270" y="333744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598920" y="3299343"/>
            <a:ext cx="3114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Sourcing: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Auto-match suppliers within 200km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51270" y="360414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598920" y="3566043"/>
            <a:ext cx="3267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Buying: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Small farms pool orders for 15% discount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51270" y="387084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6598920" y="3832743"/>
            <a:ext cx="3362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Escrow Payments: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Released after delivery + quality check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51270" y="413754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6598920" y="4099443"/>
            <a:ext cx="2581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Credit Terms: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30-60 days for verified farms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84810" y="4796671"/>
            <a:ext cx="11418570" cy="845820"/>
          </a:xfrm>
          <a:custGeom>
            <a:avLst/>
            <a:gdLst/>
            <a:ahLst/>
            <a:cxnLst/>
            <a:rect l="l" t="t" r="r" b="b"/>
            <a:pathLst>
              <a:path w="11418570" h="845820">
                <a:moveTo>
                  <a:pt x="114304" y="0"/>
                </a:moveTo>
                <a:lnTo>
                  <a:pt x="11304266" y="0"/>
                </a:lnTo>
                <a:cubicBezTo>
                  <a:pt x="11367394" y="0"/>
                  <a:pt x="11418570" y="51176"/>
                  <a:pt x="11418570" y="114304"/>
                </a:cubicBezTo>
                <a:lnTo>
                  <a:pt x="11418570" y="731516"/>
                </a:lnTo>
                <a:cubicBezTo>
                  <a:pt x="11418570" y="794644"/>
                  <a:pt x="11367394" y="845820"/>
                  <a:pt x="11304266" y="845820"/>
                </a:cubicBezTo>
                <a:lnTo>
                  <a:pt x="114304" y="845820"/>
                </a:lnTo>
                <a:cubicBezTo>
                  <a:pt x="51176" y="845820"/>
                  <a:pt x="0" y="794644"/>
                  <a:pt x="0" y="73151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E9C46A">
                  <a:alpha val="20000"/>
                </a:srgbClr>
              </a:gs>
              <a:gs pos="100000">
                <a:srgbClr val="D4A373">
                  <a:alpha val="20000"/>
                </a:srgbClr>
              </a:gs>
            </a:gsLst>
            <a:lin ang="0" scaled="1"/>
          </a:gradFill>
          <a:ln w="10160">
            <a:solidFill>
              <a:srgbClr val="E9C46A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561261" y="5076704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50075" y="47551"/>
                </a:moveTo>
                <a:lnTo>
                  <a:pt x="84999" y="119881"/>
                </a:lnTo>
                <a:cubicBezTo>
                  <a:pt x="82432" y="122727"/>
                  <a:pt x="82544" y="127136"/>
                  <a:pt x="85279" y="129871"/>
                </a:cubicBezTo>
                <a:cubicBezTo>
                  <a:pt x="102301" y="146893"/>
                  <a:pt x="129927" y="146893"/>
                  <a:pt x="146949" y="129871"/>
                </a:cubicBezTo>
                <a:lnTo>
                  <a:pt x="164697" y="112123"/>
                </a:lnTo>
                <a:cubicBezTo>
                  <a:pt x="167041" y="109779"/>
                  <a:pt x="169999" y="108496"/>
                  <a:pt x="173013" y="108272"/>
                </a:cubicBezTo>
                <a:cubicBezTo>
                  <a:pt x="176808" y="107938"/>
                  <a:pt x="180715" y="109221"/>
                  <a:pt x="183617" y="112123"/>
                </a:cubicBezTo>
                <a:lnTo>
                  <a:pt x="282178" y="209848"/>
                </a:lnTo>
                <a:lnTo>
                  <a:pt x="321469" y="178594"/>
                </a:lnTo>
                <a:lnTo>
                  <a:pt x="321469" y="17859"/>
                </a:lnTo>
                <a:lnTo>
                  <a:pt x="258961" y="53578"/>
                </a:lnTo>
                <a:lnTo>
                  <a:pt x="245678" y="44704"/>
                </a:lnTo>
                <a:cubicBezTo>
                  <a:pt x="236860" y="38844"/>
                  <a:pt x="226535" y="35719"/>
                  <a:pt x="215931" y="35719"/>
                </a:cubicBezTo>
                <a:lnTo>
                  <a:pt x="176640" y="35719"/>
                </a:lnTo>
                <a:cubicBezTo>
                  <a:pt x="176026" y="35719"/>
                  <a:pt x="175357" y="35719"/>
                  <a:pt x="174743" y="35775"/>
                </a:cubicBezTo>
                <a:cubicBezTo>
                  <a:pt x="165311" y="36277"/>
                  <a:pt x="156437" y="40518"/>
                  <a:pt x="150075" y="47551"/>
                </a:cubicBezTo>
                <a:close/>
                <a:moveTo>
                  <a:pt x="65075" y="101966"/>
                </a:moveTo>
                <a:lnTo>
                  <a:pt x="124681" y="35719"/>
                </a:lnTo>
                <a:lnTo>
                  <a:pt x="102580" y="35719"/>
                </a:lnTo>
                <a:cubicBezTo>
                  <a:pt x="88348" y="35719"/>
                  <a:pt x="74730" y="41356"/>
                  <a:pt x="64684" y="51402"/>
                </a:cubicBezTo>
                <a:lnTo>
                  <a:pt x="62508" y="53578"/>
                </a:lnTo>
                <a:lnTo>
                  <a:pt x="0" y="17859"/>
                </a:lnTo>
                <a:lnTo>
                  <a:pt x="0" y="178594"/>
                </a:lnTo>
                <a:lnTo>
                  <a:pt x="87288" y="251315"/>
                </a:lnTo>
                <a:cubicBezTo>
                  <a:pt x="100124" y="262031"/>
                  <a:pt x="116309" y="267891"/>
                  <a:pt x="132997" y="267891"/>
                </a:cubicBezTo>
                <a:lnTo>
                  <a:pt x="141759" y="267891"/>
                </a:lnTo>
                <a:lnTo>
                  <a:pt x="137852" y="263984"/>
                </a:lnTo>
                <a:cubicBezTo>
                  <a:pt x="132606" y="258738"/>
                  <a:pt x="132606" y="250254"/>
                  <a:pt x="137852" y="245064"/>
                </a:cubicBezTo>
                <a:cubicBezTo>
                  <a:pt x="143098" y="239874"/>
                  <a:pt x="151581" y="239818"/>
                  <a:pt x="156772" y="245064"/>
                </a:cubicBezTo>
                <a:lnTo>
                  <a:pt x="179654" y="267946"/>
                </a:lnTo>
                <a:lnTo>
                  <a:pt x="184677" y="267946"/>
                </a:lnTo>
                <a:cubicBezTo>
                  <a:pt x="195337" y="267946"/>
                  <a:pt x="205773" y="265547"/>
                  <a:pt x="215261" y="261082"/>
                </a:cubicBezTo>
                <a:lnTo>
                  <a:pt x="200360" y="246125"/>
                </a:lnTo>
                <a:cubicBezTo>
                  <a:pt x="195114" y="240878"/>
                  <a:pt x="195114" y="232395"/>
                  <a:pt x="200360" y="227205"/>
                </a:cubicBezTo>
                <a:cubicBezTo>
                  <a:pt x="205606" y="222014"/>
                  <a:pt x="214089" y="221959"/>
                  <a:pt x="219280" y="227205"/>
                </a:cubicBezTo>
                <a:lnTo>
                  <a:pt x="237139" y="245064"/>
                </a:lnTo>
                <a:lnTo>
                  <a:pt x="246906" y="235297"/>
                </a:lnTo>
                <a:cubicBezTo>
                  <a:pt x="251873" y="230330"/>
                  <a:pt x="253324" y="223131"/>
                  <a:pt x="251147" y="216824"/>
                </a:cubicBezTo>
                <a:lnTo>
                  <a:pt x="174185" y="140475"/>
                </a:lnTo>
                <a:lnTo>
                  <a:pt x="165869" y="148791"/>
                </a:lnTo>
                <a:cubicBezTo>
                  <a:pt x="138354" y="176306"/>
                  <a:pt x="93818" y="176306"/>
                  <a:pt x="66303" y="148791"/>
                </a:cubicBezTo>
                <a:cubicBezTo>
                  <a:pt x="53467" y="135954"/>
                  <a:pt x="52964" y="115360"/>
                  <a:pt x="65075" y="10191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1050608" y="4990979"/>
            <a:ext cx="2524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Equipment Financing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50608" y="5257679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"Try Before Buy" program + EMI facilitation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081260" y="4952879"/>
            <a:ext cx="1571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₹200 Cr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157460" y="5295779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 5 Marketplace GMV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 ECONOMY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Consultancy Network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Democratizing Expertise Across India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527810"/>
            <a:ext cx="2760345" cy="1341120"/>
          </a:xfrm>
          <a:custGeom>
            <a:avLst/>
            <a:gdLst/>
            <a:ahLst/>
            <a:cxnLst/>
            <a:rect l="l" t="t" r="r" b="b"/>
            <a:pathLst>
              <a:path w="2760345" h="1341120">
                <a:moveTo>
                  <a:pt x="114304" y="0"/>
                </a:moveTo>
                <a:lnTo>
                  <a:pt x="2646041" y="0"/>
                </a:lnTo>
                <a:cubicBezTo>
                  <a:pt x="2709170" y="0"/>
                  <a:pt x="2760345" y="51175"/>
                  <a:pt x="2760345" y="114304"/>
                </a:cubicBezTo>
                <a:lnTo>
                  <a:pt x="2760345" y="1226816"/>
                </a:lnTo>
                <a:cubicBezTo>
                  <a:pt x="2760345" y="1289945"/>
                  <a:pt x="2709170" y="1341120"/>
                  <a:pt x="2646041" y="1341120"/>
                </a:cubicBezTo>
                <a:lnTo>
                  <a:pt x="114304" y="1341120"/>
                </a:lnTo>
                <a:cubicBezTo>
                  <a:pt x="51175" y="1341120"/>
                  <a:pt x="0" y="1289945"/>
                  <a:pt x="0" y="122681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02920" y="164591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07695" y="176021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4775" y="78581"/>
                </a:moveTo>
                <a:lnTo>
                  <a:pt x="104775" y="19050"/>
                </a:lnTo>
                <a:cubicBezTo>
                  <a:pt x="104775" y="13781"/>
                  <a:pt x="100519" y="9525"/>
                  <a:pt x="95250" y="9525"/>
                </a:cubicBezTo>
                <a:lnTo>
                  <a:pt x="76200" y="9525"/>
                </a:lnTo>
                <a:cubicBezTo>
                  <a:pt x="70931" y="9525"/>
                  <a:pt x="66675" y="13781"/>
                  <a:pt x="66675" y="19050"/>
                </a:cubicBezTo>
                <a:lnTo>
                  <a:pt x="66675" y="78581"/>
                </a:lnTo>
                <a:cubicBezTo>
                  <a:pt x="66675" y="82540"/>
                  <a:pt x="63490" y="85725"/>
                  <a:pt x="59531" y="85725"/>
                </a:cubicBezTo>
                <a:cubicBezTo>
                  <a:pt x="55572" y="85725"/>
                  <a:pt x="52388" y="82540"/>
                  <a:pt x="52388" y="78581"/>
                </a:cubicBezTo>
                <a:lnTo>
                  <a:pt x="52388" y="23247"/>
                </a:lnTo>
                <a:cubicBezTo>
                  <a:pt x="26789" y="32683"/>
                  <a:pt x="9525" y="57090"/>
                  <a:pt x="9525" y="85725"/>
                </a:cubicBezTo>
                <a:lnTo>
                  <a:pt x="9525" y="104775"/>
                </a:lnTo>
                <a:lnTo>
                  <a:pt x="161925" y="104775"/>
                </a:lnTo>
                <a:lnTo>
                  <a:pt x="161925" y="85725"/>
                </a:lnTo>
                <a:cubicBezTo>
                  <a:pt x="161627" y="57388"/>
                  <a:pt x="144542" y="32831"/>
                  <a:pt x="119062" y="23277"/>
                </a:cubicBezTo>
                <a:lnTo>
                  <a:pt x="119062" y="78581"/>
                </a:lnTo>
                <a:cubicBezTo>
                  <a:pt x="119062" y="82540"/>
                  <a:pt x="115878" y="85725"/>
                  <a:pt x="111919" y="85725"/>
                </a:cubicBezTo>
                <a:cubicBezTo>
                  <a:pt x="107960" y="85725"/>
                  <a:pt x="104775" y="82540"/>
                  <a:pt x="104775" y="78581"/>
                </a:cubicBezTo>
                <a:close/>
                <a:moveTo>
                  <a:pt x="11906" y="119062"/>
                </a:moveTo>
                <a:cubicBezTo>
                  <a:pt x="5328" y="119062"/>
                  <a:pt x="0" y="124391"/>
                  <a:pt x="0" y="130969"/>
                </a:cubicBezTo>
                <a:cubicBezTo>
                  <a:pt x="0" y="137547"/>
                  <a:pt x="5328" y="142875"/>
                  <a:pt x="11906" y="142875"/>
                </a:cubicBezTo>
                <a:lnTo>
                  <a:pt x="159544" y="142875"/>
                </a:lnTo>
                <a:cubicBezTo>
                  <a:pt x="166122" y="142875"/>
                  <a:pt x="171450" y="137547"/>
                  <a:pt x="171450" y="130969"/>
                </a:cubicBezTo>
                <a:cubicBezTo>
                  <a:pt x="171450" y="124391"/>
                  <a:pt x="166122" y="119062"/>
                  <a:pt x="159544" y="119062"/>
                </a:cubicBezTo>
                <a:lnTo>
                  <a:pt x="11906" y="119062"/>
                </a:lnTo>
                <a:close/>
              </a:path>
            </a:pathLst>
          </a:custGeom>
          <a:solidFill>
            <a:srgbClr val="F5F1E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1741168"/>
            <a:ext cx="742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Plant Setup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103118"/>
            <a:ext cx="259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 design, licensing, initial training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2560318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₹50K-2L/project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70885" y="1527810"/>
            <a:ext cx="2760345" cy="1341120"/>
          </a:xfrm>
          <a:custGeom>
            <a:avLst/>
            <a:gdLst/>
            <a:ahLst/>
            <a:cxnLst/>
            <a:rect l="l" t="t" r="r" b="b"/>
            <a:pathLst>
              <a:path w="2760345" h="1341120">
                <a:moveTo>
                  <a:pt x="114304" y="0"/>
                </a:moveTo>
                <a:lnTo>
                  <a:pt x="2646041" y="0"/>
                </a:lnTo>
                <a:cubicBezTo>
                  <a:pt x="2709170" y="0"/>
                  <a:pt x="2760345" y="51175"/>
                  <a:pt x="2760345" y="114304"/>
                </a:cubicBezTo>
                <a:lnTo>
                  <a:pt x="2760345" y="1226816"/>
                </a:lnTo>
                <a:cubicBezTo>
                  <a:pt x="2760345" y="1289945"/>
                  <a:pt x="2709170" y="1341120"/>
                  <a:pt x="2646041" y="1341120"/>
                </a:cubicBezTo>
                <a:lnTo>
                  <a:pt x="114304" y="1341120"/>
                </a:lnTo>
                <a:cubicBezTo>
                  <a:pt x="51175" y="1341120"/>
                  <a:pt x="0" y="1289945"/>
                  <a:pt x="0" y="122681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388995" y="164591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503295" y="176021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9525"/>
                </a:moveTo>
                <a:cubicBezTo>
                  <a:pt x="152400" y="41702"/>
                  <a:pt x="129600" y="68550"/>
                  <a:pt x="99298" y="74831"/>
                </a:cubicBezTo>
                <a:cubicBezTo>
                  <a:pt x="96947" y="57537"/>
                  <a:pt x="89178" y="41970"/>
                  <a:pt x="77718" y="29914"/>
                </a:cubicBezTo>
                <a:cubicBezTo>
                  <a:pt x="89654" y="11906"/>
                  <a:pt x="110103" y="0"/>
                  <a:pt x="133350" y="0"/>
                </a:cubicBezTo>
                <a:lnTo>
                  <a:pt x="142875" y="0"/>
                </a:lnTo>
                <a:cubicBezTo>
                  <a:pt x="148144" y="0"/>
                  <a:pt x="152400" y="4256"/>
                  <a:pt x="152400" y="9525"/>
                </a:cubicBezTo>
                <a:close/>
                <a:moveTo>
                  <a:pt x="0" y="28575"/>
                </a:moveTo>
                <a:cubicBezTo>
                  <a:pt x="0" y="23306"/>
                  <a:pt x="4256" y="19050"/>
                  <a:pt x="9525" y="19050"/>
                </a:cubicBezTo>
                <a:lnTo>
                  <a:pt x="19050" y="19050"/>
                </a:lnTo>
                <a:cubicBezTo>
                  <a:pt x="55870" y="19050"/>
                  <a:pt x="85725" y="48905"/>
                  <a:pt x="85725" y="85725"/>
                </a:cubicBezTo>
                <a:lnTo>
                  <a:pt x="85725" y="142875"/>
                </a:lnTo>
                <a:cubicBezTo>
                  <a:pt x="85725" y="148144"/>
                  <a:pt x="81469" y="152400"/>
                  <a:pt x="76200" y="152400"/>
                </a:cubicBezTo>
                <a:cubicBezTo>
                  <a:pt x="70931" y="152400"/>
                  <a:pt x="66675" y="148144"/>
                  <a:pt x="66675" y="142875"/>
                </a:cubicBezTo>
                <a:lnTo>
                  <a:pt x="66675" y="95250"/>
                </a:lnTo>
                <a:cubicBezTo>
                  <a:pt x="29855" y="95250"/>
                  <a:pt x="0" y="65395"/>
                  <a:pt x="0" y="28575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846195" y="1741168"/>
            <a:ext cx="71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8995" y="2103118"/>
            <a:ext cx="259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Strain selection, troubleshooting, optimization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88995" y="2560318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₹2K-5K/hour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56960" y="1527810"/>
            <a:ext cx="2760345" cy="1341120"/>
          </a:xfrm>
          <a:custGeom>
            <a:avLst/>
            <a:gdLst/>
            <a:ahLst/>
            <a:cxnLst/>
            <a:rect l="l" t="t" r="r" b="b"/>
            <a:pathLst>
              <a:path w="2760345" h="1341120">
                <a:moveTo>
                  <a:pt x="114304" y="0"/>
                </a:moveTo>
                <a:lnTo>
                  <a:pt x="2646041" y="0"/>
                </a:lnTo>
                <a:cubicBezTo>
                  <a:pt x="2709170" y="0"/>
                  <a:pt x="2760345" y="51175"/>
                  <a:pt x="2760345" y="114304"/>
                </a:cubicBezTo>
                <a:lnTo>
                  <a:pt x="2760345" y="1226816"/>
                </a:lnTo>
                <a:cubicBezTo>
                  <a:pt x="2760345" y="1289945"/>
                  <a:pt x="2709170" y="1341120"/>
                  <a:pt x="2646041" y="1341120"/>
                </a:cubicBezTo>
                <a:lnTo>
                  <a:pt x="114304" y="1341120"/>
                </a:lnTo>
                <a:cubicBezTo>
                  <a:pt x="51175" y="1341120"/>
                  <a:pt x="0" y="1289945"/>
                  <a:pt x="0" y="122681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275070" y="164591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370320" y="1760218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76200" y="-9525"/>
                </a:moveTo>
                <a:cubicBezTo>
                  <a:pt x="80159" y="-9525"/>
                  <a:pt x="83344" y="-6340"/>
                  <a:pt x="83344" y="-2381"/>
                </a:cubicBezTo>
                <a:lnTo>
                  <a:pt x="83344" y="893"/>
                </a:lnTo>
                <a:cubicBezTo>
                  <a:pt x="85904" y="1548"/>
                  <a:pt x="88374" y="2560"/>
                  <a:pt x="90726" y="3959"/>
                </a:cubicBezTo>
                <a:lnTo>
                  <a:pt x="92571" y="2084"/>
                </a:lnTo>
                <a:cubicBezTo>
                  <a:pt x="95369" y="-714"/>
                  <a:pt x="99893" y="-714"/>
                  <a:pt x="102662" y="2084"/>
                </a:cubicBezTo>
                <a:cubicBezTo>
                  <a:pt x="105430" y="4882"/>
                  <a:pt x="105460" y="9406"/>
                  <a:pt x="102662" y="12174"/>
                </a:cubicBezTo>
                <a:lnTo>
                  <a:pt x="100786" y="14049"/>
                </a:lnTo>
                <a:cubicBezTo>
                  <a:pt x="102156" y="16371"/>
                  <a:pt x="103168" y="18871"/>
                  <a:pt x="103852" y="21431"/>
                </a:cubicBezTo>
                <a:lnTo>
                  <a:pt x="107126" y="21431"/>
                </a:lnTo>
                <a:cubicBezTo>
                  <a:pt x="111085" y="21431"/>
                  <a:pt x="114270" y="24616"/>
                  <a:pt x="114270" y="28575"/>
                </a:cubicBezTo>
                <a:cubicBezTo>
                  <a:pt x="114270" y="32534"/>
                  <a:pt x="111085" y="35719"/>
                  <a:pt x="107126" y="35719"/>
                </a:cubicBezTo>
                <a:lnTo>
                  <a:pt x="103852" y="35719"/>
                </a:lnTo>
                <a:cubicBezTo>
                  <a:pt x="103197" y="38279"/>
                  <a:pt x="102185" y="40749"/>
                  <a:pt x="100786" y="43101"/>
                </a:cubicBezTo>
                <a:lnTo>
                  <a:pt x="102691" y="44946"/>
                </a:lnTo>
                <a:cubicBezTo>
                  <a:pt x="105489" y="47744"/>
                  <a:pt x="105489" y="52268"/>
                  <a:pt x="102691" y="55037"/>
                </a:cubicBezTo>
                <a:cubicBezTo>
                  <a:pt x="99893" y="57805"/>
                  <a:pt x="95369" y="57835"/>
                  <a:pt x="92601" y="55037"/>
                </a:cubicBezTo>
                <a:lnTo>
                  <a:pt x="91380" y="53816"/>
                </a:lnTo>
                <a:lnTo>
                  <a:pt x="82421" y="62776"/>
                </a:lnTo>
                <a:lnTo>
                  <a:pt x="83641" y="63996"/>
                </a:lnTo>
                <a:cubicBezTo>
                  <a:pt x="86439" y="66794"/>
                  <a:pt x="86439" y="71318"/>
                  <a:pt x="83641" y="74087"/>
                </a:cubicBezTo>
                <a:cubicBezTo>
                  <a:pt x="80843" y="76855"/>
                  <a:pt x="76319" y="76885"/>
                  <a:pt x="73551" y="74087"/>
                </a:cubicBezTo>
                <a:lnTo>
                  <a:pt x="72330" y="72866"/>
                </a:lnTo>
                <a:cubicBezTo>
                  <a:pt x="69354" y="75843"/>
                  <a:pt x="66377" y="78819"/>
                  <a:pt x="63371" y="81826"/>
                </a:cubicBezTo>
                <a:lnTo>
                  <a:pt x="64591" y="83046"/>
                </a:lnTo>
                <a:cubicBezTo>
                  <a:pt x="67389" y="85844"/>
                  <a:pt x="67389" y="90368"/>
                  <a:pt x="64591" y="93137"/>
                </a:cubicBezTo>
                <a:cubicBezTo>
                  <a:pt x="61793" y="95905"/>
                  <a:pt x="57269" y="95935"/>
                  <a:pt x="54501" y="93137"/>
                </a:cubicBezTo>
                <a:lnTo>
                  <a:pt x="52626" y="91261"/>
                </a:lnTo>
                <a:cubicBezTo>
                  <a:pt x="50304" y="92631"/>
                  <a:pt x="47804" y="93643"/>
                  <a:pt x="45244" y="94327"/>
                </a:cubicBezTo>
                <a:lnTo>
                  <a:pt x="45244" y="97601"/>
                </a:lnTo>
                <a:cubicBezTo>
                  <a:pt x="45244" y="101560"/>
                  <a:pt x="42059" y="104745"/>
                  <a:pt x="38100" y="104745"/>
                </a:cubicBezTo>
                <a:cubicBezTo>
                  <a:pt x="34141" y="104745"/>
                  <a:pt x="30956" y="101560"/>
                  <a:pt x="30956" y="97601"/>
                </a:cubicBezTo>
                <a:lnTo>
                  <a:pt x="30956" y="94327"/>
                </a:lnTo>
                <a:cubicBezTo>
                  <a:pt x="28396" y="93672"/>
                  <a:pt x="25926" y="92660"/>
                  <a:pt x="23574" y="91261"/>
                </a:cubicBezTo>
                <a:lnTo>
                  <a:pt x="21729" y="93166"/>
                </a:lnTo>
                <a:cubicBezTo>
                  <a:pt x="18931" y="95964"/>
                  <a:pt x="14407" y="95964"/>
                  <a:pt x="11638" y="93166"/>
                </a:cubicBezTo>
                <a:cubicBezTo>
                  <a:pt x="8870" y="90368"/>
                  <a:pt x="8840" y="85844"/>
                  <a:pt x="11638" y="83076"/>
                </a:cubicBezTo>
                <a:lnTo>
                  <a:pt x="13514" y="81201"/>
                </a:lnTo>
                <a:cubicBezTo>
                  <a:pt x="12144" y="78879"/>
                  <a:pt x="11132" y="76379"/>
                  <a:pt x="10448" y="73819"/>
                </a:cubicBezTo>
                <a:lnTo>
                  <a:pt x="7174" y="73819"/>
                </a:lnTo>
                <a:cubicBezTo>
                  <a:pt x="3215" y="73819"/>
                  <a:pt x="30" y="70634"/>
                  <a:pt x="30" y="66675"/>
                </a:cubicBezTo>
                <a:cubicBezTo>
                  <a:pt x="30" y="62716"/>
                  <a:pt x="3215" y="59531"/>
                  <a:pt x="7174" y="59531"/>
                </a:cubicBezTo>
                <a:lnTo>
                  <a:pt x="10448" y="59531"/>
                </a:lnTo>
                <a:cubicBezTo>
                  <a:pt x="11103" y="56971"/>
                  <a:pt x="12115" y="54501"/>
                  <a:pt x="13514" y="52149"/>
                </a:cubicBezTo>
                <a:lnTo>
                  <a:pt x="11609" y="50304"/>
                </a:lnTo>
                <a:cubicBezTo>
                  <a:pt x="8811" y="47506"/>
                  <a:pt x="8811" y="42982"/>
                  <a:pt x="11609" y="40213"/>
                </a:cubicBezTo>
                <a:cubicBezTo>
                  <a:pt x="14407" y="37445"/>
                  <a:pt x="18931" y="37415"/>
                  <a:pt x="21699" y="40213"/>
                </a:cubicBezTo>
                <a:lnTo>
                  <a:pt x="22920" y="41434"/>
                </a:lnTo>
                <a:cubicBezTo>
                  <a:pt x="25896" y="38457"/>
                  <a:pt x="28873" y="35481"/>
                  <a:pt x="31879" y="32474"/>
                </a:cubicBezTo>
                <a:lnTo>
                  <a:pt x="30659" y="31254"/>
                </a:lnTo>
                <a:cubicBezTo>
                  <a:pt x="27861" y="28456"/>
                  <a:pt x="27861" y="23932"/>
                  <a:pt x="30659" y="21163"/>
                </a:cubicBezTo>
                <a:cubicBezTo>
                  <a:pt x="33457" y="18395"/>
                  <a:pt x="37981" y="18365"/>
                  <a:pt x="40749" y="21163"/>
                </a:cubicBezTo>
                <a:lnTo>
                  <a:pt x="41970" y="22384"/>
                </a:lnTo>
                <a:lnTo>
                  <a:pt x="50929" y="13424"/>
                </a:lnTo>
                <a:lnTo>
                  <a:pt x="49709" y="12204"/>
                </a:lnTo>
                <a:cubicBezTo>
                  <a:pt x="46911" y="9406"/>
                  <a:pt x="46911" y="4882"/>
                  <a:pt x="49709" y="2113"/>
                </a:cubicBezTo>
                <a:cubicBezTo>
                  <a:pt x="52507" y="-655"/>
                  <a:pt x="57031" y="-685"/>
                  <a:pt x="59829" y="2084"/>
                </a:cubicBezTo>
                <a:lnTo>
                  <a:pt x="61704" y="3959"/>
                </a:lnTo>
                <a:cubicBezTo>
                  <a:pt x="64026" y="2590"/>
                  <a:pt x="66526" y="1578"/>
                  <a:pt x="69086" y="893"/>
                </a:cubicBezTo>
                <a:lnTo>
                  <a:pt x="69086" y="-2381"/>
                </a:lnTo>
                <a:cubicBezTo>
                  <a:pt x="69086" y="-6340"/>
                  <a:pt x="72271" y="-9525"/>
                  <a:pt x="76230" y="-9525"/>
                </a:cubicBezTo>
                <a:close/>
                <a:moveTo>
                  <a:pt x="38100" y="76200"/>
                </a:moveTo>
                <a:cubicBezTo>
                  <a:pt x="43357" y="76200"/>
                  <a:pt x="47625" y="71932"/>
                  <a:pt x="47625" y="66675"/>
                </a:cubicBezTo>
                <a:cubicBezTo>
                  <a:pt x="47625" y="61418"/>
                  <a:pt x="43357" y="57150"/>
                  <a:pt x="38100" y="57150"/>
                </a:cubicBezTo>
                <a:cubicBezTo>
                  <a:pt x="32843" y="57150"/>
                  <a:pt x="28575" y="61418"/>
                  <a:pt x="28575" y="66675"/>
                </a:cubicBezTo>
                <a:cubicBezTo>
                  <a:pt x="28575" y="71932"/>
                  <a:pt x="32843" y="76200"/>
                  <a:pt x="38100" y="76200"/>
                </a:cubicBezTo>
                <a:close/>
                <a:moveTo>
                  <a:pt x="71438" y="42863"/>
                </a:moveTo>
                <a:cubicBezTo>
                  <a:pt x="71438" y="37606"/>
                  <a:pt x="67169" y="33338"/>
                  <a:pt x="61912" y="33338"/>
                </a:cubicBezTo>
                <a:cubicBezTo>
                  <a:pt x="56656" y="33338"/>
                  <a:pt x="52388" y="37606"/>
                  <a:pt x="52388" y="42863"/>
                </a:cubicBezTo>
                <a:cubicBezTo>
                  <a:pt x="52388" y="48119"/>
                  <a:pt x="56656" y="52388"/>
                  <a:pt x="61912" y="52388"/>
                </a:cubicBezTo>
                <a:cubicBezTo>
                  <a:pt x="67169" y="52388"/>
                  <a:pt x="71438" y="48119"/>
                  <a:pt x="71438" y="42863"/>
                </a:cubicBezTo>
                <a:close/>
                <a:moveTo>
                  <a:pt x="159544" y="54769"/>
                </a:moveTo>
                <a:lnTo>
                  <a:pt x="159544" y="58043"/>
                </a:lnTo>
                <a:cubicBezTo>
                  <a:pt x="162104" y="58698"/>
                  <a:pt x="164574" y="59710"/>
                  <a:pt x="166926" y="61109"/>
                </a:cubicBezTo>
                <a:lnTo>
                  <a:pt x="168771" y="59234"/>
                </a:lnTo>
                <a:cubicBezTo>
                  <a:pt x="171569" y="56436"/>
                  <a:pt x="176093" y="56436"/>
                  <a:pt x="178862" y="59234"/>
                </a:cubicBezTo>
                <a:cubicBezTo>
                  <a:pt x="181630" y="62032"/>
                  <a:pt x="181660" y="66556"/>
                  <a:pt x="178862" y="69324"/>
                </a:cubicBezTo>
                <a:lnTo>
                  <a:pt x="176986" y="71199"/>
                </a:lnTo>
                <a:cubicBezTo>
                  <a:pt x="178356" y="73521"/>
                  <a:pt x="179368" y="76021"/>
                  <a:pt x="180052" y="78581"/>
                </a:cubicBezTo>
                <a:lnTo>
                  <a:pt x="183326" y="78581"/>
                </a:lnTo>
                <a:cubicBezTo>
                  <a:pt x="187285" y="78581"/>
                  <a:pt x="190470" y="81766"/>
                  <a:pt x="190470" y="85725"/>
                </a:cubicBezTo>
                <a:cubicBezTo>
                  <a:pt x="190470" y="89684"/>
                  <a:pt x="187285" y="92869"/>
                  <a:pt x="183326" y="92869"/>
                </a:cubicBezTo>
                <a:lnTo>
                  <a:pt x="180052" y="92869"/>
                </a:lnTo>
                <a:cubicBezTo>
                  <a:pt x="179397" y="95429"/>
                  <a:pt x="178385" y="97899"/>
                  <a:pt x="176986" y="100251"/>
                </a:cubicBezTo>
                <a:lnTo>
                  <a:pt x="178891" y="102096"/>
                </a:lnTo>
                <a:cubicBezTo>
                  <a:pt x="181689" y="104894"/>
                  <a:pt x="181689" y="109418"/>
                  <a:pt x="178891" y="112187"/>
                </a:cubicBezTo>
                <a:cubicBezTo>
                  <a:pt x="176093" y="114955"/>
                  <a:pt x="171569" y="114985"/>
                  <a:pt x="168801" y="112187"/>
                </a:cubicBezTo>
                <a:lnTo>
                  <a:pt x="167580" y="110966"/>
                </a:lnTo>
                <a:lnTo>
                  <a:pt x="158621" y="119926"/>
                </a:lnTo>
                <a:lnTo>
                  <a:pt x="159841" y="121146"/>
                </a:lnTo>
                <a:cubicBezTo>
                  <a:pt x="162639" y="123944"/>
                  <a:pt x="162639" y="128468"/>
                  <a:pt x="159841" y="131237"/>
                </a:cubicBezTo>
                <a:cubicBezTo>
                  <a:pt x="157043" y="134005"/>
                  <a:pt x="152519" y="134035"/>
                  <a:pt x="149751" y="131237"/>
                </a:cubicBezTo>
                <a:lnTo>
                  <a:pt x="148530" y="130016"/>
                </a:lnTo>
                <a:cubicBezTo>
                  <a:pt x="145554" y="132993"/>
                  <a:pt x="142577" y="135969"/>
                  <a:pt x="139571" y="138976"/>
                </a:cubicBezTo>
                <a:lnTo>
                  <a:pt x="140791" y="140196"/>
                </a:lnTo>
                <a:cubicBezTo>
                  <a:pt x="143589" y="142994"/>
                  <a:pt x="143589" y="147518"/>
                  <a:pt x="140791" y="150287"/>
                </a:cubicBezTo>
                <a:cubicBezTo>
                  <a:pt x="137993" y="153055"/>
                  <a:pt x="133469" y="153085"/>
                  <a:pt x="130701" y="150287"/>
                </a:cubicBezTo>
                <a:lnTo>
                  <a:pt x="128826" y="148411"/>
                </a:lnTo>
                <a:cubicBezTo>
                  <a:pt x="126504" y="149781"/>
                  <a:pt x="124004" y="150793"/>
                  <a:pt x="121444" y="151477"/>
                </a:cubicBezTo>
                <a:lnTo>
                  <a:pt x="121444" y="154751"/>
                </a:lnTo>
                <a:cubicBezTo>
                  <a:pt x="121444" y="158710"/>
                  <a:pt x="118259" y="161895"/>
                  <a:pt x="114300" y="161895"/>
                </a:cubicBezTo>
                <a:cubicBezTo>
                  <a:pt x="110341" y="161895"/>
                  <a:pt x="107156" y="158710"/>
                  <a:pt x="107156" y="154751"/>
                </a:cubicBezTo>
                <a:lnTo>
                  <a:pt x="107156" y="151477"/>
                </a:lnTo>
                <a:cubicBezTo>
                  <a:pt x="104596" y="150822"/>
                  <a:pt x="102126" y="149810"/>
                  <a:pt x="99774" y="148411"/>
                </a:cubicBezTo>
                <a:lnTo>
                  <a:pt x="97929" y="150316"/>
                </a:lnTo>
                <a:cubicBezTo>
                  <a:pt x="95131" y="153114"/>
                  <a:pt x="90607" y="153114"/>
                  <a:pt x="87838" y="150316"/>
                </a:cubicBezTo>
                <a:cubicBezTo>
                  <a:pt x="85070" y="147518"/>
                  <a:pt x="85040" y="142994"/>
                  <a:pt x="87838" y="140226"/>
                </a:cubicBezTo>
                <a:lnTo>
                  <a:pt x="89714" y="138351"/>
                </a:lnTo>
                <a:cubicBezTo>
                  <a:pt x="88344" y="136029"/>
                  <a:pt x="87332" y="133529"/>
                  <a:pt x="86648" y="130969"/>
                </a:cubicBezTo>
                <a:lnTo>
                  <a:pt x="83374" y="130969"/>
                </a:lnTo>
                <a:cubicBezTo>
                  <a:pt x="79415" y="130969"/>
                  <a:pt x="76230" y="127784"/>
                  <a:pt x="76230" y="123825"/>
                </a:cubicBezTo>
                <a:cubicBezTo>
                  <a:pt x="76230" y="119866"/>
                  <a:pt x="79415" y="116681"/>
                  <a:pt x="83374" y="116681"/>
                </a:cubicBezTo>
                <a:lnTo>
                  <a:pt x="86648" y="116681"/>
                </a:lnTo>
                <a:cubicBezTo>
                  <a:pt x="87303" y="114121"/>
                  <a:pt x="88315" y="111651"/>
                  <a:pt x="89714" y="109299"/>
                </a:cubicBezTo>
                <a:lnTo>
                  <a:pt x="87809" y="107454"/>
                </a:lnTo>
                <a:cubicBezTo>
                  <a:pt x="85011" y="104656"/>
                  <a:pt x="85011" y="100132"/>
                  <a:pt x="87809" y="97363"/>
                </a:cubicBezTo>
                <a:cubicBezTo>
                  <a:pt x="90607" y="94595"/>
                  <a:pt x="95131" y="94565"/>
                  <a:pt x="97899" y="97363"/>
                </a:cubicBezTo>
                <a:lnTo>
                  <a:pt x="99120" y="98584"/>
                </a:lnTo>
                <a:cubicBezTo>
                  <a:pt x="102096" y="95607"/>
                  <a:pt x="105073" y="92631"/>
                  <a:pt x="108079" y="89624"/>
                </a:cubicBezTo>
                <a:lnTo>
                  <a:pt x="106859" y="88404"/>
                </a:lnTo>
                <a:cubicBezTo>
                  <a:pt x="104061" y="85606"/>
                  <a:pt x="104061" y="81082"/>
                  <a:pt x="106859" y="78313"/>
                </a:cubicBezTo>
                <a:cubicBezTo>
                  <a:pt x="109657" y="75545"/>
                  <a:pt x="114181" y="75515"/>
                  <a:pt x="116949" y="78313"/>
                </a:cubicBezTo>
                <a:lnTo>
                  <a:pt x="118170" y="79534"/>
                </a:lnTo>
                <a:lnTo>
                  <a:pt x="127129" y="70574"/>
                </a:lnTo>
                <a:lnTo>
                  <a:pt x="125909" y="69354"/>
                </a:lnTo>
                <a:cubicBezTo>
                  <a:pt x="123111" y="66556"/>
                  <a:pt x="123111" y="62032"/>
                  <a:pt x="125909" y="59263"/>
                </a:cubicBezTo>
                <a:cubicBezTo>
                  <a:pt x="128707" y="56495"/>
                  <a:pt x="133231" y="56465"/>
                  <a:pt x="135999" y="59263"/>
                </a:cubicBezTo>
                <a:lnTo>
                  <a:pt x="137874" y="61139"/>
                </a:lnTo>
                <a:cubicBezTo>
                  <a:pt x="140196" y="59769"/>
                  <a:pt x="142696" y="58757"/>
                  <a:pt x="145256" y="58073"/>
                </a:cubicBezTo>
                <a:lnTo>
                  <a:pt x="145256" y="54799"/>
                </a:lnTo>
                <a:cubicBezTo>
                  <a:pt x="145256" y="50840"/>
                  <a:pt x="148441" y="47655"/>
                  <a:pt x="152400" y="47655"/>
                </a:cubicBezTo>
                <a:cubicBezTo>
                  <a:pt x="156359" y="47655"/>
                  <a:pt x="159544" y="50840"/>
                  <a:pt x="159544" y="54799"/>
                </a:cubicBezTo>
                <a:close/>
                <a:moveTo>
                  <a:pt x="133350" y="114300"/>
                </a:moveTo>
                <a:cubicBezTo>
                  <a:pt x="133350" y="109043"/>
                  <a:pt x="129082" y="104775"/>
                  <a:pt x="123825" y="104775"/>
                </a:cubicBezTo>
                <a:cubicBezTo>
                  <a:pt x="118568" y="104775"/>
                  <a:pt x="114300" y="109043"/>
                  <a:pt x="114300" y="114300"/>
                </a:cubicBezTo>
                <a:cubicBezTo>
                  <a:pt x="114300" y="119557"/>
                  <a:pt x="118568" y="123825"/>
                  <a:pt x="123825" y="123825"/>
                </a:cubicBezTo>
                <a:cubicBezTo>
                  <a:pt x="129082" y="123825"/>
                  <a:pt x="133350" y="119557"/>
                  <a:pt x="133350" y="114300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732270" y="1741168"/>
            <a:ext cx="942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Disease Expert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75070" y="2103118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Contamination control, biosecurity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75070" y="2369818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₹3K-8K/visit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043035" y="1527810"/>
            <a:ext cx="2760345" cy="1341120"/>
          </a:xfrm>
          <a:custGeom>
            <a:avLst/>
            <a:gdLst/>
            <a:ahLst/>
            <a:cxnLst/>
            <a:rect l="l" t="t" r="r" b="b"/>
            <a:pathLst>
              <a:path w="2760345" h="1341120">
                <a:moveTo>
                  <a:pt x="114304" y="0"/>
                </a:moveTo>
                <a:lnTo>
                  <a:pt x="2646041" y="0"/>
                </a:lnTo>
                <a:cubicBezTo>
                  <a:pt x="2709170" y="0"/>
                  <a:pt x="2760345" y="51175"/>
                  <a:pt x="2760345" y="114304"/>
                </a:cubicBezTo>
                <a:lnTo>
                  <a:pt x="2760345" y="1226816"/>
                </a:lnTo>
                <a:cubicBezTo>
                  <a:pt x="2760345" y="1289945"/>
                  <a:pt x="2709170" y="1341120"/>
                  <a:pt x="2646041" y="1341120"/>
                </a:cubicBezTo>
                <a:lnTo>
                  <a:pt x="114304" y="1341120"/>
                </a:lnTo>
                <a:cubicBezTo>
                  <a:pt x="51175" y="1341120"/>
                  <a:pt x="0" y="1289945"/>
                  <a:pt x="0" y="122681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161145" y="164591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265920" y="176021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52519" y="71438"/>
                </a:moveTo>
                <a:lnTo>
                  <a:pt x="100132" y="71438"/>
                </a:lnTo>
                <a:cubicBezTo>
                  <a:pt x="94863" y="71438"/>
                  <a:pt x="90607" y="67181"/>
                  <a:pt x="90607" y="61912"/>
                </a:cubicBezTo>
                <a:lnTo>
                  <a:pt x="90607" y="9525"/>
                </a:lnTo>
                <a:cubicBezTo>
                  <a:pt x="90607" y="4256"/>
                  <a:pt x="94893" y="-60"/>
                  <a:pt x="100102" y="625"/>
                </a:cubicBezTo>
                <a:cubicBezTo>
                  <a:pt x="131951" y="4852"/>
                  <a:pt x="157192" y="30093"/>
                  <a:pt x="161419" y="61942"/>
                </a:cubicBezTo>
                <a:cubicBezTo>
                  <a:pt x="162104" y="67151"/>
                  <a:pt x="157788" y="71438"/>
                  <a:pt x="152519" y="71438"/>
                </a:cubicBezTo>
                <a:close/>
                <a:moveTo>
                  <a:pt x="66258" y="11073"/>
                </a:moveTo>
                <a:cubicBezTo>
                  <a:pt x="71646" y="9942"/>
                  <a:pt x="76319" y="14347"/>
                  <a:pt x="76319" y="19854"/>
                </a:cubicBezTo>
                <a:lnTo>
                  <a:pt x="76319" y="78581"/>
                </a:lnTo>
                <a:cubicBezTo>
                  <a:pt x="76319" y="80248"/>
                  <a:pt x="76914" y="81855"/>
                  <a:pt x="77956" y="83135"/>
                </a:cubicBezTo>
                <a:lnTo>
                  <a:pt x="117277" y="130582"/>
                </a:lnTo>
                <a:cubicBezTo>
                  <a:pt x="120759" y="134779"/>
                  <a:pt x="120015" y="141119"/>
                  <a:pt x="115223" y="143708"/>
                </a:cubicBezTo>
                <a:cubicBezTo>
                  <a:pt x="105073" y="149245"/>
                  <a:pt x="93434" y="152400"/>
                  <a:pt x="81082" y="152400"/>
                </a:cubicBezTo>
                <a:cubicBezTo>
                  <a:pt x="41642" y="152400"/>
                  <a:pt x="9644" y="120402"/>
                  <a:pt x="9644" y="80962"/>
                </a:cubicBezTo>
                <a:cubicBezTo>
                  <a:pt x="9644" y="46583"/>
                  <a:pt x="33903" y="17889"/>
                  <a:pt x="66258" y="11073"/>
                </a:cubicBezTo>
                <a:close/>
                <a:moveTo>
                  <a:pt x="142220" y="85725"/>
                </a:moveTo>
                <a:lnTo>
                  <a:pt x="161270" y="85725"/>
                </a:lnTo>
                <a:cubicBezTo>
                  <a:pt x="166777" y="85725"/>
                  <a:pt x="171182" y="90398"/>
                  <a:pt x="170051" y="95786"/>
                </a:cubicBezTo>
                <a:cubicBezTo>
                  <a:pt x="167015" y="110192"/>
                  <a:pt x="159633" y="122992"/>
                  <a:pt x="149334" y="132755"/>
                </a:cubicBezTo>
                <a:cubicBezTo>
                  <a:pt x="145673" y="136237"/>
                  <a:pt x="139928" y="135493"/>
                  <a:pt x="136714" y="131594"/>
                </a:cubicBezTo>
                <a:lnTo>
                  <a:pt x="111591" y="101322"/>
                </a:lnTo>
                <a:cubicBezTo>
                  <a:pt x="106442" y="95101"/>
                  <a:pt x="110877" y="85725"/>
                  <a:pt x="118914" y="85725"/>
                </a:cubicBezTo>
                <a:lnTo>
                  <a:pt x="142190" y="85725"/>
                </a:lnTo>
                <a:close/>
              </a:path>
            </a:pathLst>
          </a:custGeom>
          <a:solidFill>
            <a:srgbClr val="F5F1E8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618345" y="1741168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61145" y="2103118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planning, marketing, scaling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61145" y="2369818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₹5K-10K/hour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4810" y="3028956"/>
            <a:ext cx="5627370" cy="2598420"/>
          </a:xfrm>
          <a:custGeom>
            <a:avLst/>
            <a:gdLst/>
            <a:ahLst/>
            <a:cxnLst/>
            <a:rect l="l" t="t" r="r" b="b"/>
            <a:pathLst>
              <a:path w="5627370" h="2598420">
                <a:moveTo>
                  <a:pt x="114304" y="0"/>
                </a:moveTo>
                <a:lnTo>
                  <a:pt x="5513066" y="0"/>
                </a:lnTo>
                <a:cubicBezTo>
                  <a:pt x="5576194" y="0"/>
                  <a:pt x="5627370" y="51176"/>
                  <a:pt x="5627370" y="114304"/>
                </a:cubicBezTo>
                <a:lnTo>
                  <a:pt x="5627370" y="2484116"/>
                </a:lnTo>
                <a:cubicBezTo>
                  <a:pt x="5627370" y="2547244"/>
                  <a:pt x="5576194" y="2598420"/>
                  <a:pt x="5513066" y="2598420"/>
                </a:cubicBezTo>
                <a:lnTo>
                  <a:pt x="114304" y="2598420"/>
                </a:lnTo>
                <a:cubicBezTo>
                  <a:pt x="51176" y="2598420"/>
                  <a:pt x="0" y="2547244"/>
                  <a:pt x="0" y="2484116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41020" y="3185164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BADGE SYSTEM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1020" y="348996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D7F32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64845" y="360426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764" y="38100"/>
                </a:moveTo>
                <a:lnTo>
                  <a:pt x="41583" y="-3840"/>
                </a:lnTo>
                <a:cubicBezTo>
                  <a:pt x="39648" y="-7054"/>
                  <a:pt x="35600" y="-8215"/>
                  <a:pt x="32266" y="-6548"/>
                </a:cubicBezTo>
                <a:lnTo>
                  <a:pt x="6489" y="6340"/>
                </a:lnTo>
                <a:cubicBezTo>
                  <a:pt x="2947" y="8096"/>
                  <a:pt x="1518" y="12383"/>
                  <a:pt x="3274" y="15925"/>
                </a:cubicBezTo>
                <a:lnTo>
                  <a:pt x="23991" y="57329"/>
                </a:lnTo>
                <a:cubicBezTo>
                  <a:pt x="15032" y="67419"/>
                  <a:pt x="9614" y="80695"/>
                  <a:pt x="9614" y="95250"/>
                </a:cubicBezTo>
                <a:cubicBezTo>
                  <a:pt x="9614" y="126802"/>
                  <a:pt x="35213" y="152400"/>
                  <a:pt x="66764" y="152400"/>
                </a:cubicBezTo>
                <a:cubicBezTo>
                  <a:pt x="98316" y="152400"/>
                  <a:pt x="123914" y="126802"/>
                  <a:pt x="123914" y="95250"/>
                </a:cubicBezTo>
                <a:cubicBezTo>
                  <a:pt x="123914" y="80695"/>
                  <a:pt x="118467" y="67419"/>
                  <a:pt x="109537" y="57329"/>
                </a:cubicBezTo>
                <a:lnTo>
                  <a:pt x="130254" y="15925"/>
                </a:lnTo>
                <a:cubicBezTo>
                  <a:pt x="132011" y="12383"/>
                  <a:pt x="130582" y="8096"/>
                  <a:pt x="127069" y="6340"/>
                </a:cubicBezTo>
                <a:lnTo>
                  <a:pt x="101263" y="-6578"/>
                </a:lnTo>
                <a:cubicBezTo>
                  <a:pt x="97929" y="-8245"/>
                  <a:pt x="93851" y="-7054"/>
                  <a:pt x="91946" y="-3870"/>
                </a:cubicBezTo>
                <a:lnTo>
                  <a:pt x="66764" y="38100"/>
                </a:lnTo>
                <a:close/>
                <a:moveTo>
                  <a:pt x="75932" y="80516"/>
                </a:moveTo>
                <a:cubicBezTo>
                  <a:pt x="76349" y="81349"/>
                  <a:pt x="77123" y="81915"/>
                  <a:pt x="78016" y="82034"/>
                </a:cubicBezTo>
                <a:lnTo>
                  <a:pt x="92928" y="84207"/>
                </a:lnTo>
                <a:cubicBezTo>
                  <a:pt x="95220" y="84534"/>
                  <a:pt x="96113" y="87332"/>
                  <a:pt x="94476" y="88969"/>
                </a:cubicBezTo>
                <a:lnTo>
                  <a:pt x="83671" y="99506"/>
                </a:lnTo>
                <a:cubicBezTo>
                  <a:pt x="83016" y="100161"/>
                  <a:pt x="82719" y="101054"/>
                  <a:pt x="82868" y="101977"/>
                </a:cubicBezTo>
                <a:lnTo>
                  <a:pt x="85427" y="116830"/>
                </a:lnTo>
                <a:cubicBezTo>
                  <a:pt x="85814" y="119092"/>
                  <a:pt x="83433" y="120848"/>
                  <a:pt x="81379" y="119777"/>
                </a:cubicBezTo>
                <a:lnTo>
                  <a:pt x="68044" y="112752"/>
                </a:lnTo>
                <a:cubicBezTo>
                  <a:pt x="67241" y="112335"/>
                  <a:pt x="66258" y="112335"/>
                  <a:pt x="65455" y="112752"/>
                </a:cubicBezTo>
                <a:lnTo>
                  <a:pt x="52120" y="119777"/>
                </a:lnTo>
                <a:cubicBezTo>
                  <a:pt x="50066" y="120848"/>
                  <a:pt x="47685" y="119122"/>
                  <a:pt x="48071" y="116830"/>
                </a:cubicBezTo>
                <a:lnTo>
                  <a:pt x="50631" y="101977"/>
                </a:lnTo>
                <a:cubicBezTo>
                  <a:pt x="50780" y="101084"/>
                  <a:pt x="50483" y="100161"/>
                  <a:pt x="49828" y="99506"/>
                </a:cubicBezTo>
                <a:lnTo>
                  <a:pt x="39023" y="88969"/>
                </a:lnTo>
                <a:cubicBezTo>
                  <a:pt x="37356" y="87362"/>
                  <a:pt x="38279" y="84564"/>
                  <a:pt x="40571" y="84207"/>
                </a:cubicBezTo>
                <a:lnTo>
                  <a:pt x="55483" y="82034"/>
                </a:lnTo>
                <a:cubicBezTo>
                  <a:pt x="56376" y="81915"/>
                  <a:pt x="57180" y="81320"/>
                  <a:pt x="57567" y="80516"/>
                </a:cubicBezTo>
                <a:lnTo>
                  <a:pt x="64234" y="67002"/>
                </a:lnTo>
                <a:cubicBezTo>
                  <a:pt x="65246" y="64919"/>
                  <a:pt x="68193" y="64919"/>
                  <a:pt x="69235" y="67002"/>
                </a:cubicBezTo>
                <a:lnTo>
                  <a:pt x="75902" y="80516"/>
                </a:lnTo>
                <a:close/>
              </a:path>
            </a:pathLst>
          </a:custGeom>
          <a:solidFill>
            <a:srgbClr val="F5F1E8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036320" y="3509014"/>
            <a:ext cx="488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Bronze (Verified)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36320" y="3699514"/>
            <a:ext cx="4876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5+ years experience, 3 references, background check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41020" y="394716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0C0C0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64845" y="406146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764" y="38100"/>
                </a:moveTo>
                <a:lnTo>
                  <a:pt x="41583" y="-3840"/>
                </a:lnTo>
                <a:cubicBezTo>
                  <a:pt x="39648" y="-7054"/>
                  <a:pt x="35600" y="-8215"/>
                  <a:pt x="32266" y="-6548"/>
                </a:cubicBezTo>
                <a:lnTo>
                  <a:pt x="6489" y="6340"/>
                </a:lnTo>
                <a:cubicBezTo>
                  <a:pt x="2947" y="8096"/>
                  <a:pt x="1518" y="12383"/>
                  <a:pt x="3274" y="15925"/>
                </a:cubicBezTo>
                <a:lnTo>
                  <a:pt x="23991" y="57329"/>
                </a:lnTo>
                <a:cubicBezTo>
                  <a:pt x="15032" y="67419"/>
                  <a:pt x="9614" y="80695"/>
                  <a:pt x="9614" y="95250"/>
                </a:cubicBezTo>
                <a:cubicBezTo>
                  <a:pt x="9614" y="126802"/>
                  <a:pt x="35213" y="152400"/>
                  <a:pt x="66764" y="152400"/>
                </a:cubicBezTo>
                <a:cubicBezTo>
                  <a:pt x="98316" y="152400"/>
                  <a:pt x="123914" y="126802"/>
                  <a:pt x="123914" y="95250"/>
                </a:cubicBezTo>
                <a:cubicBezTo>
                  <a:pt x="123914" y="80695"/>
                  <a:pt x="118467" y="67419"/>
                  <a:pt x="109537" y="57329"/>
                </a:cubicBezTo>
                <a:lnTo>
                  <a:pt x="130254" y="15925"/>
                </a:lnTo>
                <a:cubicBezTo>
                  <a:pt x="132011" y="12383"/>
                  <a:pt x="130582" y="8096"/>
                  <a:pt x="127069" y="6340"/>
                </a:cubicBezTo>
                <a:lnTo>
                  <a:pt x="101263" y="-6578"/>
                </a:lnTo>
                <a:cubicBezTo>
                  <a:pt x="97929" y="-8245"/>
                  <a:pt x="93851" y="-7054"/>
                  <a:pt x="91946" y="-3870"/>
                </a:cubicBezTo>
                <a:lnTo>
                  <a:pt x="66764" y="38100"/>
                </a:lnTo>
                <a:close/>
                <a:moveTo>
                  <a:pt x="75932" y="80516"/>
                </a:moveTo>
                <a:cubicBezTo>
                  <a:pt x="76349" y="81349"/>
                  <a:pt x="77123" y="81915"/>
                  <a:pt x="78016" y="82034"/>
                </a:cubicBezTo>
                <a:lnTo>
                  <a:pt x="92928" y="84207"/>
                </a:lnTo>
                <a:cubicBezTo>
                  <a:pt x="95220" y="84534"/>
                  <a:pt x="96113" y="87332"/>
                  <a:pt x="94476" y="88969"/>
                </a:cubicBezTo>
                <a:lnTo>
                  <a:pt x="83671" y="99506"/>
                </a:lnTo>
                <a:cubicBezTo>
                  <a:pt x="83016" y="100161"/>
                  <a:pt x="82719" y="101054"/>
                  <a:pt x="82868" y="101977"/>
                </a:cubicBezTo>
                <a:lnTo>
                  <a:pt x="85427" y="116830"/>
                </a:lnTo>
                <a:cubicBezTo>
                  <a:pt x="85814" y="119092"/>
                  <a:pt x="83433" y="120848"/>
                  <a:pt x="81379" y="119777"/>
                </a:cubicBezTo>
                <a:lnTo>
                  <a:pt x="68044" y="112752"/>
                </a:lnTo>
                <a:cubicBezTo>
                  <a:pt x="67241" y="112335"/>
                  <a:pt x="66258" y="112335"/>
                  <a:pt x="65455" y="112752"/>
                </a:cubicBezTo>
                <a:lnTo>
                  <a:pt x="52120" y="119777"/>
                </a:lnTo>
                <a:cubicBezTo>
                  <a:pt x="50066" y="120848"/>
                  <a:pt x="47685" y="119122"/>
                  <a:pt x="48071" y="116830"/>
                </a:cubicBezTo>
                <a:lnTo>
                  <a:pt x="50631" y="101977"/>
                </a:lnTo>
                <a:cubicBezTo>
                  <a:pt x="50780" y="101084"/>
                  <a:pt x="50483" y="100161"/>
                  <a:pt x="49828" y="99506"/>
                </a:cubicBezTo>
                <a:lnTo>
                  <a:pt x="39023" y="88969"/>
                </a:lnTo>
                <a:cubicBezTo>
                  <a:pt x="37356" y="87362"/>
                  <a:pt x="38279" y="84564"/>
                  <a:pt x="40571" y="84207"/>
                </a:cubicBezTo>
                <a:lnTo>
                  <a:pt x="55483" y="82034"/>
                </a:lnTo>
                <a:cubicBezTo>
                  <a:pt x="56376" y="81915"/>
                  <a:pt x="57180" y="81320"/>
                  <a:pt x="57567" y="80516"/>
                </a:cubicBezTo>
                <a:lnTo>
                  <a:pt x="64234" y="67002"/>
                </a:lnTo>
                <a:cubicBezTo>
                  <a:pt x="65246" y="64919"/>
                  <a:pt x="68193" y="64919"/>
                  <a:pt x="69235" y="67002"/>
                </a:cubicBezTo>
                <a:lnTo>
                  <a:pt x="75902" y="80516"/>
                </a:ln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036320" y="3966214"/>
            <a:ext cx="488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Silver (Proven)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36320" y="4156714"/>
            <a:ext cx="4876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10+ consultations, 4.5★ rating, 90%+ satisfaction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41020" y="440436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D700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664845" y="451866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764" y="38100"/>
                </a:moveTo>
                <a:lnTo>
                  <a:pt x="41583" y="-3840"/>
                </a:lnTo>
                <a:cubicBezTo>
                  <a:pt x="39648" y="-7054"/>
                  <a:pt x="35600" y="-8215"/>
                  <a:pt x="32266" y="-6548"/>
                </a:cubicBezTo>
                <a:lnTo>
                  <a:pt x="6489" y="6340"/>
                </a:lnTo>
                <a:cubicBezTo>
                  <a:pt x="2947" y="8096"/>
                  <a:pt x="1518" y="12383"/>
                  <a:pt x="3274" y="15925"/>
                </a:cubicBezTo>
                <a:lnTo>
                  <a:pt x="23991" y="57329"/>
                </a:lnTo>
                <a:cubicBezTo>
                  <a:pt x="15032" y="67419"/>
                  <a:pt x="9614" y="80695"/>
                  <a:pt x="9614" y="95250"/>
                </a:cubicBezTo>
                <a:cubicBezTo>
                  <a:pt x="9614" y="126802"/>
                  <a:pt x="35213" y="152400"/>
                  <a:pt x="66764" y="152400"/>
                </a:cubicBezTo>
                <a:cubicBezTo>
                  <a:pt x="98316" y="152400"/>
                  <a:pt x="123914" y="126802"/>
                  <a:pt x="123914" y="95250"/>
                </a:cubicBezTo>
                <a:cubicBezTo>
                  <a:pt x="123914" y="80695"/>
                  <a:pt x="118467" y="67419"/>
                  <a:pt x="109537" y="57329"/>
                </a:cubicBezTo>
                <a:lnTo>
                  <a:pt x="130254" y="15925"/>
                </a:lnTo>
                <a:cubicBezTo>
                  <a:pt x="132011" y="12383"/>
                  <a:pt x="130582" y="8096"/>
                  <a:pt x="127069" y="6340"/>
                </a:cubicBezTo>
                <a:lnTo>
                  <a:pt x="101263" y="-6578"/>
                </a:lnTo>
                <a:cubicBezTo>
                  <a:pt x="97929" y="-8245"/>
                  <a:pt x="93851" y="-7054"/>
                  <a:pt x="91946" y="-3870"/>
                </a:cubicBezTo>
                <a:lnTo>
                  <a:pt x="66764" y="38100"/>
                </a:lnTo>
                <a:close/>
                <a:moveTo>
                  <a:pt x="75932" y="80516"/>
                </a:moveTo>
                <a:cubicBezTo>
                  <a:pt x="76349" y="81349"/>
                  <a:pt x="77123" y="81915"/>
                  <a:pt x="78016" y="82034"/>
                </a:cubicBezTo>
                <a:lnTo>
                  <a:pt x="92928" y="84207"/>
                </a:lnTo>
                <a:cubicBezTo>
                  <a:pt x="95220" y="84534"/>
                  <a:pt x="96113" y="87332"/>
                  <a:pt x="94476" y="88969"/>
                </a:cubicBezTo>
                <a:lnTo>
                  <a:pt x="83671" y="99506"/>
                </a:lnTo>
                <a:cubicBezTo>
                  <a:pt x="83016" y="100161"/>
                  <a:pt x="82719" y="101054"/>
                  <a:pt x="82868" y="101977"/>
                </a:cubicBezTo>
                <a:lnTo>
                  <a:pt x="85427" y="116830"/>
                </a:lnTo>
                <a:cubicBezTo>
                  <a:pt x="85814" y="119092"/>
                  <a:pt x="83433" y="120848"/>
                  <a:pt x="81379" y="119777"/>
                </a:cubicBezTo>
                <a:lnTo>
                  <a:pt x="68044" y="112752"/>
                </a:lnTo>
                <a:cubicBezTo>
                  <a:pt x="67241" y="112335"/>
                  <a:pt x="66258" y="112335"/>
                  <a:pt x="65455" y="112752"/>
                </a:cubicBezTo>
                <a:lnTo>
                  <a:pt x="52120" y="119777"/>
                </a:lnTo>
                <a:cubicBezTo>
                  <a:pt x="50066" y="120848"/>
                  <a:pt x="47685" y="119122"/>
                  <a:pt x="48071" y="116830"/>
                </a:cubicBezTo>
                <a:lnTo>
                  <a:pt x="50631" y="101977"/>
                </a:lnTo>
                <a:cubicBezTo>
                  <a:pt x="50780" y="101084"/>
                  <a:pt x="50483" y="100161"/>
                  <a:pt x="49828" y="99506"/>
                </a:cubicBezTo>
                <a:lnTo>
                  <a:pt x="39023" y="88969"/>
                </a:lnTo>
                <a:cubicBezTo>
                  <a:pt x="37356" y="87362"/>
                  <a:pt x="38279" y="84564"/>
                  <a:pt x="40571" y="84207"/>
                </a:cubicBezTo>
                <a:lnTo>
                  <a:pt x="55483" y="82034"/>
                </a:lnTo>
                <a:cubicBezTo>
                  <a:pt x="56376" y="81915"/>
                  <a:pt x="57180" y="81320"/>
                  <a:pt x="57567" y="80516"/>
                </a:cubicBezTo>
                <a:lnTo>
                  <a:pt x="64234" y="67002"/>
                </a:lnTo>
                <a:cubicBezTo>
                  <a:pt x="65246" y="64919"/>
                  <a:pt x="68193" y="64919"/>
                  <a:pt x="69235" y="67002"/>
                </a:cubicBezTo>
                <a:lnTo>
                  <a:pt x="75902" y="80516"/>
                </a:ln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036320" y="4423414"/>
            <a:ext cx="488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Gold (Leader)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36320" y="4613914"/>
            <a:ext cx="4876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50+ consultations, 4.8★ rating, specialization cert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76010" y="3028956"/>
            <a:ext cx="5627370" cy="2598420"/>
          </a:xfrm>
          <a:custGeom>
            <a:avLst/>
            <a:gdLst/>
            <a:ahLst/>
            <a:cxnLst/>
            <a:rect l="l" t="t" r="r" b="b"/>
            <a:pathLst>
              <a:path w="5627370" h="2598420">
                <a:moveTo>
                  <a:pt x="114304" y="0"/>
                </a:moveTo>
                <a:lnTo>
                  <a:pt x="5513066" y="0"/>
                </a:lnTo>
                <a:cubicBezTo>
                  <a:pt x="5576194" y="0"/>
                  <a:pt x="5627370" y="51176"/>
                  <a:pt x="5627370" y="114304"/>
                </a:cubicBezTo>
                <a:lnTo>
                  <a:pt x="5627370" y="2484116"/>
                </a:lnTo>
                <a:cubicBezTo>
                  <a:pt x="5627370" y="2547244"/>
                  <a:pt x="5576194" y="2598420"/>
                  <a:pt x="5513066" y="2598420"/>
                </a:cubicBezTo>
                <a:lnTo>
                  <a:pt x="114304" y="2598420"/>
                </a:lnTo>
                <a:cubicBezTo>
                  <a:pt x="51176" y="2598420"/>
                  <a:pt x="0" y="2547244"/>
                  <a:pt x="0" y="2484116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332220" y="3185164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CONSULTATION MODES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32220" y="3489964"/>
            <a:ext cx="5314950" cy="609600"/>
          </a:xfrm>
          <a:custGeom>
            <a:avLst/>
            <a:gdLst/>
            <a:ahLst/>
            <a:cxnLst/>
            <a:rect l="l" t="t" r="r" b="b"/>
            <a:pathLst>
              <a:path w="5314950" h="6096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533400"/>
                </a:lnTo>
                <a:cubicBezTo>
                  <a:pt x="5314950" y="575456"/>
                  <a:pt x="5280806" y="609600"/>
                  <a:pt x="52387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6457236" y="3627118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25003" y="16669"/>
                </a:moveTo>
                <a:cubicBezTo>
                  <a:pt x="15809" y="16669"/>
                  <a:pt x="8334" y="24144"/>
                  <a:pt x="8334" y="33337"/>
                </a:cubicBezTo>
                <a:lnTo>
                  <a:pt x="8334" y="100013"/>
                </a:lnTo>
                <a:cubicBezTo>
                  <a:pt x="8334" y="109206"/>
                  <a:pt x="15809" y="116681"/>
                  <a:pt x="25003" y="116681"/>
                </a:cubicBezTo>
                <a:lnTo>
                  <a:pt x="91678" y="116681"/>
                </a:lnTo>
                <a:cubicBezTo>
                  <a:pt x="100872" y="116681"/>
                  <a:pt x="108347" y="109206"/>
                  <a:pt x="108347" y="100013"/>
                </a:cubicBezTo>
                <a:lnTo>
                  <a:pt x="108347" y="33337"/>
                </a:lnTo>
                <a:cubicBezTo>
                  <a:pt x="108347" y="24144"/>
                  <a:pt x="100872" y="16669"/>
                  <a:pt x="91678" y="16669"/>
                </a:cubicBezTo>
                <a:lnTo>
                  <a:pt x="25003" y="16669"/>
                </a:lnTo>
                <a:close/>
                <a:moveTo>
                  <a:pt x="120848" y="87511"/>
                </a:moveTo>
                <a:lnTo>
                  <a:pt x="139991" y="102825"/>
                </a:lnTo>
                <a:cubicBezTo>
                  <a:pt x="141085" y="103711"/>
                  <a:pt x="142440" y="104180"/>
                  <a:pt x="143846" y="104180"/>
                </a:cubicBezTo>
                <a:cubicBezTo>
                  <a:pt x="147258" y="104180"/>
                  <a:pt x="150019" y="101419"/>
                  <a:pt x="150019" y="98007"/>
                </a:cubicBezTo>
                <a:lnTo>
                  <a:pt x="150019" y="35343"/>
                </a:lnTo>
                <a:cubicBezTo>
                  <a:pt x="150019" y="31931"/>
                  <a:pt x="147258" y="29170"/>
                  <a:pt x="143846" y="29170"/>
                </a:cubicBezTo>
                <a:cubicBezTo>
                  <a:pt x="142440" y="29170"/>
                  <a:pt x="141085" y="29639"/>
                  <a:pt x="139991" y="30525"/>
                </a:cubicBezTo>
                <a:lnTo>
                  <a:pt x="120848" y="45839"/>
                </a:lnTo>
                <a:lnTo>
                  <a:pt x="120848" y="87511"/>
                </a:ln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675120" y="3604264"/>
            <a:ext cx="492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Remote Video (Immediate)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46520" y="3832864"/>
            <a:ext cx="514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2-hour response guarantee. AI triage matches best expert.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32220" y="4175643"/>
            <a:ext cx="5314950" cy="609600"/>
          </a:xfrm>
          <a:custGeom>
            <a:avLst/>
            <a:gdLst/>
            <a:ahLst/>
            <a:cxnLst/>
            <a:rect l="l" t="t" r="r" b="b"/>
            <a:pathLst>
              <a:path w="5314950" h="6096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533400"/>
                </a:lnTo>
                <a:cubicBezTo>
                  <a:pt x="5314950" y="575456"/>
                  <a:pt x="5280806" y="609600"/>
                  <a:pt x="52387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6465570" y="431280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0" y="20836"/>
                </a:moveTo>
                <a:cubicBezTo>
                  <a:pt x="0" y="13934"/>
                  <a:pt x="5600" y="8334"/>
                  <a:pt x="12502" y="8334"/>
                </a:cubicBezTo>
                <a:lnTo>
                  <a:pt x="37505" y="8334"/>
                </a:lnTo>
                <a:cubicBezTo>
                  <a:pt x="44407" y="8334"/>
                  <a:pt x="50006" y="13934"/>
                  <a:pt x="50006" y="20836"/>
                </a:cubicBezTo>
                <a:lnTo>
                  <a:pt x="50006" y="25003"/>
                </a:lnTo>
                <a:lnTo>
                  <a:pt x="83344" y="25003"/>
                </a:lnTo>
                <a:lnTo>
                  <a:pt x="83344" y="20836"/>
                </a:lnTo>
                <a:cubicBezTo>
                  <a:pt x="83344" y="13934"/>
                  <a:pt x="88943" y="8334"/>
                  <a:pt x="95845" y="8334"/>
                </a:cubicBezTo>
                <a:lnTo>
                  <a:pt x="120848" y="8334"/>
                </a:lnTo>
                <a:cubicBezTo>
                  <a:pt x="127750" y="8334"/>
                  <a:pt x="133350" y="13934"/>
                  <a:pt x="133350" y="20836"/>
                </a:cubicBezTo>
                <a:lnTo>
                  <a:pt x="133350" y="45839"/>
                </a:lnTo>
                <a:cubicBezTo>
                  <a:pt x="133350" y="52741"/>
                  <a:pt x="127750" y="58341"/>
                  <a:pt x="120848" y="58341"/>
                </a:cubicBezTo>
                <a:lnTo>
                  <a:pt x="95845" y="58341"/>
                </a:lnTo>
                <a:cubicBezTo>
                  <a:pt x="88943" y="58341"/>
                  <a:pt x="83344" y="52741"/>
                  <a:pt x="83344" y="45839"/>
                </a:cubicBezTo>
                <a:lnTo>
                  <a:pt x="83344" y="41672"/>
                </a:lnTo>
                <a:lnTo>
                  <a:pt x="50006" y="41672"/>
                </a:lnTo>
                <a:lnTo>
                  <a:pt x="50006" y="45839"/>
                </a:lnTo>
                <a:cubicBezTo>
                  <a:pt x="50006" y="47740"/>
                  <a:pt x="49563" y="49563"/>
                  <a:pt x="48808" y="51178"/>
                </a:cubicBezTo>
                <a:lnTo>
                  <a:pt x="66675" y="75009"/>
                </a:lnTo>
                <a:lnTo>
                  <a:pt x="87511" y="75009"/>
                </a:lnTo>
                <a:cubicBezTo>
                  <a:pt x="94413" y="75009"/>
                  <a:pt x="100013" y="80609"/>
                  <a:pt x="100013" y="87511"/>
                </a:cubicBezTo>
                <a:lnTo>
                  <a:pt x="100013" y="112514"/>
                </a:lnTo>
                <a:cubicBezTo>
                  <a:pt x="100013" y="119416"/>
                  <a:pt x="94413" y="125016"/>
                  <a:pt x="87511" y="125016"/>
                </a:cubicBezTo>
                <a:lnTo>
                  <a:pt x="62508" y="125016"/>
                </a:lnTo>
                <a:cubicBezTo>
                  <a:pt x="55606" y="125016"/>
                  <a:pt x="50006" y="119416"/>
                  <a:pt x="50006" y="112514"/>
                </a:cubicBezTo>
                <a:lnTo>
                  <a:pt x="50006" y="87511"/>
                </a:lnTo>
                <a:cubicBezTo>
                  <a:pt x="50006" y="85610"/>
                  <a:pt x="50449" y="83787"/>
                  <a:pt x="51204" y="82172"/>
                </a:cubicBezTo>
                <a:lnTo>
                  <a:pt x="33337" y="58341"/>
                </a:lnTo>
                <a:lnTo>
                  <a:pt x="12502" y="58341"/>
                </a:lnTo>
                <a:cubicBezTo>
                  <a:pt x="5600" y="58341"/>
                  <a:pt x="0" y="52741"/>
                  <a:pt x="0" y="45839"/>
                </a:cubicBezTo>
                <a:lnTo>
                  <a:pt x="0" y="20836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6675120" y="4289943"/>
            <a:ext cx="492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Plant Setup Project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46520" y="4518543"/>
            <a:ext cx="514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Milestone-based payments. IoT monitors progress.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32220" y="4861322"/>
            <a:ext cx="5314950" cy="609600"/>
          </a:xfrm>
          <a:custGeom>
            <a:avLst/>
            <a:gdLst/>
            <a:ahLst/>
            <a:cxnLst/>
            <a:rect l="l" t="t" r="r" b="b"/>
            <a:pathLst>
              <a:path w="5314950" h="6096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533400"/>
                </a:lnTo>
                <a:cubicBezTo>
                  <a:pt x="5314950" y="575456"/>
                  <a:pt x="5280806" y="609600"/>
                  <a:pt x="52387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6473904" y="499848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64591"/>
                </a:moveTo>
                <a:cubicBezTo>
                  <a:pt x="41091" y="64591"/>
                  <a:pt x="27087" y="50587"/>
                  <a:pt x="27087" y="33338"/>
                </a:cubicBezTo>
                <a:cubicBezTo>
                  <a:pt x="27087" y="16088"/>
                  <a:pt x="41091" y="2084"/>
                  <a:pt x="58341" y="2084"/>
                </a:cubicBezTo>
                <a:cubicBezTo>
                  <a:pt x="75590" y="2084"/>
                  <a:pt x="89595" y="16088"/>
                  <a:pt x="89595" y="33337"/>
                </a:cubicBezTo>
                <a:cubicBezTo>
                  <a:pt x="89595" y="50587"/>
                  <a:pt x="75590" y="64591"/>
                  <a:pt x="58341" y="64591"/>
                </a:cubicBezTo>
                <a:close/>
                <a:moveTo>
                  <a:pt x="50397" y="79177"/>
                </a:moveTo>
                <a:lnTo>
                  <a:pt x="66284" y="79177"/>
                </a:lnTo>
                <a:cubicBezTo>
                  <a:pt x="68811" y="79177"/>
                  <a:pt x="70842" y="81208"/>
                  <a:pt x="70842" y="83734"/>
                </a:cubicBezTo>
                <a:cubicBezTo>
                  <a:pt x="70842" y="84828"/>
                  <a:pt x="70452" y="85870"/>
                  <a:pt x="69748" y="86704"/>
                </a:cubicBezTo>
                <a:lnTo>
                  <a:pt x="62612" y="95038"/>
                </a:lnTo>
                <a:lnTo>
                  <a:pt x="70686" y="125016"/>
                </a:lnTo>
                <a:lnTo>
                  <a:pt x="70842" y="125016"/>
                </a:lnTo>
                <a:lnTo>
                  <a:pt x="79854" y="88943"/>
                </a:lnTo>
                <a:cubicBezTo>
                  <a:pt x="80427" y="86678"/>
                  <a:pt x="82745" y="85297"/>
                  <a:pt x="84932" y="86131"/>
                </a:cubicBezTo>
                <a:cubicBezTo>
                  <a:pt x="101054" y="92277"/>
                  <a:pt x="112514" y="107904"/>
                  <a:pt x="112514" y="126188"/>
                </a:cubicBezTo>
                <a:cubicBezTo>
                  <a:pt x="112514" y="130120"/>
                  <a:pt x="109311" y="133324"/>
                  <a:pt x="105378" y="133324"/>
                </a:cubicBezTo>
                <a:lnTo>
                  <a:pt x="11303" y="133350"/>
                </a:lnTo>
                <a:cubicBezTo>
                  <a:pt x="7371" y="133350"/>
                  <a:pt x="4167" y="130146"/>
                  <a:pt x="4167" y="126214"/>
                </a:cubicBezTo>
                <a:cubicBezTo>
                  <a:pt x="4167" y="107930"/>
                  <a:pt x="15627" y="92303"/>
                  <a:pt x="31749" y="86157"/>
                </a:cubicBezTo>
                <a:cubicBezTo>
                  <a:pt x="33937" y="85323"/>
                  <a:pt x="36255" y="86704"/>
                  <a:pt x="36828" y="88969"/>
                </a:cubicBezTo>
                <a:lnTo>
                  <a:pt x="45839" y="125042"/>
                </a:lnTo>
                <a:lnTo>
                  <a:pt x="45995" y="125042"/>
                </a:lnTo>
                <a:lnTo>
                  <a:pt x="54069" y="95064"/>
                </a:lnTo>
                <a:lnTo>
                  <a:pt x="46933" y="86730"/>
                </a:lnTo>
                <a:cubicBezTo>
                  <a:pt x="46230" y="85896"/>
                  <a:pt x="45839" y="84854"/>
                  <a:pt x="45839" y="83760"/>
                </a:cubicBezTo>
                <a:cubicBezTo>
                  <a:pt x="45839" y="81234"/>
                  <a:pt x="47871" y="79203"/>
                  <a:pt x="50397" y="79203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6675120" y="4975622"/>
            <a:ext cx="492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Retainer Support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446520" y="5204222"/>
            <a:ext cx="514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₹25K/month for virtual farm manager package.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00050" y="5783228"/>
            <a:ext cx="11410950" cy="457200"/>
          </a:xfrm>
          <a:custGeom>
            <a:avLst/>
            <a:gdLst/>
            <a:ahLst/>
            <a:cxnLst/>
            <a:rect l="l" t="t" r="r" b="b"/>
            <a:pathLst>
              <a:path w="11410950" h="457200">
                <a:moveTo>
                  <a:pt x="0" y="0"/>
                </a:moveTo>
                <a:lnTo>
                  <a:pt x="11334748" y="0"/>
                </a:lnTo>
                <a:cubicBezTo>
                  <a:pt x="11376833" y="0"/>
                  <a:pt x="11410950" y="34117"/>
                  <a:pt x="11410950" y="76202"/>
                </a:cubicBezTo>
                <a:lnTo>
                  <a:pt x="11410950" y="380998"/>
                </a:lnTo>
                <a:cubicBezTo>
                  <a:pt x="11410950" y="423083"/>
                  <a:pt x="11376833" y="457200"/>
                  <a:pt x="11334748" y="457200"/>
                </a:cubicBez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9C46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400050" y="5783228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571500" y="5928001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781050" y="5897528"/>
            <a:ext cx="10991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New farmers get expert guidance. Running farms access troubleshooting in hours, not days. Consultants build careers on the platform.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461" y="377461"/>
            <a:ext cx="11503133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spc="104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POLICY ALIGNMENT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7461" y="641684"/>
            <a:ext cx="11606935" cy="377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5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Government Support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7461" y="1094638"/>
            <a:ext cx="11531443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6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Aligned with National Agricultural Priorities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236" y="1513620"/>
            <a:ext cx="5641159" cy="2951747"/>
          </a:xfrm>
          <a:custGeom>
            <a:avLst/>
            <a:gdLst/>
            <a:ahLst/>
            <a:cxnLst/>
            <a:rect l="l" t="t" r="r" b="b"/>
            <a:pathLst>
              <a:path w="5641159" h="2951747">
                <a:moveTo>
                  <a:pt x="113229" y="0"/>
                </a:moveTo>
                <a:lnTo>
                  <a:pt x="5527930" y="0"/>
                </a:lnTo>
                <a:cubicBezTo>
                  <a:pt x="5590465" y="0"/>
                  <a:pt x="5641159" y="50694"/>
                  <a:pt x="5641159" y="113229"/>
                </a:cubicBezTo>
                <a:lnTo>
                  <a:pt x="5641159" y="2838518"/>
                </a:lnTo>
                <a:cubicBezTo>
                  <a:pt x="5641159" y="2901053"/>
                  <a:pt x="5590465" y="2951747"/>
                  <a:pt x="5527930" y="2951747"/>
                </a:cubicBezTo>
                <a:lnTo>
                  <a:pt x="113229" y="2951747"/>
                </a:lnTo>
                <a:cubicBezTo>
                  <a:pt x="50694" y="2951747"/>
                  <a:pt x="0" y="2901053"/>
                  <a:pt x="0" y="2838518"/>
                </a:cubicBezTo>
                <a:lnTo>
                  <a:pt x="0" y="113229"/>
                </a:lnTo>
                <a:cubicBezTo>
                  <a:pt x="0" y="50694"/>
                  <a:pt x="50694" y="0"/>
                  <a:pt x="113229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35995" y="1668377"/>
            <a:ext cx="452954" cy="452954"/>
          </a:xfrm>
          <a:custGeom>
            <a:avLst/>
            <a:gdLst/>
            <a:ahLst/>
            <a:cxnLst/>
            <a:rect l="l" t="t" r="r" b="b"/>
            <a:pathLst>
              <a:path w="452954" h="452954">
                <a:moveTo>
                  <a:pt x="226477" y="0"/>
                </a:moveTo>
                <a:lnTo>
                  <a:pt x="226477" y="0"/>
                </a:lnTo>
                <a:cubicBezTo>
                  <a:pt x="351473" y="0"/>
                  <a:pt x="452954" y="101481"/>
                  <a:pt x="452954" y="226477"/>
                </a:cubicBezTo>
                <a:lnTo>
                  <a:pt x="452954" y="226477"/>
                </a:lnTo>
                <a:cubicBezTo>
                  <a:pt x="452954" y="351473"/>
                  <a:pt x="351473" y="452954"/>
                  <a:pt x="226477" y="452954"/>
                </a:cubicBezTo>
                <a:lnTo>
                  <a:pt x="226477" y="452954"/>
                </a:lnTo>
                <a:cubicBezTo>
                  <a:pt x="101481" y="452954"/>
                  <a:pt x="0" y="351473"/>
                  <a:pt x="0" y="226477"/>
                </a:cubicBezTo>
                <a:lnTo>
                  <a:pt x="0" y="226477"/>
                </a:lnTo>
                <a:cubicBezTo>
                  <a:pt x="0" y="101481"/>
                  <a:pt x="101481" y="0"/>
                  <a:pt x="226477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68107" y="1800489"/>
            <a:ext cx="188731" cy="188731"/>
          </a:xfrm>
          <a:custGeom>
            <a:avLst/>
            <a:gdLst/>
            <a:ahLst/>
            <a:cxnLst/>
            <a:rect l="l" t="t" r="r" b="b"/>
            <a:pathLst>
              <a:path w="188731" h="188731">
                <a:moveTo>
                  <a:pt x="87988" y="1880"/>
                </a:moveTo>
                <a:cubicBezTo>
                  <a:pt x="91859" y="-627"/>
                  <a:pt x="96872" y="-627"/>
                  <a:pt x="100742" y="1880"/>
                </a:cubicBezTo>
                <a:lnTo>
                  <a:pt x="183312" y="54960"/>
                </a:lnTo>
                <a:cubicBezTo>
                  <a:pt x="187699" y="57799"/>
                  <a:pt x="189726" y="63181"/>
                  <a:pt x="188251" y="68194"/>
                </a:cubicBezTo>
                <a:cubicBezTo>
                  <a:pt x="186777" y="73207"/>
                  <a:pt x="182169" y="76672"/>
                  <a:pt x="176935" y="76672"/>
                </a:cubicBezTo>
                <a:lnTo>
                  <a:pt x="165139" y="76672"/>
                </a:lnTo>
                <a:lnTo>
                  <a:pt x="165139" y="153344"/>
                </a:lnTo>
                <a:lnTo>
                  <a:pt x="184012" y="167498"/>
                </a:lnTo>
                <a:cubicBezTo>
                  <a:pt x="186998" y="169710"/>
                  <a:pt x="188731" y="173212"/>
                  <a:pt x="188731" y="176935"/>
                </a:cubicBezTo>
                <a:cubicBezTo>
                  <a:pt x="188731" y="183459"/>
                  <a:pt x="183459" y="188731"/>
                  <a:pt x="176935" y="188731"/>
                </a:cubicBezTo>
                <a:lnTo>
                  <a:pt x="11796" y="188731"/>
                </a:lnTo>
                <a:cubicBezTo>
                  <a:pt x="5271" y="188731"/>
                  <a:pt x="0" y="183459"/>
                  <a:pt x="0" y="176935"/>
                </a:cubicBezTo>
                <a:cubicBezTo>
                  <a:pt x="0" y="173212"/>
                  <a:pt x="1732" y="169710"/>
                  <a:pt x="4718" y="167498"/>
                </a:cubicBezTo>
                <a:lnTo>
                  <a:pt x="23591" y="153344"/>
                </a:lnTo>
                <a:lnTo>
                  <a:pt x="23591" y="153344"/>
                </a:lnTo>
                <a:lnTo>
                  <a:pt x="23591" y="76672"/>
                </a:lnTo>
                <a:lnTo>
                  <a:pt x="11796" y="76672"/>
                </a:lnTo>
                <a:cubicBezTo>
                  <a:pt x="6561" y="76672"/>
                  <a:pt x="1954" y="73207"/>
                  <a:pt x="479" y="68194"/>
                </a:cubicBezTo>
                <a:cubicBezTo>
                  <a:pt x="-995" y="63181"/>
                  <a:pt x="1032" y="57762"/>
                  <a:pt x="5419" y="54960"/>
                </a:cubicBezTo>
                <a:lnTo>
                  <a:pt x="87988" y="1880"/>
                </a:lnTo>
                <a:close/>
                <a:moveTo>
                  <a:pt x="123854" y="76672"/>
                </a:moveTo>
                <a:lnTo>
                  <a:pt x="123854" y="153344"/>
                </a:lnTo>
                <a:lnTo>
                  <a:pt x="147446" y="153344"/>
                </a:lnTo>
                <a:lnTo>
                  <a:pt x="147446" y="76672"/>
                </a:lnTo>
                <a:lnTo>
                  <a:pt x="123854" y="76672"/>
                </a:lnTo>
                <a:close/>
                <a:moveTo>
                  <a:pt x="82570" y="153344"/>
                </a:moveTo>
                <a:lnTo>
                  <a:pt x="106161" y="153344"/>
                </a:lnTo>
                <a:lnTo>
                  <a:pt x="106161" y="76672"/>
                </a:lnTo>
                <a:lnTo>
                  <a:pt x="82570" y="76672"/>
                </a:lnTo>
                <a:lnTo>
                  <a:pt x="82570" y="153344"/>
                </a:lnTo>
                <a:close/>
                <a:moveTo>
                  <a:pt x="41285" y="76672"/>
                </a:moveTo>
                <a:lnTo>
                  <a:pt x="41285" y="153344"/>
                </a:lnTo>
                <a:lnTo>
                  <a:pt x="64876" y="153344"/>
                </a:lnTo>
                <a:lnTo>
                  <a:pt x="64876" y="76672"/>
                </a:lnTo>
                <a:lnTo>
                  <a:pt x="41285" y="76672"/>
                </a:lnTo>
                <a:close/>
              </a:path>
            </a:pathLst>
          </a:custGeom>
          <a:solidFill>
            <a:srgbClr val="F5F1E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02187" y="1668377"/>
            <a:ext cx="3000817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MIDH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02187" y="1932600"/>
            <a:ext cx="2981944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Mission for Integrated Development of Horticulture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5995" y="2234569"/>
            <a:ext cx="5331641" cy="641684"/>
          </a:xfrm>
          <a:custGeom>
            <a:avLst/>
            <a:gdLst/>
            <a:ahLst/>
            <a:cxnLst/>
            <a:rect l="l" t="t" r="r" b="b"/>
            <a:pathLst>
              <a:path w="5331641" h="641684">
                <a:moveTo>
                  <a:pt x="75494" y="0"/>
                </a:moveTo>
                <a:lnTo>
                  <a:pt x="5256147" y="0"/>
                </a:lnTo>
                <a:cubicBezTo>
                  <a:pt x="5297841" y="0"/>
                  <a:pt x="5331641" y="33800"/>
                  <a:pt x="5331641" y="75494"/>
                </a:cubicBezTo>
                <a:lnTo>
                  <a:pt x="5331641" y="566190"/>
                </a:lnTo>
                <a:cubicBezTo>
                  <a:pt x="5331641" y="607884"/>
                  <a:pt x="5297841" y="641684"/>
                  <a:pt x="5256147" y="641684"/>
                </a:cubicBezTo>
                <a:lnTo>
                  <a:pt x="75494" y="641684"/>
                </a:lnTo>
                <a:cubicBezTo>
                  <a:pt x="33800" y="641684"/>
                  <a:pt x="0" y="607884"/>
                  <a:pt x="0" y="566190"/>
                </a:cubicBezTo>
                <a:lnTo>
                  <a:pt x="0" y="75494"/>
                </a:lnTo>
                <a:cubicBezTo>
                  <a:pt x="0" y="33800"/>
                  <a:pt x="33800" y="0"/>
                  <a:pt x="75494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9233" y="2366681"/>
            <a:ext cx="1613647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Mushroom Production Unit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99884" y="2347807"/>
            <a:ext cx="622811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40-50%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33" y="2612030"/>
            <a:ext cx="5161783" cy="1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 to ₹30L/unit subsidy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5995" y="2951635"/>
            <a:ext cx="5331641" cy="641684"/>
          </a:xfrm>
          <a:custGeom>
            <a:avLst/>
            <a:gdLst/>
            <a:ahLst/>
            <a:cxnLst/>
            <a:rect l="l" t="t" r="r" b="b"/>
            <a:pathLst>
              <a:path w="5331641" h="641684">
                <a:moveTo>
                  <a:pt x="75494" y="0"/>
                </a:moveTo>
                <a:lnTo>
                  <a:pt x="5256147" y="0"/>
                </a:lnTo>
                <a:cubicBezTo>
                  <a:pt x="5297841" y="0"/>
                  <a:pt x="5331641" y="33800"/>
                  <a:pt x="5331641" y="75494"/>
                </a:cubicBezTo>
                <a:lnTo>
                  <a:pt x="5331641" y="566190"/>
                </a:lnTo>
                <a:cubicBezTo>
                  <a:pt x="5331641" y="607884"/>
                  <a:pt x="5297841" y="641684"/>
                  <a:pt x="5256147" y="641684"/>
                </a:cubicBezTo>
                <a:lnTo>
                  <a:pt x="75494" y="641684"/>
                </a:lnTo>
                <a:cubicBezTo>
                  <a:pt x="33800" y="641684"/>
                  <a:pt x="0" y="607884"/>
                  <a:pt x="0" y="566190"/>
                </a:cubicBezTo>
                <a:lnTo>
                  <a:pt x="0" y="75494"/>
                </a:lnTo>
                <a:cubicBezTo>
                  <a:pt x="0" y="33800"/>
                  <a:pt x="33800" y="0"/>
                  <a:pt x="75494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9233" y="3083746"/>
            <a:ext cx="1170130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Spawn Making Unit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99884" y="3064873"/>
            <a:ext cx="622811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40-50%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33" y="3329096"/>
            <a:ext cx="5161783" cy="1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 to ₹20L/unit subsidy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5995" y="3668692"/>
            <a:ext cx="5331641" cy="641684"/>
          </a:xfrm>
          <a:custGeom>
            <a:avLst/>
            <a:gdLst/>
            <a:ahLst/>
            <a:cxnLst/>
            <a:rect l="l" t="t" r="r" b="b"/>
            <a:pathLst>
              <a:path w="5331641" h="641684">
                <a:moveTo>
                  <a:pt x="75494" y="0"/>
                </a:moveTo>
                <a:lnTo>
                  <a:pt x="5256147" y="0"/>
                </a:lnTo>
                <a:cubicBezTo>
                  <a:pt x="5297841" y="0"/>
                  <a:pt x="5331641" y="33800"/>
                  <a:pt x="5331641" y="75494"/>
                </a:cubicBezTo>
                <a:lnTo>
                  <a:pt x="5331641" y="566190"/>
                </a:lnTo>
                <a:cubicBezTo>
                  <a:pt x="5331641" y="607884"/>
                  <a:pt x="5297841" y="641684"/>
                  <a:pt x="5256147" y="641684"/>
                </a:cubicBezTo>
                <a:lnTo>
                  <a:pt x="75494" y="641684"/>
                </a:lnTo>
                <a:cubicBezTo>
                  <a:pt x="33800" y="641684"/>
                  <a:pt x="0" y="607884"/>
                  <a:pt x="0" y="566190"/>
                </a:cubicBezTo>
                <a:lnTo>
                  <a:pt x="0" y="75494"/>
                </a:lnTo>
                <a:cubicBezTo>
                  <a:pt x="0" y="33800"/>
                  <a:pt x="33800" y="0"/>
                  <a:pt x="75494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9233" y="3800803"/>
            <a:ext cx="981399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 Scale Unit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47946" y="3781930"/>
            <a:ext cx="377461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33" y="4046153"/>
            <a:ext cx="5161783" cy="1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₹2L/unit for 200 sqft structure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77272" y="1513620"/>
            <a:ext cx="5641159" cy="2951747"/>
          </a:xfrm>
          <a:custGeom>
            <a:avLst/>
            <a:gdLst/>
            <a:ahLst/>
            <a:cxnLst/>
            <a:rect l="l" t="t" r="r" b="b"/>
            <a:pathLst>
              <a:path w="5641159" h="2951747">
                <a:moveTo>
                  <a:pt x="113229" y="0"/>
                </a:moveTo>
                <a:lnTo>
                  <a:pt x="5527930" y="0"/>
                </a:lnTo>
                <a:cubicBezTo>
                  <a:pt x="5590465" y="0"/>
                  <a:pt x="5641159" y="50694"/>
                  <a:pt x="5641159" y="113229"/>
                </a:cubicBezTo>
                <a:lnTo>
                  <a:pt x="5641159" y="2838518"/>
                </a:lnTo>
                <a:cubicBezTo>
                  <a:pt x="5641159" y="2901053"/>
                  <a:pt x="5590465" y="2951747"/>
                  <a:pt x="5527930" y="2951747"/>
                </a:cubicBezTo>
                <a:lnTo>
                  <a:pt x="113229" y="2951747"/>
                </a:lnTo>
                <a:cubicBezTo>
                  <a:pt x="50694" y="2951747"/>
                  <a:pt x="0" y="2901053"/>
                  <a:pt x="0" y="2838518"/>
                </a:cubicBezTo>
                <a:lnTo>
                  <a:pt x="0" y="113229"/>
                </a:lnTo>
                <a:cubicBezTo>
                  <a:pt x="0" y="50694"/>
                  <a:pt x="50694" y="0"/>
                  <a:pt x="113229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332031" y="1668377"/>
            <a:ext cx="452954" cy="452954"/>
          </a:xfrm>
          <a:custGeom>
            <a:avLst/>
            <a:gdLst/>
            <a:ahLst/>
            <a:cxnLst/>
            <a:rect l="l" t="t" r="r" b="b"/>
            <a:pathLst>
              <a:path w="452954" h="452954">
                <a:moveTo>
                  <a:pt x="226477" y="0"/>
                </a:moveTo>
                <a:lnTo>
                  <a:pt x="226477" y="0"/>
                </a:lnTo>
                <a:cubicBezTo>
                  <a:pt x="351473" y="0"/>
                  <a:pt x="452954" y="101481"/>
                  <a:pt x="452954" y="226477"/>
                </a:cubicBezTo>
                <a:lnTo>
                  <a:pt x="452954" y="226477"/>
                </a:lnTo>
                <a:cubicBezTo>
                  <a:pt x="452954" y="351473"/>
                  <a:pt x="351473" y="452954"/>
                  <a:pt x="226477" y="452954"/>
                </a:cubicBezTo>
                <a:lnTo>
                  <a:pt x="226477" y="452954"/>
                </a:lnTo>
                <a:cubicBezTo>
                  <a:pt x="101481" y="452954"/>
                  <a:pt x="0" y="351473"/>
                  <a:pt x="0" y="226477"/>
                </a:cubicBezTo>
                <a:lnTo>
                  <a:pt x="0" y="226477"/>
                </a:lnTo>
                <a:cubicBezTo>
                  <a:pt x="0" y="101481"/>
                  <a:pt x="101481" y="0"/>
                  <a:pt x="226477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464143" y="1800489"/>
            <a:ext cx="188731" cy="188731"/>
          </a:xfrm>
          <a:custGeom>
            <a:avLst/>
            <a:gdLst/>
            <a:ahLst/>
            <a:cxnLst/>
            <a:rect l="l" t="t" r="r" b="b"/>
            <a:pathLst>
              <a:path w="188731" h="188731">
                <a:moveTo>
                  <a:pt x="100226" y="7446"/>
                </a:moveTo>
                <a:cubicBezTo>
                  <a:pt x="96614" y="5382"/>
                  <a:pt x="92154" y="5382"/>
                  <a:pt x="88504" y="7446"/>
                </a:cubicBezTo>
                <a:lnTo>
                  <a:pt x="5935" y="54629"/>
                </a:lnTo>
                <a:cubicBezTo>
                  <a:pt x="1290" y="57283"/>
                  <a:pt x="-995" y="62738"/>
                  <a:pt x="369" y="67899"/>
                </a:cubicBezTo>
                <a:cubicBezTo>
                  <a:pt x="1732" y="73059"/>
                  <a:pt x="6451" y="76672"/>
                  <a:pt x="11796" y="76672"/>
                </a:cubicBezTo>
                <a:lnTo>
                  <a:pt x="23591" y="76672"/>
                </a:lnTo>
                <a:lnTo>
                  <a:pt x="23591" y="153344"/>
                </a:lnTo>
                <a:lnTo>
                  <a:pt x="23591" y="153344"/>
                </a:lnTo>
                <a:lnTo>
                  <a:pt x="4718" y="167498"/>
                </a:lnTo>
                <a:cubicBezTo>
                  <a:pt x="1732" y="169710"/>
                  <a:pt x="0" y="173212"/>
                  <a:pt x="0" y="176935"/>
                </a:cubicBezTo>
                <a:cubicBezTo>
                  <a:pt x="0" y="183459"/>
                  <a:pt x="5271" y="188731"/>
                  <a:pt x="11796" y="188731"/>
                </a:cubicBezTo>
                <a:lnTo>
                  <a:pt x="176935" y="188731"/>
                </a:lnTo>
                <a:cubicBezTo>
                  <a:pt x="183459" y="188731"/>
                  <a:pt x="188731" y="183459"/>
                  <a:pt x="188731" y="176935"/>
                </a:cubicBezTo>
                <a:cubicBezTo>
                  <a:pt x="188731" y="173212"/>
                  <a:pt x="186998" y="169710"/>
                  <a:pt x="184012" y="167498"/>
                </a:cubicBezTo>
                <a:lnTo>
                  <a:pt x="165139" y="153344"/>
                </a:lnTo>
                <a:lnTo>
                  <a:pt x="165139" y="76672"/>
                </a:lnTo>
                <a:lnTo>
                  <a:pt x="176935" y="76672"/>
                </a:lnTo>
                <a:cubicBezTo>
                  <a:pt x="182280" y="76672"/>
                  <a:pt x="186961" y="73059"/>
                  <a:pt x="188325" y="67899"/>
                </a:cubicBezTo>
                <a:cubicBezTo>
                  <a:pt x="189689" y="62738"/>
                  <a:pt x="187404" y="57283"/>
                  <a:pt x="182759" y="54629"/>
                </a:cubicBezTo>
                <a:lnTo>
                  <a:pt x="100189" y="7446"/>
                </a:lnTo>
                <a:close/>
                <a:moveTo>
                  <a:pt x="147446" y="76672"/>
                </a:moveTo>
                <a:lnTo>
                  <a:pt x="147446" y="153344"/>
                </a:lnTo>
                <a:lnTo>
                  <a:pt x="123854" y="153344"/>
                </a:lnTo>
                <a:lnTo>
                  <a:pt x="123854" y="76672"/>
                </a:lnTo>
                <a:lnTo>
                  <a:pt x="147446" y="76672"/>
                </a:lnTo>
                <a:close/>
                <a:moveTo>
                  <a:pt x="106161" y="76672"/>
                </a:moveTo>
                <a:lnTo>
                  <a:pt x="106161" y="153344"/>
                </a:lnTo>
                <a:lnTo>
                  <a:pt x="82570" y="153344"/>
                </a:lnTo>
                <a:lnTo>
                  <a:pt x="82570" y="76672"/>
                </a:lnTo>
                <a:lnTo>
                  <a:pt x="106161" y="76672"/>
                </a:lnTo>
                <a:close/>
                <a:moveTo>
                  <a:pt x="64876" y="76672"/>
                </a:moveTo>
                <a:lnTo>
                  <a:pt x="64876" y="153344"/>
                </a:lnTo>
                <a:lnTo>
                  <a:pt x="41285" y="153344"/>
                </a:lnTo>
                <a:lnTo>
                  <a:pt x="41285" y="76672"/>
                </a:lnTo>
                <a:lnTo>
                  <a:pt x="64876" y="76672"/>
                </a:lnTo>
                <a:close/>
                <a:moveTo>
                  <a:pt x="94365" y="35387"/>
                </a:moveTo>
                <a:cubicBezTo>
                  <a:pt x="100876" y="35387"/>
                  <a:pt x="106161" y="40672"/>
                  <a:pt x="106161" y="47183"/>
                </a:cubicBezTo>
                <a:cubicBezTo>
                  <a:pt x="106161" y="53693"/>
                  <a:pt x="100876" y="58978"/>
                  <a:pt x="94365" y="58978"/>
                </a:cubicBezTo>
                <a:cubicBezTo>
                  <a:pt x="87855" y="58978"/>
                  <a:pt x="82570" y="53693"/>
                  <a:pt x="82570" y="47183"/>
                </a:cubicBezTo>
                <a:cubicBezTo>
                  <a:pt x="82570" y="40672"/>
                  <a:pt x="87855" y="35387"/>
                  <a:pt x="94365" y="35387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898223" y="1668377"/>
            <a:ext cx="1717449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NABARD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98223" y="1932600"/>
            <a:ext cx="1698576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National Bank for Agriculture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32031" y="2234569"/>
            <a:ext cx="5331641" cy="603938"/>
          </a:xfrm>
          <a:custGeom>
            <a:avLst/>
            <a:gdLst/>
            <a:ahLst/>
            <a:cxnLst/>
            <a:rect l="l" t="t" r="r" b="b"/>
            <a:pathLst>
              <a:path w="5331641" h="603938">
                <a:moveTo>
                  <a:pt x="75492" y="0"/>
                </a:moveTo>
                <a:lnTo>
                  <a:pt x="5256149" y="0"/>
                </a:lnTo>
                <a:cubicBezTo>
                  <a:pt x="5297842" y="0"/>
                  <a:pt x="5331641" y="33799"/>
                  <a:pt x="5331641" y="75492"/>
                </a:cubicBezTo>
                <a:lnTo>
                  <a:pt x="5331641" y="528446"/>
                </a:lnTo>
                <a:cubicBezTo>
                  <a:pt x="5331641" y="570139"/>
                  <a:pt x="5297842" y="603938"/>
                  <a:pt x="5256149" y="603938"/>
                </a:cubicBezTo>
                <a:lnTo>
                  <a:pt x="75492" y="603938"/>
                </a:lnTo>
                <a:cubicBezTo>
                  <a:pt x="33827" y="603938"/>
                  <a:pt x="0" y="570111"/>
                  <a:pt x="0" y="528446"/>
                </a:cubicBezTo>
                <a:lnTo>
                  <a:pt x="0" y="75492"/>
                </a:lnTo>
                <a:cubicBezTo>
                  <a:pt x="0" y="33827"/>
                  <a:pt x="33827" y="0"/>
                  <a:pt x="75492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45270" y="2347807"/>
            <a:ext cx="5171220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Priority Sector Loans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45270" y="2574284"/>
            <a:ext cx="5161783" cy="1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₹5L - ₹2Cr for agri-entrepreneurs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32031" y="2913889"/>
            <a:ext cx="5331641" cy="603938"/>
          </a:xfrm>
          <a:custGeom>
            <a:avLst/>
            <a:gdLst/>
            <a:ahLst/>
            <a:cxnLst/>
            <a:rect l="l" t="t" r="r" b="b"/>
            <a:pathLst>
              <a:path w="5331641" h="603938">
                <a:moveTo>
                  <a:pt x="75492" y="0"/>
                </a:moveTo>
                <a:lnTo>
                  <a:pt x="5256149" y="0"/>
                </a:lnTo>
                <a:cubicBezTo>
                  <a:pt x="5297842" y="0"/>
                  <a:pt x="5331641" y="33799"/>
                  <a:pt x="5331641" y="75492"/>
                </a:cubicBezTo>
                <a:lnTo>
                  <a:pt x="5331641" y="528446"/>
                </a:lnTo>
                <a:cubicBezTo>
                  <a:pt x="5331641" y="570139"/>
                  <a:pt x="5297842" y="603938"/>
                  <a:pt x="5256149" y="603938"/>
                </a:cubicBezTo>
                <a:lnTo>
                  <a:pt x="75492" y="603938"/>
                </a:lnTo>
                <a:cubicBezTo>
                  <a:pt x="33827" y="603938"/>
                  <a:pt x="0" y="570111"/>
                  <a:pt x="0" y="528446"/>
                </a:cubicBezTo>
                <a:lnTo>
                  <a:pt x="0" y="75492"/>
                </a:lnTo>
                <a:cubicBezTo>
                  <a:pt x="0" y="33827"/>
                  <a:pt x="33827" y="0"/>
                  <a:pt x="75492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445270" y="3027127"/>
            <a:ext cx="5171220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Interest Subvention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45270" y="3253604"/>
            <a:ext cx="5161783" cy="1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3-4% reduced interest rates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32031" y="3593199"/>
            <a:ext cx="5331641" cy="603938"/>
          </a:xfrm>
          <a:custGeom>
            <a:avLst/>
            <a:gdLst/>
            <a:ahLst/>
            <a:cxnLst/>
            <a:rect l="l" t="t" r="r" b="b"/>
            <a:pathLst>
              <a:path w="5331641" h="603938">
                <a:moveTo>
                  <a:pt x="75492" y="0"/>
                </a:moveTo>
                <a:lnTo>
                  <a:pt x="5256149" y="0"/>
                </a:lnTo>
                <a:cubicBezTo>
                  <a:pt x="5297842" y="0"/>
                  <a:pt x="5331641" y="33799"/>
                  <a:pt x="5331641" y="75492"/>
                </a:cubicBezTo>
                <a:lnTo>
                  <a:pt x="5331641" y="528446"/>
                </a:lnTo>
                <a:cubicBezTo>
                  <a:pt x="5331641" y="570139"/>
                  <a:pt x="5297842" y="603938"/>
                  <a:pt x="5256149" y="603938"/>
                </a:cubicBezTo>
                <a:lnTo>
                  <a:pt x="75492" y="603938"/>
                </a:lnTo>
                <a:cubicBezTo>
                  <a:pt x="33827" y="603938"/>
                  <a:pt x="0" y="570111"/>
                  <a:pt x="0" y="528446"/>
                </a:cubicBezTo>
                <a:lnTo>
                  <a:pt x="0" y="75492"/>
                </a:lnTo>
                <a:cubicBezTo>
                  <a:pt x="0" y="33827"/>
                  <a:pt x="33827" y="0"/>
                  <a:pt x="75492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445270" y="3706438"/>
            <a:ext cx="5171220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Repayment Terms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45270" y="3932915"/>
            <a:ext cx="5161783" cy="1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5-7 year flexible repayment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1236" y="4623547"/>
            <a:ext cx="11435190" cy="1253172"/>
          </a:xfrm>
          <a:custGeom>
            <a:avLst/>
            <a:gdLst/>
            <a:ahLst/>
            <a:cxnLst/>
            <a:rect l="l" t="t" r="r" b="b"/>
            <a:pathLst>
              <a:path w="11435190" h="1253172">
                <a:moveTo>
                  <a:pt x="113237" y="0"/>
                </a:moveTo>
                <a:lnTo>
                  <a:pt x="11321954" y="0"/>
                </a:lnTo>
                <a:cubicBezTo>
                  <a:pt x="11384492" y="0"/>
                  <a:pt x="11435190" y="50698"/>
                  <a:pt x="11435190" y="113237"/>
                </a:cubicBezTo>
                <a:lnTo>
                  <a:pt x="11435190" y="1139935"/>
                </a:lnTo>
                <a:cubicBezTo>
                  <a:pt x="11435190" y="1202474"/>
                  <a:pt x="11384492" y="1253172"/>
                  <a:pt x="11321954" y="1253172"/>
                </a:cubicBezTo>
                <a:lnTo>
                  <a:pt x="113237" y="1253172"/>
                </a:lnTo>
                <a:cubicBezTo>
                  <a:pt x="50698" y="1253172"/>
                  <a:pt x="0" y="1202474"/>
                  <a:pt x="0" y="1139935"/>
                </a:cubicBezTo>
                <a:lnTo>
                  <a:pt x="0" y="113237"/>
                </a:lnTo>
                <a:cubicBezTo>
                  <a:pt x="0" y="50740"/>
                  <a:pt x="50740" y="0"/>
                  <a:pt x="113237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35995" y="4778304"/>
            <a:ext cx="11191728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spc="52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STATE-SPECIFIC PROGRAMS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02967" y="5080273"/>
            <a:ext cx="2764904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Punjab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93531" y="5306750"/>
            <a:ext cx="2783777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7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50%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07685" y="5570973"/>
            <a:ext cx="2755467" cy="1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2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Shed subsidy + free KVK training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312223" y="5080273"/>
            <a:ext cx="2764904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Maharashtra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302786" y="5306750"/>
            <a:ext cx="2783777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7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40-50%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316941" y="5570973"/>
            <a:ext cx="2755467" cy="1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2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MIDH subsidy + spawn support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121597" y="5080273"/>
            <a:ext cx="2764904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Haryana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112160" y="5306750"/>
            <a:ext cx="2783777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7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50%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126315" y="5570973"/>
            <a:ext cx="2755467" cy="1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2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 subsidy + HAFED marketing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930970" y="5080273"/>
            <a:ext cx="2764904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Uttar Pradesh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921534" y="5306750"/>
            <a:ext cx="2783777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7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₹32/sqft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935688" y="5570973"/>
            <a:ext cx="2755467" cy="1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2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 1000 sqft per beneficiary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96334" y="6031363"/>
            <a:ext cx="11418204" cy="452954"/>
          </a:xfrm>
          <a:custGeom>
            <a:avLst/>
            <a:gdLst/>
            <a:ahLst/>
            <a:cxnLst/>
            <a:rect l="l" t="t" r="r" b="b"/>
            <a:pathLst>
              <a:path w="11418204" h="452954">
                <a:moveTo>
                  <a:pt x="0" y="0"/>
                </a:moveTo>
                <a:lnTo>
                  <a:pt x="11342711" y="0"/>
                </a:lnTo>
                <a:cubicBezTo>
                  <a:pt x="11384405" y="0"/>
                  <a:pt x="11418204" y="33800"/>
                  <a:pt x="11418204" y="75494"/>
                </a:cubicBezTo>
                <a:lnTo>
                  <a:pt x="11418204" y="377460"/>
                </a:lnTo>
                <a:cubicBezTo>
                  <a:pt x="11418204" y="419154"/>
                  <a:pt x="11384405" y="452954"/>
                  <a:pt x="11342711" y="452954"/>
                </a:cubicBezTo>
                <a:lnTo>
                  <a:pt x="0" y="452954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9C46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396334" y="6031363"/>
            <a:ext cx="37746" cy="452954"/>
          </a:xfrm>
          <a:custGeom>
            <a:avLst/>
            <a:gdLst/>
            <a:ahLst/>
            <a:cxnLst/>
            <a:rect l="l" t="t" r="r" b="b"/>
            <a:pathLst>
              <a:path w="37746" h="452954">
                <a:moveTo>
                  <a:pt x="0" y="0"/>
                </a:moveTo>
                <a:lnTo>
                  <a:pt x="37746" y="0"/>
                </a:lnTo>
                <a:lnTo>
                  <a:pt x="37746" y="452954"/>
                </a:lnTo>
                <a:lnTo>
                  <a:pt x="0" y="452954"/>
                </a:lnTo>
                <a:lnTo>
                  <a:pt x="0" y="0"/>
                </a:ln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537882" y="6174801"/>
            <a:ext cx="169858" cy="150985"/>
          </a:xfrm>
          <a:custGeom>
            <a:avLst/>
            <a:gdLst/>
            <a:ahLst/>
            <a:cxnLst/>
            <a:rect l="l" t="t" r="r" b="b"/>
            <a:pathLst>
              <a:path w="169858" h="150985">
                <a:moveTo>
                  <a:pt x="79296" y="25125"/>
                </a:moveTo>
                <a:lnTo>
                  <a:pt x="44912" y="63343"/>
                </a:lnTo>
                <a:cubicBezTo>
                  <a:pt x="43555" y="64847"/>
                  <a:pt x="43614" y="67176"/>
                  <a:pt x="45059" y="68621"/>
                </a:cubicBezTo>
                <a:cubicBezTo>
                  <a:pt x="54054" y="77615"/>
                  <a:pt x="68651" y="77615"/>
                  <a:pt x="77645" y="68621"/>
                </a:cubicBezTo>
                <a:lnTo>
                  <a:pt x="87023" y="59244"/>
                </a:lnTo>
                <a:cubicBezTo>
                  <a:pt x="88261" y="58005"/>
                  <a:pt x="89824" y="57327"/>
                  <a:pt x="91416" y="57209"/>
                </a:cubicBezTo>
                <a:cubicBezTo>
                  <a:pt x="93422" y="57032"/>
                  <a:pt x="95486" y="57710"/>
                  <a:pt x="97019" y="59244"/>
                </a:cubicBezTo>
                <a:lnTo>
                  <a:pt x="149097" y="110879"/>
                </a:lnTo>
                <a:lnTo>
                  <a:pt x="169858" y="94365"/>
                </a:lnTo>
                <a:lnTo>
                  <a:pt x="169858" y="9437"/>
                </a:lnTo>
                <a:lnTo>
                  <a:pt x="136830" y="28310"/>
                </a:lnTo>
                <a:lnTo>
                  <a:pt x="129811" y="23621"/>
                </a:lnTo>
                <a:cubicBezTo>
                  <a:pt x="125152" y="20524"/>
                  <a:pt x="119697" y="18873"/>
                  <a:pt x="114094" y="18873"/>
                </a:cubicBezTo>
                <a:lnTo>
                  <a:pt x="93333" y="18873"/>
                </a:lnTo>
                <a:cubicBezTo>
                  <a:pt x="93009" y="18873"/>
                  <a:pt x="92655" y="18873"/>
                  <a:pt x="92331" y="18903"/>
                </a:cubicBezTo>
                <a:cubicBezTo>
                  <a:pt x="87347" y="19168"/>
                  <a:pt x="82658" y="21409"/>
                  <a:pt x="79296" y="25125"/>
                </a:cubicBezTo>
                <a:close/>
                <a:moveTo>
                  <a:pt x="34384" y="53877"/>
                </a:moveTo>
                <a:lnTo>
                  <a:pt x="65879" y="18873"/>
                </a:lnTo>
                <a:lnTo>
                  <a:pt x="54201" y="18873"/>
                </a:lnTo>
                <a:cubicBezTo>
                  <a:pt x="46681" y="18873"/>
                  <a:pt x="39486" y="21851"/>
                  <a:pt x="34178" y="27160"/>
                </a:cubicBezTo>
                <a:lnTo>
                  <a:pt x="33028" y="28310"/>
                </a:lnTo>
                <a:lnTo>
                  <a:pt x="0" y="9437"/>
                </a:lnTo>
                <a:lnTo>
                  <a:pt x="0" y="94365"/>
                </a:lnTo>
                <a:lnTo>
                  <a:pt x="46121" y="132790"/>
                </a:lnTo>
                <a:cubicBezTo>
                  <a:pt x="52904" y="138452"/>
                  <a:pt x="61455" y="141548"/>
                  <a:pt x="70273" y="141548"/>
                </a:cubicBezTo>
                <a:lnTo>
                  <a:pt x="74902" y="141548"/>
                </a:lnTo>
                <a:lnTo>
                  <a:pt x="72838" y="139484"/>
                </a:lnTo>
                <a:cubicBezTo>
                  <a:pt x="70066" y="136712"/>
                  <a:pt x="70066" y="132229"/>
                  <a:pt x="72838" y="129487"/>
                </a:cubicBezTo>
                <a:cubicBezTo>
                  <a:pt x="75610" y="126744"/>
                  <a:pt x="80093" y="126715"/>
                  <a:pt x="82835" y="129487"/>
                </a:cubicBezTo>
                <a:lnTo>
                  <a:pt x="94926" y="141577"/>
                </a:lnTo>
                <a:lnTo>
                  <a:pt x="97580" y="141577"/>
                </a:lnTo>
                <a:cubicBezTo>
                  <a:pt x="103212" y="141577"/>
                  <a:pt x="108727" y="140309"/>
                  <a:pt x="113740" y="137950"/>
                </a:cubicBezTo>
                <a:lnTo>
                  <a:pt x="105866" y="130047"/>
                </a:lnTo>
                <a:cubicBezTo>
                  <a:pt x="103094" y="127275"/>
                  <a:pt x="103094" y="122793"/>
                  <a:pt x="105866" y="120050"/>
                </a:cubicBezTo>
                <a:cubicBezTo>
                  <a:pt x="108638" y="117308"/>
                  <a:pt x="113120" y="117278"/>
                  <a:pt x="115863" y="120050"/>
                </a:cubicBezTo>
                <a:lnTo>
                  <a:pt x="125299" y="129487"/>
                </a:lnTo>
                <a:lnTo>
                  <a:pt x="130460" y="124326"/>
                </a:lnTo>
                <a:cubicBezTo>
                  <a:pt x="133085" y="121702"/>
                  <a:pt x="133851" y="117898"/>
                  <a:pt x="132701" y="114565"/>
                </a:cubicBezTo>
                <a:lnTo>
                  <a:pt x="92036" y="74224"/>
                </a:lnTo>
                <a:lnTo>
                  <a:pt x="87642" y="78618"/>
                </a:lnTo>
                <a:cubicBezTo>
                  <a:pt x="73104" y="93156"/>
                  <a:pt x="49571" y="93156"/>
                  <a:pt x="35033" y="78618"/>
                </a:cubicBezTo>
                <a:cubicBezTo>
                  <a:pt x="28251" y="71836"/>
                  <a:pt x="27985" y="60954"/>
                  <a:pt x="34384" y="53847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773270" y="6144602"/>
            <a:ext cx="11003523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 Process:</a:t>
            </a:r>
            <a:pPr>
              <a:lnSpc>
                <a:spcPct val="120000"/>
              </a:lnSpc>
            </a:pPr>
            <a:r>
              <a:rPr lang="en-US" sz="1189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Prepare DPR → Submit to District Horticulture Officer → Technical verification → Approval (30-60 days) → Implementation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NATIONAL PRIORITIES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Atmanirbhar Bharat Vision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Aligned with India's Self-Reliance Mission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527810"/>
            <a:ext cx="5627370" cy="1998345"/>
          </a:xfrm>
          <a:custGeom>
            <a:avLst/>
            <a:gdLst/>
            <a:ahLst/>
            <a:cxnLst/>
            <a:rect l="l" t="t" r="r" b="b"/>
            <a:pathLst>
              <a:path w="5627370" h="1998345">
                <a:moveTo>
                  <a:pt x="114305" y="0"/>
                </a:moveTo>
                <a:lnTo>
                  <a:pt x="5513065" y="0"/>
                </a:lnTo>
                <a:cubicBezTo>
                  <a:pt x="5576194" y="0"/>
                  <a:pt x="5627370" y="51176"/>
                  <a:pt x="5627370" y="114305"/>
                </a:cubicBezTo>
                <a:lnTo>
                  <a:pt x="5627370" y="1884040"/>
                </a:lnTo>
                <a:cubicBezTo>
                  <a:pt x="5627370" y="1947169"/>
                  <a:pt x="5576194" y="1998345"/>
                  <a:pt x="5513065" y="1998345"/>
                </a:cubicBezTo>
                <a:lnTo>
                  <a:pt x="114305" y="1998345"/>
                </a:lnTo>
                <a:cubicBezTo>
                  <a:pt x="51176" y="1998345"/>
                  <a:pt x="0" y="1947169"/>
                  <a:pt x="0" y="1884040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1020" y="16840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86276" y="181736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23812"/>
                </a:moveTo>
                <a:cubicBezTo>
                  <a:pt x="0" y="17227"/>
                  <a:pt x="5321" y="11906"/>
                  <a:pt x="11906" y="11906"/>
                </a:cubicBezTo>
                <a:lnTo>
                  <a:pt x="41672" y="11906"/>
                </a:lnTo>
                <a:cubicBezTo>
                  <a:pt x="71251" y="11906"/>
                  <a:pt x="95250" y="35905"/>
                  <a:pt x="95250" y="65484"/>
                </a:cubicBezTo>
                <a:cubicBezTo>
                  <a:pt x="95250" y="85688"/>
                  <a:pt x="84088" y="103250"/>
                  <a:pt x="67568" y="112402"/>
                </a:cubicBezTo>
                <a:lnTo>
                  <a:pt x="82823" y="163264"/>
                </a:lnTo>
                <a:cubicBezTo>
                  <a:pt x="84720" y="169552"/>
                  <a:pt x="81149" y="176213"/>
                  <a:pt x="74823" y="178073"/>
                </a:cubicBezTo>
                <a:cubicBezTo>
                  <a:pt x="68498" y="179933"/>
                  <a:pt x="61875" y="176399"/>
                  <a:pt x="60015" y="170073"/>
                </a:cubicBezTo>
                <a:lnTo>
                  <a:pt x="44686" y="118988"/>
                </a:lnTo>
                <a:cubicBezTo>
                  <a:pt x="43681" y="119025"/>
                  <a:pt x="42676" y="119063"/>
                  <a:pt x="41672" y="119063"/>
                </a:cubicBezTo>
                <a:lnTo>
                  <a:pt x="23812" y="119063"/>
                </a:lnTo>
                <a:lnTo>
                  <a:pt x="23812" y="166688"/>
                </a:lnTo>
                <a:cubicBezTo>
                  <a:pt x="23812" y="173273"/>
                  <a:pt x="18492" y="178594"/>
                  <a:pt x="11906" y="178594"/>
                </a:cubicBezTo>
                <a:cubicBezTo>
                  <a:pt x="5321" y="178594"/>
                  <a:pt x="0" y="173273"/>
                  <a:pt x="0" y="166688"/>
                </a:cubicBezTo>
                <a:lnTo>
                  <a:pt x="0" y="23812"/>
                </a:lnTo>
                <a:close/>
                <a:moveTo>
                  <a:pt x="23812" y="95250"/>
                </a:moveTo>
                <a:lnTo>
                  <a:pt x="41672" y="95250"/>
                </a:lnTo>
                <a:cubicBezTo>
                  <a:pt x="58117" y="95250"/>
                  <a:pt x="71438" y="81930"/>
                  <a:pt x="71438" y="65484"/>
                </a:cubicBezTo>
                <a:cubicBezTo>
                  <a:pt x="71438" y="49039"/>
                  <a:pt x="58117" y="35719"/>
                  <a:pt x="41672" y="35719"/>
                </a:cubicBezTo>
                <a:lnTo>
                  <a:pt x="23812" y="35719"/>
                </a:lnTo>
                <a:lnTo>
                  <a:pt x="23812" y="95250"/>
                </a:lnTo>
                <a:close/>
                <a:moveTo>
                  <a:pt x="129890" y="83344"/>
                </a:moveTo>
                <a:lnTo>
                  <a:pt x="142875" y="83344"/>
                </a:lnTo>
                <a:cubicBezTo>
                  <a:pt x="149461" y="83344"/>
                  <a:pt x="154781" y="88664"/>
                  <a:pt x="154781" y="95250"/>
                </a:cubicBezTo>
                <a:cubicBezTo>
                  <a:pt x="154781" y="101836"/>
                  <a:pt x="149461" y="107156"/>
                  <a:pt x="142875" y="107156"/>
                </a:cubicBezTo>
                <a:lnTo>
                  <a:pt x="129890" y="107156"/>
                </a:lnTo>
                <a:cubicBezTo>
                  <a:pt x="127211" y="107156"/>
                  <a:pt x="125016" y="109351"/>
                  <a:pt x="125016" y="112030"/>
                </a:cubicBezTo>
                <a:cubicBezTo>
                  <a:pt x="125016" y="114151"/>
                  <a:pt x="126392" y="116012"/>
                  <a:pt x="128401" y="116681"/>
                </a:cubicBezTo>
                <a:lnTo>
                  <a:pt x="146782" y="122597"/>
                </a:lnTo>
                <a:cubicBezTo>
                  <a:pt x="158651" y="126429"/>
                  <a:pt x="166688" y="137443"/>
                  <a:pt x="166688" y="149907"/>
                </a:cubicBezTo>
                <a:cubicBezTo>
                  <a:pt x="166688" y="165757"/>
                  <a:pt x="153851" y="178594"/>
                  <a:pt x="138001" y="178594"/>
                </a:cubicBezTo>
                <a:lnTo>
                  <a:pt x="119063" y="178594"/>
                </a:lnTo>
                <a:cubicBezTo>
                  <a:pt x="112477" y="178594"/>
                  <a:pt x="107156" y="173273"/>
                  <a:pt x="107156" y="166688"/>
                </a:cubicBezTo>
                <a:cubicBezTo>
                  <a:pt x="107156" y="160102"/>
                  <a:pt x="112477" y="154781"/>
                  <a:pt x="119063" y="154781"/>
                </a:cubicBezTo>
                <a:lnTo>
                  <a:pt x="138001" y="154781"/>
                </a:lnTo>
                <a:cubicBezTo>
                  <a:pt x="140680" y="154781"/>
                  <a:pt x="142875" y="152586"/>
                  <a:pt x="142875" y="149907"/>
                </a:cubicBezTo>
                <a:cubicBezTo>
                  <a:pt x="142875" y="147786"/>
                  <a:pt x="141498" y="145926"/>
                  <a:pt x="139489" y="145256"/>
                </a:cubicBezTo>
                <a:lnTo>
                  <a:pt x="121109" y="139340"/>
                </a:lnTo>
                <a:cubicBezTo>
                  <a:pt x="109240" y="135508"/>
                  <a:pt x="101203" y="124495"/>
                  <a:pt x="101203" y="112030"/>
                </a:cubicBezTo>
                <a:cubicBezTo>
                  <a:pt x="101203" y="96180"/>
                  <a:pt x="114040" y="83344"/>
                  <a:pt x="129890" y="83344"/>
                </a:cubicBezTo>
                <a:close/>
              </a:path>
            </a:pathLst>
          </a:custGeom>
          <a:solidFill>
            <a:srgbClr val="F5F1E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12520" y="1779268"/>
            <a:ext cx="2019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Doubling Farmer Incomes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1020" y="2255518"/>
            <a:ext cx="53816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enables 20-30% yield improvement and 5-10% cost reduction, directly contributing to PM's vision of doubling farmer incomes by 2025.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1020" y="2803206"/>
            <a:ext cx="5314950" cy="571500"/>
          </a:xfrm>
          <a:custGeom>
            <a:avLst/>
            <a:gdLst/>
            <a:ahLst/>
            <a:cxnLst/>
            <a:rect l="l" t="t" r="r" b="b"/>
            <a:pathLst>
              <a:path w="5314950" h="571500">
                <a:moveTo>
                  <a:pt x="76198" y="0"/>
                </a:moveTo>
                <a:lnTo>
                  <a:pt x="5238752" y="0"/>
                </a:lnTo>
                <a:cubicBezTo>
                  <a:pt x="5280835" y="0"/>
                  <a:pt x="5314950" y="34115"/>
                  <a:pt x="5314950" y="76198"/>
                </a:cubicBezTo>
                <a:lnTo>
                  <a:pt x="5314950" y="495302"/>
                </a:lnTo>
                <a:cubicBezTo>
                  <a:pt x="5314950" y="537385"/>
                  <a:pt x="5280835" y="571500"/>
                  <a:pt x="523875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5320" y="2917506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₹9.2L annual benefit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5320" y="3108006"/>
            <a:ext cx="514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20-room farm by Year 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76010" y="1527810"/>
            <a:ext cx="5627370" cy="1998345"/>
          </a:xfrm>
          <a:custGeom>
            <a:avLst/>
            <a:gdLst/>
            <a:ahLst/>
            <a:cxnLst/>
            <a:rect l="l" t="t" r="r" b="b"/>
            <a:pathLst>
              <a:path w="5627370" h="1998345">
                <a:moveTo>
                  <a:pt x="114305" y="0"/>
                </a:moveTo>
                <a:lnTo>
                  <a:pt x="5513065" y="0"/>
                </a:lnTo>
                <a:cubicBezTo>
                  <a:pt x="5576194" y="0"/>
                  <a:pt x="5627370" y="51176"/>
                  <a:pt x="5627370" y="114305"/>
                </a:cubicBezTo>
                <a:lnTo>
                  <a:pt x="5627370" y="1884040"/>
                </a:lnTo>
                <a:cubicBezTo>
                  <a:pt x="5627370" y="1947169"/>
                  <a:pt x="5576194" y="1998345"/>
                  <a:pt x="5513065" y="1998345"/>
                </a:cubicBezTo>
                <a:lnTo>
                  <a:pt x="114305" y="1998345"/>
                </a:lnTo>
                <a:cubicBezTo>
                  <a:pt x="51176" y="1998345"/>
                  <a:pt x="0" y="1947169"/>
                  <a:pt x="0" y="1884040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332220" y="16840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465570" y="181736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903720" y="1779268"/>
            <a:ext cx="240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Reducing Post-Harvest Losses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32220" y="2255518"/>
            <a:ext cx="53816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Contamination reduction from 12-18% to &lt;7% aligns with national goal of 30% post-harvest loss reduction. Saves ₹150 Cr+ annually at scale.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32220" y="2803206"/>
            <a:ext cx="5314950" cy="571500"/>
          </a:xfrm>
          <a:custGeom>
            <a:avLst/>
            <a:gdLst/>
            <a:ahLst/>
            <a:cxnLst/>
            <a:rect l="l" t="t" r="r" b="b"/>
            <a:pathLst>
              <a:path w="5314950" h="571500">
                <a:moveTo>
                  <a:pt x="76198" y="0"/>
                </a:moveTo>
                <a:lnTo>
                  <a:pt x="5238752" y="0"/>
                </a:lnTo>
                <a:cubicBezTo>
                  <a:pt x="5280835" y="0"/>
                  <a:pt x="5314950" y="34115"/>
                  <a:pt x="5314950" y="76198"/>
                </a:cubicBezTo>
                <a:lnTo>
                  <a:pt x="5314950" y="495302"/>
                </a:lnTo>
                <a:cubicBezTo>
                  <a:pt x="5314950" y="537385"/>
                  <a:pt x="5280835" y="571500"/>
                  <a:pt x="523875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46520" y="2917506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30% target reduction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6520" y="3108006"/>
            <a:ext cx="514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National food security goal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4810" y="3690822"/>
            <a:ext cx="3722370" cy="1645920"/>
          </a:xfrm>
          <a:custGeom>
            <a:avLst/>
            <a:gdLst/>
            <a:ahLst/>
            <a:cxnLst/>
            <a:rect l="l" t="t" r="r" b="b"/>
            <a:pathLst>
              <a:path w="3722370" h="1645920">
                <a:moveTo>
                  <a:pt x="114293" y="0"/>
                </a:moveTo>
                <a:lnTo>
                  <a:pt x="3608077" y="0"/>
                </a:lnTo>
                <a:cubicBezTo>
                  <a:pt x="3671199" y="0"/>
                  <a:pt x="3722370" y="51171"/>
                  <a:pt x="3722370" y="114293"/>
                </a:cubicBezTo>
                <a:lnTo>
                  <a:pt x="3722370" y="1531627"/>
                </a:lnTo>
                <a:cubicBezTo>
                  <a:pt x="3722370" y="1594749"/>
                  <a:pt x="3671199" y="1645920"/>
                  <a:pt x="3608077" y="1645920"/>
                </a:cubicBezTo>
                <a:lnTo>
                  <a:pt x="114293" y="1645920"/>
                </a:lnTo>
                <a:cubicBezTo>
                  <a:pt x="51171" y="1645920"/>
                  <a:pt x="0" y="1594749"/>
                  <a:pt x="0" y="153162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981200" y="384703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105025" y="399943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02920" y="4494730"/>
            <a:ext cx="348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Agri-Tech Adoption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7682" y="4799530"/>
            <a:ext cx="3476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Promotes IoT, AI, and precision farming in line with Digital India mission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32910" y="3690822"/>
            <a:ext cx="3722370" cy="1645920"/>
          </a:xfrm>
          <a:custGeom>
            <a:avLst/>
            <a:gdLst/>
            <a:ahLst/>
            <a:cxnLst/>
            <a:rect l="l" t="t" r="r" b="b"/>
            <a:pathLst>
              <a:path w="3722370" h="1645920">
                <a:moveTo>
                  <a:pt x="114293" y="0"/>
                </a:moveTo>
                <a:lnTo>
                  <a:pt x="3608077" y="0"/>
                </a:lnTo>
                <a:cubicBezTo>
                  <a:pt x="3671199" y="0"/>
                  <a:pt x="3722370" y="51171"/>
                  <a:pt x="3722370" y="114293"/>
                </a:cubicBezTo>
                <a:lnTo>
                  <a:pt x="3722370" y="1531627"/>
                </a:lnTo>
                <a:cubicBezTo>
                  <a:pt x="3722370" y="1594749"/>
                  <a:pt x="3671199" y="1645920"/>
                  <a:pt x="3608077" y="1645920"/>
                </a:cubicBezTo>
                <a:lnTo>
                  <a:pt x="114293" y="1645920"/>
                </a:lnTo>
                <a:cubicBezTo>
                  <a:pt x="51171" y="1645920"/>
                  <a:pt x="0" y="1594749"/>
                  <a:pt x="0" y="153162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829300" y="384703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53125" y="399943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351020" y="4494730"/>
            <a:ext cx="348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FPO Support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355783" y="4799530"/>
            <a:ext cx="3476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Enables Farmer Producer Organizations to scale with technology and market linkages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081010" y="3690822"/>
            <a:ext cx="3722370" cy="1645920"/>
          </a:xfrm>
          <a:custGeom>
            <a:avLst/>
            <a:gdLst/>
            <a:ahLst/>
            <a:cxnLst/>
            <a:rect l="l" t="t" r="r" b="b"/>
            <a:pathLst>
              <a:path w="3722370" h="1645920">
                <a:moveTo>
                  <a:pt x="114293" y="0"/>
                </a:moveTo>
                <a:lnTo>
                  <a:pt x="3608077" y="0"/>
                </a:lnTo>
                <a:cubicBezTo>
                  <a:pt x="3671199" y="0"/>
                  <a:pt x="3722370" y="51171"/>
                  <a:pt x="3722370" y="114293"/>
                </a:cubicBezTo>
                <a:lnTo>
                  <a:pt x="3722370" y="1531627"/>
                </a:lnTo>
                <a:cubicBezTo>
                  <a:pt x="3722370" y="1594749"/>
                  <a:pt x="3671199" y="1645920"/>
                  <a:pt x="3608077" y="1645920"/>
                </a:cubicBezTo>
                <a:lnTo>
                  <a:pt x="114293" y="1645920"/>
                </a:lnTo>
                <a:cubicBezTo>
                  <a:pt x="51171" y="1645920"/>
                  <a:pt x="0" y="1594749"/>
                  <a:pt x="0" y="153162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9677400" y="384703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9829800" y="399943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9297" y="21431"/>
                </a:moveTo>
                <a:lnTo>
                  <a:pt x="139303" y="21431"/>
                </a:lnTo>
                <a:cubicBezTo>
                  <a:pt x="141268" y="21431"/>
                  <a:pt x="142875" y="23039"/>
                  <a:pt x="142875" y="25003"/>
                </a:cubicBezTo>
                <a:lnTo>
                  <a:pt x="142875" y="42863"/>
                </a:lnTo>
                <a:lnTo>
                  <a:pt x="85725" y="42863"/>
                </a:lnTo>
                <a:lnTo>
                  <a:pt x="85725" y="25003"/>
                </a:lnTo>
                <a:cubicBezTo>
                  <a:pt x="85725" y="23039"/>
                  <a:pt x="87332" y="21431"/>
                  <a:pt x="89297" y="21431"/>
                </a:cubicBezTo>
                <a:close/>
                <a:moveTo>
                  <a:pt x="64294" y="25003"/>
                </a:moveTo>
                <a:lnTo>
                  <a:pt x="64294" y="42863"/>
                </a:lnTo>
                <a:lnTo>
                  <a:pt x="28575" y="42863"/>
                </a:lnTo>
                <a:cubicBezTo>
                  <a:pt x="12814" y="42863"/>
                  <a:pt x="0" y="55677"/>
                  <a:pt x="0" y="71438"/>
                </a:cubicBezTo>
                <a:lnTo>
                  <a:pt x="0" y="114300"/>
                </a:lnTo>
                <a:lnTo>
                  <a:pt x="228600" y="114300"/>
                </a:lnTo>
                <a:lnTo>
                  <a:pt x="228600" y="71438"/>
                </a:lnTo>
                <a:cubicBezTo>
                  <a:pt x="228600" y="55677"/>
                  <a:pt x="215786" y="42863"/>
                  <a:pt x="200025" y="42863"/>
                </a:cubicBezTo>
                <a:lnTo>
                  <a:pt x="164306" y="42863"/>
                </a:lnTo>
                <a:lnTo>
                  <a:pt x="164306" y="25003"/>
                </a:lnTo>
                <a:cubicBezTo>
                  <a:pt x="164306" y="11207"/>
                  <a:pt x="153099" y="0"/>
                  <a:pt x="139303" y="0"/>
                </a:cubicBezTo>
                <a:lnTo>
                  <a:pt x="89297" y="0"/>
                </a:lnTo>
                <a:cubicBezTo>
                  <a:pt x="75501" y="0"/>
                  <a:pt x="64294" y="11207"/>
                  <a:pt x="64294" y="25003"/>
                </a:cubicBezTo>
                <a:close/>
                <a:moveTo>
                  <a:pt x="228600" y="135731"/>
                </a:moveTo>
                <a:lnTo>
                  <a:pt x="142875" y="135731"/>
                </a:lnTo>
                <a:lnTo>
                  <a:pt x="142875" y="142875"/>
                </a:lnTo>
                <a:cubicBezTo>
                  <a:pt x="142875" y="150778"/>
                  <a:pt x="136490" y="157163"/>
                  <a:pt x="128588" y="157163"/>
                </a:cubicBezTo>
                <a:lnTo>
                  <a:pt x="100013" y="157163"/>
                </a:lnTo>
                <a:cubicBezTo>
                  <a:pt x="92110" y="157163"/>
                  <a:pt x="85725" y="150778"/>
                  <a:pt x="85725" y="142875"/>
                </a:cubicBezTo>
                <a:lnTo>
                  <a:pt x="85725" y="135731"/>
                </a:lnTo>
                <a:lnTo>
                  <a:pt x="0" y="135731"/>
                </a:ln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200025" y="214313"/>
                </a:lnTo>
                <a:cubicBezTo>
                  <a:pt x="215786" y="214313"/>
                  <a:pt x="228600" y="201498"/>
                  <a:pt x="228600" y="185738"/>
                </a:cubicBezTo>
                <a:lnTo>
                  <a:pt x="228600" y="135731"/>
                </a:ln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199120" y="4494730"/>
            <a:ext cx="348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Rural Employment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03882" y="4799530"/>
            <a:ext cx="3476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Creates 10,000+ jobs in mushroom farming and reduces rural-urban migration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4810" y="5496758"/>
            <a:ext cx="11418570" cy="960120"/>
          </a:xfrm>
          <a:custGeom>
            <a:avLst/>
            <a:gdLst/>
            <a:ahLst/>
            <a:cxnLst/>
            <a:rect l="l" t="t" r="r" b="b"/>
            <a:pathLst>
              <a:path w="11418570" h="960120">
                <a:moveTo>
                  <a:pt x="114302" y="0"/>
                </a:moveTo>
                <a:lnTo>
                  <a:pt x="11304268" y="0"/>
                </a:lnTo>
                <a:cubicBezTo>
                  <a:pt x="11367353" y="0"/>
                  <a:pt x="11418570" y="51217"/>
                  <a:pt x="11418570" y="114302"/>
                </a:cubicBezTo>
                <a:lnTo>
                  <a:pt x="11418570" y="845818"/>
                </a:lnTo>
                <a:cubicBezTo>
                  <a:pt x="11418570" y="908903"/>
                  <a:pt x="11367353" y="960120"/>
                  <a:pt x="11304268" y="960120"/>
                </a:cubicBezTo>
                <a:lnTo>
                  <a:pt x="114302" y="960120"/>
                </a:lnTo>
                <a:cubicBezTo>
                  <a:pt x="51217" y="960120"/>
                  <a:pt x="0" y="908903"/>
                  <a:pt x="0" y="84581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41020" y="5652967"/>
            <a:ext cx="11172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EXPORT READINESS &amp; COMPLIANCE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52926" y="5995867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8999" y="-2977"/>
                </a:moveTo>
                <a:cubicBezTo>
                  <a:pt x="86730" y="-5283"/>
                  <a:pt x="83418" y="-6214"/>
                  <a:pt x="80293" y="-5358"/>
                </a:cubicBezTo>
                <a:cubicBezTo>
                  <a:pt x="77167" y="-4502"/>
                  <a:pt x="74749" y="-2084"/>
                  <a:pt x="73968" y="1042"/>
                </a:cubicBezTo>
                <a:lnTo>
                  <a:pt x="68275" y="23440"/>
                </a:lnTo>
                <a:cubicBezTo>
                  <a:pt x="67866" y="25078"/>
                  <a:pt x="66191" y="26045"/>
                  <a:pt x="64591" y="25561"/>
                </a:cubicBezTo>
                <a:lnTo>
                  <a:pt x="42342" y="19310"/>
                </a:lnTo>
                <a:cubicBezTo>
                  <a:pt x="39216" y="18417"/>
                  <a:pt x="35868" y="19310"/>
                  <a:pt x="33598" y="21580"/>
                </a:cubicBezTo>
                <a:cubicBezTo>
                  <a:pt x="31328" y="23850"/>
                  <a:pt x="30435" y="27198"/>
                  <a:pt x="31328" y="30324"/>
                </a:cubicBezTo>
                <a:lnTo>
                  <a:pt x="37616" y="52574"/>
                </a:lnTo>
                <a:cubicBezTo>
                  <a:pt x="38063" y="54173"/>
                  <a:pt x="37095" y="55848"/>
                  <a:pt x="35496" y="56257"/>
                </a:cubicBezTo>
                <a:lnTo>
                  <a:pt x="13060" y="61950"/>
                </a:lnTo>
                <a:cubicBezTo>
                  <a:pt x="9934" y="62731"/>
                  <a:pt x="7479" y="65187"/>
                  <a:pt x="6623" y="68312"/>
                </a:cubicBezTo>
                <a:cubicBezTo>
                  <a:pt x="5767" y="71438"/>
                  <a:pt x="6697" y="74749"/>
                  <a:pt x="9004" y="77019"/>
                </a:cubicBezTo>
                <a:lnTo>
                  <a:pt x="25561" y="93129"/>
                </a:lnTo>
                <a:cubicBezTo>
                  <a:pt x="26752" y="94283"/>
                  <a:pt x="26752" y="96217"/>
                  <a:pt x="25561" y="97408"/>
                </a:cubicBezTo>
                <a:lnTo>
                  <a:pt x="9041" y="113519"/>
                </a:lnTo>
                <a:cubicBezTo>
                  <a:pt x="6734" y="115788"/>
                  <a:pt x="5804" y="119100"/>
                  <a:pt x="6660" y="122225"/>
                </a:cubicBezTo>
                <a:cubicBezTo>
                  <a:pt x="7516" y="125350"/>
                  <a:pt x="9971" y="127769"/>
                  <a:pt x="13097" y="128588"/>
                </a:cubicBezTo>
                <a:lnTo>
                  <a:pt x="35496" y="134280"/>
                </a:lnTo>
                <a:cubicBezTo>
                  <a:pt x="37133" y="134689"/>
                  <a:pt x="38100" y="136364"/>
                  <a:pt x="37616" y="137964"/>
                </a:cubicBezTo>
                <a:lnTo>
                  <a:pt x="31328" y="160176"/>
                </a:lnTo>
                <a:cubicBezTo>
                  <a:pt x="30435" y="163302"/>
                  <a:pt x="31328" y="166650"/>
                  <a:pt x="33598" y="168920"/>
                </a:cubicBezTo>
                <a:cubicBezTo>
                  <a:pt x="35868" y="171190"/>
                  <a:pt x="39216" y="172083"/>
                  <a:pt x="42342" y="171190"/>
                </a:cubicBezTo>
                <a:lnTo>
                  <a:pt x="64591" y="164902"/>
                </a:lnTo>
                <a:cubicBezTo>
                  <a:pt x="66191" y="164455"/>
                  <a:pt x="67866" y="165422"/>
                  <a:pt x="68275" y="167022"/>
                </a:cubicBezTo>
                <a:lnTo>
                  <a:pt x="73968" y="189421"/>
                </a:lnTo>
                <a:cubicBezTo>
                  <a:pt x="74749" y="192546"/>
                  <a:pt x="77205" y="195002"/>
                  <a:pt x="80330" y="195858"/>
                </a:cubicBezTo>
                <a:cubicBezTo>
                  <a:pt x="83455" y="196714"/>
                  <a:pt x="86767" y="195783"/>
                  <a:pt x="89036" y="193477"/>
                </a:cubicBezTo>
                <a:lnTo>
                  <a:pt x="105147" y="176919"/>
                </a:lnTo>
                <a:cubicBezTo>
                  <a:pt x="106300" y="175729"/>
                  <a:pt x="108235" y="175729"/>
                  <a:pt x="109426" y="176919"/>
                </a:cubicBezTo>
                <a:lnTo>
                  <a:pt x="125499" y="193477"/>
                </a:lnTo>
                <a:cubicBezTo>
                  <a:pt x="127769" y="195783"/>
                  <a:pt x="131080" y="196714"/>
                  <a:pt x="134206" y="195858"/>
                </a:cubicBezTo>
                <a:cubicBezTo>
                  <a:pt x="137331" y="195002"/>
                  <a:pt x="139750" y="192546"/>
                  <a:pt x="140568" y="189421"/>
                </a:cubicBezTo>
                <a:lnTo>
                  <a:pt x="146261" y="167060"/>
                </a:lnTo>
                <a:cubicBezTo>
                  <a:pt x="146670" y="165422"/>
                  <a:pt x="148344" y="164455"/>
                  <a:pt x="149944" y="164939"/>
                </a:cubicBezTo>
                <a:lnTo>
                  <a:pt x="172194" y="171227"/>
                </a:lnTo>
                <a:cubicBezTo>
                  <a:pt x="175320" y="172120"/>
                  <a:pt x="178668" y="171227"/>
                  <a:pt x="180938" y="168957"/>
                </a:cubicBezTo>
                <a:cubicBezTo>
                  <a:pt x="183207" y="166687"/>
                  <a:pt x="184100" y="163339"/>
                  <a:pt x="183207" y="160213"/>
                </a:cubicBezTo>
                <a:lnTo>
                  <a:pt x="176919" y="137964"/>
                </a:lnTo>
                <a:cubicBezTo>
                  <a:pt x="176473" y="136364"/>
                  <a:pt x="177440" y="134689"/>
                  <a:pt x="179040" y="134280"/>
                </a:cubicBezTo>
                <a:lnTo>
                  <a:pt x="201439" y="128588"/>
                </a:lnTo>
                <a:cubicBezTo>
                  <a:pt x="204564" y="127806"/>
                  <a:pt x="207020" y="125350"/>
                  <a:pt x="207876" y="122225"/>
                </a:cubicBezTo>
                <a:cubicBezTo>
                  <a:pt x="208731" y="119100"/>
                  <a:pt x="207801" y="115751"/>
                  <a:pt x="205494" y="113519"/>
                </a:cubicBezTo>
                <a:lnTo>
                  <a:pt x="188937" y="97408"/>
                </a:lnTo>
                <a:cubicBezTo>
                  <a:pt x="187747" y="96255"/>
                  <a:pt x="187747" y="94320"/>
                  <a:pt x="188937" y="93129"/>
                </a:cubicBezTo>
                <a:lnTo>
                  <a:pt x="205494" y="77019"/>
                </a:lnTo>
                <a:cubicBezTo>
                  <a:pt x="207801" y="74749"/>
                  <a:pt x="208731" y="71437"/>
                  <a:pt x="207876" y="68312"/>
                </a:cubicBezTo>
                <a:cubicBezTo>
                  <a:pt x="207020" y="65187"/>
                  <a:pt x="204564" y="62768"/>
                  <a:pt x="201439" y="61950"/>
                </a:cubicBezTo>
                <a:lnTo>
                  <a:pt x="179040" y="56257"/>
                </a:lnTo>
                <a:cubicBezTo>
                  <a:pt x="177403" y="55848"/>
                  <a:pt x="176436" y="54173"/>
                  <a:pt x="176919" y="52574"/>
                </a:cubicBezTo>
                <a:lnTo>
                  <a:pt x="183207" y="30324"/>
                </a:lnTo>
                <a:cubicBezTo>
                  <a:pt x="184100" y="27198"/>
                  <a:pt x="183207" y="23850"/>
                  <a:pt x="180938" y="21580"/>
                </a:cubicBezTo>
                <a:cubicBezTo>
                  <a:pt x="178668" y="19310"/>
                  <a:pt x="175320" y="18417"/>
                  <a:pt x="172194" y="19310"/>
                </a:cubicBezTo>
                <a:lnTo>
                  <a:pt x="149944" y="25598"/>
                </a:lnTo>
                <a:cubicBezTo>
                  <a:pt x="148344" y="26045"/>
                  <a:pt x="146670" y="25078"/>
                  <a:pt x="146261" y="23478"/>
                </a:cubicBezTo>
                <a:lnTo>
                  <a:pt x="140568" y="1042"/>
                </a:lnTo>
                <a:cubicBezTo>
                  <a:pt x="139787" y="-2084"/>
                  <a:pt x="137331" y="-4539"/>
                  <a:pt x="134206" y="-5395"/>
                </a:cubicBezTo>
                <a:cubicBezTo>
                  <a:pt x="131080" y="-6251"/>
                  <a:pt x="127769" y="-5321"/>
                  <a:pt x="125499" y="-3014"/>
                </a:cubicBezTo>
                <a:lnTo>
                  <a:pt x="109389" y="13581"/>
                </a:lnTo>
                <a:cubicBezTo>
                  <a:pt x="108235" y="14771"/>
                  <a:pt x="106300" y="14771"/>
                  <a:pt x="105110" y="13581"/>
                </a:cubicBezTo>
                <a:lnTo>
                  <a:pt x="88999" y="-2977"/>
                </a:ln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93445" y="5957767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FSSAI Compliance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93445" y="6148267"/>
            <a:ext cx="3019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enables batch traceability for food safety standards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96013" y="599586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524625" y="5957767"/>
            <a:ext cx="2438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FDA FSMA Ready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24625" y="6148267"/>
            <a:ext cx="2428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Immutable records for export to US/EU markets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9735" y="369735"/>
            <a:ext cx="11517234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b="1" spc="102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SEGMENTATION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9735" y="628549"/>
            <a:ext cx="11618911" cy="3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Market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9735" y="1072230"/>
            <a:ext cx="11544964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1,000+ Commercial Farms Across India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7129" y="1486333"/>
            <a:ext cx="3702892" cy="2344118"/>
          </a:xfrm>
          <a:custGeom>
            <a:avLst/>
            <a:gdLst/>
            <a:ahLst/>
            <a:cxnLst/>
            <a:rect l="l" t="t" r="r" b="b"/>
            <a:pathLst>
              <a:path w="3702892" h="2344118">
                <a:moveTo>
                  <a:pt x="110924" y="0"/>
                </a:moveTo>
                <a:lnTo>
                  <a:pt x="3591969" y="0"/>
                </a:lnTo>
                <a:cubicBezTo>
                  <a:pt x="3653230" y="0"/>
                  <a:pt x="3702892" y="49662"/>
                  <a:pt x="3702892" y="110924"/>
                </a:cubicBezTo>
                <a:lnTo>
                  <a:pt x="3702892" y="2233194"/>
                </a:lnTo>
                <a:cubicBezTo>
                  <a:pt x="3702892" y="2294455"/>
                  <a:pt x="3653230" y="2344118"/>
                  <a:pt x="3591969" y="2344118"/>
                </a:cubicBezTo>
                <a:lnTo>
                  <a:pt x="110924" y="2344118"/>
                </a:lnTo>
                <a:cubicBezTo>
                  <a:pt x="49662" y="2344118"/>
                  <a:pt x="0" y="2294455"/>
                  <a:pt x="0" y="2233194"/>
                </a:cubicBezTo>
                <a:lnTo>
                  <a:pt x="0" y="110924"/>
                </a:lnTo>
                <a:cubicBezTo>
                  <a:pt x="0" y="49703"/>
                  <a:pt x="49703" y="0"/>
                  <a:pt x="110924" y="0"/>
                </a:cubicBezTo>
                <a:close/>
              </a:path>
            </a:pathLst>
          </a:custGeom>
          <a:gradFill rotWithShape="1" flip="none">
            <a:gsLst>
              <a:gs pos="0">
                <a:srgbClr val="6B8E6E">
                  <a:alpha val="30000"/>
                </a:srgbClr>
              </a:gs>
              <a:gs pos="100000">
                <a:srgbClr val="6B8E6E">
                  <a:alpha val="10000"/>
                </a:srgbClr>
              </a:gs>
            </a:gsLst>
            <a:lin ang="2700000" scaled="1"/>
          </a:gradFill>
          <a:ln w="20320">
            <a:solidFill>
              <a:srgbClr val="6B8E6E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933481" y="1641627"/>
            <a:ext cx="591575" cy="591575"/>
          </a:xfrm>
          <a:custGeom>
            <a:avLst/>
            <a:gdLst/>
            <a:ahLst/>
            <a:cxnLst/>
            <a:rect l="l" t="t" r="r" b="b"/>
            <a:pathLst>
              <a:path w="591575" h="591575">
                <a:moveTo>
                  <a:pt x="295788" y="0"/>
                </a:moveTo>
                <a:lnTo>
                  <a:pt x="295788" y="0"/>
                </a:lnTo>
                <a:cubicBezTo>
                  <a:pt x="459037" y="0"/>
                  <a:pt x="591575" y="132538"/>
                  <a:pt x="591575" y="295788"/>
                </a:cubicBezTo>
                <a:lnTo>
                  <a:pt x="591575" y="295788"/>
                </a:lnTo>
                <a:cubicBezTo>
                  <a:pt x="591575" y="459037"/>
                  <a:pt x="459037" y="591575"/>
                  <a:pt x="295788" y="591575"/>
                </a:cubicBezTo>
                <a:lnTo>
                  <a:pt x="295788" y="591575"/>
                </a:lnTo>
                <a:cubicBezTo>
                  <a:pt x="132538" y="591575"/>
                  <a:pt x="0" y="459037"/>
                  <a:pt x="0" y="295788"/>
                </a:cubicBezTo>
                <a:lnTo>
                  <a:pt x="0" y="295788"/>
                </a:lnTo>
                <a:cubicBezTo>
                  <a:pt x="0" y="132538"/>
                  <a:pt x="132538" y="0"/>
                  <a:pt x="295788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118348" y="1826495"/>
            <a:ext cx="221841" cy="221841"/>
          </a:xfrm>
          <a:custGeom>
            <a:avLst/>
            <a:gdLst/>
            <a:ahLst/>
            <a:cxnLst/>
            <a:rect l="l" t="t" r="r" b="b"/>
            <a:pathLst>
              <a:path w="221841" h="221841">
                <a:moveTo>
                  <a:pt x="120366" y="3726"/>
                </a:moveTo>
                <a:cubicBezTo>
                  <a:pt x="115037" y="-1213"/>
                  <a:pt x="106804" y="-1213"/>
                  <a:pt x="101518" y="3726"/>
                </a:cubicBezTo>
                <a:lnTo>
                  <a:pt x="4463" y="93849"/>
                </a:lnTo>
                <a:cubicBezTo>
                  <a:pt x="303" y="97749"/>
                  <a:pt x="-1083" y="103771"/>
                  <a:pt x="997" y="109057"/>
                </a:cubicBezTo>
                <a:cubicBezTo>
                  <a:pt x="3076" y="114343"/>
                  <a:pt x="8146" y="117853"/>
                  <a:pt x="13865" y="117853"/>
                </a:cubicBezTo>
                <a:lnTo>
                  <a:pt x="20798" y="117853"/>
                </a:lnTo>
                <a:lnTo>
                  <a:pt x="20798" y="194111"/>
                </a:lnTo>
                <a:cubicBezTo>
                  <a:pt x="20798" y="209406"/>
                  <a:pt x="33233" y="221841"/>
                  <a:pt x="48528" y="221841"/>
                </a:cubicBezTo>
                <a:lnTo>
                  <a:pt x="173313" y="221841"/>
                </a:lnTo>
                <a:cubicBezTo>
                  <a:pt x="188608" y="221841"/>
                  <a:pt x="201043" y="209406"/>
                  <a:pt x="201043" y="194111"/>
                </a:cubicBezTo>
                <a:lnTo>
                  <a:pt x="201043" y="117853"/>
                </a:lnTo>
                <a:lnTo>
                  <a:pt x="207976" y="117853"/>
                </a:lnTo>
                <a:cubicBezTo>
                  <a:pt x="213695" y="117853"/>
                  <a:pt x="218808" y="114343"/>
                  <a:pt x="220888" y="109057"/>
                </a:cubicBezTo>
                <a:cubicBezTo>
                  <a:pt x="222967" y="103771"/>
                  <a:pt x="221581" y="97705"/>
                  <a:pt x="217421" y="93849"/>
                </a:cubicBezTo>
                <a:lnTo>
                  <a:pt x="120366" y="3726"/>
                </a:lnTo>
                <a:close/>
                <a:moveTo>
                  <a:pt x="103988" y="138650"/>
                </a:moveTo>
                <a:lnTo>
                  <a:pt x="117853" y="138650"/>
                </a:lnTo>
                <a:cubicBezTo>
                  <a:pt x="129335" y="138650"/>
                  <a:pt x="138650" y="147966"/>
                  <a:pt x="138650" y="159448"/>
                </a:cubicBezTo>
                <a:lnTo>
                  <a:pt x="138650" y="201043"/>
                </a:lnTo>
                <a:lnTo>
                  <a:pt x="83190" y="201043"/>
                </a:lnTo>
                <a:lnTo>
                  <a:pt x="83190" y="159448"/>
                </a:lnTo>
                <a:cubicBezTo>
                  <a:pt x="83190" y="147966"/>
                  <a:pt x="92506" y="138650"/>
                  <a:pt x="103988" y="138650"/>
                </a:cubicBezTo>
                <a:close/>
              </a:path>
            </a:pathLst>
          </a:custGeom>
          <a:solidFill>
            <a:srgbClr val="F5F1E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6201" y="2307150"/>
            <a:ext cx="3484749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6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Small Farms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0066" y="2565964"/>
            <a:ext cx="3457019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9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2-10 rooms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2418" y="2861752"/>
            <a:ext cx="397465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81342" y="2861752"/>
            <a:ext cx="415951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~500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2418" y="3157539"/>
            <a:ext cx="684009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ARPU/Year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86888" y="3157539"/>
            <a:ext cx="415951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₹2.4L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2418" y="3453327"/>
            <a:ext cx="323518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41767" y="3453327"/>
            <a:ext cx="554602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₹120 Cr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44207" y="1486333"/>
            <a:ext cx="3702892" cy="2344118"/>
          </a:xfrm>
          <a:custGeom>
            <a:avLst/>
            <a:gdLst/>
            <a:ahLst/>
            <a:cxnLst/>
            <a:rect l="l" t="t" r="r" b="b"/>
            <a:pathLst>
              <a:path w="3702892" h="2344118">
                <a:moveTo>
                  <a:pt x="110924" y="0"/>
                </a:moveTo>
                <a:lnTo>
                  <a:pt x="3591969" y="0"/>
                </a:lnTo>
                <a:cubicBezTo>
                  <a:pt x="3653230" y="0"/>
                  <a:pt x="3702892" y="49662"/>
                  <a:pt x="3702892" y="110924"/>
                </a:cubicBezTo>
                <a:lnTo>
                  <a:pt x="3702892" y="2233194"/>
                </a:lnTo>
                <a:cubicBezTo>
                  <a:pt x="3702892" y="2294455"/>
                  <a:pt x="3653230" y="2344118"/>
                  <a:pt x="3591969" y="2344118"/>
                </a:cubicBezTo>
                <a:lnTo>
                  <a:pt x="110924" y="2344118"/>
                </a:lnTo>
                <a:cubicBezTo>
                  <a:pt x="49662" y="2344118"/>
                  <a:pt x="0" y="2294455"/>
                  <a:pt x="0" y="2233194"/>
                </a:cubicBezTo>
                <a:lnTo>
                  <a:pt x="0" y="110924"/>
                </a:lnTo>
                <a:cubicBezTo>
                  <a:pt x="0" y="49703"/>
                  <a:pt x="49703" y="0"/>
                  <a:pt x="110924" y="0"/>
                </a:cubicBezTo>
                <a:close/>
              </a:path>
            </a:pathLst>
          </a:custGeom>
          <a:gradFill rotWithShape="1" flip="none">
            <a:gsLst>
              <a:gs pos="0">
                <a:srgbClr val="D4A373">
                  <a:alpha val="30000"/>
                </a:srgbClr>
              </a:gs>
              <a:gs pos="100000">
                <a:srgbClr val="D4A373">
                  <a:alpha val="10000"/>
                </a:srgbClr>
              </a:gs>
            </a:gsLst>
            <a:lin ang="2700000" scaled="1"/>
          </a:gradFill>
          <a:ln w="20320">
            <a:solidFill>
              <a:srgbClr val="D4A373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800559" y="1641627"/>
            <a:ext cx="591575" cy="591575"/>
          </a:xfrm>
          <a:custGeom>
            <a:avLst/>
            <a:gdLst/>
            <a:ahLst/>
            <a:cxnLst/>
            <a:rect l="l" t="t" r="r" b="b"/>
            <a:pathLst>
              <a:path w="591575" h="591575">
                <a:moveTo>
                  <a:pt x="295788" y="0"/>
                </a:moveTo>
                <a:lnTo>
                  <a:pt x="295788" y="0"/>
                </a:lnTo>
                <a:cubicBezTo>
                  <a:pt x="459037" y="0"/>
                  <a:pt x="591575" y="132538"/>
                  <a:pt x="591575" y="295788"/>
                </a:cubicBezTo>
                <a:lnTo>
                  <a:pt x="591575" y="295788"/>
                </a:lnTo>
                <a:cubicBezTo>
                  <a:pt x="591575" y="459037"/>
                  <a:pt x="459037" y="591575"/>
                  <a:pt x="295788" y="591575"/>
                </a:cubicBezTo>
                <a:lnTo>
                  <a:pt x="295788" y="591575"/>
                </a:lnTo>
                <a:cubicBezTo>
                  <a:pt x="132538" y="591575"/>
                  <a:pt x="0" y="459037"/>
                  <a:pt x="0" y="295788"/>
                </a:cubicBezTo>
                <a:lnTo>
                  <a:pt x="0" y="295788"/>
                </a:lnTo>
                <a:cubicBezTo>
                  <a:pt x="0" y="132538"/>
                  <a:pt x="132538" y="0"/>
                  <a:pt x="295788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971562" y="1826495"/>
            <a:ext cx="249571" cy="221841"/>
          </a:xfrm>
          <a:custGeom>
            <a:avLst/>
            <a:gdLst/>
            <a:ahLst/>
            <a:cxnLst/>
            <a:rect l="l" t="t" r="r" b="b"/>
            <a:pathLst>
              <a:path w="249571" h="221841">
                <a:moveTo>
                  <a:pt x="0" y="61569"/>
                </a:moveTo>
                <a:lnTo>
                  <a:pt x="0" y="207976"/>
                </a:lnTo>
                <a:cubicBezTo>
                  <a:pt x="0" y="215645"/>
                  <a:pt x="6196" y="221841"/>
                  <a:pt x="13865" y="221841"/>
                </a:cubicBezTo>
                <a:cubicBezTo>
                  <a:pt x="21534" y="221841"/>
                  <a:pt x="27730" y="215645"/>
                  <a:pt x="27730" y="207976"/>
                </a:cubicBezTo>
                <a:lnTo>
                  <a:pt x="27730" y="103988"/>
                </a:lnTo>
                <a:cubicBezTo>
                  <a:pt x="27730" y="96319"/>
                  <a:pt x="33926" y="90123"/>
                  <a:pt x="41595" y="90123"/>
                </a:cubicBezTo>
                <a:lnTo>
                  <a:pt x="207976" y="90123"/>
                </a:lnTo>
                <a:cubicBezTo>
                  <a:pt x="215645" y="90123"/>
                  <a:pt x="221841" y="96319"/>
                  <a:pt x="221841" y="103988"/>
                </a:cubicBezTo>
                <a:lnTo>
                  <a:pt x="221841" y="207976"/>
                </a:lnTo>
                <a:cubicBezTo>
                  <a:pt x="221841" y="215645"/>
                  <a:pt x="228037" y="221841"/>
                  <a:pt x="235706" y="221841"/>
                </a:cubicBezTo>
                <a:cubicBezTo>
                  <a:pt x="243375" y="221841"/>
                  <a:pt x="249571" y="215645"/>
                  <a:pt x="249571" y="207976"/>
                </a:cubicBezTo>
                <a:lnTo>
                  <a:pt x="249571" y="61569"/>
                </a:lnTo>
                <a:cubicBezTo>
                  <a:pt x="249571" y="49654"/>
                  <a:pt x="241945" y="39039"/>
                  <a:pt x="230593" y="35269"/>
                </a:cubicBezTo>
                <a:lnTo>
                  <a:pt x="131371" y="2210"/>
                </a:lnTo>
                <a:cubicBezTo>
                  <a:pt x="127082" y="780"/>
                  <a:pt x="122489" y="780"/>
                  <a:pt x="118200" y="2210"/>
                </a:cubicBezTo>
                <a:lnTo>
                  <a:pt x="18978" y="35269"/>
                </a:lnTo>
                <a:cubicBezTo>
                  <a:pt x="7626" y="39039"/>
                  <a:pt x="0" y="49654"/>
                  <a:pt x="0" y="61569"/>
                </a:cubicBezTo>
                <a:close/>
                <a:moveTo>
                  <a:pt x="201043" y="110920"/>
                </a:moveTo>
                <a:lnTo>
                  <a:pt x="48528" y="110920"/>
                </a:lnTo>
                <a:lnTo>
                  <a:pt x="48528" y="138650"/>
                </a:lnTo>
                <a:lnTo>
                  <a:pt x="201043" y="138650"/>
                </a:lnTo>
                <a:lnTo>
                  <a:pt x="201043" y="110920"/>
                </a:lnTo>
                <a:close/>
                <a:moveTo>
                  <a:pt x="48528" y="180246"/>
                </a:moveTo>
                <a:lnTo>
                  <a:pt x="201043" y="180246"/>
                </a:lnTo>
                <a:lnTo>
                  <a:pt x="201043" y="152516"/>
                </a:lnTo>
                <a:lnTo>
                  <a:pt x="48528" y="152516"/>
                </a:lnTo>
                <a:lnTo>
                  <a:pt x="48528" y="180246"/>
                </a:lnTo>
                <a:close/>
                <a:moveTo>
                  <a:pt x="201043" y="194111"/>
                </a:moveTo>
                <a:lnTo>
                  <a:pt x="48528" y="194111"/>
                </a:lnTo>
                <a:lnTo>
                  <a:pt x="48528" y="221841"/>
                </a:lnTo>
                <a:lnTo>
                  <a:pt x="201043" y="221841"/>
                </a:lnTo>
                <a:lnTo>
                  <a:pt x="201043" y="194111"/>
                </a:ln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353279" y="2307150"/>
            <a:ext cx="3484749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6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 Farms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67144" y="2565964"/>
            <a:ext cx="3457019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9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10-30 rooms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99496" y="2861752"/>
            <a:ext cx="397465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52811" y="2861752"/>
            <a:ext cx="415951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~400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99496" y="3157539"/>
            <a:ext cx="684009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ARPU/Year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16937" y="3157539"/>
            <a:ext cx="351248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₹12L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399496" y="3453327"/>
            <a:ext cx="323518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73374" y="3453327"/>
            <a:ext cx="591575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₹480 Cr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11285" y="1486333"/>
            <a:ext cx="3702892" cy="2344118"/>
          </a:xfrm>
          <a:custGeom>
            <a:avLst/>
            <a:gdLst/>
            <a:ahLst/>
            <a:cxnLst/>
            <a:rect l="l" t="t" r="r" b="b"/>
            <a:pathLst>
              <a:path w="3702892" h="2344118">
                <a:moveTo>
                  <a:pt x="110924" y="0"/>
                </a:moveTo>
                <a:lnTo>
                  <a:pt x="3591969" y="0"/>
                </a:lnTo>
                <a:cubicBezTo>
                  <a:pt x="3653230" y="0"/>
                  <a:pt x="3702892" y="49662"/>
                  <a:pt x="3702892" y="110924"/>
                </a:cubicBezTo>
                <a:lnTo>
                  <a:pt x="3702892" y="2233194"/>
                </a:lnTo>
                <a:cubicBezTo>
                  <a:pt x="3702892" y="2294455"/>
                  <a:pt x="3653230" y="2344118"/>
                  <a:pt x="3591969" y="2344118"/>
                </a:cubicBezTo>
                <a:lnTo>
                  <a:pt x="110924" y="2344118"/>
                </a:lnTo>
                <a:cubicBezTo>
                  <a:pt x="49662" y="2344118"/>
                  <a:pt x="0" y="2294455"/>
                  <a:pt x="0" y="2233194"/>
                </a:cubicBezTo>
                <a:lnTo>
                  <a:pt x="0" y="110924"/>
                </a:lnTo>
                <a:cubicBezTo>
                  <a:pt x="0" y="49703"/>
                  <a:pt x="49703" y="0"/>
                  <a:pt x="110924" y="0"/>
                </a:cubicBezTo>
                <a:close/>
              </a:path>
            </a:pathLst>
          </a:custGeom>
          <a:gradFill rotWithShape="1" flip="none">
            <a:gsLst>
              <a:gs pos="0">
                <a:srgbClr val="E9C46A">
                  <a:alpha val="30000"/>
                </a:srgbClr>
              </a:gs>
              <a:gs pos="100000">
                <a:srgbClr val="E9C46A">
                  <a:alpha val="10000"/>
                </a:srgbClr>
              </a:gs>
            </a:gsLst>
            <a:lin ang="2700000" scaled="1"/>
          </a:gradFill>
          <a:ln w="20320">
            <a:solidFill>
              <a:srgbClr val="E9C46A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667752" y="1641627"/>
            <a:ext cx="591575" cy="591575"/>
          </a:xfrm>
          <a:custGeom>
            <a:avLst/>
            <a:gdLst/>
            <a:ahLst/>
            <a:cxnLst/>
            <a:rect l="l" t="t" r="r" b="b"/>
            <a:pathLst>
              <a:path w="591575" h="591575">
                <a:moveTo>
                  <a:pt x="295788" y="0"/>
                </a:moveTo>
                <a:lnTo>
                  <a:pt x="295788" y="0"/>
                </a:lnTo>
                <a:cubicBezTo>
                  <a:pt x="459037" y="0"/>
                  <a:pt x="591575" y="132538"/>
                  <a:pt x="591575" y="295788"/>
                </a:cubicBezTo>
                <a:lnTo>
                  <a:pt x="591575" y="295788"/>
                </a:lnTo>
                <a:cubicBezTo>
                  <a:pt x="591575" y="459037"/>
                  <a:pt x="459037" y="591575"/>
                  <a:pt x="295788" y="591575"/>
                </a:cubicBezTo>
                <a:lnTo>
                  <a:pt x="295788" y="591575"/>
                </a:lnTo>
                <a:cubicBezTo>
                  <a:pt x="132538" y="591575"/>
                  <a:pt x="0" y="459037"/>
                  <a:pt x="0" y="295788"/>
                </a:cubicBezTo>
                <a:lnTo>
                  <a:pt x="0" y="295788"/>
                </a:lnTo>
                <a:cubicBezTo>
                  <a:pt x="0" y="132538"/>
                  <a:pt x="132538" y="0"/>
                  <a:pt x="295788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852619" y="1826495"/>
            <a:ext cx="221841" cy="221841"/>
          </a:xfrm>
          <a:custGeom>
            <a:avLst/>
            <a:gdLst/>
            <a:ahLst/>
            <a:cxnLst/>
            <a:rect l="l" t="t" r="r" b="b"/>
            <a:pathLst>
              <a:path w="221841" h="221841">
                <a:moveTo>
                  <a:pt x="13865" y="13865"/>
                </a:moveTo>
                <a:cubicBezTo>
                  <a:pt x="6196" y="13865"/>
                  <a:pt x="0" y="20061"/>
                  <a:pt x="0" y="27730"/>
                </a:cubicBezTo>
                <a:lnTo>
                  <a:pt x="0" y="187178"/>
                </a:lnTo>
                <a:cubicBezTo>
                  <a:pt x="0" y="198660"/>
                  <a:pt x="9316" y="207976"/>
                  <a:pt x="20798" y="207976"/>
                </a:cubicBezTo>
                <a:lnTo>
                  <a:pt x="201043" y="207976"/>
                </a:lnTo>
                <a:cubicBezTo>
                  <a:pt x="212525" y="207976"/>
                  <a:pt x="221841" y="198660"/>
                  <a:pt x="221841" y="187178"/>
                </a:cubicBezTo>
                <a:lnTo>
                  <a:pt x="221841" y="65946"/>
                </a:lnTo>
                <a:cubicBezTo>
                  <a:pt x="221841" y="58060"/>
                  <a:pt x="213435" y="53077"/>
                  <a:pt x="206503" y="56803"/>
                </a:cubicBezTo>
                <a:lnTo>
                  <a:pt x="138650" y="93329"/>
                </a:lnTo>
                <a:lnTo>
                  <a:pt x="138650" y="65946"/>
                </a:lnTo>
                <a:cubicBezTo>
                  <a:pt x="138650" y="58060"/>
                  <a:pt x="130245" y="53077"/>
                  <a:pt x="123312" y="56803"/>
                </a:cubicBezTo>
                <a:lnTo>
                  <a:pt x="55460" y="93329"/>
                </a:lnTo>
                <a:lnTo>
                  <a:pt x="55460" y="27730"/>
                </a:lnTo>
                <a:cubicBezTo>
                  <a:pt x="55460" y="20061"/>
                  <a:pt x="49264" y="13865"/>
                  <a:pt x="41595" y="13865"/>
                </a:cubicBezTo>
                <a:lnTo>
                  <a:pt x="13865" y="13865"/>
                </a:ln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220357" y="2307150"/>
            <a:ext cx="3484749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6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Large Farms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34222" y="2565964"/>
            <a:ext cx="3457019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9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30+ rooms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66574" y="2861752"/>
            <a:ext cx="397465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Count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348196" y="2861752"/>
            <a:ext cx="388221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~100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66574" y="3157539"/>
            <a:ext cx="684009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ARPU/Year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345654" y="3157539"/>
            <a:ext cx="388221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₹36L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66574" y="3453327"/>
            <a:ext cx="323518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TAM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137679" y="3453327"/>
            <a:ext cx="600819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₹360 Cr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73432" y="3989439"/>
            <a:ext cx="11450682" cy="1079625"/>
          </a:xfrm>
          <a:custGeom>
            <a:avLst/>
            <a:gdLst/>
            <a:ahLst/>
            <a:cxnLst/>
            <a:rect l="l" t="t" r="r" b="b"/>
            <a:pathLst>
              <a:path w="11450682" h="1079625">
                <a:moveTo>
                  <a:pt x="110921" y="0"/>
                </a:moveTo>
                <a:lnTo>
                  <a:pt x="11339761" y="0"/>
                </a:lnTo>
                <a:cubicBezTo>
                  <a:pt x="11401021" y="0"/>
                  <a:pt x="11450682" y="49661"/>
                  <a:pt x="11450682" y="110921"/>
                </a:cubicBezTo>
                <a:lnTo>
                  <a:pt x="11450682" y="968704"/>
                </a:lnTo>
                <a:cubicBezTo>
                  <a:pt x="11450682" y="1029964"/>
                  <a:pt x="11401021" y="1079625"/>
                  <a:pt x="11339761" y="1079625"/>
                </a:cubicBezTo>
                <a:lnTo>
                  <a:pt x="110921" y="1079625"/>
                </a:lnTo>
                <a:cubicBezTo>
                  <a:pt x="49661" y="1079625"/>
                  <a:pt x="0" y="1029964"/>
                  <a:pt x="0" y="968704"/>
                </a:cubicBezTo>
                <a:lnTo>
                  <a:pt x="0" y="110921"/>
                </a:lnTo>
                <a:cubicBezTo>
                  <a:pt x="0" y="49702"/>
                  <a:pt x="49702" y="0"/>
                  <a:pt x="110921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25023" y="4196488"/>
            <a:ext cx="1830187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ADDRESSABLE MARKET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25023" y="4418329"/>
            <a:ext cx="1987324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94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₹960 Cr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634823" y="4141028"/>
            <a:ext cx="2033541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19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Addressable (Phase 1-3)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533145" y="4362869"/>
            <a:ext cx="2135218" cy="3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62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₹200-300 Cr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634823" y="4732603"/>
            <a:ext cx="2033541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19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20-30% of TAM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73432" y="5224349"/>
            <a:ext cx="5645848" cy="1264492"/>
          </a:xfrm>
          <a:custGeom>
            <a:avLst/>
            <a:gdLst/>
            <a:ahLst/>
            <a:cxnLst/>
            <a:rect l="l" t="t" r="r" b="b"/>
            <a:pathLst>
              <a:path w="5645848" h="1264492">
                <a:moveTo>
                  <a:pt x="110921" y="0"/>
                </a:moveTo>
                <a:lnTo>
                  <a:pt x="5534927" y="0"/>
                </a:lnTo>
                <a:cubicBezTo>
                  <a:pt x="5596187" y="0"/>
                  <a:pt x="5645848" y="49661"/>
                  <a:pt x="5645848" y="110921"/>
                </a:cubicBezTo>
                <a:lnTo>
                  <a:pt x="5645848" y="1153571"/>
                </a:lnTo>
                <a:cubicBezTo>
                  <a:pt x="5645848" y="1214831"/>
                  <a:pt x="5596187" y="1264492"/>
                  <a:pt x="5534927" y="1264492"/>
                </a:cubicBezTo>
                <a:lnTo>
                  <a:pt x="110921" y="1264492"/>
                </a:lnTo>
                <a:cubicBezTo>
                  <a:pt x="49661" y="1264492"/>
                  <a:pt x="0" y="1214831"/>
                  <a:pt x="0" y="1153571"/>
                </a:cubicBezTo>
                <a:lnTo>
                  <a:pt x="0" y="110921"/>
                </a:lnTo>
                <a:cubicBezTo>
                  <a:pt x="0" y="49702"/>
                  <a:pt x="49702" y="0"/>
                  <a:pt x="110921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25023" y="5375947"/>
            <a:ext cx="5407369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PERSONA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25023" y="5634761"/>
            <a:ext cx="443682" cy="443682"/>
          </a:xfrm>
          <a:custGeom>
            <a:avLst/>
            <a:gdLst/>
            <a:ahLst/>
            <a:cxnLst/>
            <a:rect l="l" t="t" r="r" b="b"/>
            <a:pathLst>
              <a:path w="443682" h="443682">
                <a:moveTo>
                  <a:pt x="221841" y="0"/>
                </a:moveTo>
                <a:lnTo>
                  <a:pt x="221841" y="0"/>
                </a:lnTo>
                <a:cubicBezTo>
                  <a:pt x="344360" y="0"/>
                  <a:pt x="443682" y="99322"/>
                  <a:pt x="443682" y="221841"/>
                </a:cubicBezTo>
                <a:lnTo>
                  <a:pt x="443682" y="221841"/>
                </a:lnTo>
                <a:cubicBezTo>
                  <a:pt x="443682" y="344360"/>
                  <a:pt x="344360" y="443682"/>
                  <a:pt x="221841" y="443682"/>
                </a:cubicBezTo>
                <a:lnTo>
                  <a:pt x="221841" y="443682"/>
                </a:lnTo>
                <a:cubicBezTo>
                  <a:pt x="99322" y="443682"/>
                  <a:pt x="0" y="344360"/>
                  <a:pt x="0" y="221841"/>
                </a:cubicBezTo>
                <a:lnTo>
                  <a:pt x="0" y="221841"/>
                </a:lnTo>
                <a:cubicBezTo>
                  <a:pt x="0" y="99322"/>
                  <a:pt x="99321" y="0"/>
                  <a:pt x="221841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665985" y="5764169"/>
            <a:ext cx="161759" cy="184867"/>
          </a:xfrm>
          <a:custGeom>
            <a:avLst/>
            <a:gdLst/>
            <a:ahLst/>
            <a:cxnLst/>
            <a:rect l="l" t="t" r="r" b="b"/>
            <a:pathLst>
              <a:path w="161759" h="184867">
                <a:moveTo>
                  <a:pt x="80879" y="89545"/>
                </a:moveTo>
                <a:cubicBezTo>
                  <a:pt x="104793" y="89545"/>
                  <a:pt x="124208" y="70130"/>
                  <a:pt x="124208" y="46217"/>
                </a:cubicBezTo>
                <a:cubicBezTo>
                  <a:pt x="124208" y="22303"/>
                  <a:pt x="104793" y="2889"/>
                  <a:pt x="80879" y="2889"/>
                </a:cubicBezTo>
                <a:cubicBezTo>
                  <a:pt x="56966" y="2889"/>
                  <a:pt x="37551" y="22303"/>
                  <a:pt x="37551" y="46217"/>
                </a:cubicBezTo>
                <a:cubicBezTo>
                  <a:pt x="37551" y="70130"/>
                  <a:pt x="56966" y="89545"/>
                  <a:pt x="80879" y="89545"/>
                </a:cubicBezTo>
                <a:close/>
                <a:moveTo>
                  <a:pt x="70156" y="109765"/>
                </a:moveTo>
                <a:cubicBezTo>
                  <a:pt x="34590" y="109765"/>
                  <a:pt x="5777" y="138578"/>
                  <a:pt x="5777" y="174144"/>
                </a:cubicBezTo>
                <a:cubicBezTo>
                  <a:pt x="5777" y="180065"/>
                  <a:pt x="10579" y="184867"/>
                  <a:pt x="16501" y="184867"/>
                </a:cubicBezTo>
                <a:lnTo>
                  <a:pt x="145258" y="184867"/>
                </a:lnTo>
                <a:cubicBezTo>
                  <a:pt x="151180" y="184867"/>
                  <a:pt x="155982" y="180065"/>
                  <a:pt x="155982" y="174144"/>
                </a:cubicBezTo>
                <a:cubicBezTo>
                  <a:pt x="155982" y="138578"/>
                  <a:pt x="127168" y="109765"/>
                  <a:pt x="91603" y="109765"/>
                </a:cubicBezTo>
                <a:lnTo>
                  <a:pt x="70156" y="109765"/>
                </a:ln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1079625" y="5634761"/>
            <a:ext cx="4640170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Rajesh Kumar, 42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79625" y="5819629"/>
            <a:ext cx="4630926" cy="147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3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Ludhiana, Punjab | 25 rooms | Button mushrooms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79625" y="6004379"/>
            <a:ext cx="4630926" cy="147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3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Pain: Lost ₹80K to contamination. Spends 4-5 hrs daily monitoring. Wants to scale to 50 rooms.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79625" y="6189129"/>
            <a:ext cx="4630926" cy="147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3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Willing to pay: ₹2-5K/room/month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74106" y="5224349"/>
            <a:ext cx="5645848" cy="1264492"/>
          </a:xfrm>
          <a:custGeom>
            <a:avLst/>
            <a:gdLst/>
            <a:ahLst/>
            <a:cxnLst/>
            <a:rect l="l" t="t" r="r" b="b"/>
            <a:pathLst>
              <a:path w="5645848" h="1264492">
                <a:moveTo>
                  <a:pt x="110921" y="0"/>
                </a:moveTo>
                <a:lnTo>
                  <a:pt x="5534927" y="0"/>
                </a:lnTo>
                <a:cubicBezTo>
                  <a:pt x="5596187" y="0"/>
                  <a:pt x="5645848" y="49661"/>
                  <a:pt x="5645848" y="110921"/>
                </a:cubicBezTo>
                <a:lnTo>
                  <a:pt x="5645848" y="1153571"/>
                </a:lnTo>
                <a:cubicBezTo>
                  <a:pt x="5645848" y="1214831"/>
                  <a:pt x="5596187" y="1264492"/>
                  <a:pt x="5534927" y="1264492"/>
                </a:cubicBezTo>
                <a:lnTo>
                  <a:pt x="110921" y="1264492"/>
                </a:lnTo>
                <a:cubicBezTo>
                  <a:pt x="49661" y="1264492"/>
                  <a:pt x="0" y="1214831"/>
                  <a:pt x="0" y="1153571"/>
                </a:cubicBezTo>
                <a:lnTo>
                  <a:pt x="0" y="110921"/>
                </a:lnTo>
                <a:cubicBezTo>
                  <a:pt x="0" y="49702"/>
                  <a:pt x="49702" y="0"/>
                  <a:pt x="110921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6325698" y="5375947"/>
            <a:ext cx="5407369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GEOGRAPHIC FOCUS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60361" y="5662492"/>
            <a:ext cx="97055" cy="129407"/>
          </a:xfrm>
          <a:custGeom>
            <a:avLst/>
            <a:gdLst/>
            <a:ahLst/>
            <a:cxnLst/>
            <a:rect l="l" t="t" r="r" b="b"/>
            <a:pathLst>
              <a:path w="97055" h="129407">
                <a:moveTo>
                  <a:pt x="0" y="47668"/>
                </a:moveTo>
                <a:cubicBezTo>
                  <a:pt x="0" y="21332"/>
                  <a:pt x="21736" y="0"/>
                  <a:pt x="48528" y="0"/>
                </a:cubicBezTo>
                <a:cubicBezTo>
                  <a:pt x="75319" y="0"/>
                  <a:pt x="97055" y="21332"/>
                  <a:pt x="97055" y="47668"/>
                </a:cubicBezTo>
                <a:cubicBezTo>
                  <a:pt x="97055" y="77821"/>
                  <a:pt x="66675" y="113964"/>
                  <a:pt x="53987" y="127739"/>
                </a:cubicBezTo>
                <a:cubicBezTo>
                  <a:pt x="51005" y="130974"/>
                  <a:pt x="46025" y="130974"/>
                  <a:pt x="43043" y="127739"/>
                </a:cubicBezTo>
                <a:cubicBezTo>
                  <a:pt x="30355" y="113964"/>
                  <a:pt x="-25" y="77821"/>
                  <a:pt x="-25" y="47668"/>
                </a:cubicBezTo>
                <a:close/>
                <a:moveTo>
                  <a:pt x="48528" y="64704"/>
                </a:moveTo>
                <a:cubicBezTo>
                  <a:pt x="57455" y="64704"/>
                  <a:pt x="64704" y="57455"/>
                  <a:pt x="64704" y="48528"/>
                </a:cubicBezTo>
                <a:cubicBezTo>
                  <a:pt x="64704" y="39600"/>
                  <a:pt x="57455" y="32352"/>
                  <a:pt x="48528" y="32352"/>
                </a:cubicBezTo>
                <a:cubicBezTo>
                  <a:pt x="39600" y="32352"/>
                  <a:pt x="32352" y="39600"/>
                  <a:pt x="32352" y="48528"/>
                </a:cubicBezTo>
                <a:cubicBezTo>
                  <a:pt x="32352" y="57455"/>
                  <a:pt x="39600" y="64704"/>
                  <a:pt x="48528" y="64704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6561404" y="5634761"/>
            <a:ext cx="443682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Punjab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068436" y="5662492"/>
            <a:ext cx="97055" cy="129407"/>
          </a:xfrm>
          <a:custGeom>
            <a:avLst/>
            <a:gdLst/>
            <a:ahLst/>
            <a:cxnLst/>
            <a:rect l="l" t="t" r="r" b="b"/>
            <a:pathLst>
              <a:path w="97055" h="129407">
                <a:moveTo>
                  <a:pt x="0" y="47668"/>
                </a:moveTo>
                <a:cubicBezTo>
                  <a:pt x="0" y="21332"/>
                  <a:pt x="21736" y="0"/>
                  <a:pt x="48528" y="0"/>
                </a:cubicBezTo>
                <a:cubicBezTo>
                  <a:pt x="75319" y="0"/>
                  <a:pt x="97055" y="21332"/>
                  <a:pt x="97055" y="47668"/>
                </a:cubicBezTo>
                <a:cubicBezTo>
                  <a:pt x="97055" y="77821"/>
                  <a:pt x="66675" y="113964"/>
                  <a:pt x="53987" y="127739"/>
                </a:cubicBezTo>
                <a:cubicBezTo>
                  <a:pt x="51005" y="130974"/>
                  <a:pt x="46025" y="130974"/>
                  <a:pt x="43043" y="127739"/>
                </a:cubicBezTo>
                <a:cubicBezTo>
                  <a:pt x="30355" y="113964"/>
                  <a:pt x="-25" y="77821"/>
                  <a:pt x="-25" y="47668"/>
                </a:cubicBezTo>
                <a:close/>
                <a:moveTo>
                  <a:pt x="48528" y="64704"/>
                </a:moveTo>
                <a:cubicBezTo>
                  <a:pt x="57455" y="64704"/>
                  <a:pt x="64704" y="57455"/>
                  <a:pt x="64704" y="48528"/>
                </a:cubicBezTo>
                <a:cubicBezTo>
                  <a:pt x="64704" y="39600"/>
                  <a:pt x="57455" y="32352"/>
                  <a:pt x="48528" y="32352"/>
                </a:cubicBezTo>
                <a:cubicBezTo>
                  <a:pt x="39600" y="32352"/>
                  <a:pt x="32352" y="39600"/>
                  <a:pt x="32352" y="48528"/>
                </a:cubicBezTo>
                <a:cubicBezTo>
                  <a:pt x="32352" y="57455"/>
                  <a:pt x="39600" y="64704"/>
                  <a:pt x="48528" y="64704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9269479" y="5634761"/>
            <a:ext cx="536115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Haryana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60361" y="5921306"/>
            <a:ext cx="97055" cy="129407"/>
          </a:xfrm>
          <a:custGeom>
            <a:avLst/>
            <a:gdLst/>
            <a:ahLst/>
            <a:cxnLst/>
            <a:rect l="l" t="t" r="r" b="b"/>
            <a:pathLst>
              <a:path w="97055" h="129407">
                <a:moveTo>
                  <a:pt x="0" y="47668"/>
                </a:moveTo>
                <a:cubicBezTo>
                  <a:pt x="0" y="21332"/>
                  <a:pt x="21736" y="0"/>
                  <a:pt x="48528" y="0"/>
                </a:cubicBezTo>
                <a:cubicBezTo>
                  <a:pt x="75319" y="0"/>
                  <a:pt x="97055" y="21332"/>
                  <a:pt x="97055" y="47668"/>
                </a:cubicBezTo>
                <a:cubicBezTo>
                  <a:pt x="97055" y="77821"/>
                  <a:pt x="66675" y="113964"/>
                  <a:pt x="53987" y="127739"/>
                </a:cubicBezTo>
                <a:cubicBezTo>
                  <a:pt x="51005" y="130974"/>
                  <a:pt x="46025" y="130974"/>
                  <a:pt x="43043" y="127739"/>
                </a:cubicBezTo>
                <a:cubicBezTo>
                  <a:pt x="30355" y="113964"/>
                  <a:pt x="-25" y="77821"/>
                  <a:pt x="-25" y="47668"/>
                </a:cubicBezTo>
                <a:close/>
                <a:moveTo>
                  <a:pt x="48528" y="64704"/>
                </a:moveTo>
                <a:cubicBezTo>
                  <a:pt x="57455" y="64704"/>
                  <a:pt x="64704" y="57455"/>
                  <a:pt x="64704" y="48528"/>
                </a:cubicBezTo>
                <a:cubicBezTo>
                  <a:pt x="64704" y="39600"/>
                  <a:pt x="57455" y="32352"/>
                  <a:pt x="48528" y="32352"/>
                </a:cubicBezTo>
                <a:cubicBezTo>
                  <a:pt x="39600" y="32352"/>
                  <a:pt x="32352" y="39600"/>
                  <a:pt x="32352" y="48528"/>
                </a:cubicBezTo>
                <a:cubicBezTo>
                  <a:pt x="32352" y="57455"/>
                  <a:pt x="39600" y="64704"/>
                  <a:pt x="48528" y="64704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6561404" y="5893576"/>
            <a:ext cx="767199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Maharashtra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068436" y="5921306"/>
            <a:ext cx="97055" cy="129407"/>
          </a:xfrm>
          <a:custGeom>
            <a:avLst/>
            <a:gdLst/>
            <a:ahLst/>
            <a:cxnLst/>
            <a:rect l="l" t="t" r="r" b="b"/>
            <a:pathLst>
              <a:path w="97055" h="129407">
                <a:moveTo>
                  <a:pt x="0" y="47668"/>
                </a:moveTo>
                <a:cubicBezTo>
                  <a:pt x="0" y="21332"/>
                  <a:pt x="21736" y="0"/>
                  <a:pt x="48528" y="0"/>
                </a:cubicBezTo>
                <a:cubicBezTo>
                  <a:pt x="75319" y="0"/>
                  <a:pt x="97055" y="21332"/>
                  <a:pt x="97055" y="47668"/>
                </a:cubicBezTo>
                <a:cubicBezTo>
                  <a:pt x="97055" y="77821"/>
                  <a:pt x="66675" y="113964"/>
                  <a:pt x="53987" y="127739"/>
                </a:cubicBezTo>
                <a:cubicBezTo>
                  <a:pt x="51005" y="130974"/>
                  <a:pt x="46025" y="130974"/>
                  <a:pt x="43043" y="127739"/>
                </a:cubicBezTo>
                <a:cubicBezTo>
                  <a:pt x="30355" y="113964"/>
                  <a:pt x="-25" y="77821"/>
                  <a:pt x="-25" y="47668"/>
                </a:cubicBezTo>
                <a:close/>
                <a:moveTo>
                  <a:pt x="48528" y="64704"/>
                </a:moveTo>
                <a:cubicBezTo>
                  <a:pt x="57455" y="64704"/>
                  <a:pt x="64704" y="57455"/>
                  <a:pt x="64704" y="48528"/>
                </a:cubicBezTo>
                <a:cubicBezTo>
                  <a:pt x="64704" y="39600"/>
                  <a:pt x="57455" y="32352"/>
                  <a:pt x="48528" y="32352"/>
                </a:cubicBezTo>
                <a:cubicBezTo>
                  <a:pt x="39600" y="32352"/>
                  <a:pt x="32352" y="39600"/>
                  <a:pt x="32352" y="48528"/>
                </a:cubicBezTo>
                <a:cubicBezTo>
                  <a:pt x="32352" y="57455"/>
                  <a:pt x="39600" y="64704"/>
                  <a:pt x="48528" y="64704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9269479" y="5893576"/>
            <a:ext cx="1072230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Himachal Pradesh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60361" y="6180120"/>
            <a:ext cx="97055" cy="129407"/>
          </a:xfrm>
          <a:custGeom>
            <a:avLst/>
            <a:gdLst/>
            <a:ahLst/>
            <a:cxnLst/>
            <a:rect l="l" t="t" r="r" b="b"/>
            <a:pathLst>
              <a:path w="97055" h="129407">
                <a:moveTo>
                  <a:pt x="0" y="47668"/>
                </a:moveTo>
                <a:cubicBezTo>
                  <a:pt x="0" y="21332"/>
                  <a:pt x="21736" y="0"/>
                  <a:pt x="48528" y="0"/>
                </a:cubicBezTo>
                <a:cubicBezTo>
                  <a:pt x="75319" y="0"/>
                  <a:pt x="97055" y="21332"/>
                  <a:pt x="97055" y="47668"/>
                </a:cubicBezTo>
                <a:cubicBezTo>
                  <a:pt x="97055" y="77821"/>
                  <a:pt x="66675" y="113964"/>
                  <a:pt x="53987" y="127739"/>
                </a:cubicBezTo>
                <a:cubicBezTo>
                  <a:pt x="51005" y="130974"/>
                  <a:pt x="46025" y="130974"/>
                  <a:pt x="43043" y="127739"/>
                </a:cubicBezTo>
                <a:cubicBezTo>
                  <a:pt x="30355" y="113964"/>
                  <a:pt x="-25" y="77821"/>
                  <a:pt x="-25" y="47668"/>
                </a:cubicBezTo>
                <a:close/>
                <a:moveTo>
                  <a:pt x="48528" y="64704"/>
                </a:moveTo>
                <a:cubicBezTo>
                  <a:pt x="57455" y="64704"/>
                  <a:pt x="64704" y="57455"/>
                  <a:pt x="64704" y="48528"/>
                </a:cubicBezTo>
                <a:cubicBezTo>
                  <a:pt x="64704" y="39600"/>
                  <a:pt x="57455" y="32352"/>
                  <a:pt x="48528" y="32352"/>
                </a:cubicBezTo>
                <a:cubicBezTo>
                  <a:pt x="39600" y="32352"/>
                  <a:pt x="32352" y="39600"/>
                  <a:pt x="32352" y="48528"/>
                </a:cubicBezTo>
                <a:cubicBezTo>
                  <a:pt x="32352" y="57455"/>
                  <a:pt x="39600" y="64704"/>
                  <a:pt x="48528" y="64704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6561404" y="6152390"/>
            <a:ext cx="619306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Karnataka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9068436" y="6180120"/>
            <a:ext cx="97055" cy="129407"/>
          </a:xfrm>
          <a:custGeom>
            <a:avLst/>
            <a:gdLst/>
            <a:ahLst/>
            <a:cxnLst/>
            <a:rect l="l" t="t" r="r" b="b"/>
            <a:pathLst>
              <a:path w="97055" h="129407">
                <a:moveTo>
                  <a:pt x="0" y="47668"/>
                </a:moveTo>
                <a:cubicBezTo>
                  <a:pt x="0" y="21332"/>
                  <a:pt x="21736" y="0"/>
                  <a:pt x="48528" y="0"/>
                </a:cubicBezTo>
                <a:cubicBezTo>
                  <a:pt x="75319" y="0"/>
                  <a:pt x="97055" y="21332"/>
                  <a:pt x="97055" y="47668"/>
                </a:cubicBezTo>
                <a:cubicBezTo>
                  <a:pt x="97055" y="77821"/>
                  <a:pt x="66675" y="113964"/>
                  <a:pt x="53987" y="127739"/>
                </a:cubicBezTo>
                <a:cubicBezTo>
                  <a:pt x="51005" y="130974"/>
                  <a:pt x="46025" y="130974"/>
                  <a:pt x="43043" y="127739"/>
                </a:cubicBezTo>
                <a:cubicBezTo>
                  <a:pt x="30355" y="113964"/>
                  <a:pt x="-25" y="77821"/>
                  <a:pt x="-25" y="47668"/>
                </a:cubicBezTo>
                <a:close/>
                <a:moveTo>
                  <a:pt x="48528" y="64704"/>
                </a:moveTo>
                <a:cubicBezTo>
                  <a:pt x="57455" y="64704"/>
                  <a:pt x="64704" y="57455"/>
                  <a:pt x="64704" y="48528"/>
                </a:cubicBezTo>
                <a:cubicBezTo>
                  <a:pt x="64704" y="39600"/>
                  <a:pt x="57455" y="32352"/>
                  <a:pt x="48528" y="32352"/>
                </a:cubicBezTo>
                <a:cubicBezTo>
                  <a:pt x="39600" y="32352"/>
                  <a:pt x="32352" y="39600"/>
                  <a:pt x="32352" y="48528"/>
                </a:cubicBezTo>
                <a:cubicBezTo>
                  <a:pt x="32352" y="57455"/>
                  <a:pt x="39600" y="64704"/>
                  <a:pt x="48528" y="64704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9269479" y="6152390"/>
            <a:ext cx="822660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Uttar Pradesh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461" y="377461"/>
            <a:ext cx="11503133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spc="104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MODEL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7461" y="641684"/>
            <a:ext cx="11606935" cy="377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5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Revenue Streams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7461" y="1094638"/>
            <a:ext cx="11531443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6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Diversified, Recurring, Scalable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236" y="1513620"/>
            <a:ext cx="3734980" cy="2612032"/>
          </a:xfrm>
          <a:custGeom>
            <a:avLst/>
            <a:gdLst/>
            <a:ahLst/>
            <a:cxnLst/>
            <a:rect l="l" t="t" r="r" b="b"/>
            <a:pathLst>
              <a:path w="3734980" h="2612032">
                <a:moveTo>
                  <a:pt x="113232" y="0"/>
                </a:moveTo>
                <a:lnTo>
                  <a:pt x="3621748" y="0"/>
                </a:lnTo>
                <a:cubicBezTo>
                  <a:pt x="3684284" y="0"/>
                  <a:pt x="3734980" y="50696"/>
                  <a:pt x="3734980" y="113232"/>
                </a:cubicBezTo>
                <a:lnTo>
                  <a:pt x="3734980" y="2498801"/>
                </a:lnTo>
                <a:cubicBezTo>
                  <a:pt x="3734980" y="2561295"/>
                  <a:pt x="3684242" y="2612032"/>
                  <a:pt x="3621748" y="2612032"/>
                </a:cubicBezTo>
                <a:lnTo>
                  <a:pt x="113232" y="2612032"/>
                </a:lnTo>
                <a:cubicBezTo>
                  <a:pt x="50696" y="2612032"/>
                  <a:pt x="0" y="2561337"/>
                  <a:pt x="0" y="2498801"/>
                </a:cubicBezTo>
                <a:lnTo>
                  <a:pt x="0" y="113232"/>
                </a:lnTo>
                <a:cubicBezTo>
                  <a:pt x="0" y="50696"/>
                  <a:pt x="50696" y="0"/>
                  <a:pt x="113232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35995" y="1668377"/>
            <a:ext cx="377461" cy="377461"/>
          </a:xfrm>
          <a:custGeom>
            <a:avLst/>
            <a:gdLst/>
            <a:ahLst/>
            <a:cxnLst/>
            <a:rect l="l" t="t" r="r" b="b"/>
            <a:pathLst>
              <a:path w="377461" h="377461">
                <a:moveTo>
                  <a:pt x="188731" y="0"/>
                </a:moveTo>
                <a:lnTo>
                  <a:pt x="188731" y="0"/>
                </a:lnTo>
                <a:cubicBezTo>
                  <a:pt x="292894" y="0"/>
                  <a:pt x="377461" y="84567"/>
                  <a:pt x="377461" y="188731"/>
                </a:cubicBezTo>
                <a:lnTo>
                  <a:pt x="377461" y="188731"/>
                </a:lnTo>
                <a:cubicBezTo>
                  <a:pt x="377461" y="292894"/>
                  <a:pt x="292894" y="377461"/>
                  <a:pt x="188731" y="377461"/>
                </a:cubicBezTo>
                <a:lnTo>
                  <a:pt x="188731" y="377461"/>
                </a:lnTo>
                <a:cubicBezTo>
                  <a:pt x="84567" y="377461"/>
                  <a:pt x="0" y="292894"/>
                  <a:pt x="0" y="188731"/>
                </a:cubicBezTo>
                <a:lnTo>
                  <a:pt x="0" y="188731"/>
                </a:lnTo>
                <a:cubicBezTo>
                  <a:pt x="0" y="84567"/>
                  <a:pt x="84567" y="0"/>
                  <a:pt x="188731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39797" y="1781615"/>
            <a:ext cx="169858" cy="150985"/>
          </a:xfrm>
          <a:custGeom>
            <a:avLst/>
            <a:gdLst/>
            <a:ahLst/>
            <a:cxnLst/>
            <a:rect l="l" t="t" r="r" b="b"/>
            <a:pathLst>
              <a:path w="169858" h="150985">
                <a:moveTo>
                  <a:pt x="0" y="99084"/>
                </a:moveTo>
                <a:cubicBezTo>
                  <a:pt x="0" y="122527"/>
                  <a:pt x="19021" y="141548"/>
                  <a:pt x="42464" y="141548"/>
                </a:cubicBezTo>
                <a:lnTo>
                  <a:pt x="132111" y="141548"/>
                </a:lnTo>
                <a:cubicBezTo>
                  <a:pt x="152960" y="141548"/>
                  <a:pt x="169858" y="124651"/>
                  <a:pt x="169858" y="103802"/>
                </a:cubicBezTo>
                <a:cubicBezTo>
                  <a:pt x="169858" y="88585"/>
                  <a:pt x="160863" y="75463"/>
                  <a:pt x="147888" y="69506"/>
                </a:cubicBezTo>
                <a:cubicBezTo>
                  <a:pt x="149864" y="65643"/>
                  <a:pt x="150985" y="61249"/>
                  <a:pt x="150985" y="56619"/>
                </a:cubicBezTo>
                <a:cubicBezTo>
                  <a:pt x="150985" y="40990"/>
                  <a:pt x="138304" y="28310"/>
                  <a:pt x="122675" y="28310"/>
                </a:cubicBezTo>
                <a:cubicBezTo>
                  <a:pt x="117455" y="28310"/>
                  <a:pt x="112590" y="29725"/>
                  <a:pt x="108402" y="32173"/>
                </a:cubicBezTo>
                <a:cubicBezTo>
                  <a:pt x="101295" y="18667"/>
                  <a:pt x="87111" y="9437"/>
                  <a:pt x="70774" y="9437"/>
                </a:cubicBezTo>
                <a:cubicBezTo>
                  <a:pt x="47330" y="9437"/>
                  <a:pt x="28310" y="28457"/>
                  <a:pt x="28310" y="51901"/>
                </a:cubicBezTo>
                <a:cubicBezTo>
                  <a:pt x="28310" y="54260"/>
                  <a:pt x="28516" y="56590"/>
                  <a:pt x="28870" y="58831"/>
                </a:cubicBezTo>
                <a:cubicBezTo>
                  <a:pt x="12091" y="64493"/>
                  <a:pt x="0" y="80387"/>
                  <a:pt x="0" y="99084"/>
                </a:cubicBezTo>
                <a:close/>
              </a:path>
            </a:pathLst>
          </a:custGeom>
          <a:solidFill>
            <a:srgbClr val="F5F1E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26695" y="1743869"/>
            <a:ext cx="1368297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SaaS Subscriptions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5995" y="2159077"/>
            <a:ext cx="358588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Basic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72381" y="2159077"/>
            <a:ext cx="651121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₹2K/room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5995" y="2423300"/>
            <a:ext cx="3482080" cy="1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 only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5995" y="2649666"/>
            <a:ext cx="254786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72499" y="2649666"/>
            <a:ext cx="651121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₹4K/room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5995" y="2913889"/>
            <a:ext cx="3482080" cy="1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Automation + Inventory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5995" y="3140246"/>
            <a:ext cx="641684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68960" y="3140246"/>
            <a:ext cx="651121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₹3K/room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5995" y="3404469"/>
            <a:ext cx="3482080" cy="1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ERP + AI (scale)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32639" y="1513620"/>
            <a:ext cx="3734980" cy="2612032"/>
          </a:xfrm>
          <a:custGeom>
            <a:avLst/>
            <a:gdLst/>
            <a:ahLst/>
            <a:cxnLst/>
            <a:rect l="l" t="t" r="r" b="b"/>
            <a:pathLst>
              <a:path w="3734980" h="2612032">
                <a:moveTo>
                  <a:pt x="113232" y="0"/>
                </a:moveTo>
                <a:lnTo>
                  <a:pt x="3621748" y="0"/>
                </a:lnTo>
                <a:cubicBezTo>
                  <a:pt x="3684284" y="0"/>
                  <a:pt x="3734980" y="50696"/>
                  <a:pt x="3734980" y="113232"/>
                </a:cubicBezTo>
                <a:lnTo>
                  <a:pt x="3734980" y="2498801"/>
                </a:lnTo>
                <a:cubicBezTo>
                  <a:pt x="3734980" y="2561295"/>
                  <a:pt x="3684242" y="2612032"/>
                  <a:pt x="3621748" y="2612032"/>
                </a:cubicBezTo>
                <a:lnTo>
                  <a:pt x="113232" y="2612032"/>
                </a:lnTo>
                <a:cubicBezTo>
                  <a:pt x="50696" y="2612032"/>
                  <a:pt x="0" y="2561337"/>
                  <a:pt x="0" y="2498801"/>
                </a:cubicBezTo>
                <a:lnTo>
                  <a:pt x="0" y="113232"/>
                </a:lnTo>
                <a:cubicBezTo>
                  <a:pt x="0" y="50696"/>
                  <a:pt x="50696" y="0"/>
                  <a:pt x="113232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387398" y="1668377"/>
            <a:ext cx="377461" cy="377461"/>
          </a:xfrm>
          <a:custGeom>
            <a:avLst/>
            <a:gdLst/>
            <a:ahLst/>
            <a:cxnLst/>
            <a:rect l="l" t="t" r="r" b="b"/>
            <a:pathLst>
              <a:path w="377461" h="377461">
                <a:moveTo>
                  <a:pt x="188731" y="0"/>
                </a:moveTo>
                <a:lnTo>
                  <a:pt x="188731" y="0"/>
                </a:lnTo>
                <a:cubicBezTo>
                  <a:pt x="292894" y="0"/>
                  <a:pt x="377461" y="84567"/>
                  <a:pt x="377461" y="188731"/>
                </a:cubicBezTo>
                <a:lnTo>
                  <a:pt x="377461" y="188731"/>
                </a:lnTo>
                <a:cubicBezTo>
                  <a:pt x="377461" y="292894"/>
                  <a:pt x="292894" y="377461"/>
                  <a:pt x="188731" y="377461"/>
                </a:cubicBezTo>
                <a:lnTo>
                  <a:pt x="188731" y="377461"/>
                </a:lnTo>
                <a:cubicBezTo>
                  <a:pt x="84567" y="377461"/>
                  <a:pt x="0" y="292894"/>
                  <a:pt x="0" y="188731"/>
                </a:cubicBezTo>
                <a:lnTo>
                  <a:pt x="0" y="188731"/>
                </a:lnTo>
                <a:cubicBezTo>
                  <a:pt x="0" y="84567"/>
                  <a:pt x="84567" y="0"/>
                  <a:pt x="188731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00636" y="1781615"/>
            <a:ext cx="150985" cy="150985"/>
          </a:xfrm>
          <a:custGeom>
            <a:avLst/>
            <a:gdLst/>
            <a:ahLst/>
            <a:cxnLst/>
            <a:rect l="l" t="t" r="r" b="b"/>
            <a:pathLst>
              <a:path w="150985" h="150985">
                <a:moveTo>
                  <a:pt x="51901" y="7077"/>
                </a:moveTo>
                <a:cubicBezTo>
                  <a:pt x="51901" y="3155"/>
                  <a:pt x="48746" y="0"/>
                  <a:pt x="44824" y="0"/>
                </a:cubicBezTo>
                <a:cubicBezTo>
                  <a:pt x="40901" y="0"/>
                  <a:pt x="37746" y="3155"/>
                  <a:pt x="37746" y="7077"/>
                </a:cubicBezTo>
                <a:lnTo>
                  <a:pt x="37746" y="18873"/>
                </a:lnTo>
                <a:cubicBezTo>
                  <a:pt x="27336" y="18873"/>
                  <a:pt x="18873" y="27336"/>
                  <a:pt x="18873" y="37746"/>
                </a:cubicBezTo>
                <a:lnTo>
                  <a:pt x="7077" y="37746"/>
                </a:lnTo>
                <a:cubicBezTo>
                  <a:pt x="3155" y="37746"/>
                  <a:pt x="0" y="40901"/>
                  <a:pt x="0" y="44824"/>
                </a:cubicBezTo>
                <a:cubicBezTo>
                  <a:pt x="0" y="48746"/>
                  <a:pt x="3155" y="51901"/>
                  <a:pt x="7077" y="51901"/>
                </a:cubicBezTo>
                <a:lnTo>
                  <a:pt x="18873" y="51901"/>
                </a:lnTo>
                <a:lnTo>
                  <a:pt x="18873" y="68415"/>
                </a:lnTo>
                <a:lnTo>
                  <a:pt x="7077" y="68415"/>
                </a:lnTo>
                <a:cubicBezTo>
                  <a:pt x="3155" y="68415"/>
                  <a:pt x="0" y="71570"/>
                  <a:pt x="0" y="75492"/>
                </a:cubicBezTo>
                <a:cubicBezTo>
                  <a:pt x="0" y="79414"/>
                  <a:pt x="3155" y="82570"/>
                  <a:pt x="7077" y="82570"/>
                </a:cubicBezTo>
                <a:lnTo>
                  <a:pt x="18873" y="82570"/>
                </a:lnTo>
                <a:lnTo>
                  <a:pt x="18873" y="99084"/>
                </a:lnTo>
                <a:lnTo>
                  <a:pt x="7077" y="99084"/>
                </a:lnTo>
                <a:cubicBezTo>
                  <a:pt x="3155" y="99084"/>
                  <a:pt x="0" y="102239"/>
                  <a:pt x="0" y="106161"/>
                </a:cubicBezTo>
                <a:cubicBezTo>
                  <a:pt x="0" y="110083"/>
                  <a:pt x="3155" y="113238"/>
                  <a:pt x="7077" y="113238"/>
                </a:cubicBezTo>
                <a:lnTo>
                  <a:pt x="18873" y="113238"/>
                </a:lnTo>
                <a:cubicBezTo>
                  <a:pt x="18873" y="123648"/>
                  <a:pt x="27336" y="132111"/>
                  <a:pt x="37746" y="132111"/>
                </a:cubicBezTo>
                <a:lnTo>
                  <a:pt x="37746" y="143907"/>
                </a:lnTo>
                <a:cubicBezTo>
                  <a:pt x="37746" y="147829"/>
                  <a:pt x="40901" y="150985"/>
                  <a:pt x="44824" y="150985"/>
                </a:cubicBezTo>
                <a:cubicBezTo>
                  <a:pt x="48746" y="150985"/>
                  <a:pt x="51901" y="147829"/>
                  <a:pt x="51901" y="143907"/>
                </a:cubicBezTo>
                <a:lnTo>
                  <a:pt x="51901" y="132111"/>
                </a:lnTo>
                <a:lnTo>
                  <a:pt x="68415" y="132111"/>
                </a:lnTo>
                <a:lnTo>
                  <a:pt x="68415" y="143907"/>
                </a:lnTo>
                <a:cubicBezTo>
                  <a:pt x="68415" y="147829"/>
                  <a:pt x="71570" y="150985"/>
                  <a:pt x="75492" y="150985"/>
                </a:cubicBezTo>
                <a:cubicBezTo>
                  <a:pt x="79414" y="150985"/>
                  <a:pt x="82570" y="147829"/>
                  <a:pt x="82570" y="143907"/>
                </a:cubicBezTo>
                <a:lnTo>
                  <a:pt x="82570" y="132111"/>
                </a:lnTo>
                <a:lnTo>
                  <a:pt x="99084" y="132111"/>
                </a:lnTo>
                <a:lnTo>
                  <a:pt x="99084" y="143907"/>
                </a:lnTo>
                <a:cubicBezTo>
                  <a:pt x="99084" y="147829"/>
                  <a:pt x="102239" y="150985"/>
                  <a:pt x="106161" y="150985"/>
                </a:cubicBezTo>
                <a:cubicBezTo>
                  <a:pt x="110083" y="150985"/>
                  <a:pt x="113238" y="147829"/>
                  <a:pt x="113238" y="143907"/>
                </a:cubicBezTo>
                <a:lnTo>
                  <a:pt x="113238" y="132111"/>
                </a:lnTo>
                <a:cubicBezTo>
                  <a:pt x="123648" y="132111"/>
                  <a:pt x="132111" y="123648"/>
                  <a:pt x="132111" y="113238"/>
                </a:cubicBezTo>
                <a:lnTo>
                  <a:pt x="143907" y="113238"/>
                </a:lnTo>
                <a:cubicBezTo>
                  <a:pt x="147829" y="113238"/>
                  <a:pt x="150985" y="110083"/>
                  <a:pt x="150985" y="106161"/>
                </a:cubicBezTo>
                <a:cubicBezTo>
                  <a:pt x="150985" y="102239"/>
                  <a:pt x="147829" y="99084"/>
                  <a:pt x="143907" y="99084"/>
                </a:cubicBezTo>
                <a:lnTo>
                  <a:pt x="132111" y="99084"/>
                </a:lnTo>
                <a:lnTo>
                  <a:pt x="132111" y="82570"/>
                </a:lnTo>
                <a:lnTo>
                  <a:pt x="143907" y="82570"/>
                </a:lnTo>
                <a:cubicBezTo>
                  <a:pt x="147829" y="82570"/>
                  <a:pt x="150985" y="79414"/>
                  <a:pt x="150985" y="75492"/>
                </a:cubicBezTo>
                <a:cubicBezTo>
                  <a:pt x="150985" y="71570"/>
                  <a:pt x="147829" y="68415"/>
                  <a:pt x="143907" y="68415"/>
                </a:cubicBezTo>
                <a:lnTo>
                  <a:pt x="132111" y="68415"/>
                </a:lnTo>
                <a:lnTo>
                  <a:pt x="132111" y="51901"/>
                </a:lnTo>
                <a:lnTo>
                  <a:pt x="143907" y="51901"/>
                </a:lnTo>
                <a:cubicBezTo>
                  <a:pt x="147829" y="51901"/>
                  <a:pt x="150985" y="48746"/>
                  <a:pt x="150985" y="44824"/>
                </a:cubicBezTo>
                <a:cubicBezTo>
                  <a:pt x="150985" y="40901"/>
                  <a:pt x="147829" y="37746"/>
                  <a:pt x="143907" y="37746"/>
                </a:cubicBezTo>
                <a:lnTo>
                  <a:pt x="132111" y="37746"/>
                </a:lnTo>
                <a:cubicBezTo>
                  <a:pt x="132111" y="27336"/>
                  <a:pt x="123648" y="18873"/>
                  <a:pt x="113238" y="18873"/>
                </a:cubicBezTo>
                <a:lnTo>
                  <a:pt x="113238" y="7077"/>
                </a:lnTo>
                <a:cubicBezTo>
                  <a:pt x="113238" y="3155"/>
                  <a:pt x="110083" y="0"/>
                  <a:pt x="106161" y="0"/>
                </a:cubicBezTo>
                <a:cubicBezTo>
                  <a:pt x="102239" y="0"/>
                  <a:pt x="99084" y="3155"/>
                  <a:pt x="99084" y="7077"/>
                </a:cubicBezTo>
                <a:lnTo>
                  <a:pt x="99084" y="18873"/>
                </a:lnTo>
                <a:lnTo>
                  <a:pt x="82570" y="18873"/>
                </a:lnTo>
                <a:lnTo>
                  <a:pt x="82570" y="7077"/>
                </a:lnTo>
                <a:cubicBezTo>
                  <a:pt x="82570" y="3155"/>
                  <a:pt x="79414" y="0"/>
                  <a:pt x="75492" y="0"/>
                </a:cubicBezTo>
                <a:cubicBezTo>
                  <a:pt x="71570" y="0"/>
                  <a:pt x="68415" y="3155"/>
                  <a:pt x="68415" y="7077"/>
                </a:cubicBezTo>
                <a:lnTo>
                  <a:pt x="68415" y="18873"/>
                </a:lnTo>
                <a:lnTo>
                  <a:pt x="51901" y="18873"/>
                </a:lnTo>
                <a:lnTo>
                  <a:pt x="51901" y="7077"/>
                </a:lnTo>
                <a:close/>
                <a:moveTo>
                  <a:pt x="47183" y="37746"/>
                </a:moveTo>
                <a:lnTo>
                  <a:pt x="103802" y="37746"/>
                </a:lnTo>
                <a:cubicBezTo>
                  <a:pt x="109021" y="37746"/>
                  <a:pt x="113238" y="41963"/>
                  <a:pt x="113238" y="47183"/>
                </a:cubicBezTo>
                <a:lnTo>
                  <a:pt x="113238" y="103802"/>
                </a:lnTo>
                <a:cubicBezTo>
                  <a:pt x="113238" y="109021"/>
                  <a:pt x="109021" y="113238"/>
                  <a:pt x="103802" y="113238"/>
                </a:cubicBezTo>
                <a:lnTo>
                  <a:pt x="47183" y="113238"/>
                </a:lnTo>
                <a:cubicBezTo>
                  <a:pt x="41963" y="113238"/>
                  <a:pt x="37746" y="109021"/>
                  <a:pt x="37746" y="103802"/>
                </a:cubicBezTo>
                <a:lnTo>
                  <a:pt x="37746" y="47183"/>
                </a:lnTo>
                <a:cubicBezTo>
                  <a:pt x="37746" y="41963"/>
                  <a:pt x="41963" y="37746"/>
                  <a:pt x="47183" y="37746"/>
                </a:cubicBezTo>
                <a:close/>
                <a:moveTo>
                  <a:pt x="51901" y="51901"/>
                </a:moveTo>
                <a:lnTo>
                  <a:pt x="51901" y="99084"/>
                </a:lnTo>
                <a:lnTo>
                  <a:pt x="99084" y="99084"/>
                </a:lnTo>
                <a:lnTo>
                  <a:pt x="99084" y="51901"/>
                </a:lnTo>
                <a:lnTo>
                  <a:pt x="51901" y="51901"/>
                </a:ln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78098" y="1743869"/>
            <a:ext cx="1113511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Hardware Sales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87398" y="2159077"/>
            <a:ext cx="3425461" cy="868161"/>
          </a:xfrm>
          <a:custGeom>
            <a:avLst/>
            <a:gdLst/>
            <a:ahLst/>
            <a:cxnLst/>
            <a:rect l="l" t="t" r="r" b="b"/>
            <a:pathLst>
              <a:path w="3425461" h="868161">
                <a:moveTo>
                  <a:pt x="75495" y="0"/>
                </a:moveTo>
                <a:lnTo>
                  <a:pt x="3349966" y="0"/>
                </a:lnTo>
                <a:cubicBezTo>
                  <a:pt x="3391661" y="0"/>
                  <a:pt x="3425461" y="33800"/>
                  <a:pt x="3425461" y="75495"/>
                </a:cubicBezTo>
                <a:lnTo>
                  <a:pt x="3425461" y="792666"/>
                </a:lnTo>
                <a:cubicBezTo>
                  <a:pt x="3425461" y="834361"/>
                  <a:pt x="3391661" y="868161"/>
                  <a:pt x="3349966" y="868161"/>
                </a:cubicBezTo>
                <a:lnTo>
                  <a:pt x="75495" y="868161"/>
                </a:lnTo>
                <a:cubicBezTo>
                  <a:pt x="33828" y="868161"/>
                  <a:pt x="0" y="834333"/>
                  <a:pt x="0" y="792666"/>
                </a:cubicBezTo>
                <a:lnTo>
                  <a:pt x="0" y="75495"/>
                </a:lnTo>
                <a:cubicBezTo>
                  <a:pt x="0" y="33828"/>
                  <a:pt x="33828" y="0"/>
                  <a:pt x="75495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500636" y="2272315"/>
            <a:ext cx="3265040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Per-Farm Kit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00636" y="2498792"/>
            <a:ext cx="3293350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6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₹6,700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00636" y="2763015"/>
            <a:ext cx="3255604" cy="1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ESP32 + SCD4x + DHT11 + DS18B20 x10 + LCD + Relays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387398" y="3102619"/>
            <a:ext cx="3425461" cy="868161"/>
          </a:xfrm>
          <a:custGeom>
            <a:avLst/>
            <a:gdLst/>
            <a:ahLst/>
            <a:cxnLst/>
            <a:rect l="l" t="t" r="r" b="b"/>
            <a:pathLst>
              <a:path w="3425461" h="868161">
                <a:moveTo>
                  <a:pt x="75495" y="0"/>
                </a:moveTo>
                <a:lnTo>
                  <a:pt x="3349966" y="0"/>
                </a:lnTo>
                <a:cubicBezTo>
                  <a:pt x="3391661" y="0"/>
                  <a:pt x="3425461" y="33800"/>
                  <a:pt x="3425461" y="75495"/>
                </a:cubicBezTo>
                <a:lnTo>
                  <a:pt x="3425461" y="792666"/>
                </a:lnTo>
                <a:cubicBezTo>
                  <a:pt x="3425461" y="834361"/>
                  <a:pt x="3391661" y="868161"/>
                  <a:pt x="3349966" y="868161"/>
                </a:cubicBezTo>
                <a:lnTo>
                  <a:pt x="75495" y="868161"/>
                </a:lnTo>
                <a:cubicBezTo>
                  <a:pt x="33828" y="868161"/>
                  <a:pt x="0" y="834333"/>
                  <a:pt x="0" y="792666"/>
                </a:cubicBezTo>
                <a:lnTo>
                  <a:pt x="0" y="75495"/>
                </a:lnTo>
                <a:cubicBezTo>
                  <a:pt x="0" y="33828"/>
                  <a:pt x="33828" y="0"/>
                  <a:pt x="75495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500636" y="3215858"/>
            <a:ext cx="3265040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Margin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00636" y="3442335"/>
            <a:ext cx="3293350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6" b="1" dirty="0">
                <a:solidFill>
                  <a:srgbClr val="6B8E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₹4,600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00636" y="3706558"/>
            <a:ext cx="3255604" cy="1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18% gross margin per kit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084160" y="1513620"/>
            <a:ext cx="3734980" cy="2612032"/>
          </a:xfrm>
          <a:custGeom>
            <a:avLst/>
            <a:gdLst/>
            <a:ahLst/>
            <a:cxnLst/>
            <a:rect l="l" t="t" r="r" b="b"/>
            <a:pathLst>
              <a:path w="3734980" h="2612032">
                <a:moveTo>
                  <a:pt x="113232" y="0"/>
                </a:moveTo>
                <a:lnTo>
                  <a:pt x="3621748" y="0"/>
                </a:lnTo>
                <a:cubicBezTo>
                  <a:pt x="3684284" y="0"/>
                  <a:pt x="3734980" y="50696"/>
                  <a:pt x="3734980" y="113232"/>
                </a:cubicBezTo>
                <a:lnTo>
                  <a:pt x="3734980" y="2498801"/>
                </a:lnTo>
                <a:cubicBezTo>
                  <a:pt x="3734980" y="2561295"/>
                  <a:pt x="3684242" y="2612032"/>
                  <a:pt x="3621748" y="2612032"/>
                </a:cubicBezTo>
                <a:lnTo>
                  <a:pt x="113232" y="2612032"/>
                </a:lnTo>
                <a:cubicBezTo>
                  <a:pt x="50696" y="2612032"/>
                  <a:pt x="0" y="2561337"/>
                  <a:pt x="0" y="2498801"/>
                </a:cubicBezTo>
                <a:lnTo>
                  <a:pt x="0" y="113232"/>
                </a:lnTo>
                <a:cubicBezTo>
                  <a:pt x="0" y="50696"/>
                  <a:pt x="50696" y="0"/>
                  <a:pt x="113232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8238919" y="1668377"/>
            <a:ext cx="377461" cy="377461"/>
          </a:xfrm>
          <a:custGeom>
            <a:avLst/>
            <a:gdLst/>
            <a:ahLst/>
            <a:cxnLst/>
            <a:rect l="l" t="t" r="r" b="b"/>
            <a:pathLst>
              <a:path w="377461" h="377461">
                <a:moveTo>
                  <a:pt x="188731" y="0"/>
                </a:moveTo>
                <a:lnTo>
                  <a:pt x="188731" y="0"/>
                </a:lnTo>
                <a:cubicBezTo>
                  <a:pt x="292894" y="0"/>
                  <a:pt x="377461" y="84567"/>
                  <a:pt x="377461" y="188731"/>
                </a:cubicBezTo>
                <a:lnTo>
                  <a:pt x="377461" y="188731"/>
                </a:lnTo>
                <a:cubicBezTo>
                  <a:pt x="377461" y="292894"/>
                  <a:pt x="292894" y="377461"/>
                  <a:pt x="188731" y="377461"/>
                </a:cubicBezTo>
                <a:lnTo>
                  <a:pt x="188731" y="377461"/>
                </a:lnTo>
                <a:cubicBezTo>
                  <a:pt x="84567" y="377461"/>
                  <a:pt x="0" y="292894"/>
                  <a:pt x="0" y="188731"/>
                </a:cubicBezTo>
                <a:lnTo>
                  <a:pt x="0" y="188731"/>
                </a:lnTo>
                <a:cubicBezTo>
                  <a:pt x="0" y="84567"/>
                  <a:pt x="84567" y="0"/>
                  <a:pt x="188731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8352157" y="1781615"/>
            <a:ext cx="150985" cy="150985"/>
          </a:xfrm>
          <a:custGeom>
            <a:avLst/>
            <a:gdLst/>
            <a:ahLst/>
            <a:cxnLst/>
            <a:rect l="l" t="t" r="r" b="b"/>
            <a:pathLst>
              <a:path w="150985" h="150985">
                <a:moveTo>
                  <a:pt x="9053" y="21321"/>
                </a:moveTo>
                <a:cubicBezTo>
                  <a:pt x="11088" y="14273"/>
                  <a:pt x="17546" y="9437"/>
                  <a:pt x="24889" y="9437"/>
                </a:cubicBezTo>
                <a:lnTo>
                  <a:pt x="126332" y="9437"/>
                </a:lnTo>
                <a:cubicBezTo>
                  <a:pt x="133674" y="9437"/>
                  <a:pt x="140133" y="14273"/>
                  <a:pt x="142197" y="21321"/>
                </a:cubicBezTo>
                <a:lnTo>
                  <a:pt x="149097" y="44971"/>
                </a:lnTo>
                <a:cubicBezTo>
                  <a:pt x="152872" y="57858"/>
                  <a:pt x="143170" y="70774"/>
                  <a:pt x="129752" y="70774"/>
                </a:cubicBezTo>
                <a:cubicBezTo>
                  <a:pt x="121997" y="70774"/>
                  <a:pt x="115185" y="66380"/>
                  <a:pt x="111823" y="59834"/>
                </a:cubicBezTo>
                <a:cubicBezTo>
                  <a:pt x="108402" y="66292"/>
                  <a:pt x="101620" y="70774"/>
                  <a:pt x="93717" y="70774"/>
                </a:cubicBezTo>
                <a:cubicBezTo>
                  <a:pt x="85872" y="70774"/>
                  <a:pt x="79060" y="66351"/>
                  <a:pt x="75640" y="59863"/>
                </a:cubicBezTo>
                <a:cubicBezTo>
                  <a:pt x="72219" y="66351"/>
                  <a:pt x="65407" y="70774"/>
                  <a:pt x="57563" y="70774"/>
                </a:cubicBezTo>
                <a:cubicBezTo>
                  <a:pt x="49660" y="70774"/>
                  <a:pt x="42877" y="66321"/>
                  <a:pt x="39457" y="59834"/>
                </a:cubicBezTo>
                <a:cubicBezTo>
                  <a:pt x="36095" y="66351"/>
                  <a:pt x="29283" y="70774"/>
                  <a:pt x="21527" y="70774"/>
                </a:cubicBezTo>
                <a:cubicBezTo>
                  <a:pt x="8080" y="70774"/>
                  <a:pt x="-1592" y="57887"/>
                  <a:pt x="2182" y="44971"/>
                </a:cubicBezTo>
                <a:lnTo>
                  <a:pt x="9053" y="21321"/>
                </a:lnTo>
                <a:close/>
                <a:moveTo>
                  <a:pt x="28428" y="103802"/>
                </a:moveTo>
                <a:lnTo>
                  <a:pt x="122793" y="103802"/>
                </a:lnTo>
                <a:lnTo>
                  <a:pt x="122793" y="84221"/>
                </a:lnTo>
                <a:cubicBezTo>
                  <a:pt x="125034" y="84693"/>
                  <a:pt x="127364" y="84929"/>
                  <a:pt x="129723" y="84929"/>
                </a:cubicBezTo>
                <a:cubicBezTo>
                  <a:pt x="133940" y="84929"/>
                  <a:pt x="137980" y="84162"/>
                  <a:pt x="141666" y="82806"/>
                </a:cubicBezTo>
                <a:lnTo>
                  <a:pt x="141666" y="127393"/>
                </a:lnTo>
                <a:cubicBezTo>
                  <a:pt x="141666" y="135208"/>
                  <a:pt x="135326" y="141548"/>
                  <a:pt x="127511" y="141548"/>
                </a:cubicBezTo>
                <a:lnTo>
                  <a:pt x="23709" y="141548"/>
                </a:lnTo>
                <a:cubicBezTo>
                  <a:pt x="15895" y="141548"/>
                  <a:pt x="9554" y="135208"/>
                  <a:pt x="9554" y="127393"/>
                </a:cubicBezTo>
                <a:lnTo>
                  <a:pt x="9554" y="82806"/>
                </a:lnTo>
                <a:cubicBezTo>
                  <a:pt x="13241" y="84162"/>
                  <a:pt x="17251" y="84929"/>
                  <a:pt x="21498" y="84929"/>
                </a:cubicBezTo>
                <a:cubicBezTo>
                  <a:pt x="23886" y="84929"/>
                  <a:pt x="26186" y="84693"/>
                  <a:pt x="28428" y="84221"/>
                </a:cubicBezTo>
                <a:lnTo>
                  <a:pt x="28428" y="103802"/>
                </a:ln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729618" y="1743869"/>
            <a:ext cx="905907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Marketplace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38919" y="2159077"/>
            <a:ext cx="1019146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Transaction Fees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349789" y="2159077"/>
            <a:ext cx="377461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2-3%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38919" y="2423300"/>
            <a:ext cx="3482080" cy="1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 GMV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38919" y="2649666"/>
            <a:ext cx="717176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Listing Fees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259199" y="2649666"/>
            <a:ext cx="462390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₹5-15K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38919" y="2913889"/>
            <a:ext cx="3482080" cy="1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verification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38919" y="3140246"/>
            <a:ext cx="1038019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Premium Listings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173444" y="3140246"/>
            <a:ext cx="556755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₹15-50K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238919" y="3404469"/>
            <a:ext cx="3482080" cy="1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Featured suppliers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81236" y="4283952"/>
            <a:ext cx="5641159" cy="1592887"/>
          </a:xfrm>
          <a:custGeom>
            <a:avLst/>
            <a:gdLst/>
            <a:ahLst/>
            <a:cxnLst/>
            <a:rect l="l" t="t" r="r" b="b"/>
            <a:pathLst>
              <a:path w="5641159" h="1592887">
                <a:moveTo>
                  <a:pt x="113238" y="0"/>
                </a:moveTo>
                <a:lnTo>
                  <a:pt x="5527921" y="0"/>
                </a:lnTo>
                <a:cubicBezTo>
                  <a:pt x="5590461" y="0"/>
                  <a:pt x="5641159" y="50699"/>
                  <a:pt x="5641159" y="113238"/>
                </a:cubicBezTo>
                <a:lnTo>
                  <a:pt x="5641159" y="1479648"/>
                </a:lnTo>
                <a:cubicBezTo>
                  <a:pt x="5641159" y="1542188"/>
                  <a:pt x="5590461" y="1592887"/>
                  <a:pt x="5527921" y="1592887"/>
                </a:cubicBezTo>
                <a:lnTo>
                  <a:pt x="113238" y="1592887"/>
                </a:lnTo>
                <a:cubicBezTo>
                  <a:pt x="50699" y="1592887"/>
                  <a:pt x="0" y="1542188"/>
                  <a:pt x="0" y="1479648"/>
                </a:cubicBezTo>
                <a:lnTo>
                  <a:pt x="0" y="113238"/>
                </a:lnTo>
                <a:cubicBezTo>
                  <a:pt x="0" y="50740"/>
                  <a:pt x="50740" y="0"/>
                  <a:pt x="113238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35995" y="4438709"/>
            <a:ext cx="5397697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spc="52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3-5 REVENUE EXPANSION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35995" y="4740678"/>
            <a:ext cx="1509845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Consultancy Commission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425653" y="4740678"/>
            <a:ext cx="500136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15-20%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35995" y="5004901"/>
            <a:ext cx="1255059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Equipment Financing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078388" y="5004901"/>
            <a:ext cx="849288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1% origination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35995" y="5269124"/>
            <a:ext cx="896471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Licensing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981192" y="5269124"/>
            <a:ext cx="953090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licenses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35995" y="5533347"/>
            <a:ext cx="934217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Crop Insurance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132294" y="5533347"/>
            <a:ext cx="802105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5% premium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77272" y="4283952"/>
            <a:ext cx="5641159" cy="1592887"/>
          </a:xfrm>
          <a:custGeom>
            <a:avLst/>
            <a:gdLst/>
            <a:ahLst/>
            <a:cxnLst/>
            <a:rect l="l" t="t" r="r" b="b"/>
            <a:pathLst>
              <a:path w="5641159" h="1592887">
                <a:moveTo>
                  <a:pt x="113238" y="0"/>
                </a:moveTo>
                <a:lnTo>
                  <a:pt x="5527921" y="0"/>
                </a:lnTo>
                <a:cubicBezTo>
                  <a:pt x="5590461" y="0"/>
                  <a:pt x="5641159" y="50699"/>
                  <a:pt x="5641159" y="113238"/>
                </a:cubicBezTo>
                <a:lnTo>
                  <a:pt x="5641159" y="1479648"/>
                </a:lnTo>
                <a:cubicBezTo>
                  <a:pt x="5641159" y="1542188"/>
                  <a:pt x="5590461" y="1592887"/>
                  <a:pt x="5527921" y="1592887"/>
                </a:cubicBezTo>
                <a:lnTo>
                  <a:pt x="113238" y="1592887"/>
                </a:lnTo>
                <a:cubicBezTo>
                  <a:pt x="50699" y="1592887"/>
                  <a:pt x="0" y="1542188"/>
                  <a:pt x="0" y="1479648"/>
                </a:cubicBezTo>
                <a:lnTo>
                  <a:pt x="0" y="113238"/>
                </a:lnTo>
                <a:cubicBezTo>
                  <a:pt x="0" y="50740"/>
                  <a:pt x="50740" y="0"/>
                  <a:pt x="113238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6332031" y="4438709"/>
            <a:ext cx="5397697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spc="52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BY PHASE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332031" y="4740678"/>
            <a:ext cx="1273932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1-2 (SaaS only)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209185" y="4740678"/>
            <a:ext cx="519009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₹9.12 Cr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332031" y="5004901"/>
            <a:ext cx="1387170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 (+Marketplace)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211544" y="5004901"/>
            <a:ext cx="519009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₹34.1 Cr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332031" y="5269124"/>
            <a:ext cx="1368297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F5F1E8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4-5 (Ecosystem)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1184179" y="5269124"/>
            <a:ext cx="537882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₹87.9 Cr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96334" y="6031594"/>
            <a:ext cx="11418204" cy="452954"/>
          </a:xfrm>
          <a:custGeom>
            <a:avLst/>
            <a:gdLst/>
            <a:ahLst/>
            <a:cxnLst/>
            <a:rect l="l" t="t" r="r" b="b"/>
            <a:pathLst>
              <a:path w="11418204" h="452954">
                <a:moveTo>
                  <a:pt x="0" y="0"/>
                </a:moveTo>
                <a:lnTo>
                  <a:pt x="11342711" y="0"/>
                </a:lnTo>
                <a:cubicBezTo>
                  <a:pt x="11384405" y="0"/>
                  <a:pt x="11418204" y="33800"/>
                  <a:pt x="11418204" y="75494"/>
                </a:cubicBezTo>
                <a:lnTo>
                  <a:pt x="11418204" y="377460"/>
                </a:lnTo>
                <a:cubicBezTo>
                  <a:pt x="11418204" y="419154"/>
                  <a:pt x="11384405" y="452954"/>
                  <a:pt x="11342711" y="452954"/>
                </a:cubicBezTo>
                <a:lnTo>
                  <a:pt x="0" y="452954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9C46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396334" y="6031594"/>
            <a:ext cx="37746" cy="452954"/>
          </a:xfrm>
          <a:custGeom>
            <a:avLst/>
            <a:gdLst/>
            <a:ahLst/>
            <a:cxnLst/>
            <a:rect l="l" t="t" r="r" b="b"/>
            <a:pathLst>
              <a:path w="37746" h="452954">
                <a:moveTo>
                  <a:pt x="0" y="0"/>
                </a:moveTo>
                <a:lnTo>
                  <a:pt x="37746" y="0"/>
                </a:lnTo>
                <a:lnTo>
                  <a:pt x="37746" y="452954"/>
                </a:lnTo>
                <a:lnTo>
                  <a:pt x="0" y="452954"/>
                </a:lnTo>
                <a:lnTo>
                  <a:pt x="0" y="0"/>
                </a:ln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537882" y="6175031"/>
            <a:ext cx="169858" cy="150985"/>
          </a:xfrm>
          <a:custGeom>
            <a:avLst/>
            <a:gdLst/>
            <a:ahLst/>
            <a:cxnLst/>
            <a:rect l="l" t="t" r="r" b="b"/>
            <a:pathLst>
              <a:path w="169858" h="150985">
                <a:moveTo>
                  <a:pt x="151102" y="70774"/>
                </a:moveTo>
                <a:lnTo>
                  <a:pt x="99202" y="70774"/>
                </a:lnTo>
                <a:cubicBezTo>
                  <a:pt x="93982" y="70774"/>
                  <a:pt x="89765" y="66557"/>
                  <a:pt x="89765" y="61337"/>
                </a:cubicBezTo>
                <a:lnTo>
                  <a:pt x="89765" y="9437"/>
                </a:lnTo>
                <a:cubicBezTo>
                  <a:pt x="89765" y="4217"/>
                  <a:pt x="94011" y="-59"/>
                  <a:pt x="99172" y="619"/>
                </a:cubicBezTo>
                <a:cubicBezTo>
                  <a:pt x="130725" y="4807"/>
                  <a:pt x="155732" y="29814"/>
                  <a:pt x="159920" y="61367"/>
                </a:cubicBezTo>
                <a:cubicBezTo>
                  <a:pt x="160598" y="66528"/>
                  <a:pt x="156322" y="70774"/>
                  <a:pt x="151102" y="70774"/>
                </a:cubicBezTo>
                <a:close/>
                <a:moveTo>
                  <a:pt x="65643" y="10970"/>
                </a:moveTo>
                <a:cubicBezTo>
                  <a:pt x="70980" y="9849"/>
                  <a:pt x="75610" y="14214"/>
                  <a:pt x="75610" y="19669"/>
                </a:cubicBezTo>
                <a:lnTo>
                  <a:pt x="75610" y="77851"/>
                </a:lnTo>
                <a:cubicBezTo>
                  <a:pt x="75610" y="79503"/>
                  <a:pt x="76200" y="81095"/>
                  <a:pt x="77232" y="82363"/>
                </a:cubicBezTo>
                <a:lnTo>
                  <a:pt x="116187" y="129369"/>
                </a:lnTo>
                <a:cubicBezTo>
                  <a:pt x="119638" y="133527"/>
                  <a:pt x="118900" y="139808"/>
                  <a:pt x="114153" y="142374"/>
                </a:cubicBezTo>
                <a:cubicBezTo>
                  <a:pt x="104097" y="147859"/>
                  <a:pt x="92566" y="150985"/>
                  <a:pt x="80328" y="150985"/>
                </a:cubicBezTo>
                <a:cubicBezTo>
                  <a:pt x="41255" y="150985"/>
                  <a:pt x="9554" y="119284"/>
                  <a:pt x="9554" y="80211"/>
                </a:cubicBezTo>
                <a:cubicBezTo>
                  <a:pt x="9554" y="46151"/>
                  <a:pt x="33588" y="17723"/>
                  <a:pt x="65643" y="10970"/>
                </a:cubicBezTo>
                <a:close/>
                <a:moveTo>
                  <a:pt x="140899" y="84929"/>
                </a:moveTo>
                <a:lnTo>
                  <a:pt x="159772" y="84929"/>
                </a:lnTo>
                <a:cubicBezTo>
                  <a:pt x="165228" y="84929"/>
                  <a:pt x="169592" y="89559"/>
                  <a:pt x="168472" y="94896"/>
                </a:cubicBezTo>
                <a:cubicBezTo>
                  <a:pt x="165464" y="109169"/>
                  <a:pt x="158150" y="121849"/>
                  <a:pt x="147947" y="131522"/>
                </a:cubicBezTo>
                <a:cubicBezTo>
                  <a:pt x="144320" y="134972"/>
                  <a:pt x="138629" y="134235"/>
                  <a:pt x="135444" y="130372"/>
                </a:cubicBezTo>
                <a:lnTo>
                  <a:pt x="110555" y="100381"/>
                </a:lnTo>
                <a:cubicBezTo>
                  <a:pt x="105453" y="94218"/>
                  <a:pt x="109847" y="84929"/>
                  <a:pt x="117809" y="84929"/>
                </a:cubicBezTo>
                <a:lnTo>
                  <a:pt x="140870" y="84929"/>
                </a:ln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773270" y="6144832"/>
            <a:ext cx="11003523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Take Rate:</a:t>
            </a:r>
            <a:pPr>
              <a:lnSpc>
                <a:spcPct val="120000"/>
              </a:lnSpc>
            </a:pPr>
            <a:r>
              <a:rPr lang="en-US" sz="1189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4.5% average across all revenue streams by Year 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911" y="359911"/>
            <a:ext cx="11535162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b="1" spc="99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 ECONOMICS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9911" y="611849"/>
            <a:ext cx="11634137" cy="35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1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Profitable at Scale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9911" y="1043743"/>
            <a:ext cx="11562155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Unit Economics Drive Sustainable Growth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3511" y="1443245"/>
            <a:ext cx="5657808" cy="1887735"/>
          </a:xfrm>
          <a:custGeom>
            <a:avLst/>
            <a:gdLst/>
            <a:ahLst/>
            <a:cxnLst/>
            <a:rect l="l" t="t" r="r" b="b"/>
            <a:pathLst>
              <a:path w="5657808" h="1887735">
                <a:moveTo>
                  <a:pt x="107978" y="0"/>
                </a:moveTo>
                <a:lnTo>
                  <a:pt x="5549829" y="0"/>
                </a:lnTo>
                <a:cubicBezTo>
                  <a:pt x="5609464" y="0"/>
                  <a:pt x="5657808" y="48344"/>
                  <a:pt x="5657808" y="107978"/>
                </a:cubicBezTo>
                <a:lnTo>
                  <a:pt x="5657808" y="1779757"/>
                </a:lnTo>
                <a:cubicBezTo>
                  <a:pt x="5657808" y="1839392"/>
                  <a:pt x="5609464" y="1887735"/>
                  <a:pt x="5549829" y="1887735"/>
                </a:cubicBezTo>
                <a:lnTo>
                  <a:pt x="107978" y="1887735"/>
                </a:lnTo>
                <a:cubicBezTo>
                  <a:pt x="48344" y="1887735"/>
                  <a:pt x="0" y="1839392"/>
                  <a:pt x="0" y="1779757"/>
                </a:cubicBezTo>
                <a:lnTo>
                  <a:pt x="0" y="107978"/>
                </a:lnTo>
                <a:cubicBezTo>
                  <a:pt x="0" y="48344"/>
                  <a:pt x="48344" y="0"/>
                  <a:pt x="107978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11074" y="1590807"/>
            <a:ext cx="5425665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b="1" spc="50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(PRO TIER)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1074" y="1878736"/>
            <a:ext cx="1178710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farm size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12743" y="1878736"/>
            <a:ext cx="629845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rooms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1074" y="2220652"/>
            <a:ext cx="1124723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 revenue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32100" y="2202656"/>
            <a:ext cx="719823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₹60,000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1074" y="2580563"/>
            <a:ext cx="1043743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revenue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67505" y="2562568"/>
            <a:ext cx="494878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₹7.2L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70007" y="1443245"/>
            <a:ext cx="5657808" cy="1887735"/>
          </a:xfrm>
          <a:custGeom>
            <a:avLst/>
            <a:gdLst/>
            <a:ahLst/>
            <a:cxnLst/>
            <a:rect l="l" t="t" r="r" b="b"/>
            <a:pathLst>
              <a:path w="5657808" h="1887735">
                <a:moveTo>
                  <a:pt x="107978" y="0"/>
                </a:moveTo>
                <a:lnTo>
                  <a:pt x="5549829" y="0"/>
                </a:lnTo>
                <a:cubicBezTo>
                  <a:pt x="5609464" y="0"/>
                  <a:pt x="5657808" y="48344"/>
                  <a:pt x="5657808" y="107978"/>
                </a:cubicBezTo>
                <a:lnTo>
                  <a:pt x="5657808" y="1779757"/>
                </a:lnTo>
                <a:cubicBezTo>
                  <a:pt x="5657808" y="1839392"/>
                  <a:pt x="5609464" y="1887735"/>
                  <a:pt x="5549829" y="1887735"/>
                </a:cubicBezTo>
                <a:lnTo>
                  <a:pt x="107978" y="1887735"/>
                </a:lnTo>
                <a:cubicBezTo>
                  <a:pt x="48344" y="1887735"/>
                  <a:pt x="0" y="1839392"/>
                  <a:pt x="0" y="1779757"/>
                </a:cubicBezTo>
                <a:lnTo>
                  <a:pt x="0" y="107978"/>
                </a:lnTo>
                <a:cubicBezTo>
                  <a:pt x="0" y="48344"/>
                  <a:pt x="48344" y="0"/>
                  <a:pt x="107978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17570" y="1590807"/>
            <a:ext cx="5425665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b="1" spc="50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COSTS (PER FARM/YEAR)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17570" y="1878736"/>
            <a:ext cx="1313677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infrastructure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257018" y="1878736"/>
            <a:ext cx="494878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₹1,200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17570" y="2202656"/>
            <a:ext cx="953765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(10%)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236885" y="2202656"/>
            <a:ext cx="512874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₹7,200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17570" y="2530176"/>
            <a:ext cx="5362680" cy="7198"/>
          </a:xfrm>
          <a:custGeom>
            <a:avLst/>
            <a:gdLst/>
            <a:ahLst/>
            <a:cxnLst/>
            <a:rect l="l" t="t" r="r" b="b"/>
            <a:pathLst>
              <a:path w="5362680" h="7198">
                <a:moveTo>
                  <a:pt x="0" y="0"/>
                </a:moveTo>
                <a:lnTo>
                  <a:pt x="5362680" y="0"/>
                </a:lnTo>
                <a:lnTo>
                  <a:pt x="5362680" y="7198"/>
                </a:lnTo>
                <a:lnTo>
                  <a:pt x="0" y="7198"/>
                </a:lnTo>
                <a:lnTo>
                  <a:pt x="0" y="0"/>
                </a:lnTo>
                <a:close/>
              </a:path>
            </a:pathLst>
          </a:custGeom>
          <a:solidFill>
            <a:srgbClr val="6B8E6E">
              <a:alpha val="30196"/>
            </a:srgbClr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17570" y="2623760"/>
            <a:ext cx="890781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Gross Margin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329788" y="2605764"/>
            <a:ext cx="440892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6B8E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88%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45588" y="2965676"/>
            <a:ext cx="5434663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34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₹6.35L profit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3511" y="3480347"/>
            <a:ext cx="2778516" cy="1014950"/>
          </a:xfrm>
          <a:custGeom>
            <a:avLst/>
            <a:gdLst/>
            <a:ahLst/>
            <a:cxnLst/>
            <a:rect l="l" t="t" r="r" b="b"/>
            <a:pathLst>
              <a:path w="2778516" h="1014950">
                <a:moveTo>
                  <a:pt x="107970" y="0"/>
                </a:moveTo>
                <a:lnTo>
                  <a:pt x="2670546" y="0"/>
                </a:lnTo>
                <a:cubicBezTo>
                  <a:pt x="2730176" y="0"/>
                  <a:pt x="2778516" y="48340"/>
                  <a:pt x="2778516" y="107970"/>
                </a:cubicBezTo>
                <a:lnTo>
                  <a:pt x="2778516" y="906980"/>
                </a:lnTo>
                <a:cubicBezTo>
                  <a:pt x="2778516" y="966610"/>
                  <a:pt x="2730176" y="1014950"/>
                  <a:pt x="2670546" y="1014950"/>
                </a:cubicBezTo>
                <a:lnTo>
                  <a:pt x="107970" y="1014950"/>
                </a:lnTo>
                <a:cubicBezTo>
                  <a:pt x="48340" y="1014950"/>
                  <a:pt x="0" y="966610"/>
                  <a:pt x="0" y="906980"/>
                </a:cubicBezTo>
                <a:lnTo>
                  <a:pt x="0" y="107970"/>
                </a:lnTo>
                <a:cubicBezTo>
                  <a:pt x="0" y="48380"/>
                  <a:pt x="48380" y="0"/>
                  <a:pt x="107970" y="0"/>
                </a:cubicBezTo>
                <a:close/>
              </a:path>
            </a:pathLst>
          </a:custGeom>
          <a:gradFill rotWithShape="1" flip="none">
            <a:gsLst>
              <a:gs pos="0">
                <a:srgbClr val="E9C46A">
                  <a:alpha val="20000"/>
                </a:srgbClr>
              </a:gs>
              <a:gs pos="100000">
                <a:srgbClr val="E9C46A">
                  <a:alpha val="5000"/>
                </a:srgbClr>
              </a:gs>
            </a:gsLst>
            <a:lin ang="2700000" scaled="1"/>
          </a:gradFill>
          <a:ln w="10160">
            <a:solidFill>
              <a:srgbClr val="E9C46A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618027" y="3591918"/>
            <a:ext cx="269934" cy="215947"/>
          </a:xfrm>
          <a:custGeom>
            <a:avLst/>
            <a:gdLst/>
            <a:ahLst/>
            <a:cxnLst/>
            <a:rect l="l" t="t" r="r" b="b"/>
            <a:pathLst>
              <a:path w="269934" h="215947">
                <a:moveTo>
                  <a:pt x="134967" y="6748"/>
                </a:moveTo>
                <a:cubicBezTo>
                  <a:pt x="159176" y="6748"/>
                  <a:pt x="178831" y="26403"/>
                  <a:pt x="178831" y="50613"/>
                </a:cubicBezTo>
                <a:cubicBezTo>
                  <a:pt x="178831" y="74822"/>
                  <a:pt x="159176" y="94477"/>
                  <a:pt x="134967" y="94477"/>
                </a:cubicBezTo>
                <a:cubicBezTo>
                  <a:pt x="110757" y="94477"/>
                  <a:pt x="91103" y="74822"/>
                  <a:pt x="91103" y="50613"/>
                </a:cubicBezTo>
                <a:cubicBezTo>
                  <a:pt x="91103" y="26403"/>
                  <a:pt x="110757" y="6748"/>
                  <a:pt x="134967" y="6748"/>
                </a:cubicBezTo>
                <a:close/>
                <a:moveTo>
                  <a:pt x="40490" y="37116"/>
                </a:moveTo>
                <a:cubicBezTo>
                  <a:pt x="57250" y="37116"/>
                  <a:pt x="70858" y="50723"/>
                  <a:pt x="70858" y="67483"/>
                </a:cubicBezTo>
                <a:cubicBezTo>
                  <a:pt x="70858" y="84244"/>
                  <a:pt x="57250" y="97851"/>
                  <a:pt x="40490" y="97851"/>
                </a:cubicBezTo>
                <a:cubicBezTo>
                  <a:pt x="23730" y="97851"/>
                  <a:pt x="10123" y="84244"/>
                  <a:pt x="10123" y="67483"/>
                </a:cubicBezTo>
                <a:cubicBezTo>
                  <a:pt x="10123" y="50723"/>
                  <a:pt x="23730" y="37116"/>
                  <a:pt x="40490" y="37116"/>
                </a:cubicBezTo>
                <a:close/>
                <a:moveTo>
                  <a:pt x="0" y="175457"/>
                </a:moveTo>
                <a:cubicBezTo>
                  <a:pt x="0" y="145638"/>
                  <a:pt x="24167" y="121470"/>
                  <a:pt x="53987" y="121470"/>
                </a:cubicBezTo>
                <a:cubicBezTo>
                  <a:pt x="59385" y="121470"/>
                  <a:pt x="64615" y="122271"/>
                  <a:pt x="69550" y="123748"/>
                </a:cubicBezTo>
                <a:cubicBezTo>
                  <a:pt x="55674" y="139269"/>
                  <a:pt x="47238" y="159767"/>
                  <a:pt x="47238" y="182205"/>
                </a:cubicBezTo>
                <a:lnTo>
                  <a:pt x="47238" y="188954"/>
                </a:lnTo>
                <a:cubicBezTo>
                  <a:pt x="47238" y="193762"/>
                  <a:pt x="48251" y="198317"/>
                  <a:pt x="50064" y="202450"/>
                </a:cubicBezTo>
                <a:lnTo>
                  <a:pt x="13497" y="202450"/>
                </a:lnTo>
                <a:cubicBezTo>
                  <a:pt x="6031" y="202450"/>
                  <a:pt x="0" y="196419"/>
                  <a:pt x="0" y="188954"/>
                </a:cubicBezTo>
                <a:lnTo>
                  <a:pt x="0" y="175457"/>
                </a:lnTo>
                <a:close/>
                <a:moveTo>
                  <a:pt x="219869" y="202450"/>
                </a:moveTo>
                <a:cubicBezTo>
                  <a:pt x="221683" y="198317"/>
                  <a:pt x="222695" y="193762"/>
                  <a:pt x="222695" y="188954"/>
                </a:cubicBezTo>
                <a:lnTo>
                  <a:pt x="222695" y="182205"/>
                </a:lnTo>
                <a:cubicBezTo>
                  <a:pt x="222695" y="159767"/>
                  <a:pt x="214260" y="139269"/>
                  <a:pt x="200384" y="123748"/>
                </a:cubicBezTo>
                <a:cubicBezTo>
                  <a:pt x="205318" y="122271"/>
                  <a:pt x="210548" y="121470"/>
                  <a:pt x="215947" y="121470"/>
                </a:cubicBezTo>
                <a:cubicBezTo>
                  <a:pt x="245766" y="121470"/>
                  <a:pt x="269934" y="145638"/>
                  <a:pt x="269934" y="175457"/>
                </a:cubicBezTo>
                <a:lnTo>
                  <a:pt x="269934" y="188954"/>
                </a:lnTo>
                <a:cubicBezTo>
                  <a:pt x="269934" y="196419"/>
                  <a:pt x="263902" y="202450"/>
                  <a:pt x="256437" y="202450"/>
                </a:cubicBezTo>
                <a:lnTo>
                  <a:pt x="219869" y="202450"/>
                </a:lnTo>
                <a:close/>
                <a:moveTo>
                  <a:pt x="199076" y="67483"/>
                </a:moveTo>
                <a:cubicBezTo>
                  <a:pt x="199076" y="50723"/>
                  <a:pt x="212683" y="37116"/>
                  <a:pt x="229444" y="37116"/>
                </a:cubicBezTo>
                <a:cubicBezTo>
                  <a:pt x="246204" y="37116"/>
                  <a:pt x="259811" y="50723"/>
                  <a:pt x="259811" y="67483"/>
                </a:cubicBezTo>
                <a:cubicBezTo>
                  <a:pt x="259811" y="84244"/>
                  <a:pt x="246204" y="97851"/>
                  <a:pt x="229444" y="97851"/>
                </a:cubicBezTo>
                <a:cubicBezTo>
                  <a:pt x="212683" y="97851"/>
                  <a:pt x="199076" y="84244"/>
                  <a:pt x="199076" y="67483"/>
                </a:cubicBezTo>
                <a:close/>
                <a:moveTo>
                  <a:pt x="67483" y="182205"/>
                </a:moveTo>
                <a:cubicBezTo>
                  <a:pt x="67483" y="144921"/>
                  <a:pt x="97682" y="114722"/>
                  <a:pt x="134967" y="114722"/>
                </a:cubicBezTo>
                <a:cubicBezTo>
                  <a:pt x="172251" y="114722"/>
                  <a:pt x="202450" y="144921"/>
                  <a:pt x="202450" y="182205"/>
                </a:cubicBezTo>
                <a:lnTo>
                  <a:pt x="202450" y="188954"/>
                </a:lnTo>
                <a:cubicBezTo>
                  <a:pt x="202450" y="196419"/>
                  <a:pt x="196419" y="202450"/>
                  <a:pt x="188954" y="202450"/>
                </a:cubicBezTo>
                <a:lnTo>
                  <a:pt x="80980" y="202450"/>
                </a:lnTo>
                <a:cubicBezTo>
                  <a:pt x="73515" y="202450"/>
                  <a:pt x="67483" y="196419"/>
                  <a:pt x="67483" y="188954"/>
                </a:cubicBezTo>
                <a:lnTo>
                  <a:pt x="67483" y="182205"/>
                </a:ln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21096" y="3879847"/>
            <a:ext cx="2663345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₹40K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3591" y="4203653"/>
            <a:ext cx="2618356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Acquisition Cost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257761" y="3480347"/>
            <a:ext cx="2778516" cy="1014950"/>
          </a:xfrm>
          <a:custGeom>
            <a:avLst/>
            <a:gdLst/>
            <a:ahLst/>
            <a:cxnLst/>
            <a:rect l="l" t="t" r="r" b="b"/>
            <a:pathLst>
              <a:path w="2778516" h="1014950">
                <a:moveTo>
                  <a:pt x="107970" y="0"/>
                </a:moveTo>
                <a:lnTo>
                  <a:pt x="2670546" y="0"/>
                </a:lnTo>
                <a:cubicBezTo>
                  <a:pt x="2730176" y="0"/>
                  <a:pt x="2778516" y="48340"/>
                  <a:pt x="2778516" y="107970"/>
                </a:cubicBezTo>
                <a:lnTo>
                  <a:pt x="2778516" y="906980"/>
                </a:lnTo>
                <a:cubicBezTo>
                  <a:pt x="2778516" y="966610"/>
                  <a:pt x="2730176" y="1014950"/>
                  <a:pt x="2670546" y="1014950"/>
                </a:cubicBezTo>
                <a:lnTo>
                  <a:pt x="107970" y="1014950"/>
                </a:lnTo>
                <a:cubicBezTo>
                  <a:pt x="48340" y="1014950"/>
                  <a:pt x="0" y="966610"/>
                  <a:pt x="0" y="906980"/>
                </a:cubicBezTo>
                <a:lnTo>
                  <a:pt x="0" y="107970"/>
                </a:lnTo>
                <a:cubicBezTo>
                  <a:pt x="0" y="48380"/>
                  <a:pt x="48380" y="0"/>
                  <a:pt x="107970" y="0"/>
                </a:cubicBezTo>
                <a:close/>
              </a:path>
            </a:pathLst>
          </a:custGeom>
          <a:gradFill rotWithShape="1" flip="none">
            <a:gsLst>
              <a:gs pos="0">
                <a:srgbClr val="D4A373">
                  <a:alpha val="20000"/>
                </a:srgbClr>
              </a:gs>
              <a:gs pos="100000">
                <a:srgbClr val="D4A373">
                  <a:alpha val="5000"/>
                </a:srgbClr>
              </a:gs>
            </a:gsLst>
            <a:lin ang="2700000" scaled="1"/>
          </a:gradFill>
          <a:ln w="10160">
            <a:solidFill>
              <a:srgbClr val="D4A373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539271" y="3591918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49221" y="14256"/>
                </a:moveTo>
                <a:cubicBezTo>
                  <a:pt x="51119" y="11683"/>
                  <a:pt x="54155" y="10123"/>
                  <a:pt x="57361" y="10123"/>
                </a:cubicBezTo>
                <a:lnTo>
                  <a:pt x="158586" y="10123"/>
                </a:lnTo>
                <a:cubicBezTo>
                  <a:pt x="161791" y="10123"/>
                  <a:pt x="164828" y="11641"/>
                  <a:pt x="166726" y="14256"/>
                </a:cubicBezTo>
                <a:lnTo>
                  <a:pt x="213965" y="78365"/>
                </a:lnTo>
                <a:cubicBezTo>
                  <a:pt x="216833" y="82245"/>
                  <a:pt x="216537" y="87602"/>
                  <a:pt x="213332" y="91187"/>
                </a:cubicBezTo>
                <a:lnTo>
                  <a:pt x="115481" y="199160"/>
                </a:lnTo>
                <a:cubicBezTo>
                  <a:pt x="113583" y="201269"/>
                  <a:pt x="110841" y="202492"/>
                  <a:pt x="107973" y="202492"/>
                </a:cubicBezTo>
                <a:cubicBezTo>
                  <a:pt x="105105" y="202492"/>
                  <a:pt x="102406" y="201269"/>
                  <a:pt x="100466" y="199160"/>
                </a:cubicBezTo>
                <a:lnTo>
                  <a:pt x="2615" y="91187"/>
                </a:lnTo>
                <a:cubicBezTo>
                  <a:pt x="-633" y="87602"/>
                  <a:pt x="-886" y="82245"/>
                  <a:pt x="1982" y="78365"/>
                </a:cubicBezTo>
                <a:lnTo>
                  <a:pt x="49221" y="14256"/>
                </a:lnTo>
                <a:close/>
                <a:moveTo>
                  <a:pt x="65459" y="31042"/>
                </a:moveTo>
                <a:cubicBezTo>
                  <a:pt x="64067" y="32097"/>
                  <a:pt x="63687" y="33995"/>
                  <a:pt x="64573" y="35471"/>
                </a:cubicBezTo>
                <a:lnTo>
                  <a:pt x="88783" y="75834"/>
                </a:lnTo>
                <a:lnTo>
                  <a:pt x="26698" y="80980"/>
                </a:lnTo>
                <a:cubicBezTo>
                  <a:pt x="24969" y="81107"/>
                  <a:pt x="23619" y="82583"/>
                  <a:pt x="23619" y="84354"/>
                </a:cubicBezTo>
                <a:cubicBezTo>
                  <a:pt x="23619" y="86126"/>
                  <a:pt x="24969" y="87560"/>
                  <a:pt x="26698" y="87728"/>
                </a:cubicBezTo>
                <a:lnTo>
                  <a:pt x="107678" y="94477"/>
                </a:lnTo>
                <a:cubicBezTo>
                  <a:pt x="107847" y="94477"/>
                  <a:pt x="108058" y="94477"/>
                  <a:pt x="108226" y="94477"/>
                </a:cubicBezTo>
                <a:lnTo>
                  <a:pt x="189207" y="87728"/>
                </a:lnTo>
                <a:cubicBezTo>
                  <a:pt x="190936" y="87602"/>
                  <a:pt x="192285" y="86126"/>
                  <a:pt x="192285" y="84354"/>
                </a:cubicBezTo>
                <a:cubicBezTo>
                  <a:pt x="192285" y="82583"/>
                  <a:pt x="190936" y="81149"/>
                  <a:pt x="189207" y="80980"/>
                </a:cubicBezTo>
                <a:lnTo>
                  <a:pt x="127122" y="75792"/>
                </a:lnTo>
                <a:lnTo>
                  <a:pt x="151332" y="35471"/>
                </a:lnTo>
                <a:cubicBezTo>
                  <a:pt x="152217" y="33995"/>
                  <a:pt x="151838" y="32055"/>
                  <a:pt x="150446" y="31042"/>
                </a:cubicBezTo>
                <a:cubicBezTo>
                  <a:pt x="149054" y="30030"/>
                  <a:pt x="147114" y="30199"/>
                  <a:pt x="145933" y="31464"/>
                </a:cubicBezTo>
                <a:lnTo>
                  <a:pt x="107973" y="72629"/>
                </a:lnTo>
                <a:lnTo>
                  <a:pt x="69972" y="31464"/>
                </a:lnTo>
                <a:cubicBezTo>
                  <a:pt x="68791" y="30199"/>
                  <a:pt x="66851" y="30030"/>
                  <a:pt x="65459" y="31042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315347" y="3879847"/>
            <a:ext cx="2663345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₹19.05L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337841" y="4203653"/>
            <a:ext cx="2618356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Lifetime Value (3 years)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52011" y="3480347"/>
            <a:ext cx="2778516" cy="1014950"/>
          </a:xfrm>
          <a:custGeom>
            <a:avLst/>
            <a:gdLst/>
            <a:ahLst/>
            <a:cxnLst/>
            <a:rect l="l" t="t" r="r" b="b"/>
            <a:pathLst>
              <a:path w="2778516" h="1014950">
                <a:moveTo>
                  <a:pt x="107970" y="0"/>
                </a:moveTo>
                <a:lnTo>
                  <a:pt x="2670546" y="0"/>
                </a:lnTo>
                <a:cubicBezTo>
                  <a:pt x="2730176" y="0"/>
                  <a:pt x="2778516" y="48340"/>
                  <a:pt x="2778516" y="107970"/>
                </a:cubicBezTo>
                <a:lnTo>
                  <a:pt x="2778516" y="906980"/>
                </a:lnTo>
                <a:cubicBezTo>
                  <a:pt x="2778516" y="966610"/>
                  <a:pt x="2730176" y="1014950"/>
                  <a:pt x="2670546" y="1014950"/>
                </a:cubicBezTo>
                <a:lnTo>
                  <a:pt x="107970" y="1014950"/>
                </a:lnTo>
                <a:cubicBezTo>
                  <a:pt x="48340" y="1014950"/>
                  <a:pt x="0" y="966610"/>
                  <a:pt x="0" y="906980"/>
                </a:cubicBezTo>
                <a:lnTo>
                  <a:pt x="0" y="107970"/>
                </a:lnTo>
                <a:cubicBezTo>
                  <a:pt x="0" y="48380"/>
                  <a:pt x="48380" y="0"/>
                  <a:pt x="107970" y="0"/>
                </a:cubicBezTo>
                <a:close/>
              </a:path>
            </a:pathLst>
          </a:custGeom>
          <a:gradFill rotWithShape="1" flip="none">
            <a:gsLst>
              <a:gs pos="0">
                <a:srgbClr val="6B8E6E">
                  <a:alpha val="20000"/>
                </a:srgbClr>
              </a:gs>
              <a:gs pos="100000">
                <a:srgbClr val="6B8E6E">
                  <a:alpha val="5000"/>
                </a:srgbClr>
              </a:gs>
            </a:gsLst>
            <a:lin ang="2700000" scaled="1"/>
          </a:gradFill>
          <a:ln w="10160">
            <a:solidFill>
              <a:srgbClr val="6B8E6E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433521" y="3591918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26993" y="26993"/>
                </a:moveTo>
                <a:cubicBezTo>
                  <a:pt x="26993" y="19528"/>
                  <a:pt x="20962" y="13497"/>
                  <a:pt x="13497" y="13497"/>
                </a:cubicBezTo>
                <a:cubicBezTo>
                  <a:pt x="6031" y="13497"/>
                  <a:pt x="0" y="19528"/>
                  <a:pt x="0" y="26993"/>
                </a:cubicBezTo>
                <a:lnTo>
                  <a:pt x="0" y="168708"/>
                </a:lnTo>
                <a:cubicBezTo>
                  <a:pt x="0" y="187351"/>
                  <a:pt x="15099" y="202450"/>
                  <a:pt x="33742" y="202450"/>
                </a:cubicBezTo>
                <a:lnTo>
                  <a:pt x="202450" y="202450"/>
                </a:lnTo>
                <a:cubicBezTo>
                  <a:pt x="209916" y="202450"/>
                  <a:pt x="215947" y="196419"/>
                  <a:pt x="215947" y="188954"/>
                </a:cubicBezTo>
                <a:cubicBezTo>
                  <a:pt x="215947" y="181488"/>
                  <a:pt x="209916" y="175457"/>
                  <a:pt x="202450" y="175457"/>
                </a:cubicBezTo>
                <a:lnTo>
                  <a:pt x="33742" y="175457"/>
                </a:lnTo>
                <a:cubicBezTo>
                  <a:pt x="30030" y="175457"/>
                  <a:pt x="26993" y="172420"/>
                  <a:pt x="26993" y="168708"/>
                </a:cubicBezTo>
                <a:lnTo>
                  <a:pt x="26993" y="26993"/>
                </a:lnTo>
                <a:close/>
                <a:moveTo>
                  <a:pt x="198486" y="63519"/>
                </a:moveTo>
                <a:cubicBezTo>
                  <a:pt x="203758" y="58247"/>
                  <a:pt x="203758" y="49685"/>
                  <a:pt x="198486" y="44413"/>
                </a:cubicBezTo>
                <a:cubicBezTo>
                  <a:pt x="193213" y="39140"/>
                  <a:pt x="184651" y="39140"/>
                  <a:pt x="179379" y="44413"/>
                </a:cubicBezTo>
                <a:lnTo>
                  <a:pt x="134967" y="88867"/>
                </a:lnTo>
                <a:lnTo>
                  <a:pt x="110757" y="64700"/>
                </a:lnTo>
                <a:cubicBezTo>
                  <a:pt x="105485" y="59428"/>
                  <a:pt x="96923" y="59428"/>
                  <a:pt x="91651" y="64700"/>
                </a:cubicBezTo>
                <a:lnTo>
                  <a:pt x="51161" y="105190"/>
                </a:lnTo>
                <a:cubicBezTo>
                  <a:pt x="45889" y="110462"/>
                  <a:pt x="45889" y="119024"/>
                  <a:pt x="51161" y="124296"/>
                </a:cubicBezTo>
                <a:cubicBezTo>
                  <a:pt x="56433" y="129568"/>
                  <a:pt x="64995" y="129568"/>
                  <a:pt x="70267" y="124296"/>
                </a:cubicBezTo>
                <a:lnTo>
                  <a:pt x="101225" y="93338"/>
                </a:lnTo>
                <a:lnTo>
                  <a:pt x="125435" y="117548"/>
                </a:lnTo>
                <a:cubicBezTo>
                  <a:pt x="130707" y="122820"/>
                  <a:pt x="139269" y="122820"/>
                  <a:pt x="144541" y="117548"/>
                </a:cubicBezTo>
                <a:lnTo>
                  <a:pt x="198528" y="63561"/>
                </a:ln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209597" y="3879847"/>
            <a:ext cx="2663345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0" b="1" dirty="0">
                <a:solidFill>
                  <a:srgbClr val="6B8E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47x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32092" y="4203653"/>
            <a:ext cx="2618356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LTV/CAC Ratio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046261" y="3480347"/>
            <a:ext cx="2778516" cy="1014950"/>
          </a:xfrm>
          <a:custGeom>
            <a:avLst/>
            <a:gdLst/>
            <a:ahLst/>
            <a:cxnLst/>
            <a:rect l="l" t="t" r="r" b="b"/>
            <a:pathLst>
              <a:path w="2778516" h="1014950">
                <a:moveTo>
                  <a:pt x="107970" y="0"/>
                </a:moveTo>
                <a:lnTo>
                  <a:pt x="2670546" y="0"/>
                </a:lnTo>
                <a:cubicBezTo>
                  <a:pt x="2730176" y="0"/>
                  <a:pt x="2778516" y="48340"/>
                  <a:pt x="2778516" y="107970"/>
                </a:cubicBezTo>
                <a:lnTo>
                  <a:pt x="2778516" y="906980"/>
                </a:lnTo>
                <a:cubicBezTo>
                  <a:pt x="2778516" y="966610"/>
                  <a:pt x="2730176" y="1014950"/>
                  <a:pt x="2670546" y="1014950"/>
                </a:cubicBezTo>
                <a:lnTo>
                  <a:pt x="107970" y="1014950"/>
                </a:lnTo>
                <a:cubicBezTo>
                  <a:pt x="48340" y="1014950"/>
                  <a:pt x="0" y="966610"/>
                  <a:pt x="0" y="906980"/>
                </a:cubicBezTo>
                <a:lnTo>
                  <a:pt x="0" y="107970"/>
                </a:lnTo>
                <a:cubicBezTo>
                  <a:pt x="0" y="48380"/>
                  <a:pt x="48380" y="0"/>
                  <a:pt x="107970" y="0"/>
                </a:cubicBezTo>
                <a:close/>
              </a:path>
            </a:pathLst>
          </a:custGeom>
          <a:gradFill rotWithShape="1" flip="none">
            <a:gsLst>
              <a:gs pos="0">
                <a:srgbClr val="E9C46A">
                  <a:alpha val="20000"/>
                </a:srgbClr>
              </a:gs>
              <a:gs pos="100000">
                <a:srgbClr val="E9C46A">
                  <a:alpha val="5000"/>
                </a:srgbClr>
              </a:gs>
            </a:gsLst>
            <a:lin ang="2700000" scaled="1"/>
          </a:gradFill>
          <a:ln w="10160">
            <a:solidFill>
              <a:srgbClr val="E9C46A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327884" y="3591918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188954" y="107973"/>
                </a:moveTo>
                <a:cubicBezTo>
                  <a:pt x="188954" y="63279"/>
                  <a:pt x="152668" y="26993"/>
                  <a:pt x="107973" y="26993"/>
                </a:cubicBezTo>
                <a:cubicBezTo>
                  <a:pt x="63279" y="26993"/>
                  <a:pt x="26993" y="63279"/>
                  <a:pt x="26993" y="107973"/>
                </a:cubicBezTo>
                <a:cubicBezTo>
                  <a:pt x="26993" y="152668"/>
                  <a:pt x="63279" y="188954"/>
                  <a:pt x="107973" y="188954"/>
                </a:cubicBezTo>
                <a:cubicBezTo>
                  <a:pt x="152668" y="188954"/>
                  <a:pt x="188954" y="152668"/>
                  <a:pt x="188954" y="107973"/>
                </a:cubicBezTo>
                <a:close/>
                <a:moveTo>
                  <a:pt x="0" y="107973"/>
                </a:moveTo>
                <a:cubicBezTo>
                  <a:pt x="0" y="48381"/>
                  <a:pt x="48381" y="0"/>
                  <a:pt x="107973" y="0"/>
                </a:cubicBezTo>
                <a:cubicBezTo>
                  <a:pt x="167566" y="0"/>
                  <a:pt x="215947" y="48381"/>
                  <a:pt x="215947" y="107973"/>
                </a:cubicBezTo>
                <a:cubicBezTo>
                  <a:pt x="215947" y="167566"/>
                  <a:pt x="167566" y="215947"/>
                  <a:pt x="107973" y="215947"/>
                </a:cubicBezTo>
                <a:cubicBezTo>
                  <a:pt x="48381" y="215947"/>
                  <a:pt x="0" y="167566"/>
                  <a:pt x="0" y="107973"/>
                </a:cubicBezTo>
                <a:close/>
                <a:moveTo>
                  <a:pt x="107973" y="141715"/>
                </a:moveTo>
                <a:cubicBezTo>
                  <a:pt x="126596" y="141715"/>
                  <a:pt x="141715" y="126596"/>
                  <a:pt x="141715" y="107973"/>
                </a:cubicBezTo>
                <a:cubicBezTo>
                  <a:pt x="141715" y="89351"/>
                  <a:pt x="126596" y="74232"/>
                  <a:pt x="107973" y="74232"/>
                </a:cubicBezTo>
                <a:cubicBezTo>
                  <a:pt x="89351" y="74232"/>
                  <a:pt x="74232" y="89351"/>
                  <a:pt x="74232" y="107973"/>
                </a:cubicBezTo>
                <a:cubicBezTo>
                  <a:pt x="74232" y="126596"/>
                  <a:pt x="89351" y="141715"/>
                  <a:pt x="107973" y="141715"/>
                </a:cubicBezTo>
                <a:close/>
                <a:moveTo>
                  <a:pt x="107973" y="47238"/>
                </a:moveTo>
                <a:cubicBezTo>
                  <a:pt x="141494" y="47238"/>
                  <a:pt x="168708" y="74453"/>
                  <a:pt x="168708" y="107973"/>
                </a:cubicBezTo>
                <a:cubicBezTo>
                  <a:pt x="168708" y="141494"/>
                  <a:pt x="141494" y="168708"/>
                  <a:pt x="107973" y="168708"/>
                </a:cubicBezTo>
                <a:cubicBezTo>
                  <a:pt x="74453" y="168708"/>
                  <a:pt x="47238" y="141494"/>
                  <a:pt x="47238" y="107973"/>
                </a:cubicBezTo>
                <a:cubicBezTo>
                  <a:pt x="47238" y="74453"/>
                  <a:pt x="74453" y="47238"/>
                  <a:pt x="107973" y="47238"/>
                </a:cubicBezTo>
                <a:close/>
                <a:moveTo>
                  <a:pt x="94477" y="107973"/>
                </a:moveTo>
                <a:cubicBezTo>
                  <a:pt x="94477" y="100524"/>
                  <a:pt x="100524" y="94477"/>
                  <a:pt x="107973" y="94477"/>
                </a:cubicBezTo>
                <a:cubicBezTo>
                  <a:pt x="115422" y="94477"/>
                  <a:pt x="121470" y="100524"/>
                  <a:pt x="121470" y="107973"/>
                </a:cubicBezTo>
                <a:cubicBezTo>
                  <a:pt x="121470" y="115422"/>
                  <a:pt x="115422" y="121470"/>
                  <a:pt x="107973" y="121470"/>
                </a:cubicBezTo>
                <a:cubicBezTo>
                  <a:pt x="100524" y="121470"/>
                  <a:pt x="94477" y="115422"/>
                  <a:pt x="94477" y="107973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103848" y="3879847"/>
            <a:ext cx="2663345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126342" y="4203653"/>
            <a:ext cx="2618356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Farms to Break-Even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63511" y="4646342"/>
            <a:ext cx="11461380" cy="1266888"/>
          </a:xfrm>
          <a:custGeom>
            <a:avLst/>
            <a:gdLst/>
            <a:ahLst/>
            <a:cxnLst/>
            <a:rect l="l" t="t" r="r" b="b"/>
            <a:pathLst>
              <a:path w="11461380" h="1266888">
                <a:moveTo>
                  <a:pt x="107977" y="0"/>
                </a:moveTo>
                <a:lnTo>
                  <a:pt x="11353403" y="0"/>
                </a:lnTo>
                <a:cubicBezTo>
                  <a:pt x="11413037" y="0"/>
                  <a:pt x="11461380" y="48343"/>
                  <a:pt x="11461380" y="107977"/>
                </a:cubicBezTo>
                <a:lnTo>
                  <a:pt x="11461380" y="1158911"/>
                </a:lnTo>
                <a:cubicBezTo>
                  <a:pt x="11461380" y="1218545"/>
                  <a:pt x="11413037" y="1266888"/>
                  <a:pt x="11353403" y="1266888"/>
                </a:cubicBezTo>
                <a:lnTo>
                  <a:pt x="107977" y="1266888"/>
                </a:lnTo>
                <a:cubicBezTo>
                  <a:pt x="48343" y="1266888"/>
                  <a:pt x="0" y="1218545"/>
                  <a:pt x="0" y="1158911"/>
                </a:cubicBezTo>
                <a:lnTo>
                  <a:pt x="0" y="107977"/>
                </a:lnTo>
                <a:cubicBezTo>
                  <a:pt x="0" y="48383"/>
                  <a:pt x="48383" y="0"/>
                  <a:pt x="107977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11074" y="4793913"/>
            <a:ext cx="11229237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b="1" spc="50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BREAK-EVEN ANALYSIS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11074" y="5117833"/>
            <a:ext cx="1151717" cy="143965"/>
          </a:xfrm>
          <a:custGeom>
            <a:avLst/>
            <a:gdLst/>
            <a:ahLst/>
            <a:cxnLst/>
            <a:rect l="l" t="t" r="r" b="b"/>
            <a:pathLst>
              <a:path w="1151717" h="143965">
                <a:moveTo>
                  <a:pt x="71982" y="0"/>
                </a:moveTo>
                <a:lnTo>
                  <a:pt x="1079734" y="0"/>
                </a:lnTo>
                <a:cubicBezTo>
                  <a:pt x="1119489" y="0"/>
                  <a:pt x="1151717" y="32228"/>
                  <a:pt x="1151717" y="71982"/>
                </a:cubicBezTo>
                <a:lnTo>
                  <a:pt x="1151717" y="71982"/>
                </a:lnTo>
                <a:cubicBezTo>
                  <a:pt x="1151717" y="111737"/>
                  <a:pt x="1119489" y="143965"/>
                  <a:pt x="1079734" y="143965"/>
                </a:cubicBezTo>
                <a:lnTo>
                  <a:pt x="71982" y="143965"/>
                </a:lnTo>
                <a:cubicBezTo>
                  <a:pt x="32254" y="143965"/>
                  <a:pt x="0" y="111710"/>
                  <a:pt x="0" y="71982"/>
                </a:cubicBezTo>
                <a:lnTo>
                  <a:pt x="0" y="71982"/>
                </a:lnTo>
                <a:cubicBezTo>
                  <a:pt x="0" y="32254"/>
                  <a:pt x="32254" y="0"/>
                  <a:pt x="71982" y="0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511074" y="5117833"/>
            <a:ext cx="863787" cy="143965"/>
          </a:xfrm>
          <a:custGeom>
            <a:avLst/>
            <a:gdLst/>
            <a:ahLst/>
            <a:cxnLst/>
            <a:rect l="l" t="t" r="r" b="b"/>
            <a:pathLst>
              <a:path w="863787" h="143965">
                <a:moveTo>
                  <a:pt x="71982" y="0"/>
                </a:moveTo>
                <a:lnTo>
                  <a:pt x="791805" y="0"/>
                </a:lnTo>
                <a:cubicBezTo>
                  <a:pt x="831560" y="0"/>
                  <a:pt x="863787" y="32228"/>
                  <a:pt x="863787" y="71982"/>
                </a:cubicBezTo>
                <a:lnTo>
                  <a:pt x="863787" y="71982"/>
                </a:lnTo>
                <a:cubicBezTo>
                  <a:pt x="863787" y="111737"/>
                  <a:pt x="831560" y="143965"/>
                  <a:pt x="791805" y="143965"/>
                </a:cubicBezTo>
                <a:lnTo>
                  <a:pt x="71982" y="143965"/>
                </a:lnTo>
                <a:cubicBezTo>
                  <a:pt x="32254" y="143965"/>
                  <a:pt x="0" y="111710"/>
                  <a:pt x="0" y="71982"/>
                </a:cubicBezTo>
                <a:lnTo>
                  <a:pt x="0" y="71982"/>
                </a:lnTo>
                <a:cubicBezTo>
                  <a:pt x="0" y="32254"/>
                  <a:pt x="32254" y="0"/>
                  <a:pt x="71982" y="0"/>
                </a:cubicBezTo>
                <a:close/>
              </a:path>
            </a:pathLst>
          </a:custGeom>
          <a:gradFill rotWithShape="1" flip="none">
            <a:gsLst>
              <a:gs pos="0">
                <a:srgbClr val="6B8E6E"/>
              </a:gs>
              <a:gs pos="100000">
                <a:srgbClr val="E9C46A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806755" y="5081842"/>
            <a:ext cx="827796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 12-15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11074" y="5405763"/>
            <a:ext cx="10383445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Fixed costs: ₹1.92 Cr development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11074" y="5585718"/>
            <a:ext cx="10383445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Gross margin per farm: ₹6.35L/year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667212" y="5153825"/>
            <a:ext cx="1007752" cy="35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551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 mo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766188" y="5513736"/>
            <a:ext cx="908776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92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Payback period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77907" y="6060800"/>
            <a:ext cx="11454182" cy="431894"/>
          </a:xfrm>
          <a:custGeom>
            <a:avLst/>
            <a:gdLst/>
            <a:ahLst/>
            <a:cxnLst/>
            <a:rect l="l" t="t" r="r" b="b"/>
            <a:pathLst>
              <a:path w="11454182" h="431894">
                <a:moveTo>
                  <a:pt x="0" y="0"/>
                </a:moveTo>
                <a:lnTo>
                  <a:pt x="11382198" y="0"/>
                </a:lnTo>
                <a:cubicBezTo>
                  <a:pt x="11421953" y="0"/>
                  <a:pt x="11454182" y="32228"/>
                  <a:pt x="11454182" y="71984"/>
                </a:cubicBezTo>
                <a:lnTo>
                  <a:pt x="11454182" y="359910"/>
                </a:lnTo>
                <a:cubicBezTo>
                  <a:pt x="11454182" y="399666"/>
                  <a:pt x="11421953" y="431894"/>
                  <a:pt x="11382198" y="431894"/>
                </a:cubicBezTo>
                <a:lnTo>
                  <a:pt x="0" y="431894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9C46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377907" y="6060800"/>
            <a:ext cx="35991" cy="431894"/>
          </a:xfrm>
          <a:custGeom>
            <a:avLst/>
            <a:gdLst/>
            <a:ahLst/>
            <a:cxnLst/>
            <a:rect l="l" t="t" r="r" b="b"/>
            <a:pathLst>
              <a:path w="35991" h="431894">
                <a:moveTo>
                  <a:pt x="0" y="0"/>
                </a:moveTo>
                <a:lnTo>
                  <a:pt x="35991" y="0"/>
                </a:lnTo>
                <a:lnTo>
                  <a:pt x="35991" y="431894"/>
                </a:lnTo>
                <a:lnTo>
                  <a:pt x="0" y="431894"/>
                </a:lnTo>
                <a:lnTo>
                  <a:pt x="0" y="0"/>
                </a:ln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521872" y="6197568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71982" y="143965"/>
                </a:moveTo>
                <a:cubicBezTo>
                  <a:pt x="111710" y="143965"/>
                  <a:pt x="143965" y="111710"/>
                  <a:pt x="143965" y="71982"/>
                </a:cubicBezTo>
                <a:cubicBezTo>
                  <a:pt x="143965" y="32254"/>
                  <a:pt x="111710" y="0"/>
                  <a:pt x="71982" y="0"/>
                </a:cubicBezTo>
                <a:cubicBezTo>
                  <a:pt x="32254" y="0"/>
                  <a:pt x="0" y="32254"/>
                  <a:pt x="0" y="71982"/>
                </a:cubicBezTo>
                <a:cubicBezTo>
                  <a:pt x="0" y="111710"/>
                  <a:pt x="32254" y="143965"/>
                  <a:pt x="71982" y="143965"/>
                </a:cubicBezTo>
                <a:close/>
                <a:moveTo>
                  <a:pt x="95714" y="59807"/>
                </a:moveTo>
                <a:lnTo>
                  <a:pt x="73219" y="95798"/>
                </a:lnTo>
                <a:cubicBezTo>
                  <a:pt x="72039" y="97682"/>
                  <a:pt x="70014" y="98863"/>
                  <a:pt x="67793" y="98976"/>
                </a:cubicBezTo>
                <a:cubicBezTo>
                  <a:pt x="65571" y="99088"/>
                  <a:pt x="63434" y="98076"/>
                  <a:pt x="62113" y="96276"/>
                </a:cubicBezTo>
                <a:lnTo>
                  <a:pt x="48616" y="78281"/>
                </a:lnTo>
                <a:cubicBezTo>
                  <a:pt x="46367" y="75300"/>
                  <a:pt x="46985" y="71083"/>
                  <a:pt x="49966" y="68833"/>
                </a:cubicBezTo>
                <a:cubicBezTo>
                  <a:pt x="52946" y="66584"/>
                  <a:pt x="57164" y="67202"/>
                  <a:pt x="59414" y="70183"/>
                </a:cubicBezTo>
                <a:lnTo>
                  <a:pt x="67005" y="80305"/>
                </a:lnTo>
                <a:lnTo>
                  <a:pt x="84270" y="52665"/>
                </a:lnTo>
                <a:cubicBezTo>
                  <a:pt x="86238" y="49516"/>
                  <a:pt x="90400" y="48532"/>
                  <a:pt x="93577" y="50528"/>
                </a:cubicBezTo>
                <a:cubicBezTo>
                  <a:pt x="96754" y="52525"/>
                  <a:pt x="97710" y="56658"/>
                  <a:pt x="95714" y="59835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734830" y="6168773"/>
            <a:ext cx="11061267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Metrics:</a:t>
            </a:r>
            <a:pPr>
              <a:lnSpc>
                <a:spcPct val="130000"/>
              </a:lnSpc>
            </a:pPr>
            <a:r>
              <a:rPr lang="en-US" sz="1134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&lt;12% annual churn, &gt;40 NPS, 99.5% platform uptime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992" y="341992"/>
            <a:ext cx="11567865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b="1" spc="94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PROJECTIONS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1992" y="581386"/>
            <a:ext cx="11661913" cy="341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24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3-Year Roadmap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1992" y="991776"/>
            <a:ext cx="11593515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6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₹1.16 Cr to ₹24.7 Cr ARR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5412" y="1302988"/>
            <a:ext cx="11497757" cy="1921993"/>
          </a:xfrm>
          <a:custGeom>
            <a:avLst/>
            <a:gdLst/>
            <a:ahLst/>
            <a:cxnLst/>
            <a:rect l="l" t="t" r="r" b="b"/>
            <a:pathLst>
              <a:path w="11497757" h="1921993">
                <a:moveTo>
                  <a:pt x="102596" y="0"/>
                </a:moveTo>
                <a:lnTo>
                  <a:pt x="11395161" y="0"/>
                </a:lnTo>
                <a:cubicBezTo>
                  <a:pt x="11451823" y="0"/>
                  <a:pt x="11497757" y="45934"/>
                  <a:pt x="11497757" y="102596"/>
                </a:cubicBezTo>
                <a:lnTo>
                  <a:pt x="11497757" y="1819397"/>
                </a:lnTo>
                <a:cubicBezTo>
                  <a:pt x="11497757" y="1876059"/>
                  <a:pt x="11451823" y="1921993"/>
                  <a:pt x="11395161" y="1921993"/>
                </a:cubicBezTo>
                <a:lnTo>
                  <a:pt x="102596" y="1921993"/>
                </a:lnTo>
                <a:cubicBezTo>
                  <a:pt x="45934" y="1921993"/>
                  <a:pt x="0" y="1876059"/>
                  <a:pt x="0" y="1819397"/>
                </a:cubicBezTo>
                <a:lnTo>
                  <a:pt x="0" y="102596"/>
                </a:lnTo>
                <a:cubicBezTo>
                  <a:pt x="0" y="45934"/>
                  <a:pt x="45934" y="0"/>
                  <a:pt x="102596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" name="Image 0" descr="https://kimi-img.moonshot.cn/pub/slides/26-02-19-01:44:16-d6avks0pe77npg9ftmkg.png">    </p:cNvPr>
          <p:cNvPicPr>
            <a:picLocks noChangeAspect="1"/>
          </p:cNvPicPr>
          <p:nvPr/>
        </p:nvPicPr>
        <p:blipFill>
          <a:blip r:embed="rId1"/>
          <a:srcRect l="0" r="0" t="17" b="17"/>
          <a:stretch/>
        </p:blipFill>
        <p:spPr>
          <a:xfrm>
            <a:off x="451429" y="1409004"/>
            <a:ext cx="10037453" cy="1709958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348831" y="3303644"/>
            <a:ext cx="3732838" cy="2236625"/>
          </a:xfrm>
          <a:custGeom>
            <a:avLst/>
            <a:gdLst/>
            <a:ahLst/>
            <a:cxnLst/>
            <a:rect l="l" t="t" r="r" b="b"/>
            <a:pathLst>
              <a:path w="3732838" h="2236625">
                <a:moveTo>
                  <a:pt x="102594" y="0"/>
                </a:moveTo>
                <a:lnTo>
                  <a:pt x="3630244" y="0"/>
                </a:lnTo>
                <a:cubicBezTo>
                  <a:pt x="3686905" y="0"/>
                  <a:pt x="3732838" y="45933"/>
                  <a:pt x="3732838" y="102594"/>
                </a:cubicBezTo>
                <a:lnTo>
                  <a:pt x="3732838" y="2134031"/>
                </a:lnTo>
                <a:cubicBezTo>
                  <a:pt x="3732838" y="2190692"/>
                  <a:pt x="3686905" y="2236625"/>
                  <a:pt x="3630244" y="2236625"/>
                </a:cubicBezTo>
                <a:lnTo>
                  <a:pt x="102594" y="2236625"/>
                </a:lnTo>
                <a:cubicBezTo>
                  <a:pt x="45933" y="2236625"/>
                  <a:pt x="0" y="2190692"/>
                  <a:pt x="0" y="2134031"/>
                </a:cubicBezTo>
                <a:lnTo>
                  <a:pt x="0" y="102594"/>
                </a:lnTo>
                <a:cubicBezTo>
                  <a:pt x="0" y="45971"/>
                  <a:pt x="45971" y="0"/>
                  <a:pt x="102594" y="0"/>
                </a:cubicBezTo>
                <a:close/>
              </a:path>
            </a:pathLst>
          </a:custGeom>
          <a:gradFill rotWithShape="1" flip="none">
            <a:gsLst>
              <a:gs pos="0">
                <a:srgbClr val="6B8E6E">
                  <a:alpha val="30000"/>
                </a:srgbClr>
              </a:gs>
              <a:gs pos="100000">
                <a:srgbClr val="6B8E6E">
                  <a:alpha val="10000"/>
                </a:srgbClr>
              </a:gs>
            </a:gsLst>
            <a:lin ang="2700000" scaled="1"/>
          </a:gradFill>
          <a:ln w="20320">
            <a:solidFill>
              <a:srgbClr val="6B8E6E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974681" y="3447277"/>
            <a:ext cx="478788" cy="478788"/>
          </a:xfrm>
          <a:custGeom>
            <a:avLst/>
            <a:gdLst/>
            <a:ahLst/>
            <a:cxnLst/>
            <a:rect l="l" t="t" r="r" b="b"/>
            <a:pathLst>
              <a:path w="478788" h="478788">
                <a:moveTo>
                  <a:pt x="239394" y="0"/>
                </a:moveTo>
                <a:lnTo>
                  <a:pt x="239394" y="0"/>
                </a:lnTo>
                <a:cubicBezTo>
                  <a:pt x="371608" y="0"/>
                  <a:pt x="478788" y="107180"/>
                  <a:pt x="478788" y="239394"/>
                </a:cubicBezTo>
                <a:lnTo>
                  <a:pt x="478788" y="239394"/>
                </a:lnTo>
                <a:cubicBezTo>
                  <a:pt x="478788" y="371608"/>
                  <a:pt x="371608" y="478788"/>
                  <a:pt x="239394" y="478788"/>
                </a:cubicBezTo>
                <a:lnTo>
                  <a:pt x="239394" y="478788"/>
                </a:lnTo>
                <a:cubicBezTo>
                  <a:pt x="107180" y="478788"/>
                  <a:pt x="0" y="371608"/>
                  <a:pt x="0" y="239394"/>
                </a:cubicBezTo>
                <a:lnTo>
                  <a:pt x="0" y="239394"/>
                </a:lnTo>
                <a:cubicBezTo>
                  <a:pt x="0" y="107180"/>
                  <a:pt x="107180" y="0"/>
                  <a:pt x="239394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2095767" y="3566974"/>
            <a:ext cx="239394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6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3994" y="3994463"/>
            <a:ext cx="3522513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12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28344" y="4336455"/>
            <a:ext cx="3573812" cy="3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2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₹1.16 Cr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62544" y="4712646"/>
            <a:ext cx="3505414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2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49719" y="4952040"/>
            <a:ext cx="3531063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6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27 farms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66819" y="5259832"/>
            <a:ext cx="3496864" cy="136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8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Pilot + Beta + Commercial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229795" y="3303644"/>
            <a:ext cx="3732838" cy="2236625"/>
          </a:xfrm>
          <a:custGeom>
            <a:avLst/>
            <a:gdLst/>
            <a:ahLst/>
            <a:cxnLst/>
            <a:rect l="l" t="t" r="r" b="b"/>
            <a:pathLst>
              <a:path w="3732838" h="2236625">
                <a:moveTo>
                  <a:pt x="102594" y="0"/>
                </a:moveTo>
                <a:lnTo>
                  <a:pt x="3630244" y="0"/>
                </a:lnTo>
                <a:cubicBezTo>
                  <a:pt x="3686905" y="0"/>
                  <a:pt x="3732838" y="45933"/>
                  <a:pt x="3732838" y="102594"/>
                </a:cubicBezTo>
                <a:lnTo>
                  <a:pt x="3732838" y="2134031"/>
                </a:lnTo>
                <a:cubicBezTo>
                  <a:pt x="3732838" y="2190692"/>
                  <a:pt x="3686905" y="2236625"/>
                  <a:pt x="3630244" y="2236625"/>
                </a:cubicBezTo>
                <a:lnTo>
                  <a:pt x="102594" y="2236625"/>
                </a:lnTo>
                <a:cubicBezTo>
                  <a:pt x="45933" y="2236625"/>
                  <a:pt x="0" y="2190692"/>
                  <a:pt x="0" y="2134031"/>
                </a:cubicBezTo>
                <a:lnTo>
                  <a:pt x="0" y="102594"/>
                </a:lnTo>
                <a:cubicBezTo>
                  <a:pt x="0" y="45971"/>
                  <a:pt x="45971" y="0"/>
                  <a:pt x="102594" y="0"/>
                </a:cubicBezTo>
                <a:close/>
              </a:path>
            </a:pathLst>
          </a:custGeom>
          <a:gradFill rotWithShape="1" flip="none">
            <a:gsLst>
              <a:gs pos="0">
                <a:srgbClr val="D4A373">
                  <a:alpha val="30000"/>
                </a:srgbClr>
              </a:gs>
              <a:gs pos="100000">
                <a:srgbClr val="D4A373">
                  <a:alpha val="10000"/>
                </a:srgbClr>
              </a:gs>
            </a:gsLst>
            <a:lin ang="2700000" scaled="1"/>
          </a:gradFill>
          <a:ln w="20320">
            <a:solidFill>
              <a:srgbClr val="D4A373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855644" y="3447277"/>
            <a:ext cx="478788" cy="478788"/>
          </a:xfrm>
          <a:custGeom>
            <a:avLst/>
            <a:gdLst/>
            <a:ahLst/>
            <a:cxnLst/>
            <a:rect l="l" t="t" r="r" b="b"/>
            <a:pathLst>
              <a:path w="478788" h="478788">
                <a:moveTo>
                  <a:pt x="239394" y="0"/>
                </a:moveTo>
                <a:lnTo>
                  <a:pt x="239394" y="0"/>
                </a:lnTo>
                <a:cubicBezTo>
                  <a:pt x="371608" y="0"/>
                  <a:pt x="478788" y="107180"/>
                  <a:pt x="478788" y="239394"/>
                </a:cubicBezTo>
                <a:lnTo>
                  <a:pt x="478788" y="239394"/>
                </a:lnTo>
                <a:cubicBezTo>
                  <a:pt x="478788" y="371608"/>
                  <a:pt x="371608" y="478788"/>
                  <a:pt x="239394" y="478788"/>
                </a:cubicBezTo>
                <a:lnTo>
                  <a:pt x="239394" y="478788"/>
                </a:lnTo>
                <a:cubicBezTo>
                  <a:pt x="107180" y="478788"/>
                  <a:pt x="0" y="371608"/>
                  <a:pt x="0" y="239394"/>
                </a:cubicBezTo>
                <a:lnTo>
                  <a:pt x="0" y="239394"/>
                </a:lnTo>
                <a:cubicBezTo>
                  <a:pt x="0" y="107180"/>
                  <a:pt x="107180" y="0"/>
                  <a:pt x="239394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5960379" y="3566974"/>
            <a:ext cx="273593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6" b="1" dirty="0">
                <a:solidFill>
                  <a:srgbClr val="1A2E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334957" y="3994463"/>
            <a:ext cx="3522513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12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Growth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309308" y="4336455"/>
            <a:ext cx="3573812" cy="3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2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₹9.12 Cr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343507" y="4712646"/>
            <a:ext cx="3505414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2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330682" y="4952040"/>
            <a:ext cx="3531063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6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152 farms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347782" y="5259832"/>
            <a:ext cx="3496864" cy="136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8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5.6x growth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110758" y="3303644"/>
            <a:ext cx="3732838" cy="2236625"/>
          </a:xfrm>
          <a:custGeom>
            <a:avLst/>
            <a:gdLst/>
            <a:ahLst/>
            <a:cxnLst/>
            <a:rect l="l" t="t" r="r" b="b"/>
            <a:pathLst>
              <a:path w="3732838" h="2236625">
                <a:moveTo>
                  <a:pt x="102594" y="0"/>
                </a:moveTo>
                <a:lnTo>
                  <a:pt x="3630244" y="0"/>
                </a:lnTo>
                <a:cubicBezTo>
                  <a:pt x="3686905" y="0"/>
                  <a:pt x="3732838" y="45933"/>
                  <a:pt x="3732838" y="102594"/>
                </a:cubicBezTo>
                <a:lnTo>
                  <a:pt x="3732838" y="2134031"/>
                </a:lnTo>
                <a:cubicBezTo>
                  <a:pt x="3732838" y="2190692"/>
                  <a:pt x="3686905" y="2236625"/>
                  <a:pt x="3630244" y="2236625"/>
                </a:cubicBezTo>
                <a:lnTo>
                  <a:pt x="102594" y="2236625"/>
                </a:lnTo>
                <a:cubicBezTo>
                  <a:pt x="45933" y="2236625"/>
                  <a:pt x="0" y="2190692"/>
                  <a:pt x="0" y="2134031"/>
                </a:cubicBezTo>
                <a:lnTo>
                  <a:pt x="0" y="102594"/>
                </a:lnTo>
                <a:cubicBezTo>
                  <a:pt x="0" y="45971"/>
                  <a:pt x="45971" y="0"/>
                  <a:pt x="102594" y="0"/>
                </a:cubicBezTo>
                <a:close/>
              </a:path>
            </a:pathLst>
          </a:custGeom>
          <a:gradFill rotWithShape="1" flip="none">
            <a:gsLst>
              <a:gs pos="0">
                <a:srgbClr val="E9C46A">
                  <a:alpha val="30000"/>
                </a:srgbClr>
              </a:gs>
              <a:gs pos="100000">
                <a:srgbClr val="E9C46A">
                  <a:alpha val="10000"/>
                </a:srgbClr>
              </a:gs>
            </a:gsLst>
            <a:lin ang="2700000" scaled="1"/>
          </a:gradFill>
          <a:ln w="20320">
            <a:solidFill>
              <a:srgbClr val="E9C46A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9736607" y="3447277"/>
            <a:ext cx="478788" cy="478788"/>
          </a:xfrm>
          <a:custGeom>
            <a:avLst/>
            <a:gdLst/>
            <a:ahLst/>
            <a:cxnLst/>
            <a:rect l="l" t="t" r="r" b="b"/>
            <a:pathLst>
              <a:path w="478788" h="478788">
                <a:moveTo>
                  <a:pt x="239394" y="0"/>
                </a:moveTo>
                <a:lnTo>
                  <a:pt x="239394" y="0"/>
                </a:lnTo>
                <a:cubicBezTo>
                  <a:pt x="371608" y="0"/>
                  <a:pt x="478788" y="107180"/>
                  <a:pt x="478788" y="239394"/>
                </a:cubicBezTo>
                <a:lnTo>
                  <a:pt x="478788" y="239394"/>
                </a:lnTo>
                <a:cubicBezTo>
                  <a:pt x="478788" y="371608"/>
                  <a:pt x="371608" y="478788"/>
                  <a:pt x="239394" y="478788"/>
                </a:cubicBezTo>
                <a:lnTo>
                  <a:pt x="239394" y="478788"/>
                </a:lnTo>
                <a:cubicBezTo>
                  <a:pt x="107180" y="478788"/>
                  <a:pt x="0" y="371608"/>
                  <a:pt x="0" y="239394"/>
                </a:cubicBezTo>
                <a:lnTo>
                  <a:pt x="0" y="239394"/>
                </a:lnTo>
                <a:cubicBezTo>
                  <a:pt x="0" y="107180"/>
                  <a:pt x="107180" y="0"/>
                  <a:pt x="239394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9839098" y="3566974"/>
            <a:ext cx="273593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6" b="1" dirty="0">
                <a:solidFill>
                  <a:srgbClr val="1A2E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Y3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215920" y="3994463"/>
            <a:ext cx="3522513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12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190271" y="4336455"/>
            <a:ext cx="3573812" cy="3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2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₹24.7 Cr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224470" y="4712646"/>
            <a:ext cx="3505414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2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211646" y="4952040"/>
            <a:ext cx="3531063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6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412 farms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228745" y="5259832"/>
            <a:ext cx="3496864" cy="136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8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2.7x growth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345412" y="5618820"/>
            <a:ext cx="11497757" cy="896018"/>
          </a:xfrm>
          <a:custGeom>
            <a:avLst/>
            <a:gdLst/>
            <a:ahLst/>
            <a:cxnLst/>
            <a:rect l="l" t="t" r="r" b="b"/>
            <a:pathLst>
              <a:path w="11497757" h="896018">
                <a:moveTo>
                  <a:pt x="102594" y="0"/>
                </a:moveTo>
                <a:lnTo>
                  <a:pt x="11395163" y="0"/>
                </a:lnTo>
                <a:cubicBezTo>
                  <a:pt x="11451824" y="0"/>
                  <a:pt x="11497757" y="45933"/>
                  <a:pt x="11497757" y="102594"/>
                </a:cubicBezTo>
                <a:lnTo>
                  <a:pt x="11497757" y="793424"/>
                </a:lnTo>
                <a:cubicBezTo>
                  <a:pt x="11497757" y="850085"/>
                  <a:pt x="11451824" y="896018"/>
                  <a:pt x="11395163" y="896018"/>
                </a:cubicBezTo>
                <a:lnTo>
                  <a:pt x="102594" y="896018"/>
                </a:lnTo>
                <a:cubicBezTo>
                  <a:pt x="45933" y="896018"/>
                  <a:pt x="0" y="850085"/>
                  <a:pt x="0" y="793424"/>
                </a:cubicBezTo>
                <a:lnTo>
                  <a:pt x="0" y="102594"/>
                </a:lnTo>
                <a:cubicBezTo>
                  <a:pt x="0" y="45971"/>
                  <a:pt x="45971" y="0"/>
                  <a:pt x="102594" y="0"/>
                </a:cubicBezTo>
                <a:close/>
              </a:path>
            </a:pathLst>
          </a:custGeom>
          <a:gradFill rotWithShape="1" flip="none">
            <a:gsLst>
              <a:gs pos="0">
                <a:srgbClr val="E9C46A">
                  <a:alpha val="20000"/>
                </a:srgbClr>
              </a:gs>
              <a:gs pos="100000">
                <a:srgbClr val="D4A373">
                  <a:alpha val="20000"/>
                </a:srgbClr>
              </a:gs>
            </a:gsLst>
            <a:lin ang="0" scaled="1"/>
          </a:gradFill>
          <a:ln w="10160">
            <a:solidFill>
              <a:srgbClr val="E9C46A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451429" y="5724836"/>
            <a:ext cx="1530412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 5 ECOSYSTEM VISION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451429" y="5930031"/>
            <a:ext cx="1598811" cy="3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2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₹88 Cr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451429" y="6237823"/>
            <a:ext cx="1530412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Revenue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0030614" y="5793234"/>
            <a:ext cx="1709958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42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600 farms | 800 suppliers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0030614" y="5964230"/>
            <a:ext cx="1709958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42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₹200 Cr marketplace GMV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0030614" y="6169425"/>
            <a:ext cx="1709958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42" b="1" dirty="0">
                <a:solidFill>
                  <a:srgbClr val="6B8E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82% gross margin | 28% EBITDA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7229" y="367229"/>
            <a:ext cx="11521807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b="1" spc="101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COMPETITIVE MOAT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7229" y="624289"/>
            <a:ext cx="11622795" cy="36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02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We Win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7229" y="1064964"/>
            <a:ext cx="11549349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6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Defensibility That Deepens Over Time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0901" y="1472588"/>
            <a:ext cx="5644308" cy="1017224"/>
          </a:xfrm>
          <a:custGeom>
            <a:avLst/>
            <a:gdLst/>
            <a:ahLst/>
            <a:cxnLst/>
            <a:rect l="l" t="t" r="r" b="b"/>
            <a:pathLst>
              <a:path w="5644308" h="1017224">
                <a:moveTo>
                  <a:pt x="110165" y="0"/>
                </a:moveTo>
                <a:lnTo>
                  <a:pt x="5534143" y="0"/>
                </a:lnTo>
                <a:cubicBezTo>
                  <a:pt x="5594986" y="0"/>
                  <a:pt x="5644308" y="49323"/>
                  <a:pt x="5644308" y="110165"/>
                </a:cubicBezTo>
                <a:lnTo>
                  <a:pt x="5644308" y="907059"/>
                </a:lnTo>
                <a:cubicBezTo>
                  <a:pt x="5644308" y="967901"/>
                  <a:pt x="5594986" y="1017224"/>
                  <a:pt x="5534143" y="1017224"/>
                </a:cubicBezTo>
                <a:lnTo>
                  <a:pt x="110165" y="1017224"/>
                </a:lnTo>
                <a:cubicBezTo>
                  <a:pt x="49323" y="1017224"/>
                  <a:pt x="0" y="967901"/>
                  <a:pt x="0" y="907059"/>
                </a:cubicBezTo>
                <a:lnTo>
                  <a:pt x="0" y="110165"/>
                </a:lnTo>
                <a:cubicBezTo>
                  <a:pt x="0" y="49363"/>
                  <a:pt x="49363" y="0"/>
                  <a:pt x="110165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21465" y="1623150"/>
            <a:ext cx="440675" cy="440675"/>
          </a:xfrm>
          <a:custGeom>
            <a:avLst/>
            <a:gdLst/>
            <a:ahLst/>
            <a:cxnLst/>
            <a:rect l="l" t="t" r="r" b="b"/>
            <a:pathLst>
              <a:path w="440675" h="440675">
                <a:moveTo>
                  <a:pt x="220337" y="0"/>
                </a:moveTo>
                <a:lnTo>
                  <a:pt x="220337" y="0"/>
                </a:lnTo>
                <a:cubicBezTo>
                  <a:pt x="342026" y="0"/>
                  <a:pt x="440675" y="98648"/>
                  <a:pt x="440675" y="220337"/>
                </a:cubicBezTo>
                <a:lnTo>
                  <a:pt x="440675" y="220337"/>
                </a:lnTo>
                <a:cubicBezTo>
                  <a:pt x="440675" y="342026"/>
                  <a:pt x="342026" y="440675"/>
                  <a:pt x="220337" y="440675"/>
                </a:cubicBezTo>
                <a:lnTo>
                  <a:pt x="220337" y="440675"/>
                </a:lnTo>
                <a:cubicBezTo>
                  <a:pt x="98648" y="440675"/>
                  <a:pt x="0" y="342026"/>
                  <a:pt x="0" y="220337"/>
                </a:cubicBezTo>
                <a:lnTo>
                  <a:pt x="0" y="220337"/>
                </a:lnTo>
                <a:cubicBezTo>
                  <a:pt x="0" y="98648"/>
                  <a:pt x="98648" y="0"/>
                  <a:pt x="220337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9995" y="1751680"/>
            <a:ext cx="183614" cy="183614"/>
          </a:xfrm>
          <a:custGeom>
            <a:avLst/>
            <a:gdLst/>
            <a:ahLst/>
            <a:cxnLst/>
            <a:rect l="l" t="t" r="r" b="b"/>
            <a:pathLst>
              <a:path w="183614" h="183614">
                <a:moveTo>
                  <a:pt x="51749" y="0"/>
                </a:moveTo>
                <a:lnTo>
                  <a:pt x="132080" y="0"/>
                </a:lnTo>
                <a:cubicBezTo>
                  <a:pt x="141584" y="0"/>
                  <a:pt x="149330" y="7818"/>
                  <a:pt x="148972" y="17286"/>
                </a:cubicBezTo>
                <a:cubicBezTo>
                  <a:pt x="148900" y="19186"/>
                  <a:pt x="148828" y="21087"/>
                  <a:pt x="148721" y="22952"/>
                </a:cubicBezTo>
                <a:lnTo>
                  <a:pt x="166508" y="22952"/>
                </a:lnTo>
                <a:cubicBezTo>
                  <a:pt x="175868" y="22952"/>
                  <a:pt x="184117" y="30698"/>
                  <a:pt x="183399" y="40811"/>
                </a:cubicBezTo>
                <a:cubicBezTo>
                  <a:pt x="180710" y="78000"/>
                  <a:pt x="161703" y="98442"/>
                  <a:pt x="141082" y="109129"/>
                </a:cubicBezTo>
                <a:cubicBezTo>
                  <a:pt x="135416" y="112069"/>
                  <a:pt x="129642" y="114257"/>
                  <a:pt x="124155" y="115871"/>
                </a:cubicBezTo>
                <a:cubicBezTo>
                  <a:pt x="116911" y="126127"/>
                  <a:pt x="109380" y="131543"/>
                  <a:pt x="103391" y="134447"/>
                </a:cubicBezTo>
                <a:lnTo>
                  <a:pt x="103391" y="160663"/>
                </a:lnTo>
                <a:lnTo>
                  <a:pt x="126343" y="160663"/>
                </a:lnTo>
                <a:cubicBezTo>
                  <a:pt x="132690" y="160663"/>
                  <a:pt x="137818" y="165791"/>
                  <a:pt x="137818" y="172139"/>
                </a:cubicBezTo>
                <a:cubicBezTo>
                  <a:pt x="137818" y="178486"/>
                  <a:pt x="132690" y="183614"/>
                  <a:pt x="126343" y="183614"/>
                </a:cubicBezTo>
                <a:lnTo>
                  <a:pt x="57487" y="183614"/>
                </a:lnTo>
                <a:cubicBezTo>
                  <a:pt x="51139" y="183614"/>
                  <a:pt x="46011" y="178486"/>
                  <a:pt x="46011" y="172139"/>
                </a:cubicBezTo>
                <a:cubicBezTo>
                  <a:pt x="46011" y="165791"/>
                  <a:pt x="51139" y="160663"/>
                  <a:pt x="57487" y="160663"/>
                </a:cubicBezTo>
                <a:lnTo>
                  <a:pt x="80439" y="160663"/>
                </a:lnTo>
                <a:lnTo>
                  <a:pt x="80439" y="134447"/>
                </a:lnTo>
                <a:cubicBezTo>
                  <a:pt x="74701" y="131686"/>
                  <a:pt x="67564" y="126558"/>
                  <a:pt x="60607" y="117126"/>
                </a:cubicBezTo>
                <a:cubicBezTo>
                  <a:pt x="54008" y="115405"/>
                  <a:pt x="46836" y="112787"/>
                  <a:pt x="39843" y="108842"/>
                </a:cubicBezTo>
                <a:cubicBezTo>
                  <a:pt x="20441" y="97976"/>
                  <a:pt x="2941" y="77498"/>
                  <a:pt x="430" y="40739"/>
                </a:cubicBezTo>
                <a:cubicBezTo>
                  <a:pt x="-251" y="30662"/>
                  <a:pt x="7961" y="22916"/>
                  <a:pt x="17321" y="22916"/>
                </a:cubicBezTo>
                <a:lnTo>
                  <a:pt x="35109" y="22916"/>
                </a:lnTo>
                <a:cubicBezTo>
                  <a:pt x="35002" y="21051"/>
                  <a:pt x="34930" y="19186"/>
                  <a:pt x="34858" y="17250"/>
                </a:cubicBezTo>
                <a:cubicBezTo>
                  <a:pt x="34499" y="7746"/>
                  <a:pt x="42246" y="-36"/>
                  <a:pt x="51749" y="-36"/>
                </a:cubicBezTo>
                <a:close/>
                <a:moveTo>
                  <a:pt x="36400" y="40166"/>
                </a:moveTo>
                <a:lnTo>
                  <a:pt x="17608" y="40166"/>
                </a:lnTo>
                <a:cubicBezTo>
                  <a:pt x="19832" y="70541"/>
                  <a:pt x="33782" y="85747"/>
                  <a:pt x="48163" y="93816"/>
                </a:cubicBezTo>
                <a:cubicBezTo>
                  <a:pt x="42999" y="80439"/>
                  <a:pt x="38731" y="62974"/>
                  <a:pt x="36400" y="40166"/>
                </a:cubicBezTo>
                <a:close/>
                <a:moveTo>
                  <a:pt x="136276" y="92094"/>
                </a:moveTo>
                <a:cubicBezTo>
                  <a:pt x="150801" y="83559"/>
                  <a:pt x="163926" y="68389"/>
                  <a:pt x="166150" y="40166"/>
                </a:cubicBezTo>
                <a:lnTo>
                  <a:pt x="147394" y="40166"/>
                </a:lnTo>
                <a:cubicBezTo>
                  <a:pt x="145170" y="62006"/>
                  <a:pt x="141154" y="78969"/>
                  <a:pt x="136276" y="92094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72308" y="1623150"/>
            <a:ext cx="4874964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1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First-Mover Advantage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2308" y="1916933"/>
            <a:ext cx="4856602" cy="422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2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direct competition in India. 2-year head start to build data network effects and customer relationships.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0901" y="2602740"/>
            <a:ext cx="5644308" cy="1017224"/>
          </a:xfrm>
          <a:custGeom>
            <a:avLst/>
            <a:gdLst/>
            <a:ahLst/>
            <a:cxnLst/>
            <a:rect l="l" t="t" r="r" b="b"/>
            <a:pathLst>
              <a:path w="5644308" h="1017224">
                <a:moveTo>
                  <a:pt x="110165" y="0"/>
                </a:moveTo>
                <a:lnTo>
                  <a:pt x="5534143" y="0"/>
                </a:lnTo>
                <a:cubicBezTo>
                  <a:pt x="5594986" y="0"/>
                  <a:pt x="5644308" y="49323"/>
                  <a:pt x="5644308" y="110165"/>
                </a:cubicBezTo>
                <a:lnTo>
                  <a:pt x="5644308" y="907059"/>
                </a:lnTo>
                <a:cubicBezTo>
                  <a:pt x="5644308" y="967901"/>
                  <a:pt x="5594986" y="1017224"/>
                  <a:pt x="5534143" y="1017224"/>
                </a:cubicBezTo>
                <a:lnTo>
                  <a:pt x="110165" y="1017224"/>
                </a:lnTo>
                <a:cubicBezTo>
                  <a:pt x="49323" y="1017224"/>
                  <a:pt x="0" y="967901"/>
                  <a:pt x="0" y="907059"/>
                </a:cubicBezTo>
                <a:lnTo>
                  <a:pt x="0" y="110165"/>
                </a:lnTo>
                <a:cubicBezTo>
                  <a:pt x="0" y="49363"/>
                  <a:pt x="49363" y="0"/>
                  <a:pt x="110165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21465" y="2753302"/>
            <a:ext cx="440675" cy="440675"/>
          </a:xfrm>
          <a:custGeom>
            <a:avLst/>
            <a:gdLst/>
            <a:ahLst/>
            <a:cxnLst/>
            <a:rect l="l" t="t" r="r" b="b"/>
            <a:pathLst>
              <a:path w="440675" h="440675">
                <a:moveTo>
                  <a:pt x="220337" y="0"/>
                </a:moveTo>
                <a:lnTo>
                  <a:pt x="220337" y="0"/>
                </a:lnTo>
                <a:cubicBezTo>
                  <a:pt x="342026" y="0"/>
                  <a:pt x="440675" y="98648"/>
                  <a:pt x="440675" y="220337"/>
                </a:cubicBezTo>
                <a:lnTo>
                  <a:pt x="440675" y="220337"/>
                </a:lnTo>
                <a:cubicBezTo>
                  <a:pt x="440675" y="342026"/>
                  <a:pt x="342026" y="440675"/>
                  <a:pt x="220337" y="440675"/>
                </a:cubicBezTo>
                <a:lnTo>
                  <a:pt x="220337" y="440675"/>
                </a:lnTo>
                <a:cubicBezTo>
                  <a:pt x="98648" y="440675"/>
                  <a:pt x="0" y="342026"/>
                  <a:pt x="0" y="220337"/>
                </a:cubicBezTo>
                <a:lnTo>
                  <a:pt x="0" y="220337"/>
                </a:lnTo>
                <a:cubicBezTo>
                  <a:pt x="0" y="98648"/>
                  <a:pt x="98648" y="0"/>
                  <a:pt x="220337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9995" y="2881833"/>
            <a:ext cx="183614" cy="183614"/>
          </a:xfrm>
          <a:custGeom>
            <a:avLst/>
            <a:gdLst/>
            <a:ahLst/>
            <a:cxnLst/>
            <a:rect l="l" t="t" r="r" b="b"/>
            <a:pathLst>
              <a:path w="183614" h="183614">
                <a:moveTo>
                  <a:pt x="43035" y="20083"/>
                </a:moveTo>
                <a:cubicBezTo>
                  <a:pt x="43035" y="9001"/>
                  <a:pt x="52036" y="0"/>
                  <a:pt x="63117" y="0"/>
                </a:cubicBezTo>
                <a:lnTo>
                  <a:pt x="71724" y="0"/>
                </a:lnTo>
                <a:cubicBezTo>
                  <a:pt x="78072" y="0"/>
                  <a:pt x="83200" y="5128"/>
                  <a:pt x="83200" y="11476"/>
                </a:cubicBezTo>
                <a:lnTo>
                  <a:pt x="83200" y="172139"/>
                </a:lnTo>
                <a:cubicBezTo>
                  <a:pt x="83200" y="178486"/>
                  <a:pt x="78072" y="183614"/>
                  <a:pt x="71724" y="183614"/>
                </a:cubicBezTo>
                <a:lnTo>
                  <a:pt x="60248" y="183614"/>
                </a:lnTo>
                <a:cubicBezTo>
                  <a:pt x="49562" y="183614"/>
                  <a:pt x="40560" y="176299"/>
                  <a:pt x="38014" y="166401"/>
                </a:cubicBezTo>
                <a:cubicBezTo>
                  <a:pt x="37763" y="166401"/>
                  <a:pt x="37548" y="166401"/>
                  <a:pt x="37297" y="166401"/>
                </a:cubicBezTo>
                <a:cubicBezTo>
                  <a:pt x="21446" y="166401"/>
                  <a:pt x="8607" y="153562"/>
                  <a:pt x="8607" y="137711"/>
                </a:cubicBezTo>
                <a:cubicBezTo>
                  <a:pt x="8607" y="131256"/>
                  <a:pt x="10759" y="125303"/>
                  <a:pt x="14345" y="120497"/>
                </a:cubicBezTo>
                <a:cubicBezTo>
                  <a:pt x="7388" y="115261"/>
                  <a:pt x="2869" y="106941"/>
                  <a:pt x="2869" y="97545"/>
                </a:cubicBezTo>
                <a:cubicBezTo>
                  <a:pt x="2869" y="86464"/>
                  <a:pt x="9181" y="76817"/>
                  <a:pt x="18361" y="72047"/>
                </a:cubicBezTo>
                <a:cubicBezTo>
                  <a:pt x="15815" y="67744"/>
                  <a:pt x="14345" y="62723"/>
                  <a:pt x="14345" y="57380"/>
                </a:cubicBezTo>
                <a:cubicBezTo>
                  <a:pt x="14345" y="41528"/>
                  <a:pt x="27184" y="28690"/>
                  <a:pt x="43035" y="28690"/>
                </a:cubicBezTo>
                <a:lnTo>
                  <a:pt x="43035" y="20083"/>
                </a:lnTo>
                <a:close/>
                <a:moveTo>
                  <a:pt x="140580" y="20083"/>
                </a:moveTo>
                <a:lnTo>
                  <a:pt x="140580" y="28690"/>
                </a:lnTo>
                <a:cubicBezTo>
                  <a:pt x="156431" y="28690"/>
                  <a:pt x="169270" y="41528"/>
                  <a:pt x="169270" y="57380"/>
                </a:cubicBezTo>
                <a:cubicBezTo>
                  <a:pt x="169270" y="62759"/>
                  <a:pt x="167799" y="67780"/>
                  <a:pt x="165253" y="72047"/>
                </a:cubicBezTo>
                <a:cubicBezTo>
                  <a:pt x="174470" y="76817"/>
                  <a:pt x="180745" y="86428"/>
                  <a:pt x="180745" y="97545"/>
                </a:cubicBezTo>
                <a:cubicBezTo>
                  <a:pt x="180745" y="106941"/>
                  <a:pt x="176227" y="115261"/>
                  <a:pt x="169270" y="120497"/>
                </a:cubicBezTo>
                <a:cubicBezTo>
                  <a:pt x="172856" y="125303"/>
                  <a:pt x="175008" y="131256"/>
                  <a:pt x="175008" y="137711"/>
                </a:cubicBezTo>
                <a:cubicBezTo>
                  <a:pt x="175008" y="153562"/>
                  <a:pt x="162169" y="166401"/>
                  <a:pt x="146318" y="166401"/>
                </a:cubicBezTo>
                <a:cubicBezTo>
                  <a:pt x="146067" y="166401"/>
                  <a:pt x="145852" y="166401"/>
                  <a:pt x="145601" y="166401"/>
                </a:cubicBezTo>
                <a:cubicBezTo>
                  <a:pt x="143054" y="176299"/>
                  <a:pt x="134053" y="183614"/>
                  <a:pt x="123366" y="183614"/>
                </a:cubicBezTo>
                <a:lnTo>
                  <a:pt x="111890" y="183614"/>
                </a:lnTo>
                <a:cubicBezTo>
                  <a:pt x="105542" y="183614"/>
                  <a:pt x="100414" y="178486"/>
                  <a:pt x="100414" y="172139"/>
                </a:cubicBezTo>
                <a:lnTo>
                  <a:pt x="100414" y="11476"/>
                </a:lnTo>
                <a:cubicBezTo>
                  <a:pt x="100414" y="5128"/>
                  <a:pt x="105542" y="0"/>
                  <a:pt x="111890" y="0"/>
                </a:cubicBezTo>
                <a:lnTo>
                  <a:pt x="120497" y="0"/>
                </a:lnTo>
                <a:cubicBezTo>
                  <a:pt x="131578" y="0"/>
                  <a:pt x="140580" y="9001"/>
                  <a:pt x="140580" y="20083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72308" y="2753302"/>
            <a:ext cx="4874964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1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Domain Expertise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2308" y="3047086"/>
            <a:ext cx="4856602" cy="422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2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Mushroom-specific logic, not generic ag-tech. Understand spawn run, pinning, contamination patterns.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70901" y="3732884"/>
            <a:ext cx="5644308" cy="1017224"/>
          </a:xfrm>
          <a:custGeom>
            <a:avLst/>
            <a:gdLst/>
            <a:ahLst/>
            <a:cxnLst/>
            <a:rect l="l" t="t" r="r" b="b"/>
            <a:pathLst>
              <a:path w="5644308" h="1017224">
                <a:moveTo>
                  <a:pt x="110165" y="0"/>
                </a:moveTo>
                <a:lnTo>
                  <a:pt x="5534143" y="0"/>
                </a:lnTo>
                <a:cubicBezTo>
                  <a:pt x="5594986" y="0"/>
                  <a:pt x="5644308" y="49323"/>
                  <a:pt x="5644308" y="110165"/>
                </a:cubicBezTo>
                <a:lnTo>
                  <a:pt x="5644308" y="907059"/>
                </a:lnTo>
                <a:cubicBezTo>
                  <a:pt x="5644308" y="967901"/>
                  <a:pt x="5594986" y="1017224"/>
                  <a:pt x="5534143" y="1017224"/>
                </a:cubicBezTo>
                <a:lnTo>
                  <a:pt x="110165" y="1017224"/>
                </a:lnTo>
                <a:cubicBezTo>
                  <a:pt x="49323" y="1017224"/>
                  <a:pt x="0" y="967901"/>
                  <a:pt x="0" y="907059"/>
                </a:cubicBezTo>
                <a:lnTo>
                  <a:pt x="0" y="110165"/>
                </a:lnTo>
                <a:cubicBezTo>
                  <a:pt x="0" y="49363"/>
                  <a:pt x="49363" y="0"/>
                  <a:pt x="110165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21465" y="3883446"/>
            <a:ext cx="440675" cy="440675"/>
          </a:xfrm>
          <a:custGeom>
            <a:avLst/>
            <a:gdLst/>
            <a:ahLst/>
            <a:cxnLst/>
            <a:rect l="l" t="t" r="r" b="b"/>
            <a:pathLst>
              <a:path w="440675" h="440675">
                <a:moveTo>
                  <a:pt x="220337" y="0"/>
                </a:moveTo>
                <a:lnTo>
                  <a:pt x="220337" y="0"/>
                </a:lnTo>
                <a:cubicBezTo>
                  <a:pt x="342026" y="0"/>
                  <a:pt x="440675" y="98648"/>
                  <a:pt x="440675" y="220337"/>
                </a:cubicBezTo>
                <a:lnTo>
                  <a:pt x="440675" y="220337"/>
                </a:lnTo>
                <a:cubicBezTo>
                  <a:pt x="440675" y="342026"/>
                  <a:pt x="342026" y="440675"/>
                  <a:pt x="220337" y="440675"/>
                </a:cubicBezTo>
                <a:lnTo>
                  <a:pt x="220337" y="440675"/>
                </a:lnTo>
                <a:cubicBezTo>
                  <a:pt x="98648" y="440675"/>
                  <a:pt x="0" y="342026"/>
                  <a:pt x="0" y="220337"/>
                </a:cubicBezTo>
                <a:lnTo>
                  <a:pt x="0" y="220337"/>
                </a:lnTo>
                <a:cubicBezTo>
                  <a:pt x="0" y="98648"/>
                  <a:pt x="98648" y="0"/>
                  <a:pt x="220337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38519" y="4011976"/>
            <a:ext cx="206566" cy="183614"/>
          </a:xfrm>
          <a:custGeom>
            <a:avLst/>
            <a:gdLst/>
            <a:ahLst/>
            <a:cxnLst/>
            <a:rect l="l" t="t" r="r" b="b"/>
            <a:pathLst>
              <a:path w="206566" h="183614">
                <a:moveTo>
                  <a:pt x="103283" y="34428"/>
                </a:moveTo>
                <a:cubicBezTo>
                  <a:pt x="70684" y="34428"/>
                  <a:pt x="41170" y="47338"/>
                  <a:pt x="19473" y="68353"/>
                </a:cubicBezTo>
                <a:cubicBezTo>
                  <a:pt x="14919" y="72764"/>
                  <a:pt x="7639" y="72657"/>
                  <a:pt x="3263" y="68102"/>
                </a:cubicBezTo>
                <a:cubicBezTo>
                  <a:pt x="-1112" y="63548"/>
                  <a:pt x="-1040" y="56268"/>
                  <a:pt x="3514" y="51893"/>
                </a:cubicBezTo>
                <a:cubicBezTo>
                  <a:pt x="29299" y="26861"/>
                  <a:pt x="64516" y="11476"/>
                  <a:pt x="103283" y="11476"/>
                </a:cubicBezTo>
                <a:cubicBezTo>
                  <a:pt x="142050" y="11476"/>
                  <a:pt x="177267" y="26861"/>
                  <a:pt x="203088" y="51893"/>
                </a:cubicBezTo>
                <a:cubicBezTo>
                  <a:pt x="207642" y="56304"/>
                  <a:pt x="207750" y="63584"/>
                  <a:pt x="203339" y="68102"/>
                </a:cubicBezTo>
                <a:cubicBezTo>
                  <a:pt x="198928" y="72621"/>
                  <a:pt x="191648" y="72764"/>
                  <a:pt x="187129" y="68353"/>
                </a:cubicBezTo>
                <a:cubicBezTo>
                  <a:pt x="165396" y="47338"/>
                  <a:pt x="135882" y="34428"/>
                  <a:pt x="103283" y="34428"/>
                </a:cubicBezTo>
                <a:close/>
                <a:moveTo>
                  <a:pt x="86069" y="154925"/>
                </a:moveTo>
                <a:cubicBezTo>
                  <a:pt x="86069" y="145424"/>
                  <a:pt x="93783" y="137711"/>
                  <a:pt x="103283" y="137711"/>
                </a:cubicBezTo>
                <a:cubicBezTo>
                  <a:pt x="112784" y="137711"/>
                  <a:pt x="120497" y="145424"/>
                  <a:pt x="120497" y="154925"/>
                </a:cubicBezTo>
                <a:cubicBezTo>
                  <a:pt x="120497" y="164425"/>
                  <a:pt x="112784" y="172139"/>
                  <a:pt x="103283" y="172139"/>
                </a:cubicBezTo>
                <a:cubicBezTo>
                  <a:pt x="93783" y="172139"/>
                  <a:pt x="86069" y="164425"/>
                  <a:pt x="86069" y="154925"/>
                </a:cubicBezTo>
                <a:close/>
                <a:moveTo>
                  <a:pt x="60248" y="116982"/>
                </a:moveTo>
                <a:cubicBezTo>
                  <a:pt x="56053" y="121752"/>
                  <a:pt x="48808" y="122183"/>
                  <a:pt x="44039" y="117987"/>
                </a:cubicBezTo>
                <a:cubicBezTo>
                  <a:pt x="39269" y="113791"/>
                  <a:pt x="38839" y="106547"/>
                  <a:pt x="43035" y="101777"/>
                </a:cubicBezTo>
                <a:cubicBezTo>
                  <a:pt x="57738" y="85137"/>
                  <a:pt x="79291" y="74593"/>
                  <a:pt x="103283" y="74593"/>
                </a:cubicBezTo>
                <a:cubicBezTo>
                  <a:pt x="127275" y="74593"/>
                  <a:pt x="148828" y="85137"/>
                  <a:pt x="163532" y="101777"/>
                </a:cubicBezTo>
                <a:cubicBezTo>
                  <a:pt x="167728" y="106547"/>
                  <a:pt x="167261" y="113791"/>
                  <a:pt x="162527" y="117987"/>
                </a:cubicBezTo>
                <a:cubicBezTo>
                  <a:pt x="157794" y="122183"/>
                  <a:pt x="150514" y="121716"/>
                  <a:pt x="146318" y="116982"/>
                </a:cubicBezTo>
                <a:cubicBezTo>
                  <a:pt x="135774" y="105040"/>
                  <a:pt x="120425" y="97545"/>
                  <a:pt x="103283" y="97545"/>
                </a:cubicBezTo>
                <a:cubicBezTo>
                  <a:pt x="86141" y="97545"/>
                  <a:pt x="70792" y="105040"/>
                  <a:pt x="60248" y="116982"/>
                </a:cubicBezTo>
                <a:close/>
              </a:path>
            </a:pathLst>
          </a:custGeom>
          <a:solidFill>
            <a:srgbClr val="F5F1E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72308" y="3883446"/>
            <a:ext cx="4874964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1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Offline-First Design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2308" y="4177229"/>
            <a:ext cx="4856602" cy="422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2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for rural India's connectivity challenges. Works for weeks without internet. Competitors can't easily replicate.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3118" y="1472588"/>
            <a:ext cx="5644308" cy="1017224"/>
          </a:xfrm>
          <a:custGeom>
            <a:avLst/>
            <a:gdLst/>
            <a:ahLst/>
            <a:cxnLst/>
            <a:rect l="l" t="t" r="r" b="b"/>
            <a:pathLst>
              <a:path w="5644308" h="1017224">
                <a:moveTo>
                  <a:pt x="110165" y="0"/>
                </a:moveTo>
                <a:lnTo>
                  <a:pt x="5534143" y="0"/>
                </a:lnTo>
                <a:cubicBezTo>
                  <a:pt x="5594986" y="0"/>
                  <a:pt x="5644308" y="49323"/>
                  <a:pt x="5644308" y="110165"/>
                </a:cubicBezTo>
                <a:lnTo>
                  <a:pt x="5644308" y="907059"/>
                </a:lnTo>
                <a:cubicBezTo>
                  <a:pt x="5644308" y="967901"/>
                  <a:pt x="5594986" y="1017224"/>
                  <a:pt x="5534143" y="1017224"/>
                </a:cubicBezTo>
                <a:lnTo>
                  <a:pt x="110165" y="1017224"/>
                </a:lnTo>
                <a:cubicBezTo>
                  <a:pt x="49323" y="1017224"/>
                  <a:pt x="0" y="967901"/>
                  <a:pt x="0" y="907059"/>
                </a:cubicBezTo>
                <a:lnTo>
                  <a:pt x="0" y="110165"/>
                </a:lnTo>
                <a:cubicBezTo>
                  <a:pt x="0" y="49363"/>
                  <a:pt x="49363" y="0"/>
                  <a:pt x="110165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323682" y="1623150"/>
            <a:ext cx="440675" cy="440675"/>
          </a:xfrm>
          <a:custGeom>
            <a:avLst/>
            <a:gdLst/>
            <a:ahLst/>
            <a:cxnLst/>
            <a:rect l="l" t="t" r="r" b="b"/>
            <a:pathLst>
              <a:path w="440675" h="440675">
                <a:moveTo>
                  <a:pt x="220337" y="0"/>
                </a:moveTo>
                <a:lnTo>
                  <a:pt x="220337" y="0"/>
                </a:lnTo>
                <a:cubicBezTo>
                  <a:pt x="342026" y="0"/>
                  <a:pt x="440675" y="98648"/>
                  <a:pt x="440675" y="220337"/>
                </a:cubicBezTo>
                <a:lnTo>
                  <a:pt x="440675" y="220337"/>
                </a:lnTo>
                <a:cubicBezTo>
                  <a:pt x="440675" y="342026"/>
                  <a:pt x="342026" y="440675"/>
                  <a:pt x="220337" y="440675"/>
                </a:cubicBezTo>
                <a:lnTo>
                  <a:pt x="220337" y="440675"/>
                </a:lnTo>
                <a:cubicBezTo>
                  <a:pt x="98648" y="440675"/>
                  <a:pt x="0" y="342026"/>
                  <a:pt x="0" y="220337"/>
                </a:cubicBezTo>
                <a:lnTo>
                  <a:pt x="0" y="220337"/>
                </a:lnTo>
                <a:cubicBezTo>
                  <a:pt x="0" y="98648"/>
                  <a:pt x="98648" y="0"/>
                  <a:pt x="220337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463688" y="1751680"/>
            <a:ext cx="160663" cy="183614"/>
          </a:xfrm>
          <a:custGeom>
            <a:avLst/>
            <a:gdLst/>
            <a:ahLst/>
            <a:cxnLst/>
            <a:rect l="l" t="t" r="r" b="b"/>
            <a:pathLst>
              <a:path w="160663" h="183614">
                <a:moveTo>
                  <a:pt x="160663" y="73804"/>
                </a:moveTo>
                <a:cubicBezTo>
                  <a:pt x="155355" y="77319"/>
                  <a:pt x="149258" y="80152"/>
                  <a:pt x="142911" y="82411"/>
                </a:cubicBezTo>
                <a:cubicBezTo>
                  <a:pt x="126056" y="88436"/>
                  <a:pt x="103929" y="91807"/>
                  <a:pt x="80331" y="91807"/>
                </a:cubicBezTo>
                <a:cubicBezTo>
                  <a:pt x="56734" y="91807"/>
                  <a:pt x="34571" y="88400"/>
                  <a:pt x="17752" y="82411"/>
                </a:cubicBezTo>
                <a:cubicBezTo>
                  <a:pt x="11440" y="80152"/>
                  <a:pt x="5308" y="77319"/>
                  <a:pt x="0" y="73804"/>
                </a:cubicBezTo>
                <a:lnTo>
                  <a:pt x="0" y="103283"/>
                </a:lnTo>
                <a:cubicBezTo>
                  <a:pt x="0" y="119134"/>
                  <a:pt x="35970" y="131973"/>
                  <a:pt x="80331" y="131973"/>
                </a:cubicBezTo>
                <a:cubicBezTo>
                  <a:pt x="124693" y="131973"/>
                  <a:pt x="160663" y="119134"/>
                  <a:pt x="160663" y="103283"/>
                </a:cubicBezTo>
                <a:lnTo>
                  <a:pt x="160663" y="73804"/>
                </a:lnTo>
                <a:close/>
                <a:moveTo>
                  <a:pt x="160663" y="45904"/>
                </a:moveTo>
                <a:lnTo>
                  <a:pt x="160663" y="28690"/>
                </a:lnTo>
                <a:cubicBezTo>
                  <a:pt x="160663" y="12839"/>
                  <a:pt x="124693" y="0"/>
                  <a:pt x="80331" y="0"/>
                </a:cubicBezTo>
                <a:cubicBezTo>
                  <a:pt x="35970" y="0"/>
                  <a:pt x="0" y="12839"/>
                  <a:pt x="0" y="28690"/>
                </a:cubicBezTo>
                <a:lnTo>
                  <a:pt x="0" y="45904"/>
                </a:lnTo>
                <a:cubicBezTo>
                  <a:pt x="0" y="61755"/>
                  <a:pt x="35970" y="74593"/>
                  <a:pt x="80331" y="74593"/>
                </a:cubicBezTo>
                <a:cubicBezTo>
                  <a:pt x="124693" y="74593"/>
                  <a:pt x="160663" y="61755"/>
                  <a:pt x="160663" y="45904"/>
                </a:cubicBezTo>
                <a:close/>
                <a:moveTo>
                  <a:pt x="142911" y="139791"/>
                </a:moveTo>
                <a:cubicBezTo>
                  <a:pt x="126091" y="145780"/>
                  <a:pt x="103965" y="149187"/>
                  <a:pt x="80331" y="149187"/>
                </a:cubicBezTo>
                <a:cubicBezTo>
                  <a:pt x="56698" y="149187"/>
                  <a:pt x="34571" y="145780"/>
                  <a:pt x="17752" y="139791"/>
                </a:cubicBezTo>
                <a:cubicBezTo>
                  <a:pt x="11440" y="137532"/>
                  <a:pt x="5308" y="134698"/>
                  <a:pt x="0" y="131184"/>
                </a:cubicBezTo>
                <a:lnTo>
                  <a:pt x="0" y="154925"/>
                </a:lnTo>
                <a:cubicBezTo>
                  <a:pt x="0" y="170776"/>
                  <a:pt x="35970" y="183614"/>
                  <a:pt x="80331" y="183614"/>
                </a:cubicBezTo>
                <a:cubicBezTo>
                  <a:pt x="124693" y="183614"/>
                  <a:pt x="160663" y="170776"/>
                  <a:pt x="160663" y="154925"/>
                </a:cubicBezTo>
                <a:lnTo>
                  <a:pt x="160663" y="131184"/>
                </a:lnTo>
                <a:cubicBezTo>
                  <a:pt x="155355" y="134698"/>
                  <a:pt x="149258" y="137532"/>
                  <a:pt x="142911" y="139791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874525" y="1623150"/>
            <a:ext cx="4874964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1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Network Effects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74525" y="1916933"/>
            <a:ext cx="4856602" cy="422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2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Yield benchmarks no one else has. 50M+ sensor readings power AI recommendations that improve with each farm.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3118" y="2602740"/>
            <a:ext cx="5644308" cy="1017224"/>
          </a:xfrm>
          <a:custGeom>
            <a:avLst/>
            <a:gdLst/>
            <a:ahLst/>
            <a:cxnLst/>
            <a:rect l="l" t="t" r="r" b="b"/>
            <a:pathLst>
              <a:path w="5644308" h="1017224">
                <a:moveTo>
                  <a:pt x="110165" y="0"/>
                </a:moveTo>
                <a:lnTo>
                  <a:pt x="5534143" y="0"/>
                </a:lnTo>
                <a:cubicBezTo>
                  <a:pt x="5594986" y="0"/>
                  <a:pt x="5644308" y="49323"/>
                  <a:pt x="5644308" y="110165"/>
                </a:cubicBezTo>
                <a:lnTo>
                  <a:pt x="5644308" y="907059"/>
                </a:lnTo>
                <a:cubicBezTo>
                  <a:pt x="5644308" y="967901"/>
                  <a:pt x="5594986" y="1017224"/>
                  <a:pt x="5534143" y="1017224"/>
                </a:cubicBezTo>
                <a:lnTo>
                  <a:pt x="110165" y="1017224"/>
                </a:lnTo>
                <a:cubicBezTo>
                  <a:pt x="49323" y="1017224"/>
                  <a:pt x="0" y="967901"/>
                  <a:pt x="0" y="907059"/>
                </a:cubicBezTo>
                <a:lnTo>
                  <a:pt x="0" y="110165"/>
                </a:lnTo>
                <a:cubicBezTo>
                  <a:pt x="0" y="49363"/>
                  <a:pt x="49363" y="0"/>
                  <a:pt x="110165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323682" y="2753302"/>
            <a:ext cx="440675" cy="440675"/>
          </a:xfrm>
          <a:custGeom>
            <a:avLst/>
            <a:gdLst/>
            <a:ahLst/>
            <a:cxnLst/>
            <a:rect l="l" t="t" r="r" b="b"/>
            <a:pathLst>
              <a:path w="440675" h="440675">
                <a:moveTo>
                  <a:pt x="220337" y="0"/>
                </a:moveTo>
                <a:lnTo>
                  <a:pt x="220337" y="0"/>
                </a:lnTo>
                <a:cubicBezTo>
                  <a:pt x="342026" y="0"/>
                  <a:pt x="440675" y="98648"/>
                  <a:pt x="440675" y="220337"/>
                </a:cubicBezTo>
                <a:lnTo>
                  <a:pt x="440675" y="220337"/>
                </a:lnTo>
                <a:cubicBezTo>
                  <a:pt x="440675" y="342026"/>
                  <a:pt x="342026" y="440675"/>
                  <a:pt x="220337" y="440675"/>
                </a:cubicBezTo>
                <a:lnTo>
                  <a:pt x="220337" y="440675"/>
                </a:lnTo>
                <a:cubicBezTo>
                  <a:pt x="98648" y="440675"/>
                  <a:pt x="0" y="342026"/>
                  <a:pt x="0" y="220337"/>
                </a:cubicBezTo>
                <a:lnTo>
                  <a:pt x="0" y="220337"/>
                </a:lnTo>
                <a:cubicBezTo>
                  <a:pt x="0" y="98648"/>
                  <a:pt x="98648" y="0"/>
                  <a:pt x="220337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475164" y="2881833"/>
            <a:ext cx="137711" cy="183614"/>
          </a:xfrm>
          <a:custGeom>
            <a:avLst/>
            <a:gdLst/>
            <a:ahLst/>
            <a:cxnLst/>
            <a:rect l="l" t="t" r="r" b="b"/>
            <a:pathLst>
              <a:path w="137711" h="183614">
                <a:moveTo>
                  <a:pt x="45904" y="34428"/>
                </a:moveTo>
                <a:lnTo>
                  <a:pt x="45904" y="57380"/>
                </a:lnTo>
                <a:lnTo>
                  <a:pt x="91807" y="57380"/>
                </a:lnTo>
                <a:lnTo>
                  <a:pt x="91807" y="34428"/>
                </a:lnTo>
                <a:cubicBezTo>
                  <a:pt x="91807" y="21768"/>
                  <a:pt x="81515" y="11476"/>
                  <a:pt x="68855" y="11476"/>
                </a:cubicBezTo>
                <a:cubicBezTo>
                  <a:pt x="56196" y="11476"/>
                  <a:pt x="45904" y="21768"/>
                  <a:pt x="45904" y="34428"/>
                </a:cubicBezTo>
                <a:close/>
                <a:moveTo>
                  <a:pt x="22952" y="57380"/>
                </a:moveTo>
                <a:lnTo>
                  <a:pt x="22952" y="34428"/>
                </a:lnTo>
                <a:cubicBezTo>
                  <a:pt x="22952" y="9073"/>
                  <a:pt x="43501" y="-11476"/>
                  <a:pt x="68855" y="-11476"/>
                </a:cubicBezTo>
                <a:cubicBezTo>
                  <a:pt x="94210" y="-11476"/>
                  <a:pt x="114759" y="9073"/>
                  <a:pt x="114759" y="34428"/>
                </a:cubicBezTo>
                <a:lnTo>
                  <a:pt x="114759" y="57380"/>
                </a:lnTo>
                <a:cubicBezTo>
                  <a:pt x="127418" y="57380"/>
                  <a:pt x="137711" y="67672"/>
                  <a:pt x="137711" y="80331"/>
                </a:cubicBezTo>
                <a:lnTo>
                  <a:pt x="137711" y="160663"/>
                </a:lnTo>
                <a:cubicBezTo>
                  <a:pt x="137711" y="173322"/>
                  <a:pt x="127418" y="183614"/>
                  <a:pt x="114759" y="183614"/>
                </a:cubicBezTo>
                <a:lnTo>
                  <a:pt x="22952" y="183614"/>
                </a:lnTo>
                <a:cubicBezTo>
                  <a:pt x="10292" y="183614"/>
                  <a:pt x="0" y="173322"/>
                  <a:pt x="0" y="160663"/>
                </a:cubicBezTo>
                <a:lnTo>
                  <a:pt x="0" y="80331"/>
                </a:lnTo>
                <a:cubicBezTo>
                  <a:pt x="0" y="67672"/>
                  <a:pt x="10292" y="57380"/>
                  <a:pt x="22952" y="57380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74525" y="2753302"/>
            <a:ext cx="4874964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1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Switching Costs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74525" y="3047086"/>
            <a:ext cx="4856602" cy="422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2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years of farm data, integrated ERP, established supplier relationships. Farms won't switch easily.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73118" y="3732884"/>
            <a:ext cx="5644308" cy="1017224"/>
          </a:xfrm>
          <a:custGeom>
            <a:avLst/>
            <a:gdLst/>
            <a:ahLst/>
            <a:cxnLst/>
            <a:rect l="l" t="t" r="r" b="b"/>
            <a:pathLst>
              <a:path w="5644308" h="1017224">
                <a:moveTo>
                  <a:pt x="110165" y="0"/>
                </a:moveTo>
                <a:lnTo>
                  <a:pt x="5534143" y="0"/>
                </a:lnTo>
                <a:cubicBezTo>
                  <a:pt x="5594986" y="0"/>
                  <a:pt x="5644308" y="49323"/>
                  <a:pt x="5644308" y="110165"/>
                </a:cubicBezTo>
                <a:lnTo>
                  <a:pt x="5644308" y="907059"/>
                </a:lnTo>
                <a:cubicBezTo>
                  <a:pt x="5644308" y="967901"/>
                  <a:pt x="5594986" y="1017224"/>
                  <a:pt x="5534143" y="1017224"/>
                </a:cubicBezTo>
                <a:lnTo>
                  <a:pt x="110165" y="1017224"/>
                </a:lnTo>
                <a:cubicBezTo>
                  <a:pt x="49323" y="1017224"/>
                  <a:pt x="0" y="967901"/>
                  <a:pt x="0" y="907059"/>
                </a:cubicBezTo>
                <a:lnTo>
                  <a:pt x="0" y="110165"/>
                </a:lnTo>
                <a:cubicBezTo>
                  <a:pt x="0" y="49363"/>
                  <a:pt x="49363" y="0"/>
                  <a:pt x="110165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323682" y="3883446"/>
            <a:ext cx="440675" cy="440675"/>
          </a:xfrm>
          <a:custGeom>
            <a:avLst/>
            <a:gdLst/>
            <a:ahLst/>
            <a:cxnLst/>
            <a:rect l="l" t="t" r="r" b="b"/>
            <a:pathLst>
              <a:path w="440675" h="440675">
                <a:moveTo>
                  <a:pt x="220337" y="0"/>
                </a:moveTo>
                <a:lnTo>
                  <a:pt x="220337" y="0"/>
                </a:lnTo>
                <a:cubicBezTo>
                  <a:pt x="342026" y="0"/>
                  <a:pt x="440675" y="98648"/>
                  <a:pt x="440675" y="220337"/>
                </a:cubicBezTo>
                <a:lnTo>
                  <a:pt x="440675" y="220337"/>
                </a:lnTo>
                <a:cubicBezTo>
                  <a:pt x="440675" y="342026"/>
                  <a:pt x="342026" y="440675"/>
                  <a:pt x="220337" y="440675"/>
                </a:cubicBezTo>
                <a:lnTo>
                  <a:pt x="220337" y="440675"/>
                </a:lnTo>
                <a:cubicBezTo>
                  <a:pt x="98648" y="440675"/>
                  <a:pt x="0" y="342026"/>
                  <a:pt x="0" y="220337"/>
                </a:cubicBezTo>
                <a:lnTo>
                  <a:pt x="0" y="220337"/>
                </a:lnTo>
                <a:cubicBezTo>
                  <a:pt x="0" y="98648"/>
                  <a:pt x="98648" y="0"/>
                  <a:pt x="220337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440736" y="4011976"/>
            <a:ext cx="206566" cy="183614"/>
          </a:xfrm>
          <a:custGeom>
            <a:avLst/>
            <a:gdLst/>
            <a:ahLst/>
            <a:cxnLst/>
            <a:rect l="l" t="t" r="r" b="b"/>
            <a:pathLst>
              <a:path w="206566" h="183614">
                <a:moveTo>
                  <a:pt x="88938" y="31559"/>
                </a:moveTo>
                <a:lnTo>
                  <a:pt x="117628" y="31559"/>
                </a:lnTo>
                <a:lnTo>
                  <a:pt x="117628" y="48773"/>
                </a:lnTo>
                <a:lnTo>
                  <a:pt x="88938" y="48773"/>
                </a:lnTo>
                <a:lnTo>
                  <a:pt x="88938" y="31559"/>
                </a:lnTo>
                <a:close/>
                <a:moveTo>
                  <a:pt x="86069" y="11476"/>
                </a:moveTo>
                <a:cubicBezTo>
                  <a:pt x="76566" y="11476"/>
                  <a:pt x="68855" y="19186"/>
                  <a:pt x="68855" y="28690"/>
                </a:cubicBezTo>
                <a:lnTo>
                  <a:pt x="68855" y="51642"/>
                </a:lnTo>
                <a:cubicBezTo>
                  <a:pt x="68855" y="61145"/>
                  <a:pt x="76566" y="68855"/>
                  <a:pt x="86069" y="68855"/>
                </a:cubicBezTo>
                <a:lnTo>
                  <a:pt x="91807" y="68855"/>
                </a:lnTo>
                <a:lnTo>
                  <a:pt x="91807" y="80331"/>
                </a:lnTo>
                <a:lnTo>
                  <a:pt x="11476" y="80331"/>
                </a:lnTo>
                <a:cubicBezTo>
                  <a:pt x="5128" y="80331"/>
                  <a:pt x="0" y="85460"/>
                  <a:pt x="0" y="91807"/>
                </a:cubicBezTo>
                <a:cubicBezTo>
                  <a:pt x="0" y="98155"/>
                  <a:pt x="5128" y="103283"/>
                  <a:pt x="11476" y="103283"/>
                </a:cubicBezTo>
                <a:lnTo>
                  <a:pt x="45904" y="103283"/>
                </a:lnTo>
                <a:lnTo>
                  <a:pt x="45904" y="114759"/>
                </a:lnTo>
                <a:lnTo>
                  <a:pt x="40166" y="114759"/>
                </a:lnTo>
                <a:cubicBezTo>
                  <a:pt x="30662" y="114759"/>
                  <a:pt x="22952" y="122469"/>
                  <a:pt x="22952" y="131973"/>
                </a:cubicBezTo>
                <a:lnTo>
                  <a:pt x="22952" y="154925"/>
                </a:lnTo>
                <a:cubicBezTo>
                  <a:pt x="22952" y="164428"/>
                  <a:pt x="30662" y="172139"/>
                  <a:pt x="40166" y="172139"/>
                </a:cubicBezTo>
                <a:lnTo>
                  <a:pt x="74593" y="172139"/>
                </a:lnTo>
                <a:cubicBezTo>
                  <a:pt x="84097" y="172139"/>
                  <a:pt x="91807" y="164428"/>
                  <a:pt x="91807" y="154925"/>
                </a:cubicBezTo>
                <a:lnTo>
                  <a:pt x="91807" y="131973"/>
                </a:lnTo>
                <a:cubicBezTo>
                  <a:pt x="91807" y="122469"/>
                  <a:pt x="84097" y="114759"/>
                  <a:pt x="74593" y="114759"/>
                </a:cubicBezTo>
                <a:lnTo>
                  <a:pt x="68855" y="114759"/>
                </a:lnTo>
                <a:lnTo>
                  <a:pt x="68855" y="103283"/>
                </a:lnTo>
                <a:lnTo>
                  <a:pt x="137711" y="103283"/>
                </a:lnTo>
                <a:lnTo>
                  <a:pt x="137711" y="114759"/>
                </a:lnTo>
                <a:lnTo>
                  <a:pt x="131973" y="114759"/>
                </a:lnTo>
                <a:cubicBezTo>
                  <a:pt x="122469" y="114759"/>
                  <a:pt x="114759" y="122469"/>
                  <a:pt x="114759" y="131973"/>
                </a:cubicBezTo>
                <a:lnTo>
                  <a:pt x="114759" y="154925"/>
                </a:lnTo>
                <a:cubicBezTo>
                  <a:pt x="114759" y="164428"/>
                  <a:pt x="122469" y="172139"/>
                  <a:pt x="131973" y="172139"/>
                </a:cubicBezTo>
                <a:lnTo>
                  <a:pt x="166401" y="172139"/>
                </a:lnTo>
                <a:cubicBezTo>
                  <a:pt x="175904" y="172139"/>
                  <a:pt x="183614" y="164428"/>
                  <a:pt x="183614" y="154925"/>
                </a:cubicBezTo>
                <a:lnTo>
                  <a:pt x="183614" y="131973"/>
                </a:lnTo>
                <a:cubicBezTo>
                  <a:pt x="183614" y="122469"/>
                  <a:pt x="175904" y="114759"/>
                  <a:pt x="166401" y="114759"/>
                </a:cubicBezTo>
                <a:lnTo>
                  <a:pt x="160663" y="114759"/>
                </a:lnTo>
                <a:lnTo>
                  <a:pt x="160663" y="103283"/>
                </a:lnTo>
                <a:lnTo>
                  <a:pt x="195090" y="103283"/>
                </a:lnTo>
                <a:cubicBezTo>
                  <a:pt x="201438" y="103283"/>
                  <a:pt x="206566" y="98155"/>
                  <a:pt x="206566" y="91807"/>
                </a:cubicBezTo>
                <a:cubicBezTo>
                  <a:pt x="206566" y="85460"/>
                  <a:pt x="201438" y="80331"/>
                  <a:pt x="195090" y="80331"/>
                </a:cubicBezTo>
                <a:lnTo>
                  <a:pt x="114759" y="80331"/>
                </a:lnTo>
                <a:lnTo>
                  <a:pt x="114759" y="68855"/>
                </a:lnTo>
                <a:lnTo>
                  <a:pt x="120497" y="68855"/>
                </a:lnTo>
                <a:cubicBezTo>
                  <a:pt x="130000" y="68855"/>
                  <a:pt x="137711" y="61145"/>
                  <a:pt x="137711" y="51642"/>
                </a:cubicBezTo>
                <a:lnTo>
                  <a:pt x="137711" y="28690"/>
                </a:lnTo>
                <a:cubicBezTo>
                  <a:pt x="137711" y="19186"/>
                  <a:pt x="130000" y="11476"/>
                  <a:pt x="120497" y="11476"/>
                </a:cubicBezTo>
                <a:lnTo>
                  <a:pt x="86069" y="11476"/>
                </a:lnTo>
                <a:close/>
                <a:moveTo>
                  <a:pt x="160663" y="134842"/>
                </a:moveTo>
                <a:lnTo>
                  <a:pt x="163532" y="134842"/>
                </a:lnTo>
                <a:lnTo>
                  <a:pt x="163532" y="152056"/>
                </a:lnTo>
                <a:lnTo>
                  <a:pt x="134842" y="152056"/>
                </a:lnTo>
                <a:lnTo>
                  <a:pt x="134842" y="134842"/>
                </a:lnTo>
                <a:lnTo>
                  <a:pt x="160663" y="134842"/>
                </a:lnTo>
                <a:close/>
                <a:moveTo>
                  <a:pt x="68855" y="134842"/>
                </a:moveTo>
                <a:lnTo>
                  <a:pt x="71724" y="134842"/>
                </a:lnTo>
                <a:lnTo>
                  <a:pt x="71724" y="152056"/>
                </a:lnTo>
                <a:lnTo>
                  <a:pt x="43035" y="152056"/>
                </a:lnTo>
                <a:lnTo>
                  <a:pt x="43035" y="134842"/>
                </a:lnTo>
                <a:lnTo>
                  <a:pt x="68855" y="134842"/>
                </a:lnTo>
                <a:close/>
              </a:path>
            </a:pathLst>
          </a:custGeom>
          <a:solidFill>
            <a:srgbClr val="F5F1E8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874525" y="3883446"/>
            <a:ext cx="4874964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1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Ecosystem Lock-In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74525" y="4177229"/>
            <a:ext cx="4856602" cy="422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2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Marketplace + Consultancy + Financing create multiple touchpoints. Value increases with each new connection.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70901" y="4899750"/>
            <a:ext cx="11446525" cy="1586429"/>
          </a:xfrm>
          <a:custGeom>
            <a:avLst/>
            <a:gdLst/>
            <a:ahLst/>
            <a:cxnLst/>
            <a:rect l="l" t="t" r="r" b="b"/>
            <a:pathLst>
              <a:path w="11446525" h="1586429">
                <a:moveTo>
                  <a:pt x="110162" y="0"/>
                </a:moveTo>
                <a:lnTo>
                  <a:pt x="11336364" y="0"/>
                </a:lnTo>
                <a:cubicBezTo>
                  <a:pt x="11397204" y="0"/>
                  <a:pt x="11446525" y="49321"/>
                  <a:pt x="11446525" y="110162"/>
                </a:cubicBezTo>
                <a:lnTo>
                  <a:pt x="11446525" y="1476267"/>
                </a:lnTo>
                <a:cubicBezTo>
                  <a:pt x="11446525" y="1537108"/>
                  <a:pt x="11397204" y="1586429"/>
                  <a:pt x="11336364" y="1586429"/>
                </a:cubicBezTo>
                <a:lnTo>
                  <a:pt x="110162" y="1586429"/>
                </a:lnTo>
                <a:cubicBezTo>
                  <a:pt x="49321" y="1586429"/>
                  <a:pt x="0" y="1537108"/>
                  <a:pt x="0" y="1476267"/>
                </a:cubicBezTo>
                <a:lnTo>
                  <a:pt x="0" y="110162"/>
                </a:lnTo>
                <a:cubicBezTo>
                  <a:pt x="0" y="49362"/>
                  <a:pt x="49362" y="0"/>
                  <a:pt x="110162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21465" y="5050321"/>
            <a:ext cx="11209663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b="1" spc="51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MOAT DEEPENING OVER TIME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535246" y="5344104"/>
            <a:ext cx="587566" cy="587566"/>
          </a:xfrm>
          <a:custGeom>
            <a:avLst/>
            <a:gdLst/>
            <a:ahLst/>
            <a:cxnLst/>
            <a:rect l="l" t="t" r="r" b="b"/>
            <a:pathLst>
              <a:path w="587566" h="587566">
                <a:moveTo>
                  <a:pt x="293783" y="0"/>
                </a:moveTo>
                <a:lnTo>
                  <a:pt x="293783" y="0"/>
                </a:lnTo>
                <a:cubicBezTo>
                  <a:pt x="455926" y="0"/>
                  <a:pt x="587566" y="131640"/>
                  <a:pt x="587566" y="293783"/>
                </a:cubicBezTo>
                <a:lnTo>
                  <a:pt x="587566" y="293783"/>
                </a:lnTo>
                <a:cubicBezTo>
                  <a:pt x="587566" y="455926"/>
                  <a:pt x="455926" y="587566"/>
                  <a:pt x="293783" y="587566"/>
                </a:cubicBezTo>
                <a:lnTo>
                  <a:pt x="293783" y="587566"/>
                </a:lnTo>
                <a:cubicBezTo>
                  <a:pt x="131640" y="587566"/>
                  <a:pt x="0" y="455926"/>
                  <a:pt x="0" y="293783"/>
                </a:cubicBezTo>
                <a:lnTo>
                  <a:pt x="0" y="293783"/>
                </a:lnTo>
                <a:cubicBezTo>
                  <a:pt x="0" y="131640"/>
                  <a:pt x="131640" y="0"/>
                  <a:pt x="293783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727353" y="5527719"/>
            <a:ext cx="201976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Y1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89333" y="6005116"/>
            <a:ext cx="2680771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2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Moat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93923" y="6188731"/>
            <a:ext cx="2671590" cy="146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67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IoT features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159546" y="5747939"/>
            <a:ext cx="183614" cy="183614"/>
          </a:xfrm>
          <a:custGeom>
            <a:avLst/>
            <a:gdLst/>
            <a:ahLst/>
            <a:cxnLst/>
            <a:rect l="l" t="t" r="r" b="b"/>
            <a:pathLst>
              <a:path w="183614" h="183614">
                <a:moveTo>
                  <a:pt x="180243" y="99912"/>
                </a:moveTo>
                <a:cubicBezTo>
                  <a:pt x="184726" y="95429"/>
                  <a:pt x="184726" y="88149"/>
                  <a:pt x="180243" y="83667"/>
                </a:cubicBezTo>
                <a:lnTo>
                  <a:pt x="122864" y="26287"/>
                </a:lnTo>
                <a:cubicBezTo>
                  <a:pt x="118381" y="21804"/>
                  <a:pt x="111101" y="21804"/>
                  <a:pt x="106618" y="26287"/>
                </a:cubicBezTo>
                <a:cubicBezTo>
                  <a:pt x="102136" y="30770"/>
                  <a:pt x="102136" y="38050"/>
                  <a:pt x="106618" y="42533"/>
                </a:cubicBezTo>
                <a:lnTo>
                  <a:pt x="144417" y="80331"/>
                </a:lnTo>
                <a:lnTo>
                  <a:pt x="11476" y="80331"/>
                </a:lnTo>
                <a:cubicBezTo>
                  <a:pt x="5128" y="80331"/>
                  <a:pt x="0" y="85460"/>
                  <a:pt x="0" y="91807"/>
                </a:cubicBezTo>
                <a:cubicBezTo>
                  <a:pt x="0" y="98155"/>
                  <a:pt x="5128" y="103283"/>
                  <a:pt x="11476" y="103283"/>
                </a:cubicBezTo>
                <a:lnTo>
                  <a:pt x="144417" y="103283"/>
                </a:lnTo>
                <a:lnTo>
                  <a:pt x="106618" y="141082"/>
                </a:lnTo>
                <a:cubicBezTo>
                  <a:pt x="102136" y="145565"/>
                  <a:pt x="102136" y="152845"/>
                  <a:pt x="106618" y="157327"/>
                </a:cubicBezTo>
                <a:cubicBezTo>
                  <a:pt x="111101" y="161810"/>
                  <a:pt x="118381" y="161810"/>
                  <a:pt x="122864" y="157327"/>
                </a:cubicBezTo>
                <a:lnTo>
                  <a:pt x="180243" y="99948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4379893" y="5344104"/>
            <a:ext cx="587566" cy="587566"/>
          </a:xfrm>
          <a:custGeom>
            <a:avLst/>
            <a:gdLst/>
            <a:ahLst/>
            <a:cxnLst/>
            <a:rect l="l" t="t" r="r" b="b"/>
            <a:pathLst>
              <a:path w="587566" h="587566">
                <a:moveTo>
                  <a:pt x="293783" y="0"/>
                </a:moveTo>
                <a:lnTo>
                  <a:pt x="293783" y="0"/>
                </a:lnTo>
                <a:cubicBezTo>
                  <a:pt x="455926" y="0"/>
                  <a:pt x="587566" y="131640"/>
                  <a:pt x="587566" y="293783"/>
                </a:cubicBezTo>
                <a:lnTo>
                  <a:pt x="587566" y="293783"/>
                </a:lnTo>
                <a:cubicBezTo>
                  <a:pt x="587566" y="455926"/>
                  <a:pt x="455926" y="587566"/>
                  <a:pt x="293783" y="587566"/>
                </a:cubicBezTo>
                <a:lnTo>
                  <a:pt x="293783" y="587566"/>
                </a:lnTo>
                <a:cubicBezTo>
                  <a:pt x="131640" y="587566"/>
                  <a:pt x="0" y="455926"/>
                  <a:pt x="0" y="293783"/>
                </a:cubicBezTo>
                <a:lnTo>
                  <a:pt x="0" y="293783"/>
                </a:lnTo>
                <a:cubicBezTo>
                  <a:pt x="0" y="131640"/>
                  <a:pt x="131640" y="0"/>
                  <a:pt x="293783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557999" y="5527719"/>
            <a:ext cx="229518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1A2E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333979" y="6005116"/>
            <a:ext cx="2680771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2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Moat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3338570" y="6188731"/>
            <a:ext cx="2671590" cy="146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67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Yield benchmarks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004193" y="5747939"/>
            <a:ext cx="183614" cy="183614"/>
          </a:xfrm>
          <a:custGeom>
            <a:avLst/>
            <a:gdLst/>
            <a:ahLst/>
            <a:cxnLst/>
            <a:rect l="l" t="t" r="r" b="b"/>
            <a:pathLst>
              <a:path w="183614" h="183614">
                <a:moveTo>
                  <a:pt x="180243" y="99912"/>
                </a:moveTo>
                <a:cubicBezTo>
                  <a:pt x="184726" y="95429"/>
                  <a:pt x="184726" y="88149"/>
                  <a:pt x="180243" y="83667"/>
                </a:cubicBezTo>
                <a:lnTo>
                  <a:pt x="122864" y="26287"/>
                </a:lnTo>
                <a:cubicBezTo>
                  <a:pt x="118381" y="21804"/>
                  <a:pt x="111101" y="21804"/>
                  <a:pt x="106618" y="26287"/>
                </a:cubicBezTo>
                <a:cubicBezTo>
                  <a:pt x="102136" y="30770"/>
                  <a:pt x="102136" y="38050"/>
                  <a:pt x="106618" y="42533"/>
                </a:cubicBezTo>
                <a:lnTo>
                  <a:pt x="144417" y="80331"/>
                </a:lnTo>
                <a:lnTo>
                  <a:pt x="11476" y="80331"/>
                </a:lnTo>
                <a:cubicBezTo>
                  <a:pt x="5128" y="80331"/>
                  <a:pt x="0" y="85460"/>
                  <a:pt x="0" y="91807"/>
                </a:cubicBezTo>
                <a:cubicBezTo>
                  <a:pt x="0" y="98155"/>
                  <a:pt x="5128" y="103283"/>
                  <a:pt x="11476" y="103283"/>
                </a:cubicBezTo>
                <a:lnTo>
                  <a:pt x="144417" y="103283"/>
                </a:lnTo>
                <a:lnTo>
                  <a:pt x="106618" y="141082"/>
                </a:lnTo>
                <a:cubicBezTo>
                  <a:pt x="102136" y="145565"/>
                  <a:pt x="102136" y="152845"/>
                  <a:pt x="106618" y="157327"/>
                </a:cubicBezTo>
                <a:cubicBezTo>
                  <a:pt x="111101" y="161810"/>
                  <a:pt x="118381" y="161810"/>
                  <a:pt x="122864" y="157327"/>
                </a:cubicBezTo>
                <a:lnTo>
                  <a:pt x="180243" y="99948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7224540" y="5344104"/>
            <a:ext cx="587566" cy="587566"/>
          </a:xfrm>
          <a:custGeom>
            <a:avLst/>
            <a:gdLst/>
            <a:ahLst/>
            <a:cxnLst/>
            <a:rect l="l" t="t" r="r" b="b"/>
            <a:pathLst>
              <a:path w="587566" h="587566">
                <a:moveTo>
                  <a:pt x="293783" y="0"/>
                </a:moveTo>
                <a:lnTo>
                  <a:pt x="293783" y="0"/>
                </a:lnTo>
                <a:cubicBezTo>
                  <a:pt x="455926" y="0"/>
                  <a:pt x="587566" y="131640"/>
                  <a:pt x="587566" y="293783"/>
                </a:cubicBezTo>
                <a:lnTo>
                  <a:pt x="587566" y="293783"/>
                </a:lnTo>
                <a:cubicBezTo>
                  <a:pt x="587566" y="455926"/>
                  <a:pt x="455926" y="587566"/>
                  <a:pt x="293783" y="587566"/>
                </a:cubicBezTo>
                <a:lnTo>
                  <a:pt x="293783" y="587566"/>
                </a:lnTo>
                <a:cubicBezTo>
                  <a:pt x="131640" y="587566"/>
                  <a:pt x="0" y="455926"/>
                  <a:pt x="0" y="293783"/>
                </a:cubicBezTo>
                <a:lnTo>
                  <a:pt x="0" y="293783"/>
                </a:lnTo>
                <a:cubicBezTo>
                  <a:pt x="0" y="131640"/>
                  <a:pt x="131640" y="0"/>
                  <a:pt x="293783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7400695" y="5527719"/>
            <a:ext cx="238699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1A2E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Y3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178627" y="6005116"/>
            <a:ext cx="2680771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2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Moat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183217" y="6188731"/>
            <a:ext cx="2671590" cy="146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67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Marketplace liquidity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848840" y="5747939"/>
            <a:ext cx="183614" cy="183614"/>
          </a:xfrm>
          <a:custGeom>
            <a:avLst/>
            <a:gdLst/>
            <a:ahLst/>
            <a:cxnLst/>
            <a:rect l="l" t="t" r="r" b="b"/>
            <a:pathLst>
              <a:path w="183614" h="183614">
                <a:moveTo>
                  <a:pt x="180243" y="99912"/>
                </a:moveTo>
                <a:cubicBezTo>
                  <a:pt x="184726" y="95429"/>
                  <a:pt x="184726" y="88149"/>
                  <a:pt x="180243" y="83667"/>
                </a:cubicBezTo>
                <a:lnTo>
                  <a:pt x="122864" y="26287"/>
                </a:lnTo>
                <a:cubicBezTo>
                  <a:pt x="118381" y="21804"/>
                  <a:pt x="111101" y="21804"/>
                  <a:pt x="106618" y="26287"/>
                </a:cubicBezTo>
                <a:cubicBezTo>
                  <a:pt x="102136" y="30770"/>
                  <a:pt x="102136" y="38050"/>
                  <a:pt x="106618" y="42533"/>
                </a:cubicBezTo>
                <a:lnTo>
                  <a:pt x="144417" y="80331"/>
                </a:lnTo>
                <a:lnTo>
                  <a:pt x="11476" y="80331"/>
                </a:lnTo>
                <a:cubicBezTo>
                  <a:pt x="5128" y="80331"/>
                  <a:pt x="0" y="85460"/>
                  <a:pt x="0" y="91807"/>
                </a:cubicBezTo>
                <a:cubicBezTo>
                  <a:pt x="0" y="98155"/>
                  <a:pt x="5128" y="103283"/>
                  <a:pt x="11476" y="103283"/>
                </a:cubicBezTo>
                <a:lnTo>
                  <a:pt x="144417" y="103283"/>
                </a:lnTo>
                <a:lnTo>
                  <a:pt x="106618" y="141082"/>
                </a:lnTo>
                <a:cubicBezTo>
                  <a:pt x="102136" y="145565"/>
                  <a:pt x="102136" y="152845"/>
                  <a:pt x="106618" y="157327"/>
                </a:cubicBezTo>
                <a:cubicBezTo>
                  <a:pt x="111101" y="161810"/>
                  <a:pt x="118381" y="161810"/>
                  <a:pt x="122864" y="157327"/>
                </a:cubicBezTo>
                <a:lnTo>
                  <a:pt x="180243" y="99948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10069188" y="5344104"/>
            <a:ext cx="587566" cy="587566"/>
          </a:xfrm>
          <a:custGeom>
            <a:avLst/>
            <a:gdLst/>
            <a:ahLst/>
            <a:cxnLst/>
            <a:rect l="l" t="t" r="r" b="b"/>
            <a:pathLst>
              <a:path w="587566" h="587566">
                <a:moveTo>
                  <a:pt x="293783" y="0"/>
                </a:moveTo>
                <a:lnTo>
                  <a:pt x="293783" y="0"/>
                </a:lnTo>
                <a:cubicBezTo>
                  <a:pt x="455926" y="0"/>
                  <a:pt x="587566" y="131640"/>
                  <a:pt x="587566" y="293783"/>
                </a:cubicBezTo>
                <a:lnTo>
                  <a:pt x="587566" y="293783"/>
                </a:lnTo>
                <a:cubicBezTo>
                  <a:pt x="587566" y="455926"/>
                  <a:pt x="455926" y="587566"/>
                  <a:pt x="293783" y="587566"/>
                </a:cubicBezTo>
                <a:lnTo>
                  <a:pt x="293783" y="587566"/>
                </a:lnTo>
                <a:cubicBezTo>
                  <a:pt x="131640" y="587566"/>
                  <a:pt x="0" y="455926"/>
                  <a:pt x="0" y="293783"/>
                </a:cubicBezTo>
                <a:lnTo>
                  <a:pt x="0" y="293783"/>
                </a:lnTo>
                <a:cubicBezTo>
                  <a:pt x="0" y="131640"/>
                  <a:pt x="131640" y="0"/>
                  <a:pt x="293783" y="0"/>
                </a:cubicBezTo>
                <a:close/>
              </a:path>
            </a:pathLst>
          </a:custGeom>
          <a:solidFill>
            <a:srgbClr val="E9C46A">
              <a:alpha val="80000"/>
            </a:srgbClr>
          </a:solidFill>
          <a:ln/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10245113" y="5527719"/>
            <a:ext cx="238699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1A2E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Y5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023274" y="6005116"/>
            <a:ext cx="2680771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2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Moat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027864" y="6188731"/>
            <a:ext cx="2671590" cy="146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67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standard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 PLAN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Roadmap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 Months to Market Leadership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8620" y="1531620"/>
            <a:ext cx="3691890" cy="2691765"/>
          </a:xfrm>
          <a:custGeom>
            <a:avLst/>
            <a:gdLst/>
            <a:ahLst/>
            <a:cxnLst/>
            <a:rect l="l" t="t" r="r" b="b"/>
            <a:pathLst>
              <a:path w="3691890" h="2691765">
                <a:moveTo>
                  <a:pt x="114292" y="0"/>
                </a:moveTo>
                <a:lnTo>
                  <a:pt x="3577598" y="0"/>
                </a:lnTo>
                <a:cubicBezTo>
                  <a:pt x="3640720" y="0"/>
                  <a:pt x="3691890" y="51170"/>
                  <a:pt x="3691890" y="114292"/>
                </a:cubicBezTo>
                <a:lnTo>
                  <a:pt x="3691890" y="2577473"/>
                </a:lnTo>
                <a:cubicBezTo>
                  <a:pt x="3691890" y="2640595"/>
                  <a:pt x="3640720" y="2691765"/>
                  <a:pt x="3577598" y="2691765"/>
                </a:cubicBezTo>
                <a:lnTo>
                  <a:pt x="114292" y="2691765"/>
                </a:lnTo>
                <a:cubicBezTo>
                  <a:pt x="51170" y="2691765"/>
                  <a:pt x="0" y="2640595"/>
                  <a:pt x="0" y="2577473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gradFill rotWithShape="1" flip="none">
            <a:gsLst>
              <a:gs pos="0">
                <a:srgbClr val="6B8E6E">
                  <a:alpha val="30000"/>
                </a:srgbClr>
              </a:gs>
              <a:gs pos="100000">
                <a:srgbClr val="6B8E6E">
                  <a:alpha val="10000"/>
                </a:srgbClr>
              </a:gs>
            </a:gsLst>
            <a:lin ang="2700000" scaled="1"/>
          </a:gradFill>
          <a:ln w="20320">
            <a:solidFill>
              <a:srgbClr val="6B8E6E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69164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9975" y="1786896"/>
            <a:ext cx="142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0140" y="1691646"/>
            <a:ext cx="81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20140" y="1958346"/>
            <a:ext cx="80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Months 1-7.5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263146"/>
            <a:ext cx="3438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IoT Monitoring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6024" y="256794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91527" y="2529846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schema (11 core tables + RLS)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6024" y="279654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91527" y="2758446"/>
            <a:ext cx="2085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Sensor integration (SCD4x, DHT11, DS18B20 x10)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6024" y="302514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91527" y="2987046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+ alerts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6024" y="325374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91527" y="3215646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pilot farm (Month 4)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6024" y="348234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91527" y="3444246"/>
            <a:ext cx="135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Field debugging buffer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3752856"/>
            <a:ext cx="3371850" cy="7620"/>
          </a:xfrm>
          <a:custGeom>
            <a:avLst/>
            <a:gdLst/>
            <a:ahLst/>
            <a:cxnLst/>
            <a:rect l="l" t="t" r="r" b="b"/>
            <a:pathLst>
              <a:path w="3371850" h="7620">
                <a:moveTo>
                  <a:pt x="0" y="0"/>
                </a:moveTo>
                <a:lnTo>
                  <a:pt x="3371850" y="0"/>
                </a:lnTo>
                <a:lnTo>
                  <a:pt x="33718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6B8E6E">
              <a:alpha val="30196"/>
            </a:srgbClr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48640" y="3870964"/>
            <a:ext cx="3438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 99.5% uptime, &lt;15min alerts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49341" y="1531620"/>
            <a:ext cx="3691890" cy="2691765"/>
          </a:xfrm>
          <a:custGeom>
            <a:avLst/>
            <a:gdLst/>
            <a:ahLst/>
            <a:cxnLst/>
            <a:rect l="l" t="t" r="r" b="b"/>
            <a:pathLst>
              <a:path w="3691890" h="2691765">
                <a:moveTo>
                  <a:pt x="114292" y="0"/>
                </a:moveTo>
                <a:lnTo>
                  <a:pt x="3577598" y="0"/>
                </a:lnTo>
                <a:cubicBezTo>
                  <a:pt x="3640720" y="0"/>
                  <a:pt x="3691890" y="51170"/>
                  <a:pt x="3691890" y="114292"/>
                </a:cubicBezTo>
                <a:lnTo>
                  <a:pt x="3691890" y="2577473"/>
                </a:lnTo>
                <a:cubicBezTo>
                  <a:pt x="3691890" y="2640595"/>
                  <a:pt x="3640720" y="2691765"/>
                  <a:pt x="3577598" y="2691765"/>
                </a:cubicBezTo>
                <a:lnTo>
                  <a:pt x="114292" y="2691765"/>
                </a:lnTo>
                <a:cubicBezTo>
                  <a:pt x="51170" y="2691765"/>
                  <a:pt x="0" y="2640595"/>
                  <a:pt x="0" y="2577473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gradFill rotWithShape="1" flip="none">
            <a:gsLst>
              <a:gs pos="0">
                <a:srgbClr val="D4A373">
                  <a:alpha val="30000"/>
                </a:srgbClr>
              </a:gs>
              <a:gs pos="100000">
                <a:srgbClr val="D4A373">
                  <a:alpha val="10000"/>
                </a:srgbClr>
              </a:gs>
            </a:gsLst>
            <a:lin ang="2700000" scaled="1"/>
          </a:gradFill>
          <a:ln w="20320">
            <a:solidFill>
              <a:srgbClr val="D4A373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409361" y="169164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594265" y="1786896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2E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80861" y="1691646"/>
            <a:ext cx="80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80861" y="1958346"/>
            <a:ext cx="79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Months 8-15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09361" y="2263146"/>
            <a:ext cx="3438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HVAC Control + Mobile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36745" y="256794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652248" y="2529846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Modbus gateway for HVAC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36745" y="279654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652248" y="2758446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Automation rules engine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36745" y="302514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652248" y="2987046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PWA mobile optimization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36745" y="325374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652248" y="3215646"/>
            <a:ext cx="139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beta farms (Month 11)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36745" y="348234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652248" y="3444246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 integration buffer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09361" y="3752856"/>
            <a:ext cx="3371850" cy="7620"/>
          </a:xfrm>
          <a:custGeom>
            <a:avLst/>
            <a:gdLst/>
            <a:ahLst/>
            <a:cxnLst/>
            <a:rect l="l" t="t" r="r" b="b"/>
            <a:pathLst>
              <a:path w="3371850" h="7620">
                <a:moveTo>
                  <a:pt x="0" y="0"/>
                </a:moveTo>
                <a:lnTo>
                  <a:pt x="3371850" y="0"/>
                </a:lnTo>
                <a:lnTo>
                  <a:pt x="33718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30196"/>
            </a:srgbClr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409361" y="3870964"/>
            <a:ext cx="3438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 50%+ time savings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10181" y="1531620"/>
            <a:ext cx="3691890" cy="2691765"/>
          </a:xfrm>
          <a:custGeom>
            <a:avLst/>
            <a:gdLst/>
            <a:ahLst/>
            <a:cxnLst/>
            <a:rect l="l" t="t" r="r" b="b"/>
            <a:pathLst>
              <a:path w="3691890" h="2691765">
                <a:moveTo>
                  <a:pt x="114292" y="0"/>
                </a:moveTo>
                <a:lnTo>
                  <a:pt x="3577598" y="0"/>
                </a:lnTo>
                <a:cubicBezTo>
                  <a:pt x="3640720" y="0"/>
                  <a:pt x="3691890" y="51170"/>
                  <a:pt x="3691890" y="114292"/>
                </a:cubicBezTo>
                <a:lnTo>
                  <a:pt x="3691890" y="2577473"/>
                </a:lnTo>
                <a:cubicBezTo>
                  <a:pt x="3691890" y="2640595"/>
                  <a:pt x="3640720" y="2691765"/>
                  <a:pt x="3577598" y="2691765"/>
                </a:cubicBezTo>
                <a:lnTo>
                  <a:pt x="114292" y="2691765"/>
                </a:lnTo>
                <a:cubicBezTo>
                  <a:pt x="51170" y="2691765"/>
                  <a:pt x="0" y="2640595"/>
                  <a:pt x="0" y="2577473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gradFill rotWithShape="1" flip="none">
            <a:gsLst>
              <a:gs pos="0">
                <a:srgbClr val="E9C46A">
                  <a:alpha val="30000"/>
                </a:srgbClr>
              </a:gs>
              <a:gs pos="100000">
                <a:srgbClr val="E9C46A">
                  <a:alpha val="10000"/>
                </a:srgbClr>
              </a:gs>
            </a:gsLst>
            <a:lin ang="2700000" scaled="1"/>
          </a:gradFill>
          <a:ln w="20320">
            <a:solidFill>
              <a:srgbClr val="E9C46A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8270200" y="169164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452842" y="1786896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2E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841700" y="1691646"/>
            <a:ext cx="866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841700" y="1958346"/>
            <a:ext cx="84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Months 16-22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270200" y="2263146"/>
            <a:ext cx="3438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ERP Modules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97585" y="256794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8513088" y="2529846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Inventory management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297585" y="279654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8513088" y="2758446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Batch tracking (spawn→harvest)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97585" y="302514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8513088" y="2987046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Worker time tracking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97585" y="325374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8513088" y="3215646"/>
            <a:ext cx="165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 paying farms (Month 22)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297585" y="348234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8513088" y="3444246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UAT and documentation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270200" y="3752856"/>
            <a:ext cx="3371850" cy="7620"/>
          </a:xfrm>
          <a:custGeom>
            <a:avLst/>
            <a:gdLst/>
            <a:ahLst/>
            <a:cxnLst/>
            <a:rect l="l" t="t" r="r" b="b"/>
            <a:pathLst>
              <a:path w="3371850" h="7620">
                <a:moveTo>
                  <a:pt x="0" y="0"/>
                </a:moveTo>
                <a:lnTo>
                  <a:pt x="3371850" y="0"/>
                </a:lnTo>
                <a:lnTo>
                  <a:pt x="33718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9C46A">
              <a:alpha val="30196"/>
            </a:srgbClr>
          </a:solidFill>
          <a:ln/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8270200" y="3870964"/>
            <a:ext cx="3438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 ₹1.16 Cr ARR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84810" y="4385310"/>
            <a:ext cx="11418570" cy="1493520"/>
          </a:xfrm>
          <a:custGeom>
            <a:avLst/>
            <a:gdLst/>
            <a:ahLst/>
            <a:cxnLst/>
            <a:rect l="l" t="t" r="r" b="b"/>
            <a:pathLst>
              <a:path w="11418570" h="1493520">
                <a:moveTo>
                  <a:pt x="114299" y="0"/>
                </a:moveTo>
                <a:lnTo>
                  <a:pt x="11304271" y="0"/>
                </a:lnTo>
                <a:cubicBezTo>
                  <a:pt x="11367397" y="0"/>
                  <a:pt x="11418570" y="51173"/>
                  <a:pt x="11418570" y="114299"/>
                </a:cubicBezTo>
                <a:lnTo>
                  <a:pt x="11418570" y="1379221"/>
                </a:lnTo>
                <a:cubicBezTo>
                  <a:pt x="11418570" y="1442347"/>
                  <a:pt x="11367397" y="1493520"/>
                  <a:pt x="11304271" y="1493520"/>
                </a:cubicBezTo>
                <a:lnTo>
                  <a:pt x="114299" y="1493520"/>
                </a:lnTo>
                <a:cubicBezTo>
                  <a:pt x="51216" y="1493520"/>
                  <a:pt x="0" y="1442304"/>
                  <a:pt x="0" y="137922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541020" y="4541518"/>
            <a:ext cx="11172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MILESTONES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658303" y="48463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1820228" y="499871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85725" y="0"/>
                </a:moveTo>
                <a:lnTo>
                  <a:pt x="38100" y="0"/>
                </a:lnTo>
                <a:cubicBezTo>
                  <a:pt x="32831" y="0"/>
                  <a:pt x="28575" y="4256"/>
                  <a:pt x="28575" y="9525"/>
                </a:cubicBezTo>
                <a:cubicBezTo>
                  <a:pt x="28575" y="14794"/>
                  <a:pt x="32831" y="19050"/>
                  <a:pt x="38100" y="19050"/>
                </a:cubicBezTo>
                <a:lnTo>
                  <a:pt x="38100" y="64145"/>
                </a:lnTo>
                <a:lnTo>
                  <a:pt x="2232" y="126891"/>
                </a:lnTo>
                <a:cubicBezTo>
                  <a:pt x="774" y="129480"/>
                  <a:pt x="0" y="132368"/>
                  <a:pt x="0" y="135344"/>
                </a:cubicBezTo>
                <a:cubicBezTo>
                  <a:pt x="0" y="144780"/>
                  <a:pt x="7620" y="152400"/>
                  <a:pt x="17056" y="152400"/>
                </a:cubicBezTo>
                <a:lnTo>
                  <a:pt x="116294" y="152400"/>
                </a:lnTo>
                <a:cubicBezTo>
                  <a:pt x="125700" y="152400"/>
                  <a:pt x="133350" y="144780"/>
                  <a:pt x="133350" y="135344"/>
                </a:cubicBezTo>
                <a:cubicBezTo>
                  <a:pt x="133350" y="132368"/>
                  <a:pt x="132576" y="129451"/>
                  <a:pt x="131118" y="126891"/>
                </a:cubicBezTo>
                <a:lnTo>
                  <a:pt x="95250" y="64145"/>
                </a:lnTo>
                <a:lnTo>
                  <a:pt x="95250" y="19050"/>
                </a:lnTo>
                <a:cubicBezTo>
                  <a:pt x="100519" y="19050"/>
                  <a:pt x="104775" y="14794"/>
                  <a:pt x="104775" y="9525"/>
                </a:cubicBezTo>
                <a:cubicBezTo>
                  <a:pt x="104775" y="4256"/>
                  <a:pt x="100519" y="0"/>
                  <a:pt x="95250" y="0"/>
                </a:cubicBezTo>
                <a:lnTo>
                  <a:pt x="85725" y="0"/>
                </a:lnTo>
                <a:close/>
                <a:moveTo>
                  <a:pt x="57150" y="64145"/>
                </a:moveTo>
                <a:lnTo>
                  <a:pt x="57150" y="19050"/>
                </a:lnTo>
                <a:lnTo>
                  <a:pt x="76200" y="19050"/>
                </a:lnTo>
                <a:lnTo>
                  <a:pt x="76200" y="64145"/>
                </a:lnTo>
                <a:cubicBezTo>
                  <a:pt x="76200" y="67449"/>
                  <a:pt x="77063" y="70723"/>
                  <a:pt x="78700" y="73610"/>
                </a:cubicBezTo>
                <a:lnTo>
                  <a:pt x="91083" y="95250"/>
                </a:lnTo>
                <a:lnTo>
                  <a:pt x="42267" y="95250"/>
                </a:lnTo>
                <a:lnTo>
                  <a:pt x="54650" y="73610"/>
                </a:lnTo>
                <a:cubicBezTo>
                  <a:pt x="56287" y="70723"/>
                  <a:pt x="57150" y="67479"/>
                  <a:pt x="57150" y="64145"/>
                </a:cubicBezTo>
                <a:close/>
              </a:path>
            </a:pathLst>
          </a:custGeom>
          <a:solidFill>
            <a:srgbClr val="F5F1E8"/>
          </a:solidFill>
          <a:ln/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507682" y="5379718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 4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512445" y="5570218"/>
            <a:ext cx="2752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Pilot farm live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464368" y="48463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4597718" y="4998718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3313747" y="5379718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 11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3318510" y="5570218"/>
            <a:ext cx="2752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beta farms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7270432" y="48463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7422832" y="499871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95250"/>
                </a:moveTo>
                <a:lnTo>
                  <a:pt x="7293" y="95250"/>
                </a:lnTo>
                <a:cubicBezTo>
                  <a:pt x="-119" y="95250"/>
                  <a:pt x="-4673" y="87184"/>
                  <a:pt x="-863" y="80814"/>
                </a:cubicBezTo>
                <a:lnTo>
                  <a:pt x="14883" y="54560"/>
                </a:lnTo>
                <a:cubicBezTo>
                  <a:pt x="17472" y="50244"/>
                  <a:pt x="22116" y="47625"/>
                  <a:pt x="27146" y="47625"/>
                </a:cubicBezTo>
                <a:lnTo>
                  <a:pt x="55424" y="47625"/>
                </a:lnTo>
                <a:cubicBezTo>
                  <a:pt x="78075" y="9257"/>
                  <a:pt x="111859" y="7322"/>
                  <a:pt x="134451" y="10626"/>
                </a:cubicBezTo>
                <a:cubicBezTo>
                  <a:pt x="138261" y="11192"/>
                  <a:pt x="141238" y="14168"/>
                  <a:pt x="141774" y="17949"/>
                </a:cubicBezTo>
                <a:cubicBezTo>
                  <a:pt x="145078" y="40541"/>
                  <a:pt x="143143" y="74325"/>
                  <a:pt x="104775" y="96976"/>
                </a:cubicBezTo>
                <a:lnTo>
                  <a:pt x="104775" y="125254"/>
                </a:lnTo>
                <a:cubicBezTo>
                  <a:pt x="104775" y="130284"/>
                  <a:pt x="102156" y="134928"/>
                  <a:pt x="97840" y="137517"/>
                </a:cubicBezTo>
                <a:lnTo>
                  <a:pt x="71586" y="153263"/>
                </a:lnTo>
                <a:cubicBezTo>
                  <a:pt x="65246" y="157073"/>
                  <a:pt x="57150" y="152489"/>
                  <a:pt x="57150" y="145107"/>
                </a:cubicBezTo>
                <a:lnTo>
                  <a:pt x="57150" y="114300"/>
                </a:lnTo>
                <a:cubicBezTo>
                  <a:pt x="57150" y="103793"/>
                  <a:pt x="48607" y="95250"/>
                  <a:pt x="38100" y="95250"/>
                </a:cubicBezTo>
                <a:lnTo>
                  <a:pt x="38070" y="95250"/>
                </a:lnTo>
                <a:close/>
                <a:moveTo>
                  <a:pt x="119062" y="47625"/>
                </a:moveTo>
                <a:cubicBezTo>
                  <a:pt x="119062" y="39740"/>
                  <a:pt x="112660" y="33338"/>
                  <a:pt x="104775" y="33338"/>
                </a:cubicBezTo>
                <a:cubicBezTo>
                  <a:pt x="96890" y="33338"/>
                  <a:pt x="90488" y="39740"/>
                  <a:pt x="90488" y="47625"/>
                </a:cubicBezTo>
                <a:cubicBezTo>
                  <a:pt x="90488" y="55510"/>
                  <a:pt x="96890" y="61912"/>
                  <a:pt x="104775" y="61912"/>
                </a:cubicBezTo>
                <a:cubicBezTo>
                  <a:pt x="112660" y="61912"/>
                  <a:pt x="119062" y="55510"/>
                  <a:pt x="119062" y="47625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6119813" y="5379718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 22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124575" y="5570218"/>
            <a:ext cx="2752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Commercial launch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10076498" y="48463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9C46A">
              <a:alpha val="80000"/>
            </a:srgbClr>
          </a:solidFill>
          <a:ln/>
        </p:spPr>
        <p:txBody>
          <a:bodyPr/>
          <a:p/>
        </p:txBody>
      </p:sp>
      <p:sp>
        <p:nvSpPr>
          <p:cNvPr id="74" name="Shape 72"/>
          <p:cNvSpPr/>
          <p:nvPr/>
        </p:nvSpPr>
        <p:spPr>
          <a:xfrm>
            <a:off x="10228898" y="499871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8925878" y="5379718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 24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8930640" y="5570218"/>
            <a:ext cx="2752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Series A ready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6296" y="376296"/>
            <a:ext cx="11505259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b="1" spc="104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6296" y="639704"/>
            <a:ext cx="11608741" cy="376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67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Mitigation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6296" y="1091259"/>
            <a:ext cx="11533481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Addressing Key Challenges Proactively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0059" y="1508948"/>
            <a:ext cx="5633156" cy="1738489"/>
          </a:xfrm>
          <a:custGeom>
            <a:avLst/>
            <a:gdLst/>
            <a:ahLst/>
            <a:cxnLst/>
            <a:rect l="l" t="t" r="r" b="b"/>
            <a:pathLst>
              <a:path w="5633156" h="1738489">
                <a:moveTo>
                  <a:pt x="112897" y="0"/>
                </a:moveTo>
                <a:lnTo>
                  <a:pt x="5520258" y="0"/>
                </a:lnTo>
                <a:cubicBezTo>
                  <a:pt x="5582610" y="0"/>
                  <a:pt x="5633156" y="50546"/>
                  <a:pt x="5633156" y="112897"/>
                </a:cubicBezTo>
                <a:lnTo>
                  <a:pt x="5633156" y="1625591"/>
                </a:lnTo>
                <a:cubicBezTo>
                  <a:pt x="5633156" y="1687943"/>
                  <a:pt x="5582610" y="1738489"/>
                  <a:pt x="5520258" y="1738489"/>
                </a:cubicBezTo>
                <a:lnTo>
                  <a:pt x="112897" y="1738489"/>
                </a:lnTo>
                <a:cubicBezTo>
                  <a:pt x="50546" y="1738489"/>
                  <a:pt x="0" y="1687943"/>
                  <a:pt x="0" y="1625591"/>
                </a:cubicBezTo>
                <a:lnTo>
                  <a:pt x="0" y="112897"/>
                </a:lnTo>
                <a:cubicBezTo>
                  <a:pt x="0" y="50546"/>
                  <a:pt x="50546" y="0"/>
                  <a:pt x="112897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34341" y="1663228"/>
            <a:ext cx="376296" cy="376296"/>
          </a:xfrm>
          <a:custGeom>
            <a:avLst/>
            <a:gdLst/>
            <a:ahLst/>
            <a:cxnLst/>
            <a:rect l="l" t="t" r="r" b="b"/>
            <a:pathLst>
              <a:path w="376296" h="376296">
                <a:moveTo>
                  <a:pt x="75259" y="0"/>
                </a:moveTo>
                <a:lnTo>
                  <a:pt x="301037" y="0"/>
                </a:lnTo>
                <a:cubicBezTo>
                  <a:pt x="342602" y="0"/>
                  <a:pt x="376296" y="33695"/>
                  <a:pt x="376296" y="75259"/>
                </a:cubicBezTo>
                <a:lnTo>
                  <a:pt x="376296" y="301037"/>
                </a:lnTo>
                <a:cubicBezTo>
                  <a:pt x="376296" y="342602"/>
                  <a:pt x="342602" y="376296"/>
                  <a:pt x="301037" y="376296"/>
                </a:cubicBezTo>
                <a:lnTo>
                  <a:pt x="75259" y="376296"/>
                </a:lnTo>
                <a:cubicBezTo>
                  <a:pt x="33695" y="376296"/>
                  <a:pt x="0" y="342602"/>
                  <a:pt x="0" y="301037"/>
                </a:cubicBezTo>
                <a:lnTo>
                  <a:pt x="0" y="75259"/>
                </a:lnTo>
                <a:cubicBezTo>
                  <a:pt x="0" y="33695"/>
                  <a:pt x="33695" y="0"/>
                  <a:pt x="7525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7230" y="1776117"/>
            <a:ext cx="150519" cy="150519"/>
          </a:xfrm>
          <a:custGeom>
            <a:avLst/>
            <a:gdLst/>
            <a:ahLst/>
            <a:cxnLst/>
            <a:rect l="l" t="t" r="r" b="b"/>
            <a:pathLst>
              <a:path w="150519" h="150519">
                <a:moveTo>
                  <a:pt x="75259" y="0"/>
                </a:moveTo>
                <a:cubicBezTo>
                  <a:pt x="79581" y="0"/>
                  <a:pt x="83550" y="2381"/>
                  <a:pt x="85607" y="6174"/>
                </a:cubicBezTo>
                <a:lnTo>
                  <a:pt x="149107" y="123766"/>
                </a:lnTo>
                <a:cubicBezTo>
                  <a:pt x="151077" y="127412"/>
                  <a:pt x="150989" y="131821"/>
                  <a:pt x="148872" y="135378"/>
                </a:cubicBezTo>
                <a:cubicBezTo>
                  <a:pt x="146756" y="138936"/>
                  <a:pt x="142904" y="141111"/>
                  <a:pt x="138759" y="141111"/>
                </a:cubicBezTo>
                <a:lnTo>
                  <a:pt x="11759" y="141111"/>
                </a:lnTo>
                <a:cubicBezTo>
                  <a:pt x="7614" y="141111"/>
                  <a:pt x="3792" y="138936"/>
                  <a:pt x="1646" y="135378"/>
                </a:cubicBezTo>
                <a:cubicBezTo>
                  <a:pt x="-500" y="131821"/>
                  <a:pt x="-559" y="127412"/>
                  <a:pt x="1411" y="123766"/>
                </a:cubicBezTo>
                <a:lnTo>
                  <a:pt x="64911" y="6174"/>
                </a:lnTo>
                <a:cubicBezTo>
                  <a:pt x="66969" y="2381"/>
                  <a:pt x="70938" y="0"/>
                  <a:pt x="75259" y="0"/>
                </a:cubicBezTo>
                <a:close/>
                <a:moveTo>
                  <a:pt x="75259" y="49389"/>
                </a:moveTo>
                <a:cubicBezTo>
                  <a:pt x="71349" y="49389"/>
                  <a:pt x="68204" y="52534"/>
                  <a:pt x="68204" y="56444"/>
                </a:cubicBezTo>
                <a:lnTo>
                  <a:pt x="68204" y="89370"/>
                </a:lnTo>
                <a:cubicBezTo>
                  <a:pt x="68204" y="93280"/>
                  <a:pt x="71349" y="96426"/>
                  <a:pt x="75259" y="96426"/>
                </a:cubicBezTo>
                <a:cubicBezTo>
                  <a:pt x="79169" y="96426"/>
                  <a:pt x="82315" y="93280"/>
                  <a:pt x="82315" y="89370"/>
                </a:cubicBezTo>
                <a:lnTo>
                  <a:pt x="82315" y="56444"/>
                </a:lnTo>
                <a:cubicBezTo>
                  <a:pt x="82315" y="52534"/>
                  <a:pt x="79169" y="49389"/>
                  <a:pt x="75259" y="49389"/>
                </a:cubicBezTo>
                <a:close/>
                <a:moveTo>
                  <a:pt x="83109" y="112889"/>
                </a:moveTo>
                <a:cubicBezTo>
                  <a:pt x="83287" y="109975"/>
                  <a:pt x="81834" y="107203"/>
                  <a:pt x="79336" y="105693"/>
                </a:cubicBezTo>
                <a:cubicBezTo>
                  <a:pt x="76839" y="104182"/>
                  <a:pt x="73709" y="104182"/>
                  <a:pt x="71211" y="105693"/>
                </a:cubicBezTo>
                <a:cubicBezTo>
                  <a:pt x="68714" y="107203"/>
                  <a:pt x="67261" y="109975"/>
                  <a:pt x="67439" y="112889"/>
                </a:cubicBezTo>
                <a:cubicBezTo>
                  <a:pt x="67261" y="115802"/>
                  <a:pt x="68714" y="118574"/>
                  <a:pt x="71211" y="120085"/>
                </a:cubicBezTo>
                <a:cubicBezTo>
                  <a:pt x="73709" y="121596"/>
                  <a:pt x="76839" y="121596"/>
                  <a:pt x="79336" y="120085"/>
                </a:cubicBezTo>
                <a:cubicBezTo>
                  <a:pt x="81834" y="118574"/>
                  <a:pt x="83287" y="115802"/>
                  <a:pt x="83109" y="112889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23526" y="1663228"/>
            <a:ext cx="4910667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IoT Hardware Reliability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3526" y="1926635"/>
            <a:ext cx="4901259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Sensors fail (2-3 year lifespan), edge device crashes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23526" y="2190043"/>
            <a:ext cx="4835407" cy="903111"/>
          </a:xfrm>
          <a:custGeom>
            <a:avLst/>
            <a:gdLst/>
            <a:ahLst/>
            <a:cxnLst/>
            <a:rect l="l" t="t" r="r" b="b"/>
            <a:pathLst>
              <a:path w="4835407" h="903111">
                <a:moveTo>
                  <a:pt x="37633" y="0"/>
                </a:moveTo>
                <a:lnTo>
                  <a:pt x="4797775" y="0"/>
                </a:lnTo>
                <a:cubicBezTo>
                  <a:pt x="4818559" y="0"/>
                  <a:pt x="4835407" y="16849"/>
                  <a:pt x="4835407" y="37633"/>
                </a:cubicBezTo>
                <a:lnTo>
                  <a:pt x="4835407" y="865478"/>
                </a:lnTo>
                <a:cubicBezTo>
                  <a:pt x="4835407" y="886262"/>
                  <a:pt x="4818559" y="903111"/>
                  <a:pt x="4797775" y="903111"/>
                </a:cubicBezTo>
                <a:lnTo>
                  <a:pt x="37633" y="903111"/>
                </a:lnTo>
                <a:cubicBezTo>
                  <a:pt x="16849" y="903111"/>
                  <a:pt x="0" y="886262"/>
                  <a:pt x="0" y="865478"/>
                </a:cubicBezTo>
                <a:lnTo>
                  <a:pt x="0" y="37633"/>
                </a:lnTo>
                <a:cubicBezTo>
                  <a:pt x="0" y="16849"/>
                  <a:pt x="16849" y="0"/>
                  <a:pt x="37633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98785" y="2265302"/>
            <a:ext cx="4750741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b="1" dirty="0">
                <a:solidFill>
                  <a:srgbClr val="6B8E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Mitigation: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8785" y="2491080"/>
            <a:ext cx="4741333" cy="15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9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Sensor redundancy (2 per room)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8785" y="2679118"/>
            <a:ext cx="4741333" cy="15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9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Auto-detect failures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8785" y="2867146"/>
            <a:ext cx="4741333" cy="15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9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24hr replacement shipping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0059" y="3367499"/>
            <a:ext cx="5633156" cy="1738489"/>
          </a:xfrm>
          <a:custGeom>
            <a:avLst/>
            <a:gdLst/>
            <a:ahLst/>
            <a:cxnLst/>
            <a:rect l="l" t="t" r="r" b="b"/>
            <a:pathLst>
              <a:path w="5633156" h="1738489">
                <a:moveTo>
                  <a:pt x="112897" y="0"/>
                </a:moveTo>
                <a:lnTo>
                  <a:pt x="5520258" y="0"/>
                </a:lnTo>
                <a:cubicBezTo>
                  <a:pt x="5582610" y="0"/>
                  <a:pt x="5633156" y="50546"/>
                  <a:pt x="5633156" y="112897"/>
                </a:cubicBezTo>
                <a:lnTo>
                  <a:pt x="5633156" y="1625591"/>
                </a:lnTo>
                <a:cubicBezTo>
                  <a:pt x="5633156" y="1687943"/>
                  <a:pt x="5582610" y="1738489"/>
                  <a:pt x="5520258" y="1738489"/>
                </a:cubicBezTo>
                <a:lnTo>
                  <a:pt x="112897" y="1738489"/>
                </a:lnTo>
                <a:cubicBezTo>
                  <a:pt x="50546" y="1738489"/>
                  <a:pt x="0" y="1687943"/>
                  <a:pt x="0" y="1625591"/>
                </a:cubicBezTo>
                <a:lnTo>
                  <a:pt x="0" y="112897"/>
                </a:lnTo>
                <a:cubicBezTo>
                  <a:pt x="0" y="50546"/>
                  <a:pt x="50546" y="0"/>
                  <a:pt x="112897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34341" y="3521779"/>
            <a:ext cx="376296" cy="376296"/>
          </a:xfrm>
          <a:custGeom>
            <a:avLst/>
            <a:gdLst/>
            <a:ahLst/>
            <a:cxnLst/>
            <a:rect l="l" t="t" r="r" b="b"/>
            <a:pathLst>
              <a:path w="376296" h="376296">
                <a:moveTo>
                  <a:pt x="75259" y="0"/>
                </a:moveTo>
                <a:lnTo>
                  <a:pt x="301037" y="0"/>
                </a:lnTo>
                <a:cubicBezTo>
                  <a:pt x="342602" y="0"/>
                  <a:pt x="376296" y="33695"/>
                  <a:pt x="376296" y="75259"/>
                </a:cubicBezTo>
                <a:lnTo>
                  <a:pt x="376296" y="301037"/>
                </a:lnTo>
                <a:cubicBezTo>
                  <a:pt x="376296" y="342602"/>
                  <a:pt x="342602" y="376296"/>
                  <a:pt x="301037" y="376296"/>
                </a:cubicBezTo>
                <a:lnTo>
                  <a:pt x="75259" y="376296"/>
                </a:lnTo>
                <a:cubicBezTo>
                  <a:pt x="33695" y="376296"/>
                  <a:pt x="0" y="342602"/>
                  <a:pt x="0" y="301037"/>
                </a:cubicBezTo>
                <a:lnTo>
                  <a:pt x="0" y="75259"/>
                </a:lnTo>
                <a:cubicBezTo>
                  <a:pt x="0" y="33695"/>
                  <a:pt x="33695" y="0"/>
                  <a:pt x="75259" y="0"/>
                </a:cubicBezTo>
                <a:close/>
              </a:path>
            </a:pathLst>
          </a:custGeom>
          <a:solidFill>
            <a:srgbClr val="FF6900">
              <a:alpha val="20000"/>
            </a:srgbClr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37822" y="3634668"/>
            <a:ext cx="169333" cy="150519"/>
          </a:xfrm>
          <a:custGeom>
            <a:avLst/>
            <a:gdLst/>
            <a:ahLst/>
            <a:cxnLst/>
            <a:rect l="l" t="t" r="r" b="b"/>
            <a:pathLst>
              <a:path w="169333" h="150519">
                <a:moveTo>
                  <a:pt x="84667" y="28222"/>
                </a:moveTo>
                <a:cubicBezTo>
                  <a:pt x="57944" y="28222"/>
                  <a:pt x="33749" y="38806"/>
                  <a:pt x="15963" y="56033"/>
                </a:cubicBezTo>
                <a:cubicBezTo>
                  <a:pt x="12230" y="59649"/>
                  <a:pt x="6262" y="59561"/>
                  <a:pt x="2675" y="55827"/>
                </a:cubicBezTo>
                <a:cubicBezTo>
                  <a:pt x="-911" y="52094"/>
                  <a:pt x="-853" y="46126"/>
                  <a:pt x="2881" y="42539"/>
                </a:cubicBezTo>
                <a:cubicBezTo>
                  <a:pt x="24018" y="22019"/>
                  <a:pt x="52887" y="9407"/>
                  <a:pt x="84667" y="9407"/>
                </a:cubicBezTo>
                <a:cubicBezTo>
                  <a:pt x="116446" y="9407"/>
                  <a:pt x="145315" y="22019"/>
                  <a:pt x="166482" y="42539"/>
                </a:cubicBezTo>
                <a:cubicBezTo>
                  <a:pt x="170215" y="46155"/>
                  <a:pt x="170303" y="52123"/>
                  <a:pt x="166688" y="55827"/>
                </a:cubicBezTo>
                <a:cubicBezTo>
                  <a:pt x="163072" y="59531"/>
                  <a:pt x="157104" y="59649"/>
                  <a:pt x="153400" y="56033"/>
                </a:cubicBezTo>
                <a:cubicBezTo>
                  <a:pt x="135584" y="38806"/>
                  <a:pt x="111390" y="28222"/>
                  <a:pt x="84667" y="28222"/>
                </a:cubicBezTo>
                <a:close/>
                <a:moveTo>
                  <a:pt x="70556" y="127000"/>
                </a:moveTo>
                <a:cubicBezTo>
                  <a:pt x="70556" y="119212"/>
                  <a:pt x="76879" y="112889"/>
                  <a:pt x="84667" y="112889"/>
                </a:cubicBezTo>
                <a:cubicBezTo>
                  <a:pt x="92455" y="112889"/>
                  <a:pt x="98778" y="119212"/>
                  <a:pt x="98778" y="127000"/>
                </a:cubicBezTo>
                <a:cubicBezTo>
                  <a:pt x="98778" y="134788"/>
                  <a:pt x="92455" y="141111"/>
                  <a:pt x="84667" y="141111"/>
                </a:cubicBezTo>
                <a:cubicBezTo>
                  <a:pt x="76879" y="141111"/>
                  <a:pt x="70556" y="134788"/>
                  <a:pt x="70556" y="127000"/>
                </a:cubicBezTo>
                <a:close/>
                <a:moveTo>
                  <a:pt x="49389" y="95897"/>
                </a:moveTo>
                <a:cubicBezTo>
                  <a:pt x="45949" y="99807"/>
                  <a:pt x="40011" y="100159"/>
                  <a:pt x="36101" y="96720"/>
                </a:cubicBezTo>
                <a:cubicBezTo>
                  <a:pt x="32191" y="93280"/>
                  <a:pt x="31838" y="87342"/>
                  <a:pt x="35278" y="83432"/>
                </a:cubicBezTo>
                <a:cubicBezTo>
                  <a:pt x="47331" y="69791"/>
                  <a:pt x="64999" y="61148"/>
                  <a:pt x="84667" y="61148"/>
                </a:cubicBezTo>
                <a:cubicBezTo>
                  <a:pt x="104334" y="61148"/>
                  <a:pt x="122002" y="69791"/>
                  <a:pt x="134056" y="83432"/>
                </a:cubicBezTo>
                <a:cubicBezTo>
                  <a:pt x="137495" y="87342"/>
                  <a:pt x="137113" y="93280"/>
                  <a:pt x="133232" y="96720"/>
                </a:cubicBezTo>
                <a:cubicBezTo>
                  <a:pt x="129352" y="100159"/>
                  <a:pt x="123384" y="99777"/>
                  <a:pt x="119944" y="95897"/>
                </a:cubicBezTo>
                <a:cubicBezTo>
                  <a:pt x="111301" y="86107"/>
                  <a:pt x="98719" y="79963"/>
                  <a:pt x="84667" y="79963"/>
                </a:cubicBezTo>
                <a:cubicBezTo>
                  <a:pt x="70614" y="79963"/>
                  <a:pt x="58032" y="86107"/>
                  <a:pt x="49389" y="95897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23526" y="3521779"/>
            <a:ext cx="4910667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Connectivity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23526" y="3785186"/>
            <a:ext cx="4901259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Rural farms have poor 4G, frequent outages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23526" y="4048594"/>
            <a:ext cx="4835407" cy="903111"/>
          </a:xfrm>
          <a:custGeom>
            <a:avLst/>
            <a:gdLst/>
            <a:ahLst/>
            <a:cxnLst/>
            <a:rect l="l" t="t" r="r" b="b"/>
            <a:pathLst>
              <a:path w="4835407" h="903111">
                <a:moveTo>
                  <a:pt x="37633" y="0"/>
                </a:moveTo>
                <a:lnTo>
                  <a:pt x="4797775" y="0"/>
                </a:lnTo>
                <a:cubicBezTo>
                  <a:pt x="4818559" y="0"/>
                  <a:pt x="4835407" y="16849"/>
                  <a:pt x="4835407" y="37633"/>
                </a:cubicBezTo>
                <a:lnTo>
                  <a:pt x="4835407" y="865478"/>
                </a:lnTo>
                <a:cubicBezTo>
                  <a:pt x="4835407" y="886262"/>
                  <a:pt x="4818559" y="903111"/>
                  <a:pt x="4797775" y="903111"/>
                </a:cubicBezTo>
                <a:lnTo>
                  <a:pt x="37633" y="903111"/>
                </a:lnTo>
                <a:cubicBezTo>
                  <a:pt x="16849" y="903111"/>
                  <a:pt x="0" y="886262"/>
                  <a:pt x="0" y="865478"/>
                </a:cubicBezTo>
                <a:lnTo>
                  <a:pt x="0" y="37633"/>
                </a:lnTo>
                <a:cubicBezTo>
                  <a:pt x="0" y="16849"/>
                  <a:pt x="16849" y="0"/>
                  <a:pt x="37633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98785" y="4123853"/>
            <a:ext cx="4750741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b="1" dirty="0">
                <a:solidFill>
                  <a:srgbClr val="6B8E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Mitigation: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8785" y="4349631"/>
            <a:ext cx="4741333" cy="15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9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30-day local storage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8785" y="4537668"/>
            <a:ext cx="4741333" cy="15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9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Auto-retry sync queue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8785" y="4725697"/>
            <a:ext cx="4741333" cy="15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9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Cellular + WiFi fallback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5022" y="1508948"/>
            <a:ext cx="5633156" cy="1738489"/>
          </a:xfrm>
          <a:custGeom>
            <a:avLst/>
            <a:gdLst/>
            <a:ahLst/>
            <a:cxnLst/>
            <a:rect l="l" t="t" r="r" b="b"/>
            <a:pathLst>
              <a:path w="5633156" h="1738489">
                <a:moveTo>
                  <a:pt x="112897" y="0"/>
                </a:moveTo>
                <a:lnTo>
                  <a:pt x="5520258" y="0"/>
                </a:lnTo>
                <a:cubicBezTo>
                  <a:pt x="5582610" y="0"/>
                  <a:pt x="5633156" y="50546"/>
                  <a:pt x="5633156" y="112897"/>
                </a:cubicBezTo>
                <a:lnTo>
                  <a:pt x="5633156" y="1625591"/>
                </a:lnTo>
                <a:cubicBezTo>
                  <a:pt x="5633156" y="1687943"/>
                  <a:pt x="5582610" y="1738489"/>
                  <a:pt x="5520258" y="1738489"/>
                </a:cubicBezTo>
                <a:lnTo>
                  <a:pt x="112897" y="1738489"/>
                </a:lnTo>
                <a:cubicBezTo>
                  <a:pt x="50546" y="1738489"/>
                  <a:pt x="0" y="1687943"/>
                  <a:pt x="0" y="1625591"/>
                </a:cubicBezTo>
                <a:lnTo>
                  <a:pt x="0" y="112897"/>
                </a:lnTo>
                <a:cubicBezTo>
                  <a:pt x="0" y="50546"/>
                  <a:pt x="50546" y="0"/>
                  <a:pt x="112897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329304" y="1663228"/>
            <a:ext cx="376296" cy="376296"/>
          </a:xfrm>
          <a:custGeom>
            <a:avLst/>
            <a:gdLst/>
            <a:ahLst/>
            <a:cxnLst/>
            <a:rect l="l" t="t" r="r" b="b"/>
            <a:pathLst>
              <a:path w="376296" h="376296">
                <a:moveTo>
                  <a:pt x="75259" y="0"/>
                </a:moveTo>
                <a:lnTo>
                  <a:pt x="301037" y="0"/>
                </a:lnTo>
                <a:cubicBezTo>
                  <a:pt x="342602" y="0"/>
                  <a:pt x="376296" y="33695"/>
                  <a:pt x="376296" y="75259"/>
                </a:cubicBezTo>
                <a:lnTo>
                  <a:pt x="376296" y="301037"/>
                </a:lnTo>
                <a:cubicBezTo>
                  <a:pt x="376296" y="342602"/>
                  <a:pt x="342602" y="376296"/>
                  <a:pt x="301037" y="376296"/>
                </a:cubicBezTo>
                <a:lnTo>
                  <a:pt x="75259" y="376296"/>
                </a:lnTo>
                <a:cubicBezTo>
                  <a:pt x="33695" y="376296"/>
                  <a:pt x="0" y="342602"/>
                  <a:pt x="0" y="301037"/>
                </a:cubicBezTo>
                <a:lnTo>
                  <a:pt x="0" y="75259"/>
                </a:lnTo>
                <a:cubicBezTo>
                  <a:pt x="0" y="33695"/>
                  <a:pt x="33695" y="0"/>
                  <a:pt x="75259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432785" y="1776117"/>
            <a:ext cx="169333" cy="150519"/>
          </a:xfrm>
          <a:custGeom>
            <a:avLst/>
            <a:gdLst/>
            <a:ahLst/>
            <a:cxnLst/>
            <a:rect l="l" t="t" r="r" b="b"/>
            <a:pathLst>
              <a:path w="169333" h="150519">
                <a:moveTo>
                  <a:pt x="12053" y="-7320"/>
                </a:moveTo>
                <a:cubicBezTo>
                  <a:pt x="9290" y="-10084"/>
                  <a:pt x="4821" y="-10084"/>
                  <a:pt x="2087" y="-7320"/>
                </a:cubicBezTo>
                <a:cubicBezTo>
                  <a:pt x="-647" y="-4557"/>
                  <a:pt x="-676" y="-88"/>
                  <a:pt x="2058" y="2675"/>
                </a:cubicBezTo>
                <a:lnTo>
                  <a:pt x="157280" y="157897"/>
                </a:lnTo>
                <a:cubicBezTo>
                  <a:pt x="160044" y="160661"/>
                  <a:pt x="164512" y="160661"/>
                  <a:pt x="167246" y="157897"/>
                </a:cubicBezTo>
                <a:cubicBezTo>
                  <a:pt x="169980" y="155134"/>
                  <a:pt x="170009" y="150666"/>
                  <a:pt x="167246" y="147931"/>
                </a:cubicBezTo>
                <a:lnTo>
                  <a:pt x="91575" y="72231"/>
                </a:lnTo>
                <a:cubicBezTo>
                  <a:pt x="107744" y="69027"/>
                  <a:pt x="119944" y="54739"/>
                  <a:pt x="119944" y="37630"/>
                </a:cubicBezTo>
                <a:cubicBezTo>
                  <a:pt x="119944" y="18139"/>
                  <a:pt x="104158" y="2352"/>
                  <a:pt x="84667" y="2352"/>
                </a:cubicBezTo>
                <a:cubicBezTo>
                  <a:pt x="67557" y="2352"/>
                  <a:pt x="53269" y="14552"/>
                  <a:pt x="50065" y="30721"/>
                </a:cubicBezTo>
                <a:lnTo>
                  <a:pt x="12053" y="-7320"/>
                </a:lnTo>
                <a:close/>
                <a:moveTo>
                  <a:pt x="69262" y="89782"/>
                </a:moveTo>
                <a:cubicBezTo>
                  <a:pt x="43480" y="93075"/>
                  <a:pt x="23519" y="115094"/>
                  <a:pt x="23519" y="141787"/>
                </a:cubicBezTo>
                <a:cubicBezTo>
                  <a:pt x="23519" y="146609"/>
                  <a:pt x="27428" y="150519"/>
                  <a:pt x="32250" y="150519"/>
                </a:cubicBezTo>
                <a:lnTo>
                  <a:pt x="129999" y="150519"/>
                </a:lnTo>
                <a:lnTo>
                  <a:pt x="69262" y="89782"/>
                </a:lnTo>
                <a:close/>
              </a:path>
            </a:pathLst>
          </a:custGeom>
          <a:solidFill>
            <a:srgbClr val="FDC700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18489" y="1663228"/>
            <a:ext cx="4910667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Customer Acquisition Cost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18489" y="1926635"/>
            <a:ext cx="4901259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Sales cycle &gt;6 months, CAC exceeds ₹1L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818489" y="2190043"/>
            <a:ext cx="4835407" cy="903111"/>
          </a:xfrm>
          <a:custGeom>
            <a:avLst/>
            <a:gdLst/>
            <a:ahLst/>
            <a:cxnLst/>
            <a:rect l="l" t="t" r="r" b="b"/>
            <a:pathLst>
              <a:path w="4835407" h="903111">
                <a:moveTo>
                  <a:pt x="37633" y="0"/>
                </a:moveTo>
                <a:lnTo>
                  <a:pt x="4797775" y="0"/>
                </a:lnTo>
                <a:cubicBezTo>
                  <a:pt x="4818559" y="0"/>
                  <a:pt x="4835407" y="16849"/>
                  <a:pt x="4835407" y="37633"/>
                </a:cubicBezTo>
                <a:lnTo>
                  <a:pt x="4835407" y="865478"/>
                </a:lnTo>
                <a:cubicBezTo>
                  <a:pt x="4835407" y="886262"/>
                  <a:pt x="4818559" y="903111"/>
                  <a:pt x="4797775" y="903111"/>
                </a:cubicBezTo>
                <a:lnTo>
                  <a:pt x="37633" y="903111"/>
                </a:lnTo>
                <a:cubicBezTo>
                  <a:pt x="16849" y="903111"/>
                  <a:pt x="0" y="886262"/>
                  <a:pt x="0" y="865478"/>
                </a:cubicBezTo>
                <a:lnTo>
                  <a:pt x="0" y="37633"/>
                </a:lnTo>
                <a:cubicBezTo>
                  <a:pt x="0" y="16849"/>
                  <a:pt x="16849" y="0"/>
                  <a:pt x="37633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893748" y="2265302"/>
            <a:ext cx="4750741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b="1" dirty="0">
                <a:solidFill>
                  <a:srgbClr val="6B8E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Mitigation: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93748" y="2491080"/>
            <a:ext cx="4741333" cy="15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9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Freemium model (1 room free)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93748" y="2679118"/>
            <a:ext cx="4741333" cy="15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9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Case study testimonials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93748" y="2867146"/>
            <a:ext cx="4741333" cy="15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9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Referral program (₹10K credit)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75022" y="3367499"/>
            <a:ext cx="5633156" cy="1738489"/>
          </a:xfrm>
          <a:custGeom>
            <a:avLst/>
            <a:gdLst/>
            <a:ahLst/>
            <a:cxnLst/>
            <a:rect l="l" t="t" r="r" b="b"/>
            <a:pathLst>
              <a:path w="5633156" h="1738489">
                <a:moveTo>
                  <a:pt x="112897" y="0"/>
                </a:moveTo>
                <a:lnTo>
                  <a:pt x="5520258" y="0"/>
                </a:lnTo>
                <a:cubicBezTo>
                  <a:pt x="5582610" y="0"/>
                  <a:pt x="5633156" y="50546"/>
                  <a:pt x="5633156" y="112897"/>
                </a:cubicBezTo>
                <a:lnTo>
                  <a:pt x="5633156" y="1625591"/>
                </a:lnTo>
                <a:cubicBezTo>
                  <a:pt x="5633156" y="1687943"/>
                  <a:pt x="5582610" y="1738489"/>
                  <a:pt x="5520258" y="1738489"/>
                </a:cubicBezTo>
                <a:lnTo>
                  <a:pt x="112897" y="1738489"/>
                </a:lnTo>
                <a:cubicBezTo>
                  <a:pt x="50546" y="1738489"/>
                  <a:pt x="0" y="1687943"/>
                  <a:pt x="0" y="1625591"/>
                </a:cubicBezTo>
                <a:lnTo>
                  <a:pt x="0" y="112897"/>
                </a:lnTo>
                <a:cubicBezTo>
                  <a:pt x="0" y="50546"/>
                  <a:pt x="50546" y="0"/>
                  <a:pt x="112897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329304" y="3521779"/>
            <a:ext cx="376296" cy="376296"/>
          </a:xfrm>
          <a:custGeom>
            <a:avLst/>
            <a:gdLst/>
            <a:ahLst/>
            <a:cxnLst/>
            <a:rect l="l" t="t" r="r" b="b"/>
            <a:pathLst>
              <a:path w="376296" h="376296">
                <a:moveTo>
                  <a:pt x="75259" y="0"/>
                </a:moveTo>
                <a:lnTo>
                  <a:pt x="301037" y="0"/>
                </a:lnTo>
                <a:cubicBezTo>
                  <a:pt x="342602" y="0"/>
                  <a:pt x="376296" y="33695"/>
                  <a:pt x="376296" y="75259"/>
                </a:cubicBezTo>
                <a:lnTo>
                  <a:pt x="376296" y="301037"/>
                </a:lnTo>
                <a:cubicBezTo>
                  <a:pt x="376296" y="342602"/>
                  <a:pt x="342602" y="376296"/>
                  <a:pt x="301037" y="376296"/>
                </a:cubicBezTo>
                <a:lnTo>
                  <a:pt x="75259" y="376296"/>
                </a:lnTo>
                <a:cubicBezTo>
                  <a:pt x="33695" y="376296"/>
                  <a:pt x="0" y="342602"/>
                  <a:pt x="0" y="301037"/>
                </a:cubicBezTo>
                <a:lnTo>
                  <a:pt x="0" y="75259"/>
                </a:lnTo>
                <a:cubicBezTo>
                  <a:pt x="0" y="33695"/>
                  <a:pt x="33695" y="0"/>
                  <a:pt x="75259" y="0"/>
                </a:cubicBezTo>
                <a:close/>
              </a:path>
            </a:pathLst>
          </a:custGeom>
          <a:solidFill>
            <a:srgbClr val="2B7FFF">
              <a:alpha val="20000"/>
            </a:srgbClr>
          </a:solidFill>
          <a:ln/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442192" y="3634668"/>
            <a:ext cx="150519" cy="150519"/>
          </a:xfrm>
          <a:custGeom>
            <a:avLst/>
            <a:gdLst/>
            <a:ahLst/>
            <a:cxnLst/>
            <a:rect l="l" t="t" r="r" b="b"/>
            <a:pathLst>
              <a:path w="150519" h="150519">
                <a:moveTo>
                  <a:pt x="148461" y="80257"/>
                </a:moveTo>
                <a:cubicBezTo>
                  <a:pt x="151224" y="77494"/>
                  <a:pt x="151224" y="73025"/>
                  <a:pt x="148461" y="70291"/>
                </a:cubicBezTo>
                <a:lnTo>
                  <a:pt x="106127" y="27928"/>
                </a:lnTo>
                <a:cubicBezTo>
                  <a:pt x="104099" y="25900"/>
                  <a:pt x="101071" y="25312"/>
                  <a:pt x="98425" y="26400"/>
                </a:cubicBezTo>
                <a:cubicBezTo>
                  <a:pt x="95779" y="27487"/>
                  <a:pt x="94074" y="30074"/>
                  <a:pt x="94074" y="32926"/>
                </a:cubicBezTo>
                <a:lnTo>
                  <a:pt x="94074" y="56444"/>
                </a:lnTo>
                <a:lnTo>
                  <a:pt x="61148" y="56444"/>
                </a:lnTo>
                <a:cubicBezTo>
                  <a:pt x="53358" y="56444"/>
                  <a:pt x="47037" y="62765"/>
                  <a:pt x="47037" y="70556"/>
                </a:cubicBezTo>
                <a:lnTo>
                  <a:pt x="47037" y="79963"/>
                </a:lnTo>
                <a:cubicBezTo>
                  <a:pt x="47037" y="87753"/>
                  <a:pt x="53358" y="94074"/>
                  <a:pt x="61148" y="94074"/>
                </a:cubicBezTo>
                <a:lnTo>
                  <a:pt x="94074" y="94074"/>
                </a:lnTo>
                <a:lnTo>
                  <a:pt x="94074" y="117593"/>
                </a:lnTo>
                <a:cubicBezTo>
                  <a:pt x="94074" y="120444"/>
                  <a:pt x="95779" y="123031"/>
                  <a:pt x="98425" y="124119"/>
                </a:cubicBezTo>
                <a:cubicBezTo>
                  <a:pt x="101071" y="125207"/>
                  <a:pt x="104099" y="124619"/>
                  <a:pt x="106127" y="122590"/>
                </a:cubicBezTo>
                <a:lnTo>
                  <a:pt x="148461" y="80257"/>
                </a:lnTo>
                <a:close/>
                <a:moveTo>
                  <a:pt x="47037" y="28222"/>
                </a:moveTo>
                <a:cubicBezTo>
                  <a:pt x="52241" y="28222"/>
                  <a:pt x="56444" y="24018"/>
                  <a:pt x="56444" y="18815"/>
                </a:cubicBezTo>
                <a:cubicBezTo>
                  <a:pt x="56444" y="13611"/>
                  <a:pt x="52241" y="9407"/>
                  <a:pt x="47037" y="9407"/>
                </a:cubicBezTo>
                <a:lnTo>
                  <a:pt x="28222" y="9407"/>
                </a:lnTo>
                <a:cubicBezTo>
                  <a:pt x="12641" y="9407"/>
                  <a:pt x="0" y="22049"/>
                  <a:pt x="0" y="37630"/>
                </a:cubicBezTo>
                <a:lnTo>
                  <a:pt x="0" y="112889"/>
                </a:lnTo>
                <a:cubicBezTo>
                  <a:pt x="0" y="128470"/>
                  <a:pt x="12641" y="141111"/>
                  <a:pt x="28222" y="141111"/>
                </a:cubicBezTo>
                <a:lnTo>
                  <a:pt x="47037" y="141111"/>
                </a:lnTo>
                <a:cubicBezTo>
                  <a:pt x="52241" y="141111"/>
                  <a:pt x="56444" y="136907"/>
                  <a:pt x="56444" y="131704"/>
                </a:cubicBezTo>
                <a:cubicBezTo>
                  <a:pt x="56444" y="126500"/>
                  <a:pt x="52241" y="122296"/>
                  <a:pt x="47037" y="122296"/>
                </a:cubicBezTo>
                <a:lnTo>
                  <a:pt x="28222" y="122296"/>
                </a:lnTo>
                <a:cubicBezTo>
                  <a:pt x="23019" y="122296"/>
                  <a:pt x="18815" y="118092"/>
                  <a:pt x="18815" y="112889"/>
                </a:cubicBezTo>
                <a:lnTo>
                  <a:pt x="18815" y="37630"/>
                </a:lnTo>
                <a:cubicBezTo>
                  <a:pt x="18815" y="32426"/>
                  <a:pt x="23019" y="28222"/>
                  <a:pt x="28222" y="28222"/>
                </a:cubicBezTo>
                <a:lnTo>
                  <a:pt x="47037" y="28222"/>
                </a:lnTo>
                <a:close/>
              </a:path>
            </a:pathLst>
          </a:custGeom>
          <a:solidFill>
            <a:srgbClr val="51A2FF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818489" y="3521779"/>
            <a:ext cx="4910667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Churn Rate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18489" y="3785186"/>
            <a:ext cx="4901259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Farms cancel after 3-6 months if ROI not proven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18489" y="4048594"/>
            <a:ext cx="4835407" cy="903111"/>
          </a:xfrm>
          <a:custGeom>
            <a:avLst/>
            <a:gdLst/>
            <a:ahLst/>
            <a:cxnLst/>
            <a:rect l="l" t="t" r="r" b="b"/>
            <a:pathLst>
              <a:path w="4835407" h="903111">
                <a:moveTo>
                  <a:pt x="37633" y="0"/>
                </a:moveTo>
                <a:lnTo>
                  <a:pt x="4797775" y="0"/>
                </a:lnTo>
                <a:cubicBezTo>
                  <a:pt x="4818559" y="0"/>
                  <a:pt x="4835407" y="16849"/>
                  <a:pt x="4835407" y="37633"/>
                </a:cubicBezTo>
                <a:lnTo>
                  <a:pt x="4835407" y="865478"/>
                </a:lnTo>
                <a:cubicBezTo>
                  <a:pt x="4835407" y="886262"/>
                  <a:pt x="4818559" y="903111"/>
                  <a:pt x="4797775" y="903111"/>
                </a:cubicBezTo>
                <a:lnTo>
                  <a:pt x="37633" y="903111"/>
                </a:lnTo>
                <a:cubicBezTo>
                  <a:pt x="16849" y="903111"/>
                  <a:pt x="0" y="886262"/>
                  <a:pt x="0" y="865478"/>
                </a:cubicBezTo>
                <a:lnTo>
                  <a:pt x="0" y="37633"/>
                </a:lnTo>
                <a:cubicBezTo>
                  <a:pt x="0" y="16849"/>
                  <a:pt x="16849" y="0"/>
                  <a:pt x="37633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893748" y="4123853"/>
            <a:ext cx="4750741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b="1" dirty="0">
                <a:solidFill>
                  <a:srgbClr val="6B8E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Mitigation: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93748" y="4349631"/>
            <a:ext cx="4741333" cy="15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9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Onboarding checklist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93748" y="4537668"/>
            <a:ext cx="4741333" cy="15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9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Quarterly ROI reviews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93748" y="4725697"/>
            <a:ext cx="4741333" cy="15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9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Annual contracts (20% discount)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80059" y="5263680"/>
            <a:ext cx="11428119" cy="1211674"/>
          </a:xfrm>
          <a:custGeom>
            <a:avLst/>
            <a:gdLst/>
            <a:ahLst/>
            <a:cxnLst/>
            <a:rect l="l" t="t" r="r" b="b"/>
            <a:pathLst>
              <a:path w="11428119" h="1211674">
                <a:moveTo>
                  <a:pt x="112892" y="0"/>
                </a:moveTo>
                <a:lnTo>
                  <a:pt x="11315227" y="0"/>
                </a:lnTo>
                <a:cubicBezTo>
                  <a:pt x="11377575" y="0"/>
                  <a:pt x="11428119" y="50543"/>
                  <a:pt x="11428119" y="112892"/>
                </a:cubicBezTo>
                <a:lnTo>
                  <a:pt x="11428119" y="1098782"/>
                </a:lnTo>
                <a:cubicBezTo>
                  <a:pt x="11428119" y="1161131"/>
                  <a:pt x="11377575" y="1211674"/>
                  <a:pt x="11315227" y="1211674"/>
                </a:cubicBezTo>
                <a:lnTo>
                  <a:pt x="112892" y="1211674"/>
                </a:lnTo>
                <a:cubicBezTo>
                  <a:pt x="50543" y="1211674"/>
                  <a:pt x="0" y="1161131"/>
                  <a:pt x="0" y="1098782"/>
                </a:cubicBezTo>
                <a:lnTo>
                  <a:pt x="0" y="112892"/>
                </a:lnTo>
                <a:cubicBezTo>
                  <a:pt x="0" y="50543"/>
                  <a:pt x="50543" y="0"/>
                  <a:pt x="112892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534341" y="5417959"/>
            <a:ext cx="11185407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b="1" spc="52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ADDITIONAL RISKS &amp; MITIGATIONS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34341" y="5718996"/>
            <a:ext cx="3631259" cy="602074"/>
          </a:xfrm>
          <a:custGeom>
            <a:avLst/>
            <a:gdLst/>
            <a:ahLst/>
            <a:cxnLst/>
            <a:rect l="l" t="t" r="r" b="b"/>
            <a:pathLst>
              <a:path w="3631259" h="602074">
                <a:moveTo>
                  <a:pt x="75259" y="0"/>
                </a:moveTo>
                <a:lnTo>
                  <a:pt x="3556000" y="0"/>
                </a:lnTo>
                <a:cubicBezTo>
                  <a:pt x="3597537" y="0"/>
                  <a:pt x="3631259" y="33723"/>
                  <a:pt x="3631259" y="75259"/>
                </a:cubicBezTo>
                <a:lnTo>
                  <a:pt x="3631259" y="526815"/>
                </a:lnTo>
                <a:cubicBezTo>
                  <a:pt x="3631259" y="568379"/>
                  <a:pt x="3597565" y="602074"/>
                  <a:pt x="3556000" y="602074"/>
                </a:cubicBezTo>
                <a:lnTo>
                  <a:pt x="75259" y="602074"/>
                </a:lnTo>
                <a:cubicBezTo>
                  <a:pt x="33723" y="602074"/>
                  <a:pt x="0" y="568352"/>
                  <a:pt x="0" y="526815"/>
                </a:cubicBezTo>
                <a:lnTo>
                  <a:pt x="0" y="75259"/>
                </a:lnTo>
                <a:cubicBezTo>
                  <a:pt x="0" y="33695"/>
                  <a:pt x="33695" y="0"/>
                  <a:pt x="75259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647230" y="5831885"/>
            <a:ext cx="3471333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Scaling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7230" y="6057663"/>
            <a:ext cx="3461926" cy="15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9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TimescaleDB compression, archival policy, sharding plan ready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279665" y="5718996"/>
            <a:ext cx="3631259" cy="602074"/>
          </a:xfrm>
          <a:custGeom>
            <a:avLst/>
            <a:gdLst/>
            <a:ahLst/>
            <a:cxnLst/>
            <a:rect l="l" t="t" r="r" b="b"/>
            <a:pathLst>
              <a:path w="3631259" h="602074">
                <a:moveTo>
                  <a:pt x="75259" y="0"/>
                </a:moveTo>
                <a:lnTo>
                  <a:pt x="3556000" y="0"/>
                </a:lnTo>
                <a:cubicBezTo>
                  <a:pt x="3597537" y="0"/>
                  <a:pt x="3631259" y="33723"/>
                  <a:pt x="3631259" y="75259"/>
                </a:cubicBezTo>
                <a:lnTo>
                  <a:pt x="3631259" y="526815"/>
                </a:lnTo>
                <a:cubicBezTo>
                  <a:pt x="3631259" y="568379"/>
                  <a:pt x="3597565" y="602074"/>
                  <a:pt x="3556000" y="602074"/>
                </a:cubicBezTo>
                <a:lnTo>
                  <a:pt x="75259" y="602074"/>
                </a:lnTo>
                <a:cubicBezTo>
                  <a:pt x="33723" y="602074"/>
                  <a:pt x="0" y="568352"/>
                  <a:pt x="0" y="526815"/>
                </a:cubicBezTo>
                <a:lnTo>
                  <a:pt x="0" y="75259"/>
                </a:lnTo>
                <a:cubicBezTo>
                  <a:pt x="0" y="33695"/>
                  <a:pt x="33695" y="0"/>
                  <a:pt x="75259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392554" y="5831885"/>
            <a:ext cx="3471333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Retention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392554" y="6057663"/>
            <a:ext cx="3461926" cy="15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9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Competitive salaries, ESOP pool, documentation culture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025106" y="5718996"/>
            <a:ext cx="3631259" cy="602074"/>
          </a:xfrm>
          <a:custGeom>
            <a:avLst/>
            <a:gdLst/>
            <a:ahLst/>
            <a:cxnLst/>
            <a:rect l="l" t="t" r="r" b="b"/>
            <a:pathLst>
              <a:path w="3631259" h="602074">
                <a:moveTo>
                  <a:pt x="75259" y="0"/>
                </a:moveTo>
                <a:lnTo>
                  <a:pt x="3556000" y="0"/>
                </a:lnTo>
                <a:cubicBezTo>
                  <a:pt x="3597537" y="0"/>
                  <a:pt x="3631259" y="33723"/>
                  <a:pt x="3631259" y="75259"/>
                </a:cubicBezTo>
                <a:lnTo>
                  <a:pt x="3631259" y="526815"/>
                </a:lnTo>
                <a:cubicBezTo>
                  <a:pt x="3631259" y="568379"/>
                  <a:pt x="3597565" y="602074"/>
                  <a:pt x="3556000" y="602074"/>
                </a:cubicBezTo>
                <a:lnTo>
                  <a:pt x="75259" y="602074"/>
                </a:lnTo>
                <a:cubicBezTo>
                  <a:pt x="33723" y="602074"/>
                  <a:pt x="0" y="568352"/>
                  <a:pt x="0" y="526815"/>
                </a:cubicBezTo>
                <a:lnTo>
                  <a:pt x="0" y="75259"/>
                </a:lnTo>
                <a:cubicBezTo>
                  <a:pt x="0" y="33695"/>
                  <a:pt x="33695" y="0"/>
                  <a:pt x="75259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8137995" y="5831885"/>
            <a:ext cx="3471333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Timing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137995" y="6057663"/>
            <a:ext cx="3461926" cy="15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9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First-mover advantage, deep domain expertise, high switching costs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340" y="378340"/>
            <a:ext cx="11501530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b="1" spc="104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KPIS &amp; MEASUREMENT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8340" y="643178"/>
            <a:ext cx="11605573" cy="378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81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 Metrics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8340" y="1097185"/>
            <a:ext cx="11529905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Measuring Impact at Every Level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2123" y="1517143"/>
            <a:ext cx="11423970" cy="1104752"/>
          </a:xfrm>
          <a:custGeom>
            <a:avLst/>
            <a:gdLst/>
            <a:ahLst/>
            <a:cxnLst/>
            <a:rect l="l" t="t" r="r" b="b"/>
            <a:pathLst>
              <a:path w="11423970" h="1104752">
                <a:moveTo>
                  <a:pt x="113502" y="0"/>
                </a:moveTo>
                <a:lnTo>
                  <a:pt x="11310468" y="0"/>
                </a:lnTo>
                <a:cubicBezTo>
                  <a:pt x="11373154" y="0"/>
                  <a:pt x="11423970" y="50817"/>
                  <a:pt x="11423970" y="113502"/>
                </a:cubicBezTo>
                <a:lnTo>
                  <a:pt x="11423970" y="991250"/>
                </a:lnTo>
                <a:cubicBezTo>
                  <a:pt x="11423970" y="1053936"/>
                  <a:pt x="11373154" y="1104752"/>
                  <a:pt x="11310468" y="1104752"/>
                </a:cubicBezTo>
                <a:lnTo>
                  <a:pt x="113502" y="1104752"/>
                </a:lnTo>
                <a:cubicBezTo>
                  <a:pt x="50817" y="1104752"/>
                  <a:pt x="0" y="1053936"/>
                  <a:pt x="0" y="991250"/>
                </a:cubicBezTo>
                <a:lnTo>
                  <a:pt x="0" y="113502"/>
                </a:lnTo>
                <a:cubicBezTo>
                  <a:pt x="0" y="50817"/>
                  <a:pt x="50817" y="0"/>
                  <a:pt x="113502" y="0"/>
                </a:cubicBezTo>
                <a:close/>
              </a:path>
            </a:pathLst>
          </a:custGeom>
          <a:gradFill rotWithShape="1" flip="none">
            <a:gsLst>
              <a:gs pos="0">
                <a:srgbClr val="E9C46A">
                  <a:alpha val="20000"/>
                </a:srgbClr>
              </a:gs>
              <a:gs pos="100000">
                <a:srgbClr val="D4A373">
                  <a:alpha val="20000"/>
                </a:srgbClr>
              </a:gs>
            </a:gsLst>
            <a:lin ang="0" scaled="1"/>
          </a:gradFill>
          <a:ln w="10160">
            <a:solidFill>
              <a:srgbClr val="E9C46A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37243" y="1766854"/>
            <a:ext cx="605344" cy="605344"/>
          </a:xfrm>
          <a:custGeom>
            <a:avLst/>
            <a:gdLst/>
            <a:ahLst/>
            <a:cxnLst/>
            <a:rect l="l" t="t" r="r" b="b"/>
            <a:pathLst>
              <a:path w="605344" h="605344">
                <a:moveTo>
                  <a:pt x="302672" y="0"/>
                </a:moveTo>
                <a:lnTo>
                  <a:pt x="302672" y="0"/>
                </a:lnTo>
                <a:cubicBezTo>
                  <a:pt x="469721" y="0"/>
                  <a:pt x="605344" y="135623"/>
                  <a:pt x="605344" y="302672"/>
                </a:cubicBezTo>
                <a:lnTo>
                  <a:pt x="605344" y="302672"/>
                </a:lnTo>
                <a:cubicBezTo>
                  <a:pt x="605344" y="469721"/>
                  <a:pt x="469721" y="605344"/>
                  <a:pt x="302672" y="605344"/>
                </a:cubicBezTo>
                <a:lnTo>
                  <a:pt x="302672" y="605344"/>
                </a:lnTo>
                <a:cubicBezTo>
                  <a:pt x="135623" y="605344"/>
                  <a:pt x="0" y="469721"/>
                  <a:pt x="0" y="302672"/>
                </a:cubicBezTo>
                <a:lnTo>
                  <a:pt x="0" y="302672"/>
                </a:lnTo>
                <a:cubicBezTo>
                  <a:pt x="0" y="135623"/>
                  <a:pt x="135623" y="0"/>
                  <a:pt x="302672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00402" y="1927649"/>
            <a:ext cx="283755" cy="283755"/>
          </a:xfrm>
          <a:custGeom>
            <a:avLst/>
            <a:gdLst/>
            <a:ahLst/>
            <a:cxnLst/>
            <a:rect l="l" t="t" r="r" b="b"/>
            <a:pathLst>
              <a:path w="283755" h="283755">
                <a:moveTo>
                  <a:pt x="248285" y="141877"/>
                </a:moveTo>
                <a:cubicBezTo>
                  <a:pt x="248285" y="83149"/>
                  <a:pt x="200606" y="35469"/>
                  <a:pt x="141877" y="35469"/>
                </a:cubicBezTo>
                <a:cubicBezTo>
                  <a:pt x="83149" y="35469"/>
                  <a:pt x="35469" y="83149"/>
                  <a:pt x="35469" y="141877"/>
                </a:cubicBezTo>
                <a:cubicBezTo>
                  <a:pt x="35469" y="200606"/>
                  <a:pt x="83149" y="248285"/>
                  <a:pt x="141877" y="248285"/>
                </a:cubicBezTo>
                <a:cubicBezTo>
                  <a:pt x="200606" y="248285"/>
                  <a:pt x="248285" y="200606"/>
                  <a:pt x="248285" y="141877"/>
                </a:cubicBezTo>
                <a:close/>
                <a:moveTo>
                  <a:pt x="0" y="141877"/>
                </a:moveTo>
                <a:cubicBezTo>
                  <a:pt x="0" y="63573"/>
                  <a:pt x="63573" y="0"/>
                  <a:pt x="141877" y="0"/>
                </a:cubicBezTo>
                <a:cubicBezTo>
                  <a:pt x="220182" y="0"/>
                  <a:pt x="283755" y="63573"/>
                  <a:pt x="283755" y="141877"/>
                </a:cubicBezTo>
                <a:cubicBezTo>
                  <a:pt x="283755" y="220182"/>
                  <a:pt x="220182" y="283755"/>
                  <a:pt x="141877" y="283755"/>
                </a:cubicBezTo>
                <a:cubicBezTo>
                  <a:pt x="63573" y="283755"/>
                  <a:pt x="0" y="220182"/>
                  <a:pt x="0" y="141877"/>
                </a:cubicBezTo>
                <a:close/>
                <a:moveTo>
                  <a:pt x="141877" y="186214"/>
                </a:moveTo>
                <a:cubicBezTo>
                  <a:pt x="166348" y="186214"/>
                  <a:pt x="186214" y="166348"/>
                  <a:pt x="186214" y="141877"/>
                </a:cubicBezTo>
                <a:cubicBezTo>
                  <a:pt x="186214" y="117407"/>
                  <a:pt x="166348" y="97541"/>
                  <a:pt x="141877" y="97541"/>
                </a:cubicBezTo>
                <a:cubicBezTo>
                  <a:pt x="117407" y="97541"/>
                  <a:pt x="97541" y="117407"/>
                  <a:pt x="97541" y="141877"/>
                </a:cubicBezTo>
                <a:cubicBezTo>
                  <a:pt x="97541" y="166348"/>
                  <a:pt x="117407" y="186214"/>
                  <a:pt x="141877" y="186214"/>
                </a:cubicBezTo>
                <a:close/>
                <a:moveTo>
                  <a:pt x="141877" y="62071"/>
                </a:moveTo>
                <a:cubicBezTo>
                  <a:pt x="185924" y="62071"/>
                  <a:pt x="221683" y="97831"/>
                  <a:pt x="221683" y="141877"/>
                </a:cubicBezTo>
                <a:cubicBezTo>
                  <a:pt x="221683" y="185924"/>
                  <a:pt x="185924" y="221683"/>
                  <a:pt x="141877" y="221683"/>
                </a:cubicBezTo>
                <a:cubicBezTo>
                  <a:pt x="97831" y="221683"/>
                  <a:pt x="62071" y="185924"/>
                  <a:pt x="62071" y="141877"/>
                </a:cubicBezTo>
                <a:cubicBezTo>
                  <a:pt x="62071" y="97831"/>
                  <a:pt x="97831" y="62071"/>
                  <a:pt x="141877" y="62071"/>
                </a:cubicBezTo>
                <a:close/>
                <a:moveTo>
                  <a:pt x="124143" y="141877"/>
                </a:moveTo>
                <a:cubicBezTo>
                  <a:pt x="124143" y="132089"/>
                  <a:pt x="132089" y="124143"/>
                  <a:pt x="141877" y="124143"/>
                </a:cubicBezTo>
                <a:cubicBezTo>
                  <a:pt x="151665" y="124143"/>
                  <a:pt x="159612" y="132089"/>
                  <a:pt x="159612" y="141877"/>
                </a:cubicBezTo>
                <a:cubicBezTo>
                  <a:pt x="159612" y="151665"/>
                  <a:pt x="151665" y="159612"/>
                  <a:pt x="141877" y="159612"/>
                </a:cubicBezTo>
                <a:cubicBezTo>
                  <a:pt x="132089" y="159612"/>
                  <a:pt x="124143" y="151665"/>
                  <a:pt x="124143" y="141877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93922" y="1672269"/>
            <a:ext cx="9401744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NORTH STAR METRIC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3922" y="1899273"/>
            <a:ext cx="9477412" cy="34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34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Contamination Reduction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3922" y="2239779"/>
            <a:ext cx="9411202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2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12-18% to &lt;7% within 6 months of onboarding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11368" y="1785771"/>
            <a:ext cx="1040434" cy="378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681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50%+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15411" y="2164111"/>
            <a:ext cx="936391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43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Loss Reduction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2123" y="2780794"/>
            <a:ext cx="5635371" cy="2504609"/>
          </a:xfrm>
          <a:custGeom>
            <a:avLst/>
            <a:gdLst/>
            <a:ahLst/>
            <a:cxnLst/>
            <a:rect l="l" t="t" r="r" b="b"/>
            <a:pathLst>
              <a:path w="5635371" h="2504609">
                <a:moveTo>
                  <a:pt x="113509" y="0"/>
                </a:moveTo>
                <a:lnTo>
                  <a:pt x="5521862" y="0"/>
                </a:lnTo>
                <a:cubicBezTo>
                  <a:pt x="5584552" y="0"/>
                  <a:pt x="5635371" y="50820"/>
                  <a:pt x="5635371" y="113509"/>
                </a:cubicBezTo>
                <a:lnTo>
                  <a:pt x="5635371" y="2391101"/>
                </a:lnTo>
                <a:cubicBezTo>
                  <a:pt x="5635371" y="2453790"/>
                  <a:pt x="5584552" y="2504609"/>
                  <a:pt x="5521862" y="2504609"/>
                </a:cubicBezTo>
                <a:lnTo>
                  <a:pt x="113509" y="2504609"/>
                </a:lnTo>
                <a:cubicBezTo>
                  <a:pt x="50820" y="2504609"/>
                  <a:pt x="0" y="2453790"/>
                  <a:pt x="0" y="2391101"/>
                </a:cubicBezTo>
                <a:lnTo>
                  <a:pt x="0" y="113509"/>
                </a:lnTo>
                <a:cubicBezTo>
                  <a:pt x="0" y="50862"/>
                  <a:pt x="50862" y="0"/>
                  <a:pt x="113509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37243" y="2935921"/>
            <a:ext cx="5391342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b="1" spc="52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FARM-LEVEL METRICS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7243" y="3238592"/>
            <a:ext cx="1191770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Contamination Loss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99500" y="3238592"/>
            <a:ext cx="463466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12-18%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92052" y="3257509"/>
            <a:ext cx="151336" cy="151336"/>
          </a:xfrm>
          <a:custGeom>
            <a:avLst/>
            <a:gdLst/>
            <a:ahLst/>
            <a:cxnLst/>
            <a:rect l="l" t="t" r="r" b="b"/>
            <a:pathLst>
              <a:path w="151336" h="151336">
                <a:moveTo>
                  <a:pt x="148557" y="82348"/>
                </a:moveTo>
                <a:cubicBezTo>
                  <a:pt x="152252" y="78653"/>
                  <a:pt x="152252" y="72653"/>
                  <a:pt x="148557" y="68958"/>
                </a:cubicBezTo>
                <a:lnTo>
                  <a:pt x="101265" y="21666"/>
                </a:lnTo>
                <a:cubicBezTo>
                  <a:pt x="97570" y="17971"/>
                  <a:pt x="91570" y="17971"/>
                  <a:pt x="87875" y="21666"/>
                </a:cubicBezTo>
                <a:cubicBezTo>
                  <a:pt x="84181" y="25361"/>
                  <a:pt x="84181" y="31361"/>
                  <a:pt x="87875" y="35056"/>
                </a:cubicBezTo>
                <a:lnTo>
                  <a:pt x="119029" y="66209"/>
                </a:lnTo>
                <a:lnTo>
                  <a:pt x="9458" y="66209"/>
                </a:lnTo>
                <a:cubicBezTo>
                  <a:pt x="4227" y="66209"/>
                  <a:pt x="0" y="70436"/>
                  <a:pt x="0" y="75668"/>
                </a:cubicBezTo>
                <a:cubicBezTo>
                  <a:pt x="0" y="80900"/>
                  <a:pt x="4227" y="85126"/>
                  <a:pt x="9458" y="85126"/>
                </a:cubicBezTo>
                <a:lnTo>
                  <a:pt x="119029" y="85126"/>
                </a:lnTo>
                <a:lnTo>
                  <a:pt x="87875" y="116280"/>
                </a:lnTo>
                <a:cubicBezTo>
                  <a:pt x="84181" y="119975"/>
                  <a:pt x="84181" y="125975"/>
                  <a:pt x="87875" y="129670"/>
                </a:cubicBezTo>
                <a:cubicBezTo>
                  <a:pt x="91570" y="133365"/>
                  <a:pt x="97570" y="133365"/>
                  <a:pt x="101265" y="129670"/>
                </a:cubicBezTo>
                <a:lnTo>
                  <a:pt x="148557" y="82378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637972" y="3238592"/>
            <a:ext cx="293213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b="1" dirty="0">
                <a:solidFill>
                  <a:srgbClr val="6B8E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&lt;7%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7243" y="3503430"/>
            <a:ext cx="936391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Time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27143" y="3503430"/>
            <a:ext cx="340506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hrs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99335" y="3522347"/>
            <a:ext cx="151336" cy="151336"/>
          </a:xfrm>
          <a:custGeom>
            <a:avLst/>
            <a:gdLst/>
            <a:ahLst/>
            <a:cxnLst/>
            <a:rect l="l" t="t" r="r" b="b"/>
            <a:pathLst>
              <a:path w="151336" h="151336">
                <a:moveTo>
                  <a:pt x="148557" y="82348"/>
                </a:moveTo>
                <a:cubicBezTo>
                  <a:pt x="152252" y="78653"/>
                  <a:pt x="152252" y="72653"/>
                  <a:pt x="148557" y="68958"/>
                </a:cubicBezTo>
                <a:lnTo>
                  <a:pt x="101265" y="21666"/>
                </a:lnTo>
                <a:cubicBezTo>
                  <a:pt x="97570" y="17971"/>
                  <a:pt x="91570" y="17971"/>
                  <a:pt x="87875" y="21666"/>
                </a:cubicBezTo>
                <a:cubicBezTo>
                  <a:pt x="84181" y="25361"/>
                  <a:pt x="84181" y="31361"/>
                  <a:pt x="87875" y="35056"/>
                </a:cubicBezTo>
                <a:lnTo>
                  <a:pt x="119029" y="66209"/>
                </a:lnTo>
                <a:lnTo>
                  <a:pt x="9458" y="66209"/>
                </a:lnTo>
                <a:cubicBezTo>
                  <a:pt x="4227" y="66209"/>
                  <a:pt x="0" y="70436"/>
                  <a:pt x="0" y="75668"/>
                </a:cubicBezTo>
                <a:cubicBezTo>
                  <a:pt x="0" y="80900"/>
                  <a:pt x="4227" y="85126"/>
                  <a:pt x="9458" y="85126"/>
                </a:cubicBezTo>
                <a:lnTo>
                  <a:pt x="119029" y="85126"/>
                </a:lnTo>
                <a:lnTo>
                  <a:pt x="87875" y="116280"/>
                </a:lnTo>
                <a:cubicBezTo>
                  <a:pt x="84181" y="119975"/>
                  <a:pt x="84181" y="125975"/>
                  <a:pt x="87875" y="129670"/>
                </a:cubicBezTo>
                <a:cubicBezTo>
                  <a:pt x="91570" y="133365"/>
                  <a:pt x="97570" y="133365"/>
                  <a:pt x="101265" y="129670"/>
                </a:cubicBezTo>
                <a:lnTo>
                  <a:pt x="148557" y="82378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445256" y="3503430"/>
            <a:ext cx="482383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b="1" dirty="0">
                <a:solidFill>
                  <a:srgbClr val="6B8E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&lt;15 min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7243" y="3768268"/>
            <a:ext cx="983683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Entry Time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48141" y="3768268"/>
            <a:ext cx="482383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2-3 hrs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55708" y="3787185"/>
            <a:ext cx="151336" cy="151336"/>
          </a:xfrm>
          <a:custGeom>
            <a:avLst/>
            <a:gdLst/>
            <a:ahLst/>
            <a:cxnLst/>
            <a:rect l="l" t="t" r="r" b="b"/>
            <a:pathLst>
              <a:path w="151336" h="151336">
                <a:moveTo>
                  <a:pt x="148557" y="82348"/>
                </a:moveTo>
                <a:cubicBezTo>
                  <a:pt x="152252" y="78653"/>
                  <a:pt x="152252" y="72653"/>
                  <a:pt x="148557" y="68958"/>
                </a:cubicBezTo>
                <a:lnTo>
                  <a:pt x="101265" y="21666"/>
                </a:lnTo>
                <a:cubicBezTo>
                  <a:pt x="97570" y="17971"/>
                  <a:pt x="91570" y="17971"/>
                  <a:pt x="87875" y="21666"/>
                </a:cubicBezTo>
                <a:cubicBezTo>
                  <a:pt x="84181" y="25361"/>
                  <a:pt x="84181" y="31361"/>
                  <a:pt x="87875" y="35056"/>
                </a:cubicBezTo>
                <a:lnTo>
                  <a:pt x="119029" y="66209"/>
                </a:lnTo>
                <a:lnTo>
                  <a:pt x="9458" y="66209"/>
                </a:lnTo>
                <a:cubicBezTo>
                  <a:pt x="4227" y="66209"/>
                  <a:pt x="0" y="70436"/>
                  <a:pt x="0" y="75668"/>
                </a:cubicBezTo>
                <a:cubicBezTo>
                  <a:pt x="0" y="80900"/>
                  <a:pt x="4227" y="85126"/>
                  <a:pt x="9458" y="85126"/>
                </a:cubicBezTo>
                <a:lnTo>
                  <a:pt x="119029" y="85126"/>
                </a:lnTo>
                <a:lnTo>
                  <a:pt x="87875" y="116280"/>
                </a:lnTo>
                <a:cubicBezTo>
                  <a:pt x="84181" y="119975"/>
                  <a:pt x="84181" y="125975"/>
                  <a:pt x="87875" y="129670"/>
                </a:cubicBezTo>
                <a:cubicBezTo>
                  <a:pt x="91570" y="133365"/>
                  <a:pt x="97570" y="133365"/>
                  <a:pt x="101265" y="129670"/>
                </a:cubicBezTo>
                <a:lnTo>
                  <a:pt x="148557" y="82378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401628" y="3768268"/>
            <a:ext cx="529676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b="1" dirty="0">
                <a:solidFill>
                  <a:srgbClr val="6B8E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&lt;30 min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7243" y="4033106"/>
            <a:ext cx="1182312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Inventory Accuracy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35987" y="4033106"/>
            <a:ext cx="548593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80-85%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08226" y="4052023"/>
            <a:ext cx="151336" cy="151336"/>
          </a:xfrm>
          <a:custGeom>
            <a:avLst/>
            <a:gdLst/>
            <a:ahLst/>
            <a:cxnLst/>
            <a:rect l="l" t="t" r="r" b="b"/>
            <a:pathLst>
              <a:path w="151336" h="151336">
                <a:moveTo>
                  <a:pt x="148557" y="82348"/>
                </a:moveTo>
                <a:cubicBezTo>
                  <a:pt x="152252" y="78653"/>
                  <a:pt x="152252" y="72653"/>
                  <a:pt x="148557" y="68958"/>
                </a:cubicBezTo>
                <a:lnTo>
                  <a:pt x="101265" y="21666"/>
                </a:lnTo>
                <a:cubicBezTo>
                  <a:pt x="97570" y="17971"/>
                  <a:pt x="91570" y="17971"/>
                  <a:pt x="87875" y="21666"/>
                </a:cubicBezTo>
                <a:cubicBezTo>
                  <a:pt x="84181" y="25361"/>
                  <a:pt x="84181" y="31361"/>
                  <a:pt x="87875" y="35056"/>
                </a:cubicBezTo>
                <a:lnTo>
                  <a:pt x="119029" y="66209"/>
                </a:lnTo>
                <a:lnTo>
                  <a:pt x="9458" y="66209"/>
                </a:lnTo>
                <a:cubicBezTo>
                  <a:pt x="4227" y="66209"/>
                  <a:pt x="0" y="70436"/>
                  <a:pt x="0" y="75668"/>
                </a:cubicBezTo>
                <a:cubicBezTo>
                  <a:pt x="0" y="80900"/>
                  <a:pt x="4227" y="85126"/>
                  <a:pt x="9458" y="85126"/>
                </a:cubicBezTo>
                <a:lnTo>
                  <a:pt x="119029" y="85126"/>
                </a:lnTo>
                <a:lnTo>
                  <a:pt x="87875" y="116280"/>
                </a:lnTo>
                <a:cubicBezTo>
                  <a:pt x="84181" y="119975"/>
                  <a:pt x="84181" y="125975"/>
                  <a:pt x="87875" y="129670"/>
                </a:cubicBezTo>
                <a:cubicBezTo>
                  <a:pt x="91570" y="133365"/>
                  <a:pt x="97570" y="133365"/>
                  <a:pt x="101265" y="129670"/>
                </a:cubicBezTo>
                <a:lnTo>
                  <a:pt x="148557" y="82378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554147" y="4033106"/>
            <a:ext cx="368881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b="1" dirty="0">
                <a:solidFill>
                  <a:srgbClr val="6B8E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&gt;95%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7243" y="4297944"/>
            <a:ext cx="1163395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Yield Improvement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764008" y="4297944"/>
            <a:ext cx="539134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327497" y="4316861"/>
            <a:ext cx="151336" cy="151336"/>
          </a:xfrm>
          <a:custGeom>
            <a:avLst/>
            <a:gdLst/>
            <a:ahLst/>
            <a:cxnLst/>
            <a:rect l="l" t="t" r="r" b="b"/>
            <a:pathLst>
              <a:path w="151336" h="151336">
                <a:moveTo>
                  <a:pt x="148557" y="82348"/>
                </a:moveTo>
                <a:cubicBezTo>
                  <a:pt x="152252" y="78653"/>
                  <a:pt x="152252" y="72653"/>
                  <a:pt x="148557" y="68958"/>
                </a:cubicBezTo>
                <a:lnTo>
                  <a:pt x="101265" y="21666"/>
                </a:lnTo>
                <a:cubicBezTo>
                  <a:pt x="97570" y="17971"/>
                  <a:pt x="91570" y="17971"/>
                  <a:pt x="87875" y="21666"/>
                </a:cubicBezTo>
                <a:cubicBezTo>
                  <a:pt x="84181" y="25361"/>
                  <a:pt x="84181" y="31361"/>
                  <a:pt x="87875" y="35056"/>
                </a:cubicBezTo>
                <a:lnTo>
                  <a:pt x="119029" y="66209"/>
                </a:lnTo>
                <a:lnTo>
                  <a:pt x="9458" y="66209"/>
                </a:lnTo>
                <a:cubicBezTo>
                  <a:pt x="4227" y="66209"/>
                  <a:pt x="0" y="70436"/>
                  <a:pt x="0" y="75668"/>
                </a:cubicBezTo>
                <a:cubicBezTo>
                  <a:pt x="0" y="80900"/>
                  <a:pt x="4227" y="85126"/>
                  <a:pt x="9458" y="85126"/>
                </a:cubicBezTo>
                <a:lnTo>
                  <a:pt x="119029" y="85126"/>
                </a:lnTo>
                <a:lnTo>
                  <a:pt x="87875" y="116280"/>
                </a:lnTo>
                <a:cubicBezTo>
                  <a:pt x="84181" y="119975"/>
                  <a:pt x="84181" y="125975"/>
                  <a:pt x="87875" y="129670"/>
                </a:cubicBezTo>
                <a:cubicBezTo>
                  <a:pt x="91570" y="133365"/>
                  <a:pt x="97570" y="133365"/>
                  <a:pt x="101265" y="129670"/>
                </a:cubicBezTo>
                <a:lnTo>
                  <a:pt x="148557" y="82378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573418" y="4297944"/>
            <a:ext cx="349964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b="1" dirty="0">
                <a:solidFill>
                  <a:srgbClr val="6B8E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+15%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74860" y="2780794"/>
            <a:ext cx="5635371" cy="2504609"/>
          </a:xfrm>
          <a:custGeom>
            <a:avLst/>
            <a:gdLst/>
            <a:ahLst/>
            <a:cxnLst/>
            <a:rect l="l" t="t" r="r" b="b"/>
            <a:pathLst>
              <a:path w="5635371" h="2504609">
                <a:moveTo>
                  <a:pt x="113509" y="0"/>
                </a:moveTo>
                <a:lnTo>
                  <a:pt x="5521862" y="0"/>
                </a:lnTo>
                <a:cubicBezTo>
                  <a:pt x="5584552" y="0"/>
                  <a:pt x="5635371" y="50820"/>
                  <a:pt x="5635371" y="113509"/>
                </a:cubicBezTo>
                <a:lnTo>
                  <a:pt x="5635371" y="2391101"/>
                </a:lnTo>
                <a:cubicBezTo>
                  <a:pt x="5635371" y="2453790"/>
                  <a:pt x="5584552" y="2504609"/>
                  <a:pt x="5521862" y="2504609"/>
                </a:cubicBezTo>
                <a:lnTo>
                  <a:pt x="113509" y="2504609"/>
                </a:lnTo>
                <a:cubicBezTo>
                  <a:pt x="50820" y="2504609"/>
                  <a:pt x="0" y="2453790"/>
                  <a:pt x="0" y="2391101"/>
                </a:cubicBezTo>
                <a:lnTo>
                  <a:pt x="0" y="113509"/>
                </a:lnTo>
                <a:cubicBezTo>
                  <a:pt x="0" y="50862"/>
                  <a:pt x="50862" y="0"/>
                  <a:pt x="113509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329979" y="2935921"/>
            <a:ext cx="5391342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b="1" spc="52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PLATFORM-LEVEL METRICS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29979" y="3238592"/>
            <a:ext cx="1002600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Uptime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296753" y="3238592"/>
            <a:ext cx="425632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b="1" dirty="0">
                <a:solidFill>
                  <a:srgbClr val="6B8E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99.5%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29979" y="3503430"/>
            <a:ext cx="5381884" cy="151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4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SLA guarantee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29979" y="3730323"/>
            <a:ext cx="898557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NPS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446435" y="3730323"/>
            <a:ext cx="274296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b="1" dirty="0">
                <a:solidFill>
                  <a:srgbClr val="6B8E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&gt;40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29979" y="3995161"/>
            <a:ext cx="5381884" cy="151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4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Quarterly surveys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29979" y="4222036"/>
            <a:ext cx="699929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Churn Rate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381880" y="4222036"/>
            <a:ext cx="340506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b="1" dirty="0">
                <a:solidFill>
                  <a:srgbClr val="6B8E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&lt;12%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29979" y="4486874"/>
            <a:ext cx="5381884" cy="151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4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target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29979" y="4713767"/>
            <a:ext cx="1106644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 Active Users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320636" y="4713767"/>
            <a:ext cx="397257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b="1" dirty="0">
                <a:solidFill>
                  <a:srgbClr val="6B8E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60%+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29979" y="4978604"/>
            <a:ext cx="5381884" cy="151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4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onboarded farms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82123" y="5443840"/>
            <a:ext cx="3724755" cy="1029084"/>
          </a:xfrm>
          <a:custGeom>
            <a:avLst/>
            <a:gdLst/>
            <a:ahLst/>
            <a:cxnLst/>
            <a:rect l="l" t="t" r="r" b="b"/>
            <a:pathLst>
              <a:path w="3724755" h="1029084">
                <a:moveTo>
                  <a:pt x="75669" y="0"/>
                </a:moveTo>
                <a:lnTo>
                  <a:pt x="3649087" y="0"/>
                </a:lnTo>
                <a:cubicBezTo>
                  <a:pt x="3690877" y="0"/>
                  <a:pt x="3724755" y="33878"/>
                  <a:pt x="3724755" y="75669"/>
                </a:cubicBezTo>
                <a:lnTo>
                  <a:pt x="3724755" y="953416"/>
                </a:lnTo>
                <a:cubicBezTo>
                  <a:pt x="3724755" y="995206"/>
                  <a:pt x="3690877" y="1029084"/>
                  <a:pt x="3649087" y="1029084"/>
                </a:cubicBezTo>
                <a:lnTo>
                  <a:pt x="75669" y="1029084"/>
                </a:lnTo>
                <a:cubicBezTo>
                  <a:pt x="33878" y="1029084"/>
                  <a:pt x="0" y="995206"/>
                  <a:pt x="0" y="953416"/>
                </a:cubicBezTo>
                <a:lnTo>
                  <a:pt x="0" y="75669"/>
                </a:lnTo>
                <a:cubicBezTo>
                  <a:pt x="0" y="33906"/>
                  <a:pt x="33906" y="0"/>
                  <a:pt x="75669" y="0"/>
                </a:cubicBezTo>
                <a:close/>
              </a:path>
            </a:pathLst>
          </a:custGeom>
          <a:solidFill>
            <a:srgbClr val="E9C46A">
              <a:alpha val="10196"/>
            </a:srgbClr>
          </a:solidFill>
          <a:ln w="10160">
            <a:solidFill>
              <a:srgbClr val="E9C46A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2146842" y="5561133"/>
            <a:ext cx="198628" cy="227004"/>
          </a:xfrm>
          <a:custGeom>
            <a:avLst/>
            <a:gdLst/>
            <a:ahLst/>
            <a:cxnLst/>
            <a:rect l="l" t="t" r="r" b="b"/>
            <a:pathLst>
              <a:path w="198628" h="227004">
                <a:moveTo>
                  <a:pt x="0" y="28375"/>
                </a:moveTo>
                <a:cubicBezTo>
                  <a:pt x="0" y="20528"/>
                  <a:pt x="6340" y="14188"/>
                  <a:pt x="14188" y="14188"/>
                </a:cubicBezTo>
                <a:lnTo>
                  <a:pt x="49657" y="14188"/>
                </a:lnTo>
                <a:cubicBezTo>
                  <a:pt x="84905" y="14188"/>
                  <a:pt x="113502" y="42785"/>
                  <a:pt x="113502" y="78033"/>
                </a:cubicBezTo>
                <a:cubicBezTo>
                  <a:pt x="113502" y="102107"/>
                  <a:pt x="100201" y="123034"/>
                  <a:pt x="80515" y="133941"/>
                </a:cubicBezTo>
                <a:lnTo>
                  <a:pt x="98693" y="194549"/>
                </a:lnTo>
                <a:cubicBezTo>
                  <a:pt x="100955" y="202042"/>
                  <a:pt x="96698" y="209979"/>
                  <a:pt x="89161" y="212195"/>
                </a:cubicBezTo>
                <a:cubicBezTo>
                  <a:pt x="81624" y="214412"/>
                  <a:pt x="73732" y="210200"/>
                  <a:pt x="71515" y="202663"/>
                </a:cubicBezTo>
                <a:lnTo>
                  <a:pt x="53248" y="141789"/>
                </a:lnTo>
                <a:cubicBezTo>
                  <a:pt x="52051" y="141833"/>
                  <a:pt x="50854" y="141877"/>
                  <a:pt x="49657" y="141877"/>
                </a:cubicBezTo>
                <a:lnTo>
                  <a:pt x="28375" y="141877"/>
                </a:lnTo>
                <a:lnTo>
                  <a:pt x="28375" y="198628"/>
                </a:lnTo>
                <a:cubicBezTo>
                  <a:pt x="28375" y="206476"/>
                  <a:pt x="22035" y="212816"/>
                  <a:pt x="14188" y="212816"/>
                </a:cubicBezTo>
                <a:cubicBezTo>
                  <a:pt x="6340" y="212816"/>
                  <a:pt x="0" y="206476"/>
                  <a:pt x="0" y="198628"/>
                </a:cubicBezTo>
                <a:lnTo>
                  <a:pt x="0" y="28375"/>
                </a:lnTo>
                <a:close/>
                <a:moveTo>
                  <a:pt x="28375" y="113502"/>
                </a:moveTo>
                <a:lnTo>
                  <a:pt x="49657" y="113502"/>
                </a:lnTo>
                <a:cubicBezTo>
                  <a:pt x="69254" y="113502"/>
                  <a:pt x="85126" y="97629"/>
                  <a:pt x="85126" y="78033"/>
                </a:cubicBezTo>
                <a:cubicBezTo>
                  <a:pt x="85126" y="58436"/>
                  <a:pt x="69254" y="42563"/>
                  <a:pt x="49657" y="42563"/>
                </a:cubicBezTo>
                <a:lnTo>
                  <a:pt x="28375" y="42563"/>
                </a:lnTo>
                <a:lnTo>
                  <a:pt x="28375" y="113502"/>
                </a:lnTo>
                <a:close/>
                <a:moveTo>
                  <a:pt x="154779" y="99314"/>
                </a:moveTo>
                <a:lnTo>
                  <a:pt x="170253" y="99314"/>
                </a:lnTo>
                <a:cubicBezTo>
                  <a:pt x="178101" y="99314"/>
                  <a:pt x="184441" y="105654"/>
                  <a:pt x="184441" y="113502"/>
                </a:cubicBezTo>
                <a:cubicBezTo>
                  <a:pt x="184441" y="121350"/>
                  <a:pt x="178101" y="127690"/>
                  <a:pt x="170253" y="127690"/>
                </a:cubicBezTo>
                <a:lnTo>
                  <a:pt x="154779" y="127690"/>
                </a:lnTo>
                <a:cubicBezTo>
                  <a:pt x="151587" y="127690"/>
                  <a:pt x="148971" y="130306"/>
                  <a:pt x="148971" y="133498"/>
                </a:cubicBezTo>
                <a:cubicBezTo>
                  <a:pt x="148971" y="136025"/>
                  <a:pt x="150612" y="138242"/>
                  <a:pt x="153006" y="139040"/>
                </a:cubicBezTo>
                <a:lnTo>
                  <a:pt x="174908" y="146089"/>
                </a:lnTo>
                <a:cubicBezTo>
                  <a:pt x="189052" y="150656"/>
                  <a:pt x="198628" y="163780"/>
                  <a:pt x="198628" y="178633"/>
                </a:cubicBezTo>
                <a:cubicBezTo>
                  <a:pt x="198628" y="197520"/>
                  <a:pt x="183332" y="212816"/>
                  <a:pt x="164445" y="212816"/>
                </a:cubicBezTo>
                <a:lnTo>
                  <a:pt x="141877" y="212816"/>
                </a:lnTo>
                <a:cubicBezTo>
                  <a:pt x="134030" y="212816"/>
                  <a:pt x="127690" y="206476"/>
                  <a:pt x="127690" y="198628"/>
                </a:cubicBezTo>
                <a:cubicBezTo>
                  <a:pt x="127690" y="190781"/>
                  <a:pt x="134030" y="184441"/>
                  <a:pt x="141877" y="184441"/>
                </a:cubicBezTo>
                <a:lnTo>
                  <a:pt x="164445" y="184441"/>
                </a:lnTo>
                <a:cubicBezTo>
                  <a:pt x="167637" y="184441"/>
                  <a:pt x="170253" y="181825"/>
                  <a:pt x="170253" y="178633"/>
                </a:cubicBezTo>
                <a:cubicBezTo>
                  <a:pt x="170253" y="176105"/>
                  <a:pt x="168612" y="173889"/>
                  <a:pt x="166218" y="173090"/>
                </a:cubicBezTo>
                <a:lnTo>
                  <a:pt x="144316" y="166041"/>
                </a:lnTo>
                <a:cubicBezTo>
                  <a:pt x="130173" y="161474"/>
                  <a:pt x="120596" y="148351"/>
                  <a:pt x="120596" y="133498"/>
                </a:cubicBezTo>
                <a:cubicBezTo>
                  <a:pt x="120596" y="114610"/>
                  <a:pt x="135892" y="99314"/>
                  <a:pt x="154779" y="99314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42658" y="5863805"/>
            <a:ext cx="3603687" cy="302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87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₹2-3L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66304" y="6166348"/>
            <a:ext cx="3556394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3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 Savings/Farm/Year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231376" y="5443840"/>
            <a:ext cx="3724755" cy="1029084"/>
          </a:xfrm>
          <a:custGeom>
            <a:avLst/>
            <a:gdLst/>
            <a:ahLst/>
            <a:cxnLst/>
            <a:rect l="l" t="t" r="r" b="b"/>
            <a:pathLst>
              <a:path w="3724755" h="1029084">
                <a:moveTo>
                  <a:pt x="75669" y="0"/>
                </a:moveTo>
                <a:lnTo>
                  <a:pt x="3649087" y="0"/>
                </a:lnTo>
                <a:cubicBezTo>
                  <a:pt x="3690877" y="0"/>
                  <a:pt x="3724755" y="33878"/>
                  <a:pt x="3724755" y="75669"/>
                </a:cubicBezTo>
                <a:lnTo>
                  <a:pt x="3724755" y="953416"/>
                </a:lnTo>
                <a:cubicBezTo>
                  <a:pt x="3724755" y="995206"/>
                  <a:pt x="3690877" y="1029084"/>
                  <a:pt x="3649087" y="1029084"/>
                </a:cubicBezTo>
                <a:lnTo>
                  <a:pt x="75669" y="1029084"/>
                </a:lnTo>
                <a:cubicBezTo>
                  <a:pt x="33878" y="1029084"/>
                  <a:pt x="0" y="995206"/>
                  <a:pt x="0" y="953416"/>
                </a:cubicBezTo>
                <a:lnTo>
                  <a:pt x="0" y="75669"/>
                </a:lnTo>
                <a:cubicBezTo>
                  <a:pt x="0" y="33906"/>
                  <a:pt x="33906" y="0"/>
                  <a:pt x="75669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0160">
            <a:solidFill>
              <a:srgbClr val="D4A373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5996095" y="5561133"/>
            <a:ext cx="198628" cy="227004"/>
          </a:xfrm>
          <a:custGeom>
            <a:avLst/>
            <a:gdLst/>
            <a:ahLst/>
            <a:cxnLst/>
            <a:rect l="l" t="t" r="r" b="b"/>
            <a:pathLst>
              <a:path w="198628" h="227004">
                <a:moveTo>
                  <a:pt x="85126" y="56751"/>
                </a:moveTo>
                <a:cubicBezTo>
                  <a:pt x="85126" y="33260"/>
                  <a:pt x="66055" y="14188"/>
                  <a:pt x="42563" y="14188"/>
                </a:cubicBezTo>
                <a:cubicBezTo>
                  <a:pt x="19072" y="14188"/>
                  <a:pt x="0" y="33260"/>
                  <a:pt x="0" y="56751"/>
                </a:cubicBezTo>
                <a:cubicBezTo>
                  <a:pt x="0" y="80242"/>
                  <a:pt x="19072" y="99314"/>
                  <a:pt x="42563" y="99314"/>
                </a:cubicBezTo>
                <a:cubicBezTo>
                  <a:pt x="66055" y="99314"/>
                  <a:pt x="85126" y="80242"/>
                  <a:pt x="85126" y="56751"/>
                </a:cubicBezTo>
                <a:close/>
                <a:moveTo>
                  <a:pt x="198628" y="170253"/>
                </a:moveTo>
                <a:cubicBezTo>
                  <a:pt x="198628" y="146762"/>
                  <a:pt x="179556" y="127690"/>
                  <a:pt x="156065" y="127690"/>
                </a:cubicBezTo>
                <a:cubicBezTo>
                  <a:pt x="132574" y="127690"/>
                  <a:pt x="113502" y="146762"/>
                  <a:pt x="113502" y="170253"/>
                </a:cubicBezTo>
                <a:cubicBezTo>
                  <a:pt x="113502" y="193744"/>
                  <a:pt x="132574" y="212816"/>
                  <a:pt x="156065" y="212816"/>
                </a:cubicBezTo>
                <a:cubicBezTo>
                  <a:pt x="179556" y="212816"/>
                  <a:pt x="198628" y="193744"/>
                  <a:pt x="198628" y="170253"/>
                </a:cubicBezTo>
                <a:close/>
                <a:moveTo>
                  <a:pt x="194461" y="38396"/>
                </a:moveTo>
                <a:cubicBezTo>
                  <a:pt x="200003" y="32853"/>
                  <a:pt x="200003" y="23853"/>
                  <a:pt x="194461" y="18311"/>
                </a:cubicBezTo>
                <a:cubicBezTo>
                  <a:pt x="188919" y="12769"/>
                  <a:pt x="179918" y="12769"/>
                  <a:pt x="174376" y="18311"/>
                </a:cubicBezTo>
                <a:lnTo>
                  <a:pt x="4123" y="188564"/>
                </a:lnTo>
                <a:cubicBezTo>
                  <a:pt x="-1419" y="194106"/>
                  <a:pt x="-1419" y="203106"/>
                  <a:pt x="4123" y="208648"/>
                </a:cubicBezTo>
                <a:cubicBezTo>
                  <a:pt x="9665" y="214191"/>
                  <a:pt x="18666" y="214191"/>
                  <a:pt x="24208" y="208648"/>
                </a:cubicBezTo>
                <a:lnTo>
                  <a:pt x="194461" y="38396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4291910" y="5863805"/>
            <a:ext cx="3603687" cy="302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87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3-6x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315557" y="6166348"/>
            <a:ext cx="3556394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3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ROI for Farms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080629" y="5443840"/>
            <a:ext cx="3724755" cy="1029084"/>
          </a:xfrm>
          <a:custGeom>
            <a:avLst/>
            <a:gdLst/>
            <a:ahLst/>
            <a:cxnLst/>
            <a:rect l="l" t="t" r="r" b="b"/>
            <a:pathLst>
              <a:path w="3724755" h="1029084">
                <a:moveTo>
                  <a:pt x="75669" y="0"/>
                </a:moveTo>
                <a:lnTo>
                  <a:pt x="3649087" y="0"/>
                </a:lnTo>
                <a:cubicBezTo>
                  <a:pt x="3690877" y="0"/>
                  <a:pt x="3724755" y="33878"/>
                  <a:pt x="3724755" y="75669"/>
                </a:cubicBezTo>
                <a:lnTo>
                  <a:pt x="3724755" y="953416"/>
                </a:lnTo>
                <a:cubicBezTo>
                  <a:pt x="3724755" y="995206"/>
                  <a:pt x="3690877" y="1029084"/>
                  <a:pt x="3649087" y="1029084"/>
                </a:cubicBezTo>
                <a:lnTo>
                  <a:pt x="75669" y="1029084"/>
                </a:lnTo>
                <a:cubicBezTo>
                  <a:pt x="33878" y="1029084"/>
                  <a:pt x="0" y="995206"/>
                  <a:pt x="0" y="953416"/>
                </a:cubicBezTo>
                <a:lnTo>
                  <a:pt x="0" y="75669"/>
                </a:lnTo>
                <a:cubicBezTo>
                  <a:pt x="0" y="33906"/>
                  <a:pt x="33906" y="0"/>
                  <a:pt x="75669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9831160" y="5561133"/>
            <a:ext cx="227004" cy="227004"/>
          </a:xfrm>
          <a:custGeom>
            <a:avLst/>
            <a:gdLst/>
            <a:ahLst/>
            <a:cxnLst/>
            <a:rect l="l" t="t" r="r" b="b"/>
            <a:pathLst>
              <a:path w="227004" h="227004">
                <a:moveTo>
                  <a:pt x="28375" y="28375"/>
                </a:moveTo>
                <a:cubicBezTo>
                  <a:pt x="28375" y="20528"/>
                  <a:pt x="22035" y="14188"/>
                  <a:pt x="14188" y="14188"/>
                </a:cubicBezTo>
                <a:cubicBezTo>
                  <a:pt x="6340" y="14188"/>
                  <a:pt x="0" y="20528"/>
                  <a:pt x="0" y="28375"/>
                </a:cubicBezTo>
                <a:lnTo>
                  <a:pt x="0" y="177347"/>
                </a:lnTo>
                <a:cubicBezTo>
                  <a:pt x="0" y="196944"/>
                  <a:pt x="15873" y="212816"/>
                  <a:pt x="35469" y="212816"/>
                </a:cubicBezTo>
                <a:lnTo>
                  <a:pt x="212816" y="212816"/>
                </a:lnTo>
                <a:cubicBezTo>
                  <a:pt x="220664" y="212816"/>
                  <a:pt x="227004" y="206476"/>
                  <a:pt x="227004" y="198628"/>
                </a:cubicBezTo>
                <a:cubicBezTo>
                  <a:pt x="227004" y="190781"/>
                  <a:pt x="220664" y="184441"/>
                  <a:pt x="212816" y="184441"/>
                </a:cubicBezTo>
                <a:lnTo>
                  <a:pt x="35469" y="184441"/>
                </a:lnTo>
                <a:cubicBezTo>
                  <a:pt x="31568" y="184441"/>
                  <a:pt x="28375" y="181248"/>
                  <a:pt x="28375" y="177347"/>
                </a:cubicBezTo>
                <a:lnTo>
                  <a:pt x="28375" y="28375"/>
                </a:lnTo>
                <a:close/>
                <a:moveTo>
                  <a:pt x="208648" y="66771"/>
                </a:moveTo>
                <a:cubicBezTo>
                  <a:pt x="214191" y="61229"/>
                  <a:pt x="214191" y="52229"/>
                  <a:pt x="208648" y="46687"/>
                </a:cubicBezTo>
                <a:cubicBezTo>
                  <a:pt x="203106" y="41144"/>
                  <a:pt x="194106" y="41144"/>
                  <a:pt x="188564" y="46687"/>
                </a:cubicBezTo>
                <a:lnTo>
                  <a:pt x="141877" y="93417"/>
                </a:lnTo>
                <a:lnTo>
                  <a:pt x="116428" y="68012"/>
                </a:lnTo>
                <a:cubicBezTo>
                  <a:pt x="110886" y="62470"/>
                  <a:pt x="101886" y="62470"/>
                  <a:pt x="96344" y="68012"/>
                </a:cubicBezTo>
                <a:lnTo>
                  <a:pt x="53780" y="110576"/>
                </a:lnTo>
                <a:cubicBezTo>
                  <a:pt x="48238" y="116118"/>
                  <a:pt x="48238" y="125118"/>
                  <a:pt x="53780" y="130660"/>
                </a:cubicBezTo>
                <a:cubicBezTo>
                  <a:pt x="59322" y="136202"/>
                  <a:pt x="68323" y="136202"/>
                  <a:pt x="73865" y="130660"/>
                </a:cubicBezTo>
                <a:lnTo>
                  <a:pt x="106408" y="98117"/>
                </a:lnTo>
                <a:lnTo>
                  <a:pt x="131857" y="123566"/>
                </a:lnTo>
                <a:cubicBezTo>
                  <a:pt x="137399" y="129108"/>
                  <a:pt x="146400" y="129108"/>
                  <a:pt x="151942" y="123566"/>
                </a:cubicBezTo>
                <a:lnTo>
                  <a:pt x="208693" y="66815"/>
                </a:ln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8141163" y="5863805"/>
            <a:ext cx="3603687" cy="302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87" b="1" dirty="0">
                <a:solidFill>
                  <a:srgbClr val="6B8E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₹150Cr+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164810" y="6166348"/>
            <a:ext cx="3556394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3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Savings at Scale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VISION 2026-2030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Roadmap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Platform to Ecosystem Dominance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8620" y="1531620"/>
            <a:ext cx="3691890" cy="2691765"/>
          </a:xfrm>
          <a:custGeom>
            <a:avLst/>
            <a:gdLst/>
            <a:ahLst/>
            <a:cxnLst/>
            <a:rect l="l" t="t" r="r" b="b"/>
            <a:pathLst>
              <a:path w="3691890" h="2691765">
                <a:moveTo>
                  <a:pt x="114292" y="0"/>
                </a:moveTo>
                <a:lnTo>
                  <a:pt x="3577598" y="0"/>
                </a:lnTo>
                <a:cubicBezTo>
                  <a:pt x="3640720" y="0"/>
                  <a:pt x="3691890" y="51170"/>
                  <a:pt x="3691890" y="114292"/>
                </a:cubicBezTo>
                <a:lnTo>
                  <a:pt x="3691890" y="2577473"/>
                </a:lnTo>
                <a:cubicBezTo>
                  <a:pt x="3691890" y="2640595"/>
                  <a:pt x="3640720" y="2691765"/>
                  <a:pt x="3577598" y="2691765"/>
                </a:cubicBezTo>
                <a:lnTo>
                  <a:pt x="114292" y="2691765"/>
                </a:lnTo>
                <a:cubicBezTo>
                  <a:pt x="51170" y="2691765"/>
                  <a:pt x="0" y="2640595"/>
                  <a:pt x="0" y="2577473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gradFill rotWithShape="1" flip="none">
            <a:gsLst>
              <a:gs pos="0">
                <a:srgbClr val="6B8E6E">
                  <a:alpha val="30000"/>
                </a:srgbClr>
              </a:gs>
              <a:gs pos="100000">
                <a:srgbClr val="6B8E6E">
                  <a:alpha val="10000"/>
                </a:srgbClr>
              </a:gs>
            </a:gsLst>
            <a:lin ang="2700000" scaled="1"/>
          </a:gradFill>
          <a:ln w="20320">
            <a:solidFill>
              <a:srgbClr val="6B8E6E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69163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3663" y="1786886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0140" y="1691636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20140" y="1958336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Months 23-30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263136"/>
            <a:ext cx="3438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Intelligence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7690" y="256793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1254" y="14585"/>
                </a:moveTo>
                <a:cubicBezTo>
                  <a:pt x="31254" y="6537"/>
                  <a:pt x="37791" y="0"/>
                  <a:pt x="45839" y="0"/>
                </a:cubicBezTo>
                <a:lnTo>
                  <a:pt x="52090" y="0"/>
                </a:lnTo>
                <a:cubicBezTo>
                  <a:pt x="56700" y="0"/>
                  <a:pt x="60424" y="3724"/>
                  <a:pt x="60424" y="8334"/>
                </a:cubicBezTo>
                <a:lnTo>
                  <a:pt x="60424" y="125016"/>
                </a:lnTo>
                <a:cubicBezTo>
                  <a:pt x="60424" y="129626"/>
                  <a:pt x="56700" y="133350"/>
                  <a:pt x="52090" y="133350"/>
                </a:cubicBezTo>
                <a:lnTo>
                  <a:pt x="43755" y="133350"/>
                </a:lnTo>
                <a:cubicBezTo>
                  <a:pt x="35994" y="133350"/>
                  <a:pt x="29457" y="128037"/>
                  <a:pt x="27608" y="120848"/>
                </a:cubicBezTo>
                <a:cubicBezTo>
                  <a:pt x="27425" y="120848"/>
                  <a:pt x="27269" y="120848"/>
                  <a:pt x="27087" y="120848"/>
                </a:cubicBezTo>
                <a:cubicBezTo>
                  <a:pt x="15575" y="120848"/>
                  <a:pt x="6251" y="111524"/>
                  <a:pt x="6251" y="100013"/>
                </a:cubicBezTo>
                <a:cubicBezTo>
                  <a:pt x="6251" y="95324"/>
                  <a:pt x="7813" y="91001"/>
                  <a:pt x="10418" y="87511"/>
                </a:cubicBezTo>
                <a:cubicBezTo>
                  <a:pt x="5365" y="83708"/>
                  <a:pt x="2084" y="77666"/>
                  <a:pt x="2084" y="70842"/>
                </a:cubicBezTo>
                <a:cubicBezTo>
                  <a:pt x="2084" y="62794"/>
                  <a:pt x="6668" y="55788"/>
                  <a:pt x="13335" y="52324"/>
                </a:cubicBezTo>
                <a:cubicBezTo>
                  <a:pt x="11486" y="49199"/>
                  <a:pt x="10418" y="45553"/>
                  <a:pt x="10418" y="41672"/>
                </a:cubicBezTo>
                <a:cubicBezTo>
                  <a:pt x="10418" y="30160"/>
                  <a:pt x="19742" y="20836"/>
                  <a:pt x="31254" y="20836"/>
                </a:cubicBezTo>
                <a:lnTo>
                  <a:pt x="31254" y="14585"/>
                </a:lnTo>
                <a:close/>
                <a:moveTo>
                  <a:pt x="102096" y="14585"/>
                </a:moveTo>
                <a:lnTo>
                  <a:pt x="102096" y="20836"/>
                </a:lnTo>
                <a:cubicBezTo>
                  <a:pt x="113608" y="20836"/>
                  <a:pt x="122932" y="30160"/>
                  <a:pt x="122932" y="41672"/>
                </a:cubicBezTo>
                <a:cubicBezTo>
                  <a:pt x="122932" y="45579"/>
                  <a:pt x="121864" y="49225"/>
                  <a:pt x="120015" y="52324"/>
                </a:cubicBezTo>
                <a:cubicBezTo>
                  <a:pt x="126709" y="55788"/>
                  <a:pt x="131266" y="62768"/>
                  <a:pt x="131266" y="70842"/>
                </a:cubicBezTo>
                <a:cubicBezTo>
                  <a:pt x="131266" y="77666"/>
                  <a:pt x="127985" y="83708"/>
                  <a:pt x="122932" y="87511"/>
                </a:cubicBezTo>
                <a:cubicBezTo>
                  <a:pt x="125537" y="91001"/>
                  <a:pt x="127099" y="95324"/>
                  <a:pt x="127099" y="100013"/>
                </a:cubicBezTo>
                <a:cubicBezTo>
                  <a:pt x="127099" y="111524"/>
                  <a:pt x="117775" y="120848"/>
                  <a:pt x="106263" y="120848"/>
                </a:cubicBezTo>
                <a:cubicBezTo>
                  <a:pt x="106081" y="120848"/>
                  <a:pt x="105925" y="120848"/>
                  <a:pt x="105742" y="120848"/>
                </a:cubicBezTo>
                <a:cubicBezTo>
                  <a:pt x="103893" y="128037"/>
                  <a:pt x="97356" y="133350"/>
                  <a:pt x="89595" y="133350"/>
                </a:cubicBezTo>
                <a:lnTo>
                  <a:pt x="81260" y="133350"/>
                </a:lnTo>
                <a:cubicBezTo>
                  <a:pt x="76650" y="133350"/>
                  <a:pt x="72926" y="129626"/>
                  <a:pt x="72926" y="125016"/>
                </a:cubicBezTo>
                <a:lnTo>
                  <a:pt x="72926" y="8334"/>
                </a:lnTo>
                <a:cubicBezTo>
                  <a:pt x="72926" y="3724"/>
                  <a:pt x="76650" y="0"/>
                  <a:pt x="81260" y="0"/>
                </a:cubicBezTo>
                <a:lnTo>
                  <a:pt x="87511" y="0"/>
                </a:lnTo>
                <a:cubicBezTo>
                  <a:pt x="95559" y="0"/>
                  <a:pt x="102096" y="6537"/>
                  <a:pt x="102096" y="14585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91527" y="2529836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Yield prediction AI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7690" y="279653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1254" y="14585"/>
                </a:moveTo>
                <a:cubicBezTo>
                  <a:pt x="31254" y="6537"/>
                  <a:pt x="37791" y="0"/>
                  <a:pt x="45839" y="0"/>
                </a:cubicBezTo>
                <a:lnTo>
                  <a:pt x="52090" y="0"/>
                </a:lnTo>
                <a:cubicBezTo>
                  <a:pt x="56700" y="0"/>
                  <a:pt x="60424" y="3724"/>
                  <a:pt x="60424" y="8334"/>
                </a:cubicBezTo>
                <a:lnTo>
                  <a:pt x="60424" y="125016"/>
                </a:lnTo>
                <a:cubicBezTo>
                  <a:pt x="60424" y="129626"/>
                  <a:pt x="56700" y="133350"/>
                  <a:pt x="52090" y="133350"/>
                </a:cubicBezTo>
                <a:lnTo>
                  <a:pt x="43755" y="133350"/>
                </a:lnTo>
                <a:cubicBezTo>
                  <a:pt x="35994" y="133350"/>
                  <a:pt x="29457" y="128037"/>
                  <a:pt x="27608" y="120848"/>
                </a:cubicBezTo>
                <a:cubicBezTo>
                  <a:pt x="27425" y="120848"/>
                  <a:pt x="27269" y="120848"/>
                  <a:pt x="27087" y="120848"/>
                </a:cubicBezTo>
                <a:cubicBezTo>
                  <a:pt x="15575" y="120848"/>
                  <a:pt x="6251" y="111524"/>
                  <a:pt x="6251" y="100013"/>
                </a:cubicBezTo>
                <a:cubicBezTo>
                  <a:pt x="6251" y="95324"/>
                  <a:pt x="7813" y="91001"/>
                  <a:pt x="10418" y="87511"/>
                </a:cubicBezTo>
                <a:cubicBezTo>
                  <a:pt x="5365" y="83708"/>
                  <a:pt x="2084" y="77666"/>
                  <a:pt x="2084" y="70842"/>
                </a:cubicBezTo>
                <a:cubicBezTo>
                  <a:pt x="2084" y="62794"/>
                  <a:pt x="6668" y="55788"/>
                  <a:pt x="13335" y="52324"/>
                </a:cubicBezTo>
                <a:cubicBezTo>
                  <a:pt x="11486" y="49199"/>
                  <a:pt x="10418" y="45553"/>
                  <a:pt x="10418" y="41672"/>
                </a:cubicBezTo>
                <a:cubicBezTo>
                  <a:pt x="10418" y="30160"/>
                  <a:pt x="19742" y="20836"/>
                  <a:pt x="31254" y="20836"/>
                </a:cubicBezTo>
                <a:lnTo>
                  <a:pt x="31254" y="14585"/>
                </a:lnTo>
                <a:close/>
                <a:moveTo>
                  <a:pt x="102096" y="14585"/>
                </a:moveTo>
                <a:lnTo>
                  <a:pt x="102096" y="20836"/>
                </a:lnTo>
                <a:cubicBezTo>
                  <a:pt x="113608" y="20836"/>
                  <a:pt x="122932" y="30160"/>
                  <a:pt x="122932" y="41672"/>
                </a:cubicBezTo>
                <a:cubicBezTo>
                  <a:pt x="122932" y="45579"/>
                  <a:pt x="121864" y="49225"/>
                  <a:pt x="120015" y="52324"/>
                </a:cubicBezTo>
                <a:cubicBezTo>
                  <a:pt x="126709" y="55788"/>
                  <a:pt x="131266" y="62768"/>
                  <a:pt x="131266" y="70842"/>
                </a:cubicBezTo>
                <a:cubicBezTo>
                  <a:pt x="131266" y="77666"/>
                  <a:pt x="127985" y="83708"/>
                  <a:pt x="122932" y="87511"/>
                </a:cubicBezTo>
                <a:cubicBezTo>
                  <a:pt x="125537" y="91001"/>
                  <a:pt x="127099" y="95324"/>
                  <a:pt x="127099" y="100013"/>
                </a:cubicBezTo>
                <a:cubicBezTo>
                  <a:pt x="127099" y="111524"/>
                  <a:pt x="117775" y="120848"/>
                  <a:pt x="106263" y="120848"/>
                </a:cubicBezTo>
                <a:cubicBezTo>
                  <a:pt x="106081" y="120848"/>
                  <a:pt x="105925" y="120848"/>
                  <a:pt x="105742" y="120848"/>
                </a:cubicBezTo>
                <a:cubicBezTo>
                  <a:pt x="103893" y="128037"/>
                  <a:pt x="97356" y="133350"/>
                  <a:pt x="89595" y="133350"/>
                </a:cubicBezTo>
                <a:lnTo>
                  <a:pt x="81260" y="133350"/>
                </a:lnTo>
                <a:cubicBezTo>
                  <a:pt x="76650" y="133350"/>
                  <a:pt x="72926" y="129626"/>
                  <a:pt x="72926" y="125016"/>
                </a:cubicBezTo>
                <a:lnTo>
                  <a:pt x="72926" y="8334"/>
                </a:lnTo>
                <a:cubicBezTo>
                  <a:pt x="72926" y="3724"/>
                  <a:pt x="76650" y="0"/>
                  <a:pt x="81260" y="0"/>
                </a:cubicBezTo>
                <a:lnTo>
                  <a:pt x="87511" y="0"/>
                </a:lnTo>
                <a:cubicBezTo>
                  <a:pt x="95559" y="0"/>
                  <a:pt x="102096" y="6537"/>
                  <a:pt x="102096" y="14585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91527" y="2758436"/>
            <a:ext cx="1724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Contamination early warning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7690" y="302513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1254" y="14585"/>
                </a:moveTo>
                <a:cubicBezTo>
                  <a:pt x="31254" y="6537"/>
                  <a:pt x="37791" y="0"/>
                  <a:pt x="45839" y="0"/>
                </a:cubicBezTo>
                <a:lnTo>
                  <a:pt x="52090" y="0"/>
                </a:lnTo>
                <a:cubicBezTo>
                  <a:pt x="56700" y="0"/>
                  <a:pt x="60424" y="3724"/>
                  <a:pt x="60424" y="8334"/>
                </a:cubicBezTo>
                <a:lnTo>
                  <a:pt x="60424" y="125016"/>
                </a:lnTo>
                <a:cubicBezTo>
                  <a:pt x="60424" y="129626"/>
                  <a:pt x="56700" y="133350"/>
                  <a:pt x="52090" y="133350"/>
                </a:cubicBezTo>
                <a:lnTo>
                  <a:pt x="43755" y="133350"/>
                </a:lnTo>
                <a:cubicBezTo>
                  <a:pt x="35994" y="133350"/>
                  <a:pt x="29457" y="128037"/>
                  <a:pt x="27608" y="120848"/>
                </a:cubicBezTo>
                <a:cubicBezTo>
                  <a:pt x="27425" y="120848"/>
                  <a:pt x="27269" y="120848"/>
                  <a:pt x="27087" y="120848"/>
                </a:cubicBezTo>
                <a:cubicBezTo>
                  <a:pt x="15575" y="120848"/>
                  <a:pt x="6251" y="111524"/>
                  <a:pt x="6251" y="100013"/>
                </a:cubicBezTo>
                <a:cubicBezTo>
                  <a:pt x="6251" y="95324"/>
                  <a:pt x="7813" y="91001"/>
                  <a:pt x="10418" y="87511"/>
                </a:cubicBezTo>
                <a:cubicBezTo>
                  <a:pt x="5365" y="83708"/>
                  <a:pt x="2084" y="77666"/>
                  <a:pt x="2084" y="70842"/>
                </a:cubicBezTo>
                <a:cubicBezTo>
                  <a:pt x="2084" y="62794"/>
                  <a:pt x="6668" y="55788"/>
                  <a:pt x="13335" y="52324"/>
                </a:cubicBezTo>
                <a:cubicBezTo>
                  <a:pt x="11486" y="49199"/>
                  <a:pt x="10418" y="45553"/>
                  <a:pt x="10418" y="41672"/>
                </a:cubicBezTo>
                <a:cubicBezTo>
                  <a:pt x="10418" y="30160"/>
                  <a:pt x="19742" y="20836"/>
                  <a:pt x="31254" y="20836"/>
                </a:cubicBezTo>
                <a:lnTo>
                  <a:pt x="31254" y="14585"/>
                </a:lnTo>
                <a:close/>
                <a:moveTo>
                  <a:pt x="102096" y="14585"/>
                </a:moveTo>
                <a:lnTo>
                  <a:pt x="102096" y="20836"/>
                </a:lnTo>
                <a:cubicBezTo>
                  <a:pt x="113608" y="20836"/>
                  <a:pt x="122932" y="30160"/>
                  <a:pt x="122932" y="41672"/>
                </a:cubicBezTo>
                <a:cubicBezTo>
                  <a:pt x="122932" y="45579"/>
                  <a:pt x="121864" y="49225"/>
                  <a:pt x="120015" y="52324"/>
                </a:cubicBezTo>
                <a:cubicBezTo>
                  <a:pt x="126709" y="55788"/>
                  <a:pt x="131266" y="62768"/>
                  <a:pt x="131266" y="70842"/>
                </a:cubicBezTo>
                <a:cubicBezTo>
                  <a:pt x="131266" y="77666"/>
                  <a:pt x="127985" y="83708"/>
                  <a:pt x="122932" y="87511"/>
                </a:cubicBezTo>
                <a:cubicBezTo>
                  <a:pt x="125537" y="91001"/>
                  <a:pt x="127099" y="95324"/>
                  <a:pt x="127099" y="100013"/>
                </a:cubicBezTo>
                <a:cubicBezTo>
                  <a:pt x="127099" y="111524"/>
                  <a:pt x="117775" y="120848"/>
                  <a:pt x="106263" y="120848"/>
                </a:cubicBezTo>
                <a:cubicBezTo>
                  <a:pt x="106081" y="120848"/>
                  <a:pt x="105925" y="120848"/>
                  <a:pt x="105742" y="120848"/>
                </a:cubicBezTo>
                <a:cubicBezTo>
                  <a:pt x="103893" y="128037"/>
                  <a:pt x="97356" y="133350"/>
                  <a:pt x="89595" y="133350"/>
                </a:cubicBezTo>
                <a:lnTo>
                  <a:pt x="81260" y="133350"/>
                </a:lnTo>
                <a:cubicBezTo>
                  <a:pt x="76650" y="133350"/>
                  <a:pt x="72926" y="129626"/>
                  <a:pt x="72926" y="125016"/>
                </a:cubicBezTo>
                <a:lnTo>
                  <a:pt x="72926" y="8334"/>
                </a:lnTo>
                <a:cubicBezTo>
                  <a:pt x="72926" y="3724"/>
                  <a:pt x="76650" y="0"/>
                  <a:pt x="81260" y="0"/>
                </a:cubicBezTo>
                <a:lnTo>
                  <a:pt x="87511" y="0"/>
                </a:lnTo>
                <a:cubicBezTo>
                  <a:pt x="95559" y="0"/>
                  <a:pt x="102096" y="6537"/>
                  <a:pt x="102096" y="14585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91527" y="2987036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Anomaly detection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7690" y="325373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1254" y="14585"/>
                </a:moveTo>
                <a:cubicBezTo>
                  <a:pt x="31254" y="6537"/>
                  <a:pt x="37791" y="0"/>
                  <a:pt x="45839" y="0"/>
                </a:cubicBezTo>
                <a:lnTo>
                  <a:pt x="52090" y="0"/>
                </a:lnTo>
                <a:cubicBezTo>
                  <a:pt x="56700" y="0"/>
                  <a:pt x="60424" y="3724"/>
                  <a:pt x="60424" y="8334"/>
                </a:cubicBezTo>
                <a:lnTo>
                  <a:pt x="60424" y="125016"/>
                </a:lnTo>
                <a:cubicBezTo>
                  <a:pt x="60424" y="129626"/>
                  <a:pt x="56700" y="133350"/>
                  <a:pt x="52090" y="133350"/>
                </a:cubicBezTo>
                <a:lnTo>
                  <a:pt x="43755" y="133350"/>
                </a:lnTo>
                <a:cubicBezTo>
                  <a:pt x="35994" y="133350"/>
                  <a:pt x="29457" y="128037"/>
                  <a:pt x="27608" y="120848"/>
                </a:cubicBezTo>
                <a:cubicBezTo>
                  <a:pt x="27425" y="120848"/>
                  <a:pt x="27269" y="120848"/>
                  <a:pt x="27087" y="120848"/>
                </a:cubicBezTo>
                <a:cubicBezTo>
                  <a:pt x="15575" y="120848"/>
                  <a:pt x="6251" y="111524"/>
                  <a:pt x="6251" y="100013"/>
                </a:cubicBezTo>
                <a:cubicBezTo>
                  <a:pt x="6251" y="95324"/>
                  <a:pt x="7813" y="91001"/>
                  <a:pt x="10418" y="87511"/>
                </a:cubicBezTo>
                <a:cubicBezTo>
                  <a:pt x="5365" y="83708"/>
                  <a:pt x="2084" y="77666"/>
                  <a:pt x="2084" y="70842"/>
                </a:cubicBezTo>
                <a:cubicBezTo>
                  <a:pt x="2084" y="62794"/>
                  <a:pt x="6668" y="55788"/>
                  <a:pt x="13335" y="52324"/>
                </a:cubicBezTo>
                <a:cubicBezTo>
                  <a:pt x="11486" y="49199"/>
                  <a:pt x="10418" y="45553"/>
                  <a:pt x="10418" y="41672"/>
                </a:cubicBezTo>
                <a:cubicBezTo>
                  <a:pt x="10418" y="30160"/>
                  <a:pt x="19742" y="20836"/>
                  <a:pt x="31254" y="20836"/>
                </a:cubicBezTo>
                <a:lnTo>
                  <a:pt x="31254" y="14585"/>
                </a:lnTo>
                <a:close/>
                <a:moveTo>
                  <a:pt x="102096" y="14585"/>
                </a:moveTo>
                <a:lnTo>
                  <a:pt x="102096" y="20836"/>
                </a:lnTo>
                <a:cubicBezTo>
                  <a:pt x="113608" y="20836"/>
                  <a:pt x="122932" y="30160"/>
                  <a:pt x="122932" y="41672"/>
                </a:cubicBezTo>
                <a:cubicBezTo>
                  <a:pt x="122932" y="45579"/>
                  <a:pt x="121864" y="49225"/>
                  <a:pt x="120015" y="52324"/>
                </a:cubicBezTo>
                <a:cubicBezTo>
                  <a:pt x="126709" y="55788"/>
                  <a:pt x="131266" y="62768"/>
                  <a:pt x="131266" y="70842"/>
                </a:cubicBezTo>
                <a:cubicBezTo>
                  <a:pt x="131266" y="77666"/>
                  <a:pt x="127985" y="83708"/>
                  <a:pt x="122932" y="87511"/>
                </a:cubicBezTo>
                <a:cubicBezTo>
                  <a:pt x="125537" y="91001"/>
                  <a:pt x="127099" y="95324"/>
                  <a:pt x="127099" y="100013"/>
                </a:cubicBezTo>
                <a:cubicBezTo>
                  <a:pt x="127099" y="111524"/>
                  <a:pt x="117775" y="120848"/>
                  <a:pt x="106263" y="120848"/>
                </a:cubicBezTo>
                <a:cubicBezTo>
                  <a:pt x="106081" y="120848"/>
                  <a:pt x="105925" y="120848"/>
                  <a:pt x="105742" y="120848"/>
                </a:cubicBezTo>
                <a:cubicBezTo>
                  <a:pt x="103893" y="128037"/>
                  <a:pt x="97356" y="133350"/>
                  <a:pt x="89595" y="133350"/>
                </a:cubicBezTo>
                <a:lnTo>
                  <a:pt x="81260" y="133350"/>
                </a:lnTo>
                <a:cubicBezTo>
                  <a:pt x="76650" y="133350"/>
                  <a:pt x="72926" y="129626"/>
                  <a:pt x="72926" y="125016"/>
                </a:cubicBezTo>
                <a:lnTo>
                  <a:pt x="72926" y="8334"/>
                </a:lnTo>
                <a:cubicBezTo>
                  <a:pt x="72926" y="3724"/>
                  <a:pt x="76650" y="0"/>
                  <a:pt x="81260" y="0"/>
                </a:cubicBezTo>
                <a:lnTo>
                  <a:pt x="87511" y="0"/>
                </a:lnTo>
                <a:cubicBezTo>
                  <a:pt x="95559" y="0"/>
                  <a:pt x="102096" y="6537"/>
                  <a:pt x="102096" y="14585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91527" y="3215636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Benchmarking platform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7690" y="348233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1254" y="14585"/>
                </a:moveTo>
                <a:cubicBezTo>
                  <a:pt x="31254" y="6537"/>
                  <a:pt x="37791" y="0"/>
                  <a:pt x="45839" y="0"/>
                </a:cubicBezTo>
                <a:lnTo>
                  <a:pt x="52090" y="0"/>
                </a:lnTo>
                <a:cubicBezTo>
                  <a:pt x="56700" y="0"/>
                  <a:pt x="60424" y="3724"/>
                  <a:pt x="60424" y="8334"/>
                </a:cubicBezTo>
                <a:lnTo>
                  <a:pt x="60424" y="125016"/>
                </a:lnTo>
                <a:cubicBezTo>
                  <a:pt x="60424" y="129626"/>
                  <a:pt x="56700" y="133350"/>
                  <a:pt x="52090" y="133350"/>
                </a:cubicBezTo>
                <a:lnTo>
                  <a:pt x="43755" y="133350"/>
                </a:lnTo>
                <a:cubicBezTo>
                  <a:pt x="35994" y="133350"/>
                  <a:pt x="29457" y="128037"/>
                  <a:pt x="27608" y="120848"/>
                </a:cubicBezTo>
                <a:cubicBezTo>
                  <a:pt x="27425" y="120848"/>
                  <a:pt x="27269" y="120848"/>
                  <a:pt x="27087" y="120848"/>
                </a:cubicBezTo>
                <a:cubicBezTo>
                  <a:pt x="15575" y="120848"/>
                  <a:pt x="6251" y="111524"/>
                  <a:pt x="6251" y="100013"/>
                </a:cubicBezTo>
                <a:cubicBezTo>
                  <a:pt x="6251" y="95324"/>
                  <a:pt x="7813" y="91001"/>
                  <a:pt x="10418" y="87511"/>
                </a:cubicBezTo>
                <a:cubicBezTo>
                  <a:pt x="5365" y="83708"/>
                  <a:pt x="2084" y="77666"/>
                  <a:pt x="2084" y="70842"/>
                </a:cubicBezTo>
                <a:cubicBezTo>
                  <a:pt x="2084" y="62794"/>
                  <a:pt x="6668" y="55788"/>
                  <a:pt x="13335" y="52324"/>
                </a:cubicBezTo>
                <a:cubicBezTo>
                  <a:pt x="11486" y="49199"/>
                  <a:pt x="10418" y="45553"/>
                  <a:pt x="10418" y="41672"/>
                </a:cubicBezTo>
                <a:cubicBezTo>
                  <a:pt x="10418" y="30160"/>
                  <a:pt x="19742" y="20836"/>
                  <a:pt x="31254" y="20836"/>
                </a:cubicBezTo>
                <a:lnTo>
                  <a:pt x="31254" y="14585"/>
                </a:lnTo>
                <a:close/>
                <a:moveTo>
                  <a:pt x="102096" y="14585"/>
                </a:moveTo>
                <a:lnTo>
                  <a:pt x="102096" y="20836"/>
                </a:lnTo>
                <a:cubicBezTo>
                  <a:pt x="113608" y="20836"/>
                  <a:pt x="122932" y="30160"/>
                  <a:pt x="122932" y="41672"/>
                </a:cubicBezTo>
                <a:cubicBezTo>
                  <a:pt x="122932" y="45579"/>
                  <a:pt x="121864" y="49225"/>
                  <a:pt x="120015" y="52324"/>
                </a:cubicBezTo>
                <a:cubicBezTo>
                  <a:pt x="126709" y="55788"/>
                  <a:pt x="131266" y="62768"/>
                  <a:pt x="131266" y="70842"/>
                </a:cubicBezTo>
                <a:cubicBezTo>
                  <a:pt x="131266" y="77666"/>
                  <a:pt x="127985" y="83708"/>
                  <a:pt x="122932" y="87511"/>
                </a:cubicBezTo>
                <a:cubicBezTo>
                  <a:pt x="125537" y="91001"/>
                  <a:pt x="127099" y="95324"/>
                  <a:pt x="127099" y="100013"/>
                </a:cubicBezTo>
                <a:cubicBezTo>
                  <a:pt x="127099" y="111524"/>
                  <a:pt x="117775" y="120848"/>
                  <a:pt x="106263" y="120848"/>
                </a:cubicBezTo>
                <a:cubicBezTo>
                  <a:pt x="106081" y="120848"/>
                  <a:pt x="105925" y="120848"/>
                  <a:pt x="105742" y="120848"/>
                </a:cubicBezTo>
                <a:cubicBezTo>
                  <a:pt x="103893" y="128037"/>
                  <a:pt x="97356" y="133350"/>
                  <a:pt x="89595" y="133350"/>
                </a:cubicBezTo>
                <a:lnTo>
                  <a:pt x="81260" y="133350"/>
                </a:lnTo>
                <a:cubicBezTo>
                  <a:pt x="76650" y="133350"/>
                  <a:pt x="72926" y="129626"/>
                  <a:pt x="72926" y="125016"/>
                </a:cubicBezTo>
                <a:lnTo>
                  <a:pt x="72926" y="8334"/>
                </a:lnTo>
                <a:cubicBezTo>
                  <a:pt x="72926" y="3724"/>
                  <a:pt x="76650" y="0"/>
                  <a:pt x="81260" y="0"/>
                </a:cubicBezTo>
                <a:lnTo>
                  <a:pt x="87511" y="0"/>
                </a:lnTo>
                <a:cubicBezTo>
                  <a:pt x="95559" y="0"/>
                  <a:pt x="102096" y="6537"/>
                  <a:pt x="102096" y="14585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91527" y="3444236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Supplier directory (200+)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3752846"/>
            <a:ext cx="3371850" cy="7620"/>
          </a:xfrm>
          <a:custGeom>
            <a:avLst/>
            <a:gdLst/>
            <a:ahLst/>
            <a:cxnLst/>
            <a:rect l="l" t="t" r="r" b="b"/>
            <a:pathLst>
              <a:path w="3371850" h="7620">
                <a:moveTo>
                  <a:pt x="0" y="0"/>
                </a:moveTo>
                <a:lnTo>
                  <a:pt x="3371850" y="0"/>
                </a:lnTo>
                <a:lnTo>
                  <a:pt x="33718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6B8E6E">
              <a:alpha val="30196"/>
            </a:srgbClr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48640" y="3870964"/>
            <a:ext cx="3438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150 farms | ₹50L GMV pilot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49341" y="1531620"/>
            <a:ext cx="3691890" cy="2691765"/>
          </a:xfrm>
          <a:custGeom>
            <a:avLst/>
            <a:gdLst/>
            <a:ahLst/>
            <a:cxnLst/>
            <a:rect l="l" t="t" r="r" b="b"/>
            <a:pathLst>
              <a:path w="3691890" h="2691765">
                <a:moveTo>
                  <a:pt x="114292" y="0"/>
                </a:moveTo>
                <a:lnTo>
                  <a:pt x="3577598" y="0"/>
                </a:lnTo>
                <a:cubicBezTo>
                  <a:pt x="3640720" y="0"/>
                  <a:pt x="3691890" y="51170"/>
                  <a:pt x="3691890" y="114292"/>
                </a:cubicBezTo>
                <a:lnTo>
                  <a:pt x="3691890" y="2577473"/>
                </a:lnTo>
                <a:cubicBezTo>
                  <a:pt x="3691890" y="2640595"/>
                  <a:pt x="3640720" y="2691765"/>
                  <a:pt x="3577598" y="2691765"/>
                </a:cubicBezTo>
                <a:lnTo>
                  <a:pt x="114292" y="2691765"/>
                </a:lnTo>
                <a:cubicBezTo>
                  <a:pt x="51170" y="2691765"/>
                  <a:pt x="0" y="2640595"/>
                  <a:pt x="0" y="2577473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gradFill rotWithShape="1" flip="none">
            <a:gsLst>
              <a:gs pos="0">
                <a:srgbClr val="D4A373">
                  <a:alpha val="30000"/>
                </a:srgbClr>
              </a:gs>
              <a:gs pos="100000">
                <a:srgbClr val="D4A373">
                  <a:alpha val="10000"/>
                </a:srgbClr>
              </a:gs>
            </a:gsLst>
            <a:lin ang="2700000" scaled="1"/>
          </a:gradFill>
          <a:ln w="20320">
            <a:solidFill>
              <a:srgbClr val="D4A373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409361" y="169163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591764" y="1786886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2E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80861" y="1691636"/>
            <a:ext cx="866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80861" y="1958336"/>
            <a:ext cx="84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Months 31-42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09361" y="2263136"/>
            <a:ext cx="3438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Ecosystem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11742" y="2567936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652248" y="2529836"/>
            <a:ext cx="170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Consultancy platform (100+)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11742" y="2796536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652248" y="2758436"/>
            <a:ext cx="153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Marketplace scale (500+)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11742" y="3025136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652248" y="2987036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Equipment financing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11742" y="3253736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652248" y="3215636"/>
            <a:ext cx="131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Working capital loans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11742" y="3482336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652248" y="3444236"/>
            <a:ext cx="942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Crop insurance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09361" y="3752846"/>
            <a:ext cx="3371850" cy="7620"/>
          </a:xfrm>
          <a:custGeom>
            <a:avLst/>
            <a:gdLst/>
            <a:ahLst/>
            <a:cxnLst/>
            <a:rect l="l" t="t" r="r" b="b"/>
            <a:pathLst>
              <a:path w="3371850" h="7620">
                <a:moveTo>
                  <a:pt x="0" y="0"/>
                </a:moveTo>
                <a:lnTo>
                  <a:pt x="3371850" y="0"/>
                </a:lnTo>
                <a:lnTo>
                  <a:pt x="33718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30196"/>
            </a:srgbClr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409361" y="3870964"/>
            <a:ext cx="3438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400 farms | ₹20 Cr GMV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10181" y="1531620"/>
            <a:ext cx="3691890" cy="2691765"/>
          </a:xfrm>
          <a:custGeom>
            <a:avLst/>
            <a:gdLst/>
            <a:ahLst/>
            <a:cxnLst/>
            <a:rect l="l" t="t" r="r" b="b"/>
            <a:pathLst>
              <a:path w="3691890" h="2691765">
                <a:moveTo>
                  <a:pt x="114292" y="0"/>
                </a:moveTo>
                <a:lnTo>
                  <a:pt x="3577598" y="0"/>
                </a:lnTo>
                <a:cubicBezTo>
                  <a:pt x="3640720" y="0"/>
                  <a:pt x="3691890" y="51170"/>
                  <a:pt x="3691890" y="114292"/>
                </a:cubicBezTo>
                <a:lnTo>
                  <a:pt x="3691890" y="2577473"/>
                </a:lnTo>
                <a:cubicBezTo>
                  <a:pt x="3691890" y="2640595"/>
                  <a:pt x="3640720" y="2691765"/>
                  <a:pt x="3577598" y="2691765"/>
                </a:cubicBezTo>
                <a:lnTo>
                  <a:pt x="114292" y="2691765"/>
                </a:lnTo>
                <a:cubicBezTo>
                  <a:pt x="51170" y="2691765"/>
                  <a:pt x="0" y="2640595"/>
                  <a:pt x="0" y="2577473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gradFill rotWithShape="1" flip="none">
            <a:gsLst>
              <a:gs pos="0">
                <a:srgbClr val="E9C46A">
                  <a:alpha val="30000"/>
                </a:srgbClr>
              </a:gs>
              <a:gs pos="100000">
                <a:srgbClr val="E9C46A">
                  <a:alpha val="10000"/>
                </a:srgbClr>
              </a:gs>
            </a:gsLst>
            <a:lin ang="2700000" scaled="1"/>
          </a:gradFill>
          <a:ln w="20320">
            <a:solidFill>
              <a:srgbClr val="E9C46A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8270200" y="169163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451532" y="1786886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2E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841700" y="1691636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6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841700" y="1958336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Years 5-6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270200" y="2263136"/>
            <a:ext cx="3438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Dominance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89250" y="256793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91652" y="72926"/>
                </a:moveTo>
                <a:lnTo>
                  <a:pt x="41932" y="72926"/>
                </a:lnTo>
                <a:cubicBezTo>
                  <a:pt x="42688" y="89725"/>
                  <a:pt x="46412" y="105195"/>
                  <a:pt x="51699" y="116525"/>
                </a:cubicBezTo>
                <a:cubicBezTo>
                  <a:pt x="54668" y="122906"/>
                  <a:pt x="57872" y="127412"/>
                  <a:pt x="60841" y="130173"/>
                </a:cubicBezTo>
                <a:cubicBezTo>
                  <a:pt x="63758" y="132907"/>
                  <a:pt x="65763" y="133350"/>
                  <a:pt x="66805" y="133350"/>
                </a:cubicBezTo>
                <a:cubicBezTo>
                  <a:pt x="67847" y="133350"/>
                  <a:pt x="69852" y="132907"/>
                  <a:pt x="72770" y="130173"/>
                </a:cubicBezTo>
                <a:cubicBezTo>
                  <a:pt x="75739" y="127412"/>
                  <a:pt x="78942" y="122880"/>
                  <a:pt x="81911" y="116525"/>
                </a:cubicBezTo>
                <a:cubicBezTo>
                  <a:pt x="87198" y="105195"/>
                  <a:pt x="90923" y="89725"/>
                  <a:pt x="91678" y="72926"/>
                </a:cubicBezTo>
                <a:close/>
                <a:moveTo>
                  <a:pt x="41906" y="60424"/>
                </a:moveTo>
                <a:lnTo>
                  <a:pt x="91626" y="60424"/>
                </a:lnTo>
                <a:cubicBezTo>
                  <a:pt x="90897" y="43625"/>
                  <a:pt x="87172" y="28155"/>
                  <a:pt x="81885" y="16825"/>
                </a:cubicBezTo>
                <a:cubicBezTo>
                  <a:pt x="78916" y="10470"/>
                  <a:pt x="75713" y="5938"/>
                  <a:pt x="72743" y="3177"/>
                </a:cubicBezTo>
                <a:cubicBezTo>
                  <a:pt x="69826" y="443"/>
                  <a:pt x="67821" y="0"/>
                  <a:pt x="66779" y="0"/>
                </a:cubicBezTo>
                <a:cubicBezTo>
                  <a:pt x="65737" y="0"/>
                  <a:pt x="63732" y="443"/>
                  <a:pt x="60815" y="3177"/>
                </a:cubicBezTo>
                <a:cubicBezTo>
                  <a:pt x="57846" y="5938"/>
                  <a:pt x="54642" y="10470"/>
                  <a:pt x="51673" y="16825"/>
                </a:cubicBezTo>
                <a:cubicBezTo>
                  <a:pt x="46386" y="28155"/>
                  <a:pt x="42662" y="43625"/>
                  <a:pt x="41906" y="60424"/>
                </a:cubicBezTo>
                <a:close/>
                <a:moveTo>
                  <a:pt x="29405" y="60424"/>
                </a:moveTo>
                <a:cubicBezTo>
                  <a:pt x="30316" y="38130"/>
                  <a:pt x="36072" y="17424"/>
                  <a:pt x="44485" y="3829"/>
                </a:cubicBezTo>
                <a:cubicBezTo>
                  <a:pt x="20497" y="12319"/>
                  <a:pt x="2839" y="34171"/>
                  <a:pt x="391" y="60424"/>
                </a:cubicBezTo>
                <a:lnTo>
                  <a:pt x="29405" y="60424"/>
                </a:lnTo>
                <a:close/>
                <a:moveTo>
                  <a:pt x="391" y="72926"/>
                </a:moveTo>
                <a:cubicBezTo>
                  <a:pt x="2839" y="99179"/>
                  <a:pt x="20497" y="121031"/>
                  <a:pt x="44485" y="129521"/>
                </a:cubicBezTo>
                <a:cubicBezTo>
                  <a:pt x="36072" y="115926"/>
                  <a:pt x="30316" y="95220"/>
                  <a:pt x="29405" y="72926"/>
                </a:cubicBezTo>
                <a:lnTo>
                  <a:pt x="391" y="72926"/>
                </a:lnTo>
                <a:close/>
                <a:moveTo>
                  <a:pt x="104154" y="72926"/>
                </a:moveTo>
                <a:cubicBezTo>
                  <a:pt x="103242" y="95220"/>
                  <a:pt x="97486" y="115926"/>
                  <a:pt x="89074" y="129521"/>
                </a:cubicBezTo>
                <a:cubicBezTo>
                  <a:pt x="113061" y="121005"/>
                  <a:pt x="130719" y="99179"/>
                  <a:pt x="133168" y="72926"/>
                </a:cubicBezTo>
                <a:lnTo>
                  <a:pt x="104154" y="72926"/>
                </a:lnTo>
                <a:close/>
                <a:moveTo>
                  <a:pt x="133168" y="60424"/>
                </a:moveTo>
                <a:cubicBezTo>
                  <a:pt x="130719" y="34171"/>
                  <a:pt x="113061" y="12319"/>
                  <a:pt x="89074" y="3829"/>
                </a:cubicBezTo>
                <a:cubicBezTo>
                  <a:pt x="97486" y="17424"/>
                  <a:pt x="103242" y="38130"/>
                  <a:pt x="104154" y="60424"/>
                </a:cubicBezTo>
                <a:lnTo>
                  <a:pt x="133168" y="60424"/>
                </a:ln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8513088" y="2529836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Export certification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289250" y="279653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91652" y="72926"/>
                </a:moveTo>
                <a:lnTo>
                  <a:pt x="41932" y="72926"/>
                </a:lnTo>
                <a:cubicBezTo>
                  <a:pt x="42688" y="89725"/>
                  <a:pt x="46412" y="105195"/>
                  <a:pt x="51699" y="116525"/>
                </a:cubicBezTo>
                <a:cubicBezTo>
                  <a:pt x="54668" y="122906"/>
                  <a:pt x="57872" y="127412"/>
                  <a:pt x="60841" y="130173"/>
                </a:cubicBezTo>
                <a:cubicBezTo>
                  <a:pt x="63758" y="132907"/>
                  <a:pt x="65763" y="133350"/>
                  <a:pt x="66805" y="133350"/>
                </a:cubicBezTo>
                <a:cubicBezTo>
                  <a:pt x="67847" y="133350"/>
                  <a:pt x="69852" y="132907"/>
                  <a:pt x="72770" y="130173"/>
                </a:cubicBezTo>
                <a:cubicBezTo>
                  <a:pt x="75739" y="127412"/>
                  <a:pt x="78942" y="122880"/>
                  <a:pt x="81911" y="116525"/>
                </a:cubicBezTo>
                <a:cubicBezTo>
                  <a:pt x="87198" y="105195"/>
                  <a:pt x="90923" y="89725"/>
                  <a:pt x="91678" y="72926"/>
                </a:cubicBezTo>
                <a:close/>
                <a:moveTo>
                  <a:pt x="41906" y="60424"/>
                </a:moveTo>
                <a:lnTo>
                  <a:pt x="91626" y="60424"/>
                </a:lnTo>
                <a:cubicBezTo>
                  <a:pt x="90897" y="43625"/>
                  <a:pt x="87172" y="28155"/>
                  <a:pt x="81885" y="16825"/>
                </a:cubicBezTo>
                <a:cubicBezTo>
                  <a:pt x="78916" y="10470"/>
                  <a:pt x="75713" y="5938"/>
                  <a:pt x="72743" y="3177"/>
                </a:cubicBezTo>
                <a:cubicBezTo>
                  <a:pt x="69826" y="443"/>
                  <a:pt x="67821" y="0"/>
                  <a:pt x="66779" y="0"/>
                </a:cubicBezTo>
                <a:cubicBezTo>
                  <a:pt x="65737" y="0"/>
                  <a:pt x="63732" y="443"/>
                  <a:pt x="60815" y="3177"/>
                </a:cubicBezTo>
                <a:cubicBezTo>
                  <a:pt x="57846" y="5938"/>
                  <a:pt x="54642" y="10470"/>
                  <a:pt x="51673" y="16825"/>
                </a:cubicBezTo>
                <a:cubicBezTo>
                  <a:pt x="46386" y="28155"/>
                  <a:pt x="42662" y="43625"/>
                  <a:pt x="41906" y="60424"/>
                </a:cubicBezTo>
                <a:close/>
                <a:moveTo>
                  <a:pt x="29405" y="60424"/>
                </a:moveTo>
                <a:cubicBezTo>
                  <a:pt x="30316" y="38130"/>
                  <a:pt x="36072" y="17424"/>
                  <a:pt x="44485" y="3829"/>
                </a:cubicBezTo>
                <a:cubicBezTo>
                  <a:pt x="20497" y="12319"/>
                  <a:pt x="2839" y="34171"/>
                  <a:pt x="391" y="60424"/>
                </a:cubicBezTo>
                <a:lnTo>
                  <a:pt x="29405" y="60424"/>
                </a:lnTo>
                <a:close/>
                <a:moveTo>
                  <a:pt x="391" y="72926"/>
                </a:moveTo>
                <a:cubicBezTo>
                  <a:pt x="2839" y="99179"/>
                  <a:pt x="20497" y="121031"/>
                  <a:pt x="44485" y="129521"/>
                </a:cubicBezTo>
                <a:cubicBezTo>
                  <a:pt x="36072" y="115926"/>
                  <a:pt x="30316" y="95220"/>
                  <a:pt x="29405" y="72926"/>
                </a:cubicBezTo>
                <a:lnTo>
                  <a:pt x="391" y="72926"/>
                </a:lnTo>
                <a:close/>
                <a:moveTo>
                  <a:pt x="104154" y="72926"/>
                </a:moveTo>
                <a:cubicBezTo>
                  <a:pt x="103242" y="95220"/>
                  <a:pt x="97486" y="115926"/>
                  <a:pt x="89074" y="129521"/>
                </a:cubicBezTo>
                <a:cubicBezTo>
                  <a:pt x="113061" y="121005"/>
                  <a:pt x="130719" y="99179"/>
                  <a:pt x="133168" y="72926"/>
                </a:cubicBezTo>
                <a:lnTo>
                  <a:pt x="104154" y="72926"/>
                </a:lnTo>
                <a:close/>
                <a:moveTo>
                  <a:pt x="133168" y="60424"/>
                </a:moveTo>
                <a:cubicBezTo>
                  <a:pt x="130719" y="34171"/>
                  <a:pt x="113061" y="12319"/>
                  <a:pt x="89074" y="3829"/>
                </a:cubicBezTo>
                <a:cubicBezTo>
                  <a:pt x="97486" y="17424"/>
                  <a:pt x="103242" y="38130"/>
                  <a:pt x="104154" y="60424"/>
                </a:cubicBezTo>
                <a:lnTo>
                  <a:pt x="133168" y="60424"/>
                </a:ln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8513088" y="2758436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partnerships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89250" y="302513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91652" y="72926"/>
                </a:moveTo>
                <a:lnTo>
                  <a:pt x="41932" y="72926"/>
                </a:lnTo>
                <a:cubicBezTo>
                  <a:pt x="42688" y="89725"/>
                  <a:pt x="46412" y="105195"/>
                  <a:pt x="51699" y="116525"/>
                </a:cubicBezTo>
                <a:cubicBezTo>
                  <a:pt x="54668" y="122906"/>
                  <a:pt x="57872" y="127412"/>
                  <a:pt x="60841" y="130173"/>
                </a:cubicBezTo>
                <a:cubicBezTo>
                  <a:pt x="63758" y="132907"/>
                  <a:pt x="65763" y="133350"/>
                  <a:pt x="66805" y="133350"/>
                </a:cubicBezTo>
                <a:cubicBezTo>
                  <a:pt x="67847" y="133350"/>
                  <a:pt x="69852" y="132907"/>
                  <a:pt x="72770" y="130173"/>
                </a:cubicBezTo>
                <a:cubicBezTo>
                  <a:pt x="75739" y="127412"/>
                  <a:pt x="78942" y="122880"/>
                  <a:pt x="81911" y="116525"/>
                </a:cubicBezTo>
                <a:cubicBezTo>
                  <a:pt x="87198" y="105195"/>
                  <a:pt x="90923" y="89725"/>
                  <a:pt x="91678" y="72926"/>
                </a:cubicBezTo>
                <a:close/>
                <a:moveTo>
                  <a:pt x="41906" y="60424"/>
                </a:moveTo>
                <a:lnTo>
                  <a:pt x="91626" y="60424"/>
                </a:lnTo>
                <a:cubicBezTo>
                  <a:pt x="90897" y="43625"/>
                  <a:pt x="87172" y="28155"/>
                  <a:pt x="81885" y="16825"/>
                </a:cubicBezTo>
                <a:cubicBezTo>
                  <a:pt x="78916" y="10470"/>
                  <a:pt x="75713" y="5938"/>
                  <a:pt x="72743" y="3177"/>
                </a:cubicBezTo>
                <a:cubicBezTo>
                  <a:pt x="69826" y="443"/>
                  <a:pt x="67821" y="0"/>
                  <a:pt x="66779" y="0"/>
                </a:cubicBezTo>
                <a:cubicBezTo>
                  <a:pt x="65737" y="0"/>
                  <a:pt x="63732" y="443"/>
                  <a:pt x="60815" y="3177"/>
                </a:cubicBezTo>
                <a:cubicBezTo>
                  <a:pt x="57846" y="5938"/>
                  <a:pt x="54642" y="10470"/>
                  <a:pt x="51673" y="16825"/>
                </a:cubicBezTo>
                <a:cubicBezTo>
                  <a:pt x="46386" y="28155"/>
                  <a:pt x="42662" y="43625"/>
                  <a:pt x="41906" y="60424"/>
                </a:cubicBezTo>
                <a:close/>
                <a:moveTo>
                  <a:pt x="29405" y="60424"/>
                </a:moveTo>
                <a:cubicBezTo>
                  <a:pt x="30316" y="38130"/>
                  <a:pt x="36072" y="17424"/>
                  <a:pt x="44485" y="3829"/>
                </a:cubicBezTo>
                <a:cubicBezTo>
                  <a:pt x="20497" y="12319"/>
                  <a:pt x="2839" y="34171"/>
                  <a:pt x="391" y="60424"/>
                </a:cubicBezTo>
                <a:lnTo>
                  <a:pt x="29405" y="60424"/>
                </a:lnTo>
                <a:close/>
                <a:moveTo>
                  <a:pt x="391" y="72926"/>
                </a:moveTo>
                <a:cubicBezTo>
                  <a:pt x="2839" y="99179"/>
                  <a:pt x="20497" y="121031"/>
                  <a:pt x="44485" y="129521"/>
                </a:cubicBezTo>
                <a:cubicBezTo>
                  <a:pt x="36072" y="115926"/>
                  <a:pt x="30316" y="95220"/>
                  <a:pt x="29405" y="72926"/>
                </a:cubicBezTo>
                <a:lnTo>
                  <a:pt x="391" y="72926"/>
                </a:lnTo>
                <a:close/>
                <a:moveTo>
                  <a:pt x="104154" y="72926"/>
                </a:moveTo>
                <a:cubicBezTo>
                  <a:pt x="103242" y="95220"/>
                  <a:pt x="97486" y="115926"/>
                  <a:pt x="89074" y="129521"/>
                </a:cubicBezTo>
                <a:cubicBezTo>
                  <a:pt x="113061" y="121005"/>
                  <a:pt x="130719" y="99179"/>
                  <a:pt x="133168" y="72926"/>
                </a:cubicBezTo>
                <a:lnTo>
                  <a:pt x="104154" y="72926"/>
                </a:lnTo>
                <a:close/>
                <a:moveTo>
                  <a:pt x="133168" y="60424"/>
                </a:moveTo>
                <a:cubicBezTo>
                  <a:pt x="130719" y="34171"/>
                  <a:pt x="113061" y="12319"/>
                  <a:pt x="89074" y="3829"/>
                </a:cubicBezTo>
                <a:cubicBezTo>
                  <a:pt x="97486" y="17424"/>
                  <a:pt x="103242" y="38130"/>
                  <a:pt x="104154" y="60424"/>
                </a:cubicBezTo>
                <a:lnTo>
                  <a:pt x="133168" y="60424"/>
                </a:ln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8513088" y="2987036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manufacturing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89250" y="325373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91652" y="72926"/>
                </a:moveTo>
                <a:lnTo>
                  <a:pt x="41932" y="72926"/>
                </a:lnTo>
                <a:cubicBezTo>
                  <a:pt x="42688" y="89725"/>
                  <a:pt x="46412" y="105195"/>
                  <a:pt x="51699" y="116525"/>
                </a:cubicBezTo>
                <a:cubicBezTo>
                  <a:pt x="54668" y="122906"/>
                  <a:pt x="57872" y="127412"/>
                  <a:pt x="60841" y="130173"/>
                </a:cubicBezTo>
                <a:cubicBezTo>
                  <a:pt x="63758" y="132907"/>
                  <a:pt x="65763" y="133350"/>
                  <a:pt x="66805" y="133350"/>
                </a:cubicBezTo>
                <a:cubicBezTo>
                  <a:pt x="67847" y="133350"/>
                  <a:pt x="69852" y="132907"/>
                  <a:pt x="72770" y="130173"/>
                </a:cubicBezTo>
                <a:cubicBezTo>
                  <a:pt x="75739" y="127412"/>
                  <a:pt x="78942" y="122880"/>
                  <a:pt x="81911" y="116525"/>
                </a:cubicBezTo>
                <a:cubicBezTo>
                  <a:pt x="87198" y="105195"/>
                  <a:pt x="90923" y="89725"/>
                  <a:pt x="91678" y="72926"/>
                </a:cubicBezTo>
                <a:close/>
                <a:moveTo>
                  <a:pt x="41906" y="60424"/>
                </a:moveTo>
                <a:lnTo>
                  <a:pt x="91626" y="60424"/>
                </a:lnTo>
                <a:cubicBezTo>
                  <a:pt x="90897" y="43625"/>
                  <a:pt x="87172" y="28155"/>
                  <a:pt x="81885" y="16825"/>
                </a:cubicBezTo>
                <a:cubicBezTo>
                  <a:pt x="78916" y="10470"/>
                  <a:pt x="75713" y="5938"/>
                  <a:pt x="72743" y="3177"/>
                </a:cubicBezTo>
                <a:cubicBezTo>
                  <a:pt x="69826" y="443"/>
                  <a:pt x="67821" y="0"/>
                  <a:pt x="66779" y="0"/>
                </a:cubicBezTo>
                <a:cubicBezTo>
                  <a:pt x="65737" y="0"/>
                  <a:pt x="63732" y="443"/>
                  <a:pt x="60815" y="3177"/>
                </a:cubicBezTo>
                <a:cubicBezTo>
                  <a:pt x="57846" y="5938"/>
                  <a:pt x="54642" y="10470"/>
                  <a:pt x="51673" y="16825"/>
                </a:cubicBezTo>
                <a:cubicBezTo>
                  <a:pt x="46386" y="28155"/>
                  <a:pt x="42662" y="43625"/>
                  <a:pt x="41906" y="60424"/>
                </a:cubicBezTo>
                <a:close/>
                <a:moveTo>
                  <a:pt x="29405" y="60424"/>
                </a:moveTo>
                <a:cubicBezTo>
                  <a:pt x="30316" y="38130"/>
                  <a:pt x="36072" y="17424"/>
                  <a:pt x="44485" y="3829"/>
                </a:cubicBezTo>
                <a:cubicBezTo>
                  <a:pt x="20497" y="12319"/>
                  <a:pt x="2839" y="34171"/>
                  <a:pt x="391" y="60424"/>
                </a:cubicBezTo>
                <a:lnTo>
                  <a:pt x="29405" y="60424"/>
                </a:lnTo>
                <a:close/>
                <a:moveTo>
                  <a:pt x="391" y="72926"/>
                </a:moveTo>
                <a:cubicBezTo>
                  <a:pt x="2839" y="99179"/>
                  <a:pt x="20497" y="121031"/>
                  <a:pt x="44485" y="129521"/>
                </a:cubicBezTo>
                <a:cubicBezTo>
                  <a:pt x="36072" y="115926"/>
                  <a:pt x="30316" y="95220"/>
                  <a:pt x="29405" y="72926"/>
                </a:cubicBezTo>
                <a:lnTo>
                  <a:pt x="391" y="72926"/>
                </a:lnTo>
                <a:close/>
                <a:moveTo>
                  <a:pt x="104154" y="72926"/>
                </a:moveTo>
                <a:cubicBezTo>
                  <a:pt x="103242" y="95220"/>
                  <a:pt x="97486" y="115926"/>
                  <a:pt x="89074" y="129521"/>
                </a:cubicBezTo>
                <a:cubicBezTo>
                  <a:pt x="113061" y="121005"/>
                  <a:pt x="130719" y="99179"/>
                  <a:pt x="133168" y="72926"/>
                </a:cubicBezTo>
                <a:lnTo>
                  <a:pt x="104154" y="72926"/>
                </a:lnTo>
                <a:close/>
                <a:moveTo>
                  <a:pt x="133168" y="60424"/>
                </a:moveTo>
                <a:cubicBezTo>
                  <a:pt x="130719" y="34171"/>
                  <a:pt x="113061" y="12319"/>
                  <a:pt x="89074" y="3829"/>
                </a:cubicBezTo>
                <a:cubicBezTo>
                  <a:pt x="97486" y="17424"/>
                  <a:pt x="103242" y="38130"/>
                  <a:pt x="104154" y="60424"/>
                </a:cubicBezTo>
                <a:lnTo>
                  <a:pt x="133168" y="60424"/>
                </a:ln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8513088" y="3215636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International expansion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289250" y="348233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91652" y="72926"/>
                </a:moveTo>
                <a:lnTo>
                  <a:pt x="41932" y="72926"/>
                </a:lnTo>
                <a:cubicBezTo>
                  <a:pt x="42688" y="89725"/>
                  <a:pt x="46412" y="105195"/>
                  <a:pt x="51699" y="116525"/>
                </a:cubicBezTo>
                <a:cubicBezTo>
                  <a:pt x="54668" y="122906"/>
                  <a:pt x="57872" y="127412"/>
                  <a:pt x="60841" y="130173"/>
                </a:cubicBezTo>
                <a:cubicBezTo>
                  <a:pt x="63758" y="132907"/>
                  <a:pt x="65763" y="133350"/>
                  <a:pt x="66805" y="133350"/>
                </a:cubicBezTo>
                <a:cubicBezTo>
                  <a:pt x="67847" y="133350"/>
                  <a:pt x="69852" y="132907"/>
                  <a:pt x="72770" y="130173"/>
                </a:cubicBezTo>
                <a:cubicBezTo>
                  <a:pt x="75739" y="127412"/>
                  <a:pt x="78942" y="122880"/>
                  <a:pt x="81911" y="116525"/>
                </a:cubicBezTo>
                <a:cubicBezTo>
                  <a:pt x="87198" y="105195"/>
                  <a:pt x="90923" y="89725"/>
                  <a:pt x="91678" y="72926"/>
                </a:cubicBezTo>
                <a:close/>
                <a:moveTo>
                  <a:pt x="41906" y="60424"/>
                </a:moveTo>
                <a:lnTo>
                  <a:pt x="91626" y="60424"/>
                </a:lnTo>
                <a:cubicBezTo>
                  <a:pt x="90897" y="43625"/>
                  <a:pt x="87172" y="28155"/>
                  <a:pt x="81885" y="16825"/>
                </a:cubicBezTo>
                <a:cubicBezTo>
                  <a:pt x="78916" y="10470"/>
                  <a:pt x="75713" y="5938"/>
                  <a:pt x="72743" y="3177"/>
                </a:cubicBezTo>
                <a:cubicBezTo>
                  <a:pt x="69826" y="443"/>
                  <a:pt x="67821" y="0"/>
                  <a:pt x="66779" y="0"/>
                </a:cubicBezTo>
                <a:cubicBezTo>
                  <a:pt x="65737" y="0"/>
                  <a:pt x="63732" y="443"/>
                  <a:pt x="60815" y="3177"/>
                </a:cubicBezTo>
                <a:cubicBezTo>
                  <a:pt x="57846" y="5938"/>
                  <a:pt x="54642" y="10470"/>
                  <a:pt x="51673" y="16825"/>
                </a:cubicBezTo>
                <a:cubicBezTo>
                  <a:pt x="46386" y="28155"/>
                  <a:pt x="42662" y="43625"/>
                  <a:pt x="41906" y="60424"/>
                </a:cubicBezTo>
                <a:close/>
                <a:moveTo>
                  <a:pt x="29405" y="60424"/>
                </a:moveTo>
                <a:cubicBezTo>
                  <a:pt x="30316" y="38130"/>
                  <a:pt x="36072" y="17424"/>
                  <a:pt x="44485" y="3829"/>
                </a:cubicBezTo>
                <a:cubicBezTo>
                  <a:pt x="20497" y="12319"/>
                  <a:pt x="2839" y="34171"/>
                  <a:pt x="391" y="60424"/>
                </a:cubicBezTo>
                <a:lnTo>
                  <a:pt x="29405" y="60424"/>
                </a:lnTo>
                <a:close/>
                <a:moveTo>
                  <a:pt x="391" y="72926"/>
                </a:moveTo>
                <a:cubicBezTo>
                  <a:pt x="2839" y="99179"/>
                  <a:pt x="20497" y="121031"/>
                  <a:pt x="44485" y="129521"/>
                </a:cubicBezTo>
                <a:cubicBezTo>
                  <a:pt x="36072" y="115926"/>
                  <a:pt x="30316" y="95220"/>
                  <a:pt x="29405" y="72926"/>
                </a:cubicBezTo>
                <a:lnTo>
                  <a:pt x="391" y="72926"/>
                </a:lnTo>
                <a:close/>
                <a:moveTo>
                  <a:pt x="104154" y="72926"/>
                </a:moveTo>
                <a:cubicBezTo>
                  <a:pt x="103242" y="95220"/>
                  <a:pt x="97486" y="115926"/>
                  <a:pt x="89074" y="129521"/>
                </a:cubicBezTo>
                <a:cubicBezTo>
                  <a:pt x="113061" y="121005"/>
                  <a:pt x="130719" y="99179"/>
                  <a:pt x="133168" y="72926"/>
                </a:cubicBezTo>
                <a:lnTo>
                  <a:pt x="104154" y="72926"/>
                </a:lnTo>
                <a:close/>
                <a:moveTo>
                  <a:pt x="133168" y="60424"/>
                </a:moveTo>
                <a:cubicBezTo>
                  <a:pt x="130719" y="34171"/>
                  <a:pt x="113061" y="12319"/>
                  <a:pt x="89074" y="3829"/>
                </a:cubicBezTo>
                <a:cubicBezTo>
                  <a:pt x="97486" y="17424"/>
                  <a:pt x="103242" y="38130"/>
                  <a:pt x="104154" y="60424"/>
                </a:cubicBezTo>
                <a:lnTo>
                  <a:pt x="133168" y="60424"/>
                </a:ln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8513088" y="3444236"/>
            <a:ext cx="96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Policy influence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270200" y="3752846"/>
            <a:ext cx="3371850" cy="7620"/>
          </a:xfrm>
          <a:custGeom>
            <a:avLst/>
            <a:gdLst/>
            <a:ahLst/>
            <a:cxnLst/>
            <a:rect l="l" t="t" r="r" b="b"/>
            <a:pathLst>
              <a:path w="3371850" h="7620">
                <a:moveTo>
                  <a:pt x="0" y="0"/>
                </a:moveTo>
                <a:lnTo>
                  <a:pt x="3371850" y="0"/>
                </a:lnTo>
                <a:lnTo>
                  <a:pt x="33718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9C46A">
              <a:alpha val="30196"/>
            </a:srgbClr>
          </a:solidFill>
          <a:ln/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8270200" y="3870964"/>
            <a:ext cx="3438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600 farms | ₹200 Cr GMV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84810" y="4385310"/>
            <a:ext cx="11418570" cy="1569720"/>
          </a:xfrm>
          <a:custGeom>
            <a:avLst/>
            <a:gdLst/>
            <a:ahLst/>
            <a:cxnLst/>
            <a:rect l="l" t="t" r="r" b="b"/>
            <a:pathLst>
              <a:path w="11418570" h="1569720">
                <a:moveTo>
                  <a:pt x="114307" y="0"/>
                </a:moveTo>
                <a:lnTo>
                  <a:pt x="11304263" y="0"/>
                </a:lnTo>
                <a:cubicBezTo>
                  <a:pt x="11367393" y="0"/>
                  <a:pt x="11418570" y="51177"/>
                  <a:pt x="11418570" y="114307"/>
                </a:cubicBezTo>
                <a:lnTo>
                  <a:pt x="11418570" y="1455413"/>
                </a:lnTo>
                <a:cubicBezTo>
                  <a:pt x="11418570" y="1518543"/>
                  <a:pt x="11367393" y="1569720"/>
                  <a:pt x="11304263" y="1569720"/>
                </a:cubicBezTo>
                <a:lnTo>
                  <a:pt x="114307" y="1569720"/>
                </a:lnTo>
                <a:cubicBezTo>
                  <a:pt x="51219" y="1569720"/>
                  <a:pt x="0" y="1518501"/>
                  <a:pt x="0" y="145541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541020" y="4541527"/>
            <a:ext cx="11172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INTERNATIONAL EXPANSION TARGETS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620203" y="484632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1803559" y="5017777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23812" y="5321"/>
                  <a:pt x="18492" y="0"/>
                  <a:pt x="11906" y="0"/>
                </a:cubicBezTo>
                <a:cubicBezTo>
                  <a:pt x="5321" y="0"/>
                  <a:pt x="0" y="5321"/>
                  <a:pt x="0" y="11906"/>
                </a:cubicBezTo>
                <a:lnTo>
                  <a:pt x="0" y="178594"/>
                </a:lnTo>
                <a:cubicBezTo>
                  <a:pt x="0" y="185179"/>
                  <a:pt x="5321" y="190500"/>
                  <a:pt x="11906" y="190500"/>
                </a:cubicBezTo>
                <a:cubicBezTo>
                  <a:pt x="18492" y="190500"/>
                  <a:pt x="23812" y="185179"/>
                  <a:pt x="23812" y="178594"/>
                </a:cubicBezTo>
                <a:lnTo>
                  <a:pt x="23812" y="133350"/>
                </a:lnTo>
                <a:lnTo>
                  <a:pt x="47141" y="126355"/>
                </a:lnTo>
                <a:cubicBezTo>
                  <a:pt x="62731" y="121667"/>
                  <a:pt x="79549" y="123118"/>
                  <a:pt x="94097" y="130411"/>
                </a:cubicBezTo>
                <a:cubicBezTo>
                  <a:pt x="109984" y="138373"/>
                  <a:pt x="128513" y="139340"/>
                  <a:pt x="145145" y="133090"/>
                </a:cubicBezTo>
                <a:lnTo>
                  <a:pt x="158948" y="127918"/>
                </a:lnTo>
                <a:cubicBezTo>
                  <a:pt x="163599" y="126169"/>
                  <a:pt x="166688" y="121741"/>
                  <a:pt x="166688" y="116756"/>
                </a:cubicBezTo>
                <a:lnTo>
                  <a:pt x="166688" y="24594"/>
                </a:lnTo>
                <a:cubicBezTo>
                  <a:pt x="166688" y="16036"/>
                  <a:pt x="157683" y="10455"/>
                  <a:pt x="150019" y="14287"/>
                </a:cubicBezTo>
                <a:lnTo>
                  <a:pt x="145628" y="16483"/>
                </a:lnTo>
                <a:cubicBezTo>
                  <a:pt x="128922" y="24854"/>
                  <a:pt x="109240" y="24854"/>
                  <a:pt x="92497" y="16483"/>
                </a:cubicBezTo>
                <a:cubicBezTo>
                  <a:pt x="78953" y="9711"/>
                  <a:pt x="63364" y="8372"/>
                  <a:pt x="48890" y="12725"/>
                </a:cubicBezTo>
                <a:lnTo>
                  <a:pt x="23812" y="20241"/>
                </a:lnTo>
                <a:lnTo>
                  <a:pt x="23812" y="11906"/>
                </a:lnTo>
                <a:close/>
              </a:path>
            </a:pathLst>
          </a:custGeom>
          <a:solidFill>
            <a:srgbClr val="F5F1E8"/>
          </a:solidFill>
          <a:ln/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507682" y="5455927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Bangladesh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512445" y="5646427"/>
            <a:ext cx="2752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Similar climate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426268" y="484632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4609624" y="5017777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23812" y="5321"/>
                  <a:pt x="18492" y="0"/>
                  <a:pt x="11906" y="0"/>
                </a:cubicBezTo>
                <a:cubicBezTo>
                  <a:pt x="5321" y="0"/>
                  <a:pt x="0" y="5321"/>
                  <a:pt x="0" y="11906"/>
                </a:cubicBezTo>
                <a:lnTo>
                  <a:pt x="0" y="178594"/>
                </a:lnTo>
                <a:cubicBezTo>
                  <a:pt x="0" y="185179"/>
                  <a:pt x="5321" y="190500"/>
                  <a:pt x="11906" y="190500"/>
                </a:cubicBezTo>
                <a:cubicBezTo>
                  <a:pt x="18492" y="190500"/>
                  <a:pt x="23812" y="185179"/>
                  <a:pt x="23812" y="178594"/>
                </a:cubicBezTo>
                <a:lnTo>
                  <a:pt x="23812" y="133350"/>
                </a:lnTo>
                <a:lnTo>
                  <a:pt x="47141" y="126355"/>
                </a:lnTo>
                <a:cubicBezTo>
                  <a:pt x="62731" y="121667"/>
                  <a:pt x="79549" y="123118"/>
                  <a:pt x="94097" y="130411"/>
                </a:cubicBezTo>
                <a:cubicBezTo>
                  <a:pt x="109984" y="138373"/>
                  <a:pt x="128513" y="139340"/>
                  <a:pt x="145145" y="133090"/>
                </a:cubicBezTo>
                <a:lnTo>
                  <a:pt x="158948" y="127918"/>
                </a:lnTo>
                <a:cubicBezTo>
                  <a:pt x="163599" y="126169"/>
                  <a:pt x="166688" y="121741"/>
                  <a:pt x="166688" y="116756"/>
                </a:cubicBezTo>
                <a:lnTo>
                  <a:pt x="166688" y="24594"/>
                </a:lnTo>
                <a:cubicBezTo>
                  <a:pt x="166688" y="16036"/>
                  <a:pt x="157683" y="10455"/>
                  <a:pt x="150019" y="14287"/>
                </a:cubicBezTo>
                <a:lnTo>
                  <a:pt x="145628" y="16483"/>
                </a:lnTo>
                <a:cubicBezTo>
                  <a:pt x="128922" y="24854"/>
                  <a:pt x="109240" y="24854"/>
                  <a:pt x="92497" y="16483"/>
                </a:cubicBezTo>
                <a:cubicBezTo>
                  <a:pt x="78953" y="9711"/>
                  <a:pt x="63364" y="8372"/>
                  <a:pt x="48890" y="12725"/>
                </a:cubicBezTo>
                <a:lnTo>
                  <a:pt x="23812" y="20241"/>
                </a:lnTo>
                <a:lnTo>
                  <a:pt x="23812" y="11906"/>
                </a:ln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3313747" y="5455927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Nepal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3318510" y="5646427"/>
            <a:ext cx="2752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Himalayan region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7232332" y="484632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7415689" y="5017777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23812" y="5321"/>
                  <a:pt x="18492" y="0"/>
                  <a:pt x="11906" y="0"/>
                </a:cubicBezTo>
                <a:cubicBezTo>
                  <a:pt x="5321" y="0"/>
                  <a:pt x="0" y="5321"/>
                  <a:pt x="0" y="11906"/>
                </a:cubicBezTo>
                <a:lnTo>
                  <a:pt x="0" y="178594"/>
                </a:lnTo>
                <a:cubicBezTo>
                  <a:pt x="0" y="185179"/>
                  <a:pt x="5321" y="190500"/>
                  <a:pt x="11906" y="190500"/>
                </a:cubicBezTo>
                <a:cubicBezTo>
                  <a:pt x="18492" y="190500"/>
                  <a:pt x="23812" y="185179"/>
                  <a:pt x="23812" y="178594"/>
                </a:cubicBezTo>
                <a:lnTo>
                  <a:pt x="23812" y="133350"/>
                </a:lnTo>
                <a:lnTo>
                  <a:pt x="47141" y="126355"/>
                </a:lnTo>
                <a:cubicBezTo>
                  <a:pt x="62731" y="121667"/>
                  <a:pt x="79549" y="123118"/>
                  <a:pt x="94097" y="130411"/>
                </a:cubicBezTo>
                <a:cubicBezTo>
                  <a:pt x="109984" y="138373"/>
                  <a:pt x="128513" y="139340"/>
                  <a:pt x="145145" y="133090"/>
                </a:cubicBezTo>
                <a:lnTo>
                  <a:pt x="158948" y="127918"/>
                </a:lnTo>
                <a:cubicBezTo>
                  <a:pt x="163599" y="126169"/>
                  <a:pt x="166688" y="121741"/>
                  <a:pt x="166688" y="116756"/>
                </a:cubicBezTo>
                <a:lnTo>
                  <a:pt x="166688" y="24594"/>
                </a:lnTo>
                <a:cubicBezTo>
                  <a:pt x="166688" y="16036"/>
                  <a:pt x="157683" y="10455"/>
                  <a:pt x="150019" y="14287"/>
                </a:cubicBezTo>
                <a:lnTo>
                  <a:pt x="145628" y="16483"/>
                </a:lnTo>
                <a:cubicBezTo>
                  <a:pt x="128922" y="24854"/>
                  <a:pt x="109240" y="24854"/>
                  <a:pt x="92497" y="16483"/>
                </a:cubicBezTo>
                <a:cubicBezTo>
                  <a:pt x="78953" y="9711"/>
                  <a:pt x="63364" y="8372"/>
                  <a:pt x="48890" y="12725"/>
                </a:cubicBezTo>
                <a:lnTo>
                  <a:pt x="23812" y="20241"/>
                </a:lnTo>
                <a:lnTo>
                  <a:pt x="23812" y="11906"/>
                </a:ln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6119813" y="5455927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Sri Lanka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124575" y="5646427"/>
            <a:ext cx="2752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South Asian market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10038398" y="484632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9C46A">
              <a:alpha val="80000"/>
            </a:srgbClr>
          </a:solidFill>
          <a:ln/>
        </p:spPr>
        <p:txBody>
          <a:bodyPr/>
          <a:p/>
        </p:txBody>
      </p:sp>
      <p:sp>
        <p:nvSpPr>
          <p:cNvPr id="74" name="Shape 72"/>
          <p:cNvSpPr/>
          <p:nvPr/>
        </p:nvSpPr>
        <p:spPr>
          <a:xfrm>
            <a:off x="10221754" y="5017777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95250"/>
                </a:moveTo>
                <a:cubicBezTo>
                  <a:pt x="0" y="83750"/>
                  <a:pt x="9336" y="74414"/>
                  <a:pt x="20836" y="74414"/>
                </a:cubicBezTo>
                <a:cubicBezTo>
                  <a:pt x="32336" y="74414"/>
                  <a:pt x="41672" y="83750"/>
                  <a:pt x="41672" y="95250"/>
                </a:cubicBezTo>
                <a:cubicBezTo>
                  <a:pt x="41672" y="106750"/>
                  <a:pt x="32336" y="116086"/>
                  <a:pt x="20836" y="116086"/>
                </a:cubicBezTo>
                <a:cubicBezTo>
                  <a:pt x="9336" y="116086"/>
                  <a:pt x="0" y="106750"/>
                  <a:pt x="0" y="95250"/>
                </a:cubicBezTo>
                <a:close/>
                <a:moveTo>
                  <a:pt x="62508" y="95250"/>
                </a:moveTo>
                <a:cubicBezTo>
                  <a:pt x="62508" y="83750"/>
                  <a:pt x="71844" y="74414"/>
                  <a:pt x="83344" y="74414"/>
                </a:cubicBezTo>
                <a:cubicBezTo>
                  <a:pt x="94843" y="74414"/>
                  <a:pt x="104180" y="83750"/>
                  <a:pt x="104180" y="95250"/>
                </a:cubicBezTo>
                <a:cubicBezTo>
                  <a:pt x="104180" y="106750"/>
                  <a:pt x="94843" y="116086"/>
                  <a:pt x="83344" y="116086"/>
                </a:cubicBezTo>
                <a:cubicBezTo>
                  <a:pt x="71844" y="116086"/>
                  <a:pt x="62508" y="106750"/>
                  <a:pt x="62508" y="95250"/>
                </a:cubicBezTo>
                <a:close/>
                <a:moveTo>
                  <a:pt x="145852" y="74414"/>
                </a:moveTo>
                <a:cubicBezTo>
                  <a:pt x="157351" y="74414"/>
                  <a:pt x="166688" y="83750"/>
                  <a:pt x="166688" y="95250"/>
                </a:cubicBezTo>
                <a:cubicBezTo>
                  <a:pt x="166688" y="106750"/>
                  <a:pt x="157351" y="116086"/>
                  <a:pt x="145852" y="116086"/>
                </a:cubicBezTo>
                <a:cubicBezTo>
                  <a:pt x="134352" y="116086"/>
                  <a:pt x="125016" y="106750"/>
                  <a:pt x="125016" y="95250"/>
                </a:cubicBezTo>
                <a:cubicBezTo>
                  <a:pt x="125016" y="83750"/>
                  <a:pt x="134352" y="74414"/>
                  <a:pt x="145852" y="74414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8925878" y="5455927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8930640" y="5646427"/>
            <a:ext cx="2752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SEA, Africa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754" y="377754"/>
            <a:ext cx="11502600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spc="104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ARTIFICIAL INTELLIGENCE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7754" y="642181"/>
            <a:ext cx="11606482" cy="37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7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AI/ML Capabilities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7754" y="1095486"/>
            <a:ext cx="11530931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7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Intelligence Layer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531" y="1514792"/>
            <a:ext cx="5636085" cy="1103041"/>
          </a:xfrm>
          <a:custGeom>
            <a:avLst/>
            <a:gdLst/>
            <a:ahLst/>
            <a:cxnLst/>
            <a:rect l="l" t="t" r="r" b="b"/>
            <a:pathLst>
              <a:path w="5636085" h="1103041">
                <a:moveTo>
                  <a:pt x="113326" y="0"/>
                </a:moveTo>
                <a:lnTo>
                  <a:pt x="5522758" y="0"/>
                </a:lnTo>
                <a:cubicBezTo>
                  <a:pt x="5585347" y="0"/>
                  <a:pt x="5636085" y="50738"/>
                  <a:pt x="5636085" y="113326"/>
                </a:cubicBezTo>
                <a:lnTo>
                  <a:pt x="5636085" y="989714"/>
                </a:lnTo>
                <a:cubicBezTo>
                  <a:pt x="5636085" y="1052303"/>
                  <a:pt x="5585347" y="1103041"/>
                  <a:pt x="5522758" y="1103041"/>
                </a:cubicBezTo>
                <a:lnTo>
                  <a:pt x="113326" y="1103041"/>
                </a:lnTo>
                <a:cubicBezTo>
                  <a:pt x="50738" y="1103041"/>
                  <a:pt x="0" y="1052303"/>
                  <a:pt x="0" y="989714"/>
                </a:cubicBezTo>
                <a:lnTo>
                  <a:pt x="0" y="113326"/>
                </a:lnTo>
                <a:cubicBezTo>
                  <a:pt x="0" y="50780"/>
                  <a:pt x="50780" y="0"/>
                  <a:pt x="113326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36410" y="1669679"/>
            <a:ext cx="453304" cy="453304"/>
          </a:xfrm>
          <a:custGeom>
            <a:avLst/>
            <a:gdLst/>
            <a:ahLst/>
            <a:cxnLst/>
            <a:rect l="l" t="t" r="r" b="b"/>
            <a:pathLst>
              <a:path w="453304" h="453304">
                <a:moveTo>
                  <a:pt x="75552" y="0"/>
                </a:moveTo>
                <a:lnTo>
                  <a:pt x="377752" y="0"/>
                </a:lnTo>
                <a:cubicBezTo>
                  <a:pt x="419451" y="0"/>
                  <a:pt x="453304" y="33854"/>
                  <a:pt x="453304" y="75552"/>
                </a:cubicBezTo>
                <a:lnTo>
                  <a:pt x="453304" y="377752"/>
                </a:lnTo>
                <a:cubicBezTo>
                  <a:pt x="453304" y="419451"/>
                  <a:pt x="419451" y="453304"/>
                  <a:pt x="377752" y="453304"/>
                </a:cubicBezTo>
                <a:lnTo>
                  <a:pt x="75552" y="453304"/>
                </a:lnTo>
                <a:cubicBezTo>
                  <a:pt x="33854" y="453304"/>
                  <a:pt x="0" y="419451"/>
                  <a:pt x="0" y="377752"/>
                </a:cubicBezTo>
                <a:lnTo>
                  <a:pt x="0" y="75552"/>
                </a:lnTo>
                <a:cubicBezTo>
                  <a:pt x="0" y="33854"/>
                  <a:pt x="33854" y="0"/>
                  <a:pt x="75552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68624" y="1801892"/>
            <a:ext cx="188877" cy="188877"/>
          </a:xfrm>
          <a:custGeom>
            <a:avLst/>
            <a:gdLst/>
            <a:ahLst/>
            <a:cxnLst/>
            <a:rect l="l" t="t" r="r" b="b"/>
            <a:pathLst>
              <a:path w="188877" h="188877">
                <a:moveTo>
                  <a:pt x="23610" y="23610"/>
                </a:moveTo>
                <a:cubicBezTo>
                  <a:pt x="23610" y="17080"/>
                  <a:pt x="18334" y="11805"/>
                  <a:pt x="11805" y="11805"/>
                </a:cubicBezTo>
                <a:cubicBezTo>
                  <a:pt x="5275" y="11805"/>
                  <a:pt x="0" y="17080"/>
                  <a:pt x="0" y="23610"/>
                </a:cubicBezTo>
                <a:lnTo>
                  <a:pt x="0" y="147560"/>
                </a:lnTo>
                <a:cubicBezTo>
                  <a:pt x="0" y="163865"/>
                  <a:pt x="13207" y="177072"/>
                  <a:pt x="29512" y="177072"/>
                </a:cubicBezTo>
                <a:lnTo>
                  <a:pt x="177072" y="177072"/>
                </a:lnTo>
                <a:cubicBezTo>
                  <a:pt x="183602" y="177072"/>
                  <a:pt x="188877" y="171797"/>
                  <a:pt x="188877" y="165267"/>
                </a:cubicBezTo>
                <a:cubicBezTo>
                  <a:pt x="188877" y="158738"/>
                  <a:pt x="183602" y="153462"/>
                  <a:pt x="177072" y="153462"/>
                </a:cubicBezTo>
                <a:lnTo>
                  <a:pt x="29512" y="153462"/>
                </a:lnTo>
                <a:cubicBezTo>
                  <a:pt x="26266" y="153462"/>
                  <a:pt x="23610" y="150806"/>
                  <a:pt x="23610" y="147560"/>
                </a:cubicBezTo>
                <a:lnTo>
                  <a:pt x="23610" y="23610"/>
                </a:lnTo>
                <a:close/>
                <a:moveTo>
                  <a:pt x="173604" y="55556"/>
                </a:moveTo>
                <a:cubicBezTo>
                  <a:pt x="178216" y="50945"/>
                  <a:pt x="178216" y="43456"/>
                  <a:pt x="173604" y="38845"/>
                </a:cubicBezTo>
                <a:cubicBezTo>
                  <a:pt x="168993" y="34234"/>
                  <a:pt x="161504" y="34234"/>
                  <a:pt x="156893" y="38845"/>
                </a:cubicBezTo>
                <a:lnTo>
                  <a:pt x="118048" y="77727"/>
                </a:lnTo>
                <a:lnTo>
                  <a:pt x="96873" y="56589"/>
                </a:lnTo>
                <a:cubicBezTo>
                  <a:pt x="92262" y="51978"/>
                  <a:pt x="84773" y="51978"/>
                  <a:pt x="80162" y="56589"/>
                </a:cubicBezTo>
                <a:lnTo>
                  <a:pt x="44748" y="92004"/>
                </a:lnTo>
                <a:cubicBezTo>
                  <a:pt x="40136" y="96615"/>
                  <a:pt x="40136" y="104104"/>
                  <a:pt x="44748" y="108715"/>
                </a:cubicBezTo>
                <a:cubicBezTo>
                  <a:pt x="49359" y="113326"/>
                  <a:pt x="56848" y="113326"/>
                  <a:pt x="61459" y="108715"/>
                </a:cubicBezTo>
                <a:lnTo>
                  <a:pt x="88536" y="81638"/>
                </a:lnTo>
                <a:lnTo>
                  <a:pt x="109711" y="102812"/>
                </a:lnTo>
                <a:cubicBezTo>
                  <a:pt x="114322" y="107424"/>
                  <a:pt x="121811" y="107424"/>
                  <a:pt x="126422" y="102812"/>
                </a:cubicBezTo>
                <a:lnTo>
                  <a:pt x="173641" y="55593"/>
                </a:lnTo>
                <a:close/>
              </a:path>
            </a:pathLst>
          </a:custGeom>
          <a:solidFill>
            <a:srgbClr val="F5F1E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03041" y="1669679"/>
            <a:ext cx="4835247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Yield Predictor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03041" y="1934106"/>
            <a:ext cx="4825803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Forecast harvest 14 days early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03041" y="2198534"/>
            <a:ext cx="1019935" cy="264428"/>
          </a:xfrm>
          <a:custGeom>
            <a:avLst/>
            <a:gdLst/>
            <a:ahLst/>
            <a:cxnLst/>
            <a:rect l="l" t="t" r="r" b="b"/>
            <a:pathLst>
              <a:path w="1019935" h="264428">
                <a:moveTo>
                  <a:pt x="37776" y="0"/>
                </a:moveTo>
                <a:lnTo>
                  <a:pt x="982159" y="0"/>
                </a:lnTo>
                <a:cubicBezTo>
                  <a:pt x="1003022" y="0"/>
                  <a:pt x="1019935" y="16913"/>
                  <a:pt x="1019935" y="37776"/>
                </a:cubicBezTo>
                <a:lnTo>
                  <a:pt x="1019935" y="226651"/>
                </a:lnTo>
                <a:cubicBezTo>
                  <a:pt x="1019935" y="247515"/>
                  <a:pt x="1003022" y="264428"/>
                  <a:pt x="982159" y="264428"/>
                </a:cubicBezTo>
                <a:lnTo>
                  <a:pt x="37776" y="264428"/>
                </a:lnTo>
                <a:cubicBezTo>
                  <a:pt x="16927" y="264428"/>
                  <a:pt x="0" y="247501"/>
                  <a:pt x="0" y="226651"/>
                </a:cubicBezTo>
                <a:lnTo>
                  <a:pt x="0" y="37776"/>
                </a:lnTo>
                <a:cubicBezTo>
                  <a:pt x="0" y="16927"/>
                  <a:pt x="16927" y="0"/>
                  <a:pt x="37776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16367" y="2236309"/>
            <a:ext cx="859390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±8% accuracy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276792" y="2198534"/>
            <a:ext cx="963272" cy="264428"/>
          </a:xfrm>
          <a:custGeom>
            <a:avLst/>
            <a:gdLst/>
            <a:ahLst/>
            <a:cxnLst/>
            <a:rect l="l" t="t" r="r" b="b"/>
            <a:pathLst>
              <a:path w="963272" h="264428">
                <a:moveTo>
                  <a:pt x="37776" y="0"/>
                </a:moveTo>
                <a:lnTo>
                  <a:pt x="925496" y="0"/>
                </a:lnTo>
                <a:cubicBezTo>
                  <a:pt x="946359" y="0"/>
                  <a:pt x="963272" y="16913"/>
                  <a:pt x="963272" y="37776"/>
                </a:cubicBezTo>
                <a:lnTo>
                  <a:pt x="963272" y="226651"/>
                </a:lnTo>
                <a:cubicBezTo>
                  <a:pt x="963272" y="247515"/>
                  <a:pt x="946359" y="264428"/>
                  <a:pt x="925496" y="264428"/>
                </a:cubicBezTo>
                <a:lnTo>
                  <a:pt x="37776" y="264428"/>
                </a:lnTo>
                <a:cubicBezTo>
                  <a:pt x="16927" y="264428"/>
                  <a:pt x="0" y="247501"/>
                  <a:pt x="0" y="226651"/>
                </a:cubicBezTo>
                <a:lnTo>
                  <a:pt x="0" y="37776"/>
                </a:lnTo>
                <a:cubicBezTo>
                  <a:pt x="0" y="16927"/>
                  <a:pt x="16927" y="0"/>
                  <a:pt x="37776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390118" y="2236309"/>
            <a:ext cx="802727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dirty="0">
                <a:solidFill>
                  <a:srgbClr val="6B8E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 days input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531" y="2738710"/>
            <a:ext cx="5636085" cy="1103041"/>
          </a:xfrm>
          <a:custGeom>
            <a:avLst/>
            <a:gdLst/>
            <a:ahLst/>
            <a:cxnLst/>
            <a:rect l="l" t="t" r="r" b="b"/>
            <a:pathLst>
              <a:path w="5636085" h="1103041">
                <a:moveTo>
                  <a:pt x="113326" y="0"/>
                </a:moveTo>
                <a:lnTo>
                  <a:pt x="5522758" y="0"/>
                </a:lnTo>
                <a:cubicBezTo>
                  <a:pt x="5585347" y="0"/>
                  <a:pt x="5636085" y="50738"/>
                  <a:pt x="5636085" y="113326"/>
                </a:cubicBezTo>
                <a:lnTo>
                  <a:pt x="5636085" y="989714"/>
                </a:lnTo>
                <a:cubicBezTo>
                  <a:pt x="5636085" y="1052303"/>
                  <a:pt x="5585347" y="1103041"/>
                  <a:pt x="5522758" y="1103041"/>
                </a:cubicBezTo>
                <a:lnTo>
                  <a:pt x="113326" y="1103041"/>
                </a:lnTo>
                <a:cubicBezTo>
                  <a:pt x="50738" y="1103041"/>
                  <a:pt x="0" y="1052303"/>
                  <a:pt x="0" y="989714"/>
                </a:cubicBezTo>
                <a:lnTo>
                  <a:pt x="0" y="113326"/>
                </a:lnTo>
                <a:cubicBezTo>
                  <a:pt x="0" y="50780"/>
                  <a:pt x="50780" y="0"/>
                  <a:pt x="113326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36410" y="2893597"/>
            <a:ext cx="453304" cy="453304"/>
          </a:xfrm>
          <a:custGeom>
            <a:avLst/>
            <a:gdLst/>
            <a:ahLst/>
            <a:cxnLst/>
            <a:rect l="l" t="t" r="r" b="b"/>
            <a:pathLst>
              <a:path w="453304" h="453304">
                <a:moveTo>
                  <a:pt x="75552" y="0"/>
                </a:moveTo>
                <a:lnTo>
                  <a:pt x="377752" y="0"/>
                </a:lnTo>
                <a:cubicBezTo>
                  <a:pt x="419451" y="0"/>
                  <a:pt x="453304" y="33854"/>
                  <a:pt x="453304" y="75552"/>
                </a:cubicBezTo>
                <a:lnTo>
                  <a:pt x="453304" y="377752"/>
                </a:lnTo>
                <a:cubicBezTo>
                  <a:pt x="453304" y="419451"/>
                  <a:pt x="419451" y="453304"/>
                  <a:pt x="377752" y="453304"/>
                </a:cubicBezTo>
                <a:lnTo>
                  <a:pt x="75552" y="453304"/>
                </a:lnTo>
                <a:cubicBezTo>
                  <a:pt x="33854" y="453304"/>
                  <a:pt x="0" y="419451"/>
                  <a:pt x="0" y="377752"/>
                </a:cubicBezTo>
                <a:lnTo>
                  <a:pt x="0" y="75552"/>
                </a:lnTo>
                <a:cubicBezTo>
                  <a:pt x="0" y="33854"/>
                  <a:pt x="33854" y="0"/>
                  <a:pt x="75552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5014" y="3025811"/>
            <a:ext cx="236096" cy="188877"/>
          </a:xfrm>
          <a:custGeom>
            <a:avLst/>
            <a:gdLst/>
            <a:ahLst/>
            <a:cxnLst/>
            <a:rect l="l" t="t" r="r" b="b"/>
            <a:pathLst>
              <a:path w="236096" h="188877">
                <a:moveTo>
                  <a:pt x="94438" y="-11805"/>
                </a:moveTo>
                <a:cubicBezTo>
                  <a:pt x="99345" y="-11805"/>
                  <a:pt x="103292" y="-7858"/>
                  <a:pt x="103292" y="-2951"/>
                </a:cubicBezTo>
                <a:lnTo>
                  <a:pt x="103292" y="1107"/>
                </a:lnTo>
                <a:cubicBezTo>
                  <a:pt x="106465" y="1918"/>
                  <a:pt x="109526" y="3173"/>
                  <a:pt x="112441" y="4906"/>
                </a:cubicBezTo>
                <a:lnTo>
                  <a:pt x="114728" y="2582"/>
                </a:lnTo>
                <a:cubicBezTo>
                  <a:pt x="118196" y="-885"/>
                  <a:pt x="123803" y="-885"/>
                  <a:pt x="127234" y="2582"/>
                </a:cubicBezTo>
                <a:cubicBezTo>
                  <a:pt x="130664" y="6050"/>
                  <a:pt x="130701" y="11657"/>
                  <a:pt x="127234" y="15088"/>
                </a:cubicBezTo>
                <a:lnTo>
                  <a:pt x="124910" y="17412"/>
                </a:lnTo>
                <a:cubicBezTo>
                  <a:pt x="126607" y="20290"/>
                  <a:pt x="127861" y="23388"/>
                  <a:pt x="128709" y="26561"/>
                </a:cubicBezTo>
                <a:lnTo>
                  <a:pt x="132767" y="26561"/>
                </a:lnTo>
                <a:cubicBezTo>
                  <a:pt x="137674" y="26561"/>
                  <a:pt x="141621" y="30508"/>
                  <a:pt x="141621" y="35414"/>
                </a:cubicBezTo>
                <a:cubicBezTo>
                  <a:pt x="141621" y="40321"/>
                  <a:pt x="137674" y="44268"/>
                  <a:pt x="132767" y="44268"/>
                </a:cubicBezTo>
                <a:lnTo>
                  <a:pt x="128709" y="44268"/>
                </a:lnTo>
                <a:cubicBezTo>
                  <a:pt x="127898" y="47441"/>
                  <a:pt x="126643" y="50502"/>
                  <a:pt x="124910" y="53417"/>
                </a:cubicBezTo>
                <a:lnTo>
                  <a:pt x="127271" y="55704"/>
                </a:lnTo>
                <a:cubicBezTo>
                  <a:pt x="130738" y="59172"/>
                  <a:pt x="130738" y="64779"/>
                  <a:pt x="127271" y="68210"/>
                </a:cubicBezTo>
                <a:cubicBezTo>
                  <a:pt x="123803" y="71640"/>
                  <a:pt x="118196" y="71677"/>
                  <a:pt x="114765" y="68210"/>
                </a:cubicBezTo>
                <a:lnTo>
                  <a:pt x="113252" y="66697"/>
                </a:lnTo>
                <a:lnTo>
                  <a:pt x="102148" y="77801"/>
                </a:lnTo>
                <a:lnTo>
                  <a:pt x="103661" y="79314"/>
                </a:lnTo>
                <a:cubicBezTo>
                  <a:pt x="107129" y="82781"/>
                  <a:pt x="107129" y="88388"/>
                  <a:pt x="103661" y="91819"/>
                </a:cubicBezTo>
                <a:cubicBezTo>
                  <a:pt x="100193" y="95250"/>
                  <a:pt x="94586" y="95287"/>
                  <a:pt x="91155" y="91819"/>
                </a:cubicBezTo>
                <a:lnTo>
                  <a:pt x="89643" y="90307"/>
                </a:lnTo>
                <a:cubicBezTo>
                  <a:pt x="85954" y="93996"/>
                  <a:pt x="82265" y="97685"/>
                  <a:pt x="78539" y="101411"/>
                </a:cubicBezTo>
                <a:lnTo>
                  <a:pt x="80051" y="102923"/>
                </a:lnTo>
                <a:cubicBezTo>
                  <a:pt x="83519" y="106391"/>
                  <a:pt x="83519" y="111998"/>
                  <a:pt x="80051" y="115429"/>
                </a:cubicBezTo>
                <a:cubicBezTo>
                  <a:pt x="76584" y="118860"/>
                  <a:pt x="70976" y="118896"/>
                  <a:pt x="67546" y="115429"/>
                </a:cubicBezTo>
                <a:lnTo>
                  <a:pt x="65222" y="113105"/>
                </a:lnTo>
                <a:cubicBezTo>
                  <a:pt x="62344" y="114802"/>
                  <a:pt x="59245" y="116056"/>
                  <a:pt x="56073" y="116904"/>
                </a:cubicBezTo>
                <a:lnTo>
                  <a:pt x="56073" y="120962"/>
                </a:lnTo>
                <a:cubicBezTo>
                  <a:pt x="56073" y="125869"/>
                  <a:pt x="52126" y="129816"/>
                  <a:pt x="47219" y="129816"/>
                </a:cubicBezTo>
                <a:cubicBezTo>
                  <a:pt x="42313" y="129816"/>
                  <a:pt x="38366" y="125869"/>
                  <a:pt x="38366" y="120962"/>
                </a:cubicBezTo>
                <a:lnTo>
                  <a:pt x="38366" y="116904"/>
                </a:lnTo>
                <a:cubicBezTo>
                  <a:pt x="35193" y="116093"/>
                  <a:pt x="32131" y="114839"/>
                  <a:pt x="29217" y="113105"/>
                </a:cubicBezTo>
                <a:lnTo>
                  <a:pt x="26930" y="115466"/>
                </a:lnTo>
                <a:cubicBezTo>
                  <a:pt x="23462" y="118933"/>
                  <a:pt x="17855" y="118933"/>
                  <a:pt x="14424" y="115466"/>
                </a:cubicBezTo>
                <a:cubicBezTo>
                  <a:pt x="10993" y="111998"/>
                  <a:pt x="10956" y="106391"/>
                  <a:pt x="14424" y="102960"/>
                </a:cubicBezTo>
                <a:lnTo>
                  <a:pt x="16748" y="100636"/>
                </a:lnTo>
                <a:cubicBezTo>
                  <a:pt x="15051" y="97759"/>
                  <a:pt x="13797" y="94660"/>
                  <a:pt x="12948" y="91487"/>
                </a:cubicBezTo>
                <a:lnTo>
                  <a:pt x="8890" y="91487"/>
                </a:lnTo>
                <a:cubicBezTo>
                  <a:pt x="3984" y="91487"/>
                  <a:pt x="37" y="87540"/>
                  <a:pt x="37" y="82634"/>
                </a:cubicBezTo>
                <a:cubicBezTo>
                  <a:pt x="37" y="77727"/>
                  <a:pt x="3984" y="73780"/>
                  <a:pt x="8890" y="73780"/>
                </a:cubicBezTo>
                <a:lnTo>
                  <a:pt x="12948" y="73780"/>
                </a:lnTo>
                <a:cubicBezTo>
                  <a:pt x="13760" y="70607"/>
                  <a:pt x="15014" y="67546"/>
                  <a:pt x="16748" y="64631"/>
                </a:cubicBezTo>
                <a:lnTo>
                  <a:pt x="14387" y="62344"/>
                </a:lnTo>
                <a:cubicBezTo>
                  <a:pt x="10919" y="58876"/>
                  <a:pt x="10919" y="53269"/>
                  <a:pt x="14387" y="49838"/>
                </a:cubicBezTo>
                <a:cubicBezTo>
                  <a:pt x="17855" y="46408"/>
                  <a:pt x="23462" y="46371"/>
                  <a:pt x="26893" y="49838"/>
                </a:cubicBezTo>
                <a:lnTo>
                  <a:pt x="28405" y="51351"/>
                </a:lnTo>
                <a:cubicBezTo>
                  <a:pt x="32094" y="47662"/>
                  <a:pt x="35783" y="43973"/>
                  <a:pt x="39509" y="40247"/>
                </a:cubicBezTo>
                <a:lnTo>
                  <a:pt x="37997" y="38735"/>
                </a:lnTo>
                <a:cubicBezTo>
                  <a:pt x="34529" y="35267"/>
                  <a:pt x="34529" y="29660"/>
                  <a:pt x="37997" y="26229"/>
                </a:cubicBezTo>
                <a:cubicBezTo>
                  <a:pt x="41464" y="22798"/>
                  <a:pt x="47072" y="22761"/>
                  <a:pt x="50502" y="26229"/>
                </a:cubicBezTo>
                <a:lnTo>
                  <a:pt x="52015" y="27741"/>
                </a:lnTo>
                <a:lnTo>
                  <a:pt x="63119" y="16637"/>
                </a:lnTo>
                <a:lnTo>
                  <a:pt x="61606" y="15125"/>
                </a:lnTo>
                <a:cubicBezTo>
                  <a:pt x="58139" y="11657"/>
                  <a:pt x="58139" y="6050"/>
                  <a:pt x="61606" y="2619"/>
                </a:cubicBezTo>
                <a:cubicBezTo>
                  <a:pt x="65074" y="-812"/>
                  <a:pt x="70681" y="-848"/>
                  <a:pt x="74149" y="2582"/>
                </a:cubicBezTo>
                <a:lnTo>
                  <a:pt x="76473" y="4906"/>
                </a:lnTo>
                <a:cubicBezTo>
                  <a:pt x="79350" y="3209"/>
                  <a:pt x="82449" y="1955"/>
                  <a:pt x="85622" y="1107"/>
                </a:cubicBezTo>
                <a:lnTo>
                  <a:pt x="85622" y="-2951"/>
                </a:lnTo>
                <a:cubicBezTo>
                  <a:pt x="85622" y="-7858"/>
                  <a:pt x="89569" y="-11805"/>
                  <a:pt x="94475" y="-11805"/>
                </a:cubicBezTo>
                <a:close/>
                <a:moveTo>
                  <a:pt x="47219" y="94438"/>
                </a:moveTo>
                <a:cubicBezTo>
                  <a:pt x="53734" y="94438"/>
                  <a:pt x="59024" y="89149"/>
                  <a:pt x="59024" y="82634"/>
                </a:cubicBezTo>
                <a:cubicBezTo>
                  <a:pt x="59024" y="76118"/>
                  <a:pt x="53734" y="70829"/>
                  <a:pt x="47219" y="70829"/>
                </a:cubicBezTo>
                <a:cubicBezTo>
                  <a:pt x="40704" y="70829"/>
                  <a:pt x="35414" y="76118"/>
                  <a:pt x="35414" y="82634"/>
                </a:cubicBezTo>
                <a:cubicBezTo>
                  <a:pt x="35414" y="89149"/>
                  <a:pt x="40704" y="94438"/>
                  <a:pt x="47219" y="94438"/>
                </a:cubicBezTo>
                <a:close/>
                <a:moveTo>
                  <a:pt x="88536" y="53122"/>
                </a:moveTo>
                <a:cubicBezTo>
                  <a:pt x="88536" y="46606"/>
                  <a:pt x="83246" y="41317"/>
                  <a:pt x="76731" y="41317"/>
                </a:cubicBezTo>
                <a:cubicBezTo>
                  <a:pt x="70216" y="41317"/>
                  <a:pt x="64926" y="46606"/>
                  <a:pt x="64926" y="53122"/>
                </a:cubicBezTo>
                <a:cubicBezTo>
                  <a:pt x="64926" y="59637"/>
                  <a:pt x="70216" y="64926"/>
                  <a:pt x="76731" y="64926"/>
                </a:cubicBezTo>
                <a:cubicBezTo>
                  <a:pt x="83246" y="64926"/>
                  <a:pt x="88536" y="59637"/>
                  <a:pt x="88536" y="53122"/>
                </a:cubicBezTo>
                <a:close/>
                <a:moveTo>
                  <a:pt x="197730" y="67878"/>
                </a:moveTo>
                <a:lnTo>
                  <a:pt x="197730" y="71936"/>
                </a:lnTo>
                <a:cubicBezTo>
                  <a:pt x="200903" y="72747"/>
                  <a:pt x="203965" y="74001"/>
                  <a:pt x="206879" y="75735"/>
                </a:cubicBezTo>
                <a:lnTo>
                  <a:pt x="209166" y="73411"/>
                </a:lnTo>
                <a:cubicBezTo>
                  <a:pt x="212634" y="69943"/>
                  <a:pt x="218241" y="69943"/>
                  <a:pt x="221672" y="73411"/>
                </a:cubicBezTo>
                <a:cubicBezTo>
                  <a:pt x="225103" y="76879"/>
                  <a:pt x="225140" y="82486"/>
                  <a:pt x="221672" y="85917"/>
                </a:cubicBezTo>
                <a:lnTo>
                  <a:pt x="219348" y="88241"/>
                </a:lnTo>
                <a:cubicBezTo>
                  <a:pt x="221045" y="91118"/>
                  <a:pt x="222299" y="94217"/>
                  <a:pt x="223148" y="97390"/>
                </a:cubicBezTo>
                <a:lnTo>
                  <a:pt x="227206" y="97390"/>
                </a:lnTo>
                <a:cubicBezTo>
                  <a:pt x="232112" y="97390"/>
                  <a:pt x="236059" y="101337"/>
                  <a:pt x="236059" y="106243"/>
                </a:cubicBezTo>
                <a:cubicBezTo>
                  <a:pt x="236059" y="111150"/>
                  <a:pt x="232112" y="115097"/>
                  <a:pt x="227206" y="115097"/>
                </a:cubicBezTo>
                <a:lnTo>
                  <a:pt x="223148" y="115097"/>
                </a:lnTo>
                <a:cubicBezTo>
                  <a:pt x="222336" y="118269"/>
                  <a:pt x="221082" y="121331"/>
                  <a:pt x="219348" y="124246"/>
                </a:cubicBezTo>
                <a:lnTo>
                  <a:pt x="221709" y="126533"/>
                </a:lnTo>
                <a:cubicBezTo>
                  <a:pt x="225177" y="130000"/>
                  <a:pt x="225177" y="135608"/>
                  <a:pt x="221709" y="139038"/>
                </a:cubicBezTo>
                <a:cubicBezTo>
                  <a:pt x="218241" y="142469"/>
                  <a:pt x="212634" y="142506"/>
                  <a:pt x="209203" y="139038"/>
                </a:cubicBezTo>
                <a:lnTo>
                  <a:pt x="207691" y="137526"/>
                </a:lnTo>
                <a:lnTo>
                  <a:pt x="196587" y="148630"/>
                </a:lnTo>
                <a:lnTo>
                  <a:pt x="198099" y="150142"/>
                </a:lnTo>
                <a:cubicBezTo>
                  <a:pt x="201567" y="153610"/>
                  <a:pt x="201567" y="159217"/>
                  <a:pt x="198099" y="162648"/>
                </a:cubicBezTo>
                <a:cubicBezTo>
                  <a:pt x="194632" y="166079"/>
                  <a:pt x="189024" y="166116"/>
                  <a:pt x="185594" y="162648"/>
                </a:cubicBezTo>
                <a:lnTo>
                  <a:pt x="184081" y="161136"/>
                </a:lnTo>
                <a:cubicBezTo>
                  <a:pt x="180392" y="164825"/>
                  <a:pt x="176703" y="168514"/>
                  <a:pt x="172977" y="172239"/>
                </a:cubicBezTo>
                <a:lnTo>
                  <a:pt x="174490" y="173752"/>
                </a:lnTo>
                <a:cubicBezTo>
                  <a:pt x="177957" y="177220"/>
                  <a:pt x="177957" y="182827"/>
                  <a:pt x="174490" y="186258"/>
                </a:cubicBezTo>
                <a:cubicBezTo>
                  <a:pt x="171022" y="189688"/>
                  <a:pt x="165415" y="189725"/>
                  <a:pt x="161984" y="186258"/>
                </a:cubicBezTo>
                <a:lnTo>
                  <a:pt x="159660" y="183934"/>
                </a:lnTo>
                <a:cubicBezTo>
                  <a:pt x="156783" y="185631"/>
                  <a:pt x="153684" y="186885"/>
                  <a:pt x="150511" y="187733"/>
                </a:cubicBezTo>
                <a:lnTo>
                  <a:pt x="150511" y="191791"/>
                </a:lnTo>
                <a:cubicBezTo>
                  <a:pt x="150511" y="196698"/>
                  <a:pt x="146564" y="200645"/>
                  <a:pt x="141658" y="200645"/>
                </a:cubicBezTo>
                <a:cubicBezTo>
                  <a:pt x="136751" y="200645"/>
                  <a:pt x="132804" y="196698"/>
                  <a:pt x="132804" y="191791"/>
                </a:cubicBezTo>
                <a:lnTo>
                  <a:pt x="132804" y="187733"/>
                </a:lnTo>
                <a:cubicBezTo>
                  <a:pt x="129631" y="186922"/>
                  <a:pt x="126570" y="185667"/>
                  <a:pt x="123655" y="183934"/>
                </a:cubicBezTo>
                <a:lnTo>
                  <a:pt x="121368" y="186295"/>
                </a:lnTo>
                <a:cubicBezTo>
                  <a:pt x="117900" y="189762"/>
                  <a:pt x="112293" y="189762"/>
                  <a:pt x="108862" y="186295"/>
                </a:cubicBezTo>
                <a:cubicBezTo>
                  <a:pt x="105432" y="182827"/>
                  <a:pt x="105395" y="177220"/>
                  <a:pt x="108862" y="173789"/>
                </a:cubicBezTo>
                <a:lnTo>
                  <a:pt x="111186" y="171465"/>
                </a:lnTo>
                <a:cubicBezTo>
                  <a:pt x="109490" y="168587"/>
                  <a:pt x="108235" y="165489"/>
                  <a:pt x="107387" y="162316"/>
                </a:cubicBezTo>
                <a:lnTo>
                  <a:pt x="103329" y="162316"/>
                </a:lnTo>
                <a:cubicBezTo>
                  <a:pt x="98423" y="162316"/>
                  <a:pt x="94475" y="158369"/>
                  <a:pt x="94475" y="153462"/>
                </a:cubicBezTo>
                <a:cubicBezTo>
                  <a:pt x="94475" y="148556"/>
                  <a:pt x="98423" y="144609"/>
                  <a:pt x="103329" y="144609"/>
                </a:cubicBezTo>
                <a:lnTo>
                  <a:pt x="107387" y="144609"/>
                </a:lnTo>
                <a:cubicBezTo>
                  <a:pt x="108198" y="141436"/>
                  <a:pt x="109453" y="138374"/>
                  <a:pt x="111186" y="135460"/>
                </a:cubicBezTo>
                <a:lnTo>
                  <a:pt x="108826" y="133173"/>
                </a:lnTo>
                <a:cubicBezTo>
                  <a:pt x="105358" y="129705"/>
                  <a:pt x="105358" y="124098"/>
                  <a:pt x="108826" y="120667"/>
                </a:cubicBezTo>
                <a:cubicBezTo>
                  <a:pt x="112293" y="117236"/>
                  <a:pt x="117900" y="117200"/>
                  <a:pt x="121331" y="120667"/>
                </a:cubicBezTo>
                <a:lnTo>
                  <a:pt x="122844" y="122180"/>
                </a:lnTo>
                <a:cubicBezTo>
                  <a:pt x="126533" y="118491"/>
                  <a:pt x="130222" y="114802"/>
                  <a:pt x="133948" y="111076"/>
                </a:cubicBezTo>
                <a:lnTo>
                  <a:pt x="132435" y="109563"/>
                </a:lnTo>
                <a:cubicBezTo>
                  <a:pt x="128967" y="106096"/>
                  <a:pt x="128967" y="100488"/>
                  <a:pt x="132435" y="97058"/>
                </a:cubicBezTo>
                <a:cubicBezTo>
                  <a:pt x="135903" y="93627"/>
                  <a:pt x="141510" y="93590"/>
                  <a:pt x="144941" y="97058"/>
                </a:cubicBezTo>
                <a:lnTo>
                  <a:pt x="146453" y="98570"/>
                </a:lnTo>
                <a:lnTo>
                  <a:pt x="157557" y="87466"/>
                </a:lnTo>
                <a:lnTo>
                  <a:pt x="156045" y="85954"/>
                </a:lnTo>
                <a:cubicBezTo>
                  <a:pt x="152577" y="82486"/>
                  <a:pt x="152577" y="76879"/>
                  <a:pt x="156045" y="73448"/>
                </a:cubicBezTo>
                <a:cubicBezTo>
                  <a:pt x="159512" y="70017"/>
                  <a:pt x="165120" y="69980"/>
                  <a:pt x="168550" y="73448"/>
                </a:cubicBezTo>
                <a:lnTo>
                  <a:pt x="170875" y="75772"/>
                </a:lnTo>
                <a:cubicBezTo>
                  <a:pt x="173752" y="74075"/>
                  <a:pt x="176851" y="72821"/>
                  <a:pt x="180023" y="71972"/>
                </a:cubicBezTo>
                <a:lnTo>
                  <a:pt x="180023" y="67915"/>
                </a:lnTo>
                <a:cubicBezTo>
                  <a:pt x="180023" y="63008"/>
                  <a:pt x="183970" y="59061"/>
                  <a:pt x="188877" y="59061"/>
                </a:cubicBezTo>
                <a:cubicBezTo>
                  <a:pt x="193783" y="59061"/>
                  <a:pt x="197730" y="63008"/>
                  <a:pt x="197730" y="67915"/>
                </a:cubicBezTo>
                <a:close/>
                <a:moveTo>
                  <a:pt x="165267" y="141658"/>
                </a:moveTo>
                <a:cubicBezTo>
                  <a:pt x="165267" y="135142"/>
                  <a:pt x="159978" y="129853"/>
                  <a:pt x="153462" y="129853"/>
                </a:cubicBezTo>
                <a:cubicBezTo>
                  <a:pt x="146947" y="129853"/>
                  <a:pt x="141658" y="135142"/>
                  <a:pt x="141658" y="141658"/>
                </a:cubicBezTo>
                <a:cubicBezTo>
                  <a:pt x="141658" y="148173"/>
                  <a:pt x="146947" y="153462"/>
                  <a:pt x="153462" y="153462"/>
                </a:cubicBezTo>
                <a:cubicBezTo>
                  <a:pt x="159978" y="153462"/>
                  <a:pt x="165267" y="148173"/>
                  <a:pt x="165267" y="141658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103041" y="2893597"/>
            <a:ext cx="4835247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Contamination Early Warning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3041" y="3158024"/>
            <a:ext cx="4825803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 infection 3-5 days before visible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03041" y="3422452"/>
            <a:ext cx="1038823" cy="264428"/>
          </a:xfrm>
          <a:custGeom>
            <a:avLst/>
            <a:gdLst/>
            <a:ahLst/>
            <a:cxnLst/>
            <a:rect l="l" t="t" r="r" b="b"/>
            <a:pathLst>
              <a:path w="1038823" h="264428">
                <a:moveTo>
                  <a:pt x="37776" y="0"/>
                </a:moveTo>
                <a:lnTo>
                  <a:pt x="1001046" y="0"/>
                </a:lnTo>
                <a:cubicBezTo>
                  <a:pt x="1021910" y="0"/>
                  <a:pt x="1038823" y="16913"/>
                  <a:pt x="1038823" y="37776"/>
                </a:cubicBezTo>
                <a:lnTo>
                  <a:pt x="1038823" y="226651"/>
                </a:lnTo>
                <a:cubicBezTo>
                  <a:pt x="1038823" y="247515"/>
                  <a:pt x="1021910" y="264428"/>
                  <a:pt x="1001046" y="264428"/>
                </a:cubicBezTo>
                <a:lnTo>
                  <a:pt x="37776" y="264428"/>
                </a:lnTo>
                <a:cubicBezTo>
                  <a:pt x="16927" y="264428"/>
                  <a:pt x="0" y="247501"/>
                  <a:pt x="0" y="226651"/>
                </a:cubicBezTo>
                <a:lnTo>
                  <a:pt x="0" y="37776"/>
                </a:lnTo>
                <a:cubicBezTo>
                  <a:pt x="0" y="16927"/>
                  <a:pt x="16927" y="0"/>
                  <a:pt x="37776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216367" y="3460227"/>
            <a:ext cx="878277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85% precision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288243" y="3422452"/>
            <a:ext cx="1237143" cy="264428"/>
          </a:xfrm>
          <a:custGeom>
            <a:avLst/>
            <a:gdLst/>
            <a:ahLst/>
            <a:cxnLst/>
            <a:rect l="l" t="t" r="r" b="b"/>
            <a:pathLst>
              <a:path w="1237143" h="264428">
                <a:moveTo>
                  <a:pt x="37776" y="0"/>
                </a:moveTo>
                <a:lnTo>
                  <a:pt x="1199367" y="0"/>
                </a:lnTo>
                <a:cubicBezTo>
                  <a:pt x="1220230" y="0"/>
                  <a:pt x="1237143" y="16913"/>
                  <a:pt x="1237143" y="37776"/>
                </a:cubicBezTo>
                <a:lnTo>
                  <a:pt x="1237143" y="226651"/>
                </a:lnTo>
                <a:cubicBezTo>
                  <a:pt x="1237143" y="247515"/>
                  <a:pt x="1220230" y="264428"/>
                  <a:pt x="1199367" y="264428"/>
                </a:cubicBezTo>
                <a:lnTo>
                  <a:pt x="37776" y="264428"/>
                </a:lnTo>
                <a:cubicBezTo>
                  <a:pt x="16927" y="264428"/>
                  <a:pt x="0" y="247501"/>
                  <a:pt x="0" y="226651"/>
                </a:cubicBezTo>
                <a:lnTo>
                  <a:pt x="0" y="37776"/>
                </a:lnTo>
                <a:cubicBezTo>
                  <a:pt x="0" y="16927"/>
                  <a:pt x="16927" y="0"/>
                  <a:pt x="37776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401569" y="3460227"/>
            <a:ext cx="1076598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dirty="0">
                <a:solidFill>
                  <a:srgbClr val="6B8E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Air quality + temp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1531" y="3962647"/>
            <a:ext cx="5636085" cy="1103041"/>
          </a:xfrm>
          <a:custGeom>
            <a:avLst/>
            <a:gdLst/>
            <a:ahLst/>
            <a:cxnLst/>
            <a:rect l="l" t="t" r="r" b="b"/>
            <a:pathLst>
              <a:path w="5636085" h="1103041">
                <a:moveTo>
                  <a:pt x="113326" y="0"/>
                </a:moveTo>
                <a:lnTo>
                  <a:pt x="5522758" y="0"/>
                </a:lnTo>
                <a:cubicBezTo>
                  <a:pt x="5585347" y="0"/>
                  <a:pt x="5636085" y="50738"/>
                  <a:pt x="5636085" y="113326"/>
                </a:cubicBezTo>
                <a:lnTo>
                  <a:pt x="5636085" y="989714"/>
                </a:lnTo>
                <a:cubicBezTo>
                  <a:pt x="5636085" y="1052303"/>
                  <a:pt x="5585347" y="1103041"/>
                  <a:pt x="5522758" y="1103041"/>
                </a:cubicBezTo>
                <a:lnTo>
                  <a:pt x="113326" y="1103041"/>
                </a:lnTo>
                <a:cubicBezTo>
                  <a:pt x="50738" y="1103041"/>
                  <a:pt x="0" y="1052303"/>
                  <a:pt x="0" y="989714"/>
                </a:cubicBezTo>
                <a:lnTo>
                  <a:pt x="0" y="113326"/>
                </a:lnTo>
                <a:cubicBezTo>
                  <a:pt x="0" y="50780"/>
                  <a:pt x="50780" y="0"/>
                  <a:pt x="113326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36410" y="4117515"/>
            <a:ext cx="453304" cy="453304"/>
          </a:xfrm>
          <a:custGeom>
            <a:avLst/>
            <a:gdLst/>
            <a:ahLst/>
            <a:cxnLst/>
            <a:rect l="l" t="t" r="r" b="b"/>
            <a:pathLst>
              <a:path w="453304" h="453304">
                <a:moveTo>
                  <a:pt x="75552" y="0"/>
                </a:moveTo>
                <a:lnTo>
                  <a:pt x="377752" y="0"/>
                </a:lnTo>
                <a:cubicBezTo>
                  <a:pt x="419451" y="0"/>
                  <a:pt x="453304" y="33854"/>
                  <a:pt x="453304" y="75552"/>
                </a:cubicBezTo>
                <a:lnTo>
                  <a:pt x="453304" y="377752"/>
                </a:lnTo>
                <a:cubicBezTo>
                  <a:pt x="453304" y="419451"/>
                  <a:pt x="419451" y="453304"/>
                  <a:pt x="377752" y="453304"/>
                </a:cubicBezTo>
                <a:lnTo>
                  <a:pt x="75552" y="453304"/>
                </a:lnTo>
                <a:cubicBezTo>
                  <a:pt x="33854" y="453304"/>
                  <a:pt x="0" y="419451"/>
                  <a:pt x="0" y="377752"/>
                </a:cubicBezTo>
                <a:lnTo>
                  <a:pt x="0" y="75552"/>
                </a:lnTo>
                <a:cubicBezTo>
                  <a:pt x="0" y="33854"/>
                  <a:pt x="33854" y="0"/>
                  <a:pt x="75552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68624" y="4249729"/>
            <a:ext cx="188877" cy="188877"/>
          </a:xfrm>
          <a:custGeom>
            <a:avLst/>
            <a:gdLst/>
            <a:ahLst/>
            <a:cxnLst/>
            <a:rect l="l" t="t" r="r" b="b"/>
            <a:pathLst>
              <a:path w="188877" h="188877">
                <a:moveTo>
                  <a:pt x="11805" y="23610"/>
                </a:moveTo>
                <a:cubicBezTo>
                  <a:pt x="5275" y="23610"/>
                  <a:pt x="0" y="28885"/>
                  <a:pt x="0" y="35414"/>
                </a:cubicBezTo>
                <a:cubicBezTo>
                  <a:pt x="0" y="41944"/>
                  <a:pt x="5275" y="47219"/>
                  <a:pt x="11805" y="47219"/>
                </a:cubicBezTo>
                <a:lnTo>
                  <a:pt x="43788" y="47219"/>
                </a:lnTo>
                <a:cubicBezTo>
                  <a:pt x="48326" y="57659"/>
                  <a:pt x="58729" y="64926"/>
                  <a:pt x="70829" y="64926"/>
                </a:cubicBezTo>
                <a:cubicBezTo>
                  <a:pt x="82929" y="64926"/>
                  <a:pt x="93332" y="57659"/>
                  <a:pt x="97869" y="47219"/>
                </a:cubicBezTo>
                <a:lnTo>
                  <a:pt x="177072" y="47219"/>
                </a:lnTo>
                <a:cubicBezTo>
                  <a:pt x="183602" y="47219"/>
                  <a:pt x="188877" y="41944"/>
                  <a:pt x="188877" y="35414"/>
                </a:cubicBezTo>
                <a:cubicBezTo>
                  <a:pt x="188877" y="28885"/>
                  <a:pt x="183602" y="23610"/>
                  <a:pt x="177072" y="23610"/>
                </a:cubicBezTo>
                <a:lnTo>
                  <a:pt x="97869" y="23610"/>
                </a:lnTo>
                <a:cubicBezTo>
                  <a:pt x="93332" y="13170"/>
                  <a:pt x="82929" y="5902"/>
                  <a:pt x="70829" y="5902"/>
                </a:cubicBezTo>
                <a:cubicBezTo>
                  <a:pt x="58729" y="5902"/>
                  <a:pt x="48326" y="13170"/>
                  <a:pt x="43788" y="23610"/>
                </a:cubicBezTo>
                <a:lnTo>
                  <a:pt x="11805" y="23610"/>
                </a:lnTo>
                <a:close/>
                <a:moveTo>
                  <a:pt x="11805" y="82634"/>
                </a:moveTo>
                <a:cubicBezTo>
                  <a:pt x="5275" y="82634"/>
                  <a:pt x="0" y="87909"/>
                  <a:pt x="0" y="94438"/>
                </a:cubicBezTo>
                <a:cubicBezTo>
                  <a:pt x="0" y="100968"/>
                  <a:pt x="5275" y="106243"/>
                  <a:pt x="11805" y="106243"/>
                </a:cubicBezTo>
                <a:lnTo>
                  <a:pt x="102812" y="106243"/>
                </a:lnTo>
                <a:cubicBezTo>
                  <a:pt x="107350" y="116683"/>
                  <a:pt x="117753" y="123950"/>
                  <a:pt x="129853" y="123950"/>
                </a:cubicBezTo>
                <a:cubicBezTo>
                  <a:pt x="141953" y="123950"/>
                  <a:pt x="152356" y="116683"/>
                  <a:pt x="156893" y="106243"/>
                </a:cubicBezTo>
                <a:lnTo>
                  <a:pt x="177072" y="106243"/>
                </a:lnTo>
                <a:cubicBezTo>
                  <a:pt x="183602" y="106243"/>
                  <a:pt x="188877" y="100968"/>
                  <a:pt x="188877" y="94438"/>
                </a:cubicBezTo>
                <a:cubicBezTo>
                  <a:pt x="188877" y="87909"/>
                  <a:pt x="183602" y="82634"/>
                  <a:pt x="177072" y="82634"/>
                </a:cubicBezTo>
                <a:lnTo>
                  <a:pt x="156893" y="82634"/>
                </a:lnTo>
                <a:cubicBezTo>
                  <a:pt x="152356" y="72194"/>
                  <a:pt x="141953" y="64926"/>
                  <a:pt x="129853" y="64926"/>
                </a:cubicBezTo>
                <a:cubicBezTo>
                  <a:pt x="117753" y="64926"/>
                  <a:pt x="107350" y="72194"/>
                  <a:pt x="102812" y="82634"/>
                </a:cubicBezTo>
                <a:lnTo>
                  <a:pt x="11805" y="82634"/>
                </a:lnTo>
                <a:close/>
                <a:moveTo>
                  <a:pt x="11805" y="141658"/>
                </a:moveTo>
                <a:cubicBezTo>
                  <a:pt x="5275" y="141658"/>
                  <a:pt x="0" y="146933"/>
                  <a:pt x="0" y="153462"/>
                </a:cubicBezTo>
                <a:cubicBezTo>
                  <a:pt x="0" y="159992"/>
                  <a:pt x="5275" y="165267"/>
                  <a:pt x="11805" y="165267"/>
                </a:cubicBezTo>
                <a:lnTo>
                  <a:pt x="31984" y="165267"/>
                </a:lnTo>
                <a:cubicBezTo>
                  <a:pt x="36521" y="175707"/>
                  <a:pt x="46924" y="182974"/>
                  <a:pt x="59024" y="182974"/>
                </a:cubicBezTo>
                <a:cubicBezTo>
                  <a:pt x="71124" y="182974"/>
                  <a:pt x="81527" y="175707"/>
                  <a:pt x="86064" y="165267"/>
                </a:cubicBezTo>
                <a:lnTo>
                  <a:pt x="177072" y="165267"/>
                </a:lnTo>
                <a:cubicBezTo>
                  <a:pt x="183602" y="165267"/>
                  <a:pt x="188877" y="159992"/>
                  <a:pt x="188877" y="153462"/>
                </a:cubicBezTo>
                <a:cubicBezTo>
                  <a:pt x="188877" y="146933"/>
                  <a:pt x="183602" y="141658"/>
                  <a:pt x="177072" y="141658"/>
                </a:cubicBezTo>
                <a:lnTo>
                  <a:pt x="86064" y="141658"/>
                </a:lnTo>
                <a:cubicBezTo>
                  <a:pt x="81527" y="131218"/>
                  <a:pt x="71124" y="123950"/>
                  <a:pt x="59024" y="123950"/>
                </a:cubicBezTo>
                <a:cubicBezTo>
                  <a:pt x="46924" y="123950"/>
                  <a:pt x="36521" y="131218"/>
                  <a:pt x="31984" y="141658"/>
                </a:cubicBezTo>
                <a:lnTo>
                  <a:pt x="11805" y="141658"/>
                </a:ln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103041" y="4117515"/>
            <a:ext cx="4835247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Optimal Parameter Recommender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03041" y="4381943"/>
            <a:ext cx="4825803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Suggest ideal settings based on top 10% farms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103041" y="4646370"/>
            <a:ext cx="1133261" cy="264428"/>
          </a:xfrm>
          <a:custGeom>
            <a:avLst/>
            <a:gdLst/>
            <a:ahLst/>
            <a:cxnLst/>
            <a:rect l="l" t="t" r="r" b="b"/>
            <a:pathLst>
              <a:path w="1133261" h="264428">
                <a:moveTo>
                  <a:pt x="37776" y="0"/>
                </a:moveTo>
                <a:lnTo>
                  <a:pt x="1095485" y="0"/>
                </a:lnTo>
                <a:cubicBezTo>
                  <a:pt x="1116348" y="0"/>
                  <a:pt x="1133261" y="16913"/>
                  <a:pt x="1133261" y="37776"/>
                </a:cubicBezTo>
                <a:lnTo>
                  <a:pt x="1133261" y="226651"/>
                </a:lnTo>
                <a:cubicBezTo>
                  <a:pt x="1133261" y="247515"/>
                  <a:pt x="1116348" y="264428"/>
                  <a:pt x="1095485" y="264428"/>
                </a:cubicBezTo>
                <a:lnTo>
                  <a:pt x="37776" y="264428"/>
                </a:lnTo>
                <a:cubicBezTo>
                  <a:pt x="16927" y="264428"/>
                  <a:pt x="0" y="247501"/>
                  <a:pt x="0" y="226651"/>
                </a:cubicBezTo>
                <a:lnTo>
                  <a:pt x="0" y="37776"/>
                </a:lnTo>
                <a:cubicBezTo>
                  <a:pt x="0" y="16927"/>
                  <a:pt x="16927" y="0"/>
                  <a:pt x="37776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216367" y="4684146"/>
            <a:ext cx="972716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Location-aware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388938" y="4646370"/>
            <a:ext cx="1057710" cy="264428"/>
          </a:xfrm>
          <a:custGeom>
            <a:avLst/>
            <a:gdLst/>
            <a:ahLst/>
            <a:cxnLst/>
            <a:rect l="l" t="t" r="r" b="b"/>
            <a:pathLst>
              <a:path w="1057710" h="264428">
                <a:moveTo>
                  <a:pt x="37776" y="0"/>
                </a:moveTo>
                <a:lnTo>
                  <a:pt x="1019934" y="0"/>
                </a:lnTo>
                <a:cubicBezTo>
                  <a:pt x="1040797" y="0"/>
                  <a:pt x="1057710" y="16913"/>
                  <a:pt x="1057710" y="37776"/>
                </a:cubicBezTo>
                <a:lnTo>
                  <a:pt x="1057710" y="226651"/>
                </a:lnTo>
                <a:cubicBezTo>
                  <a:pt x="1057710" y="247515"/>
                  <a:pt x="1040797" y="264428"/>
                  <a:pt x="1019934" y="264428"/>
                </a:cubicBezTo>
                <a:lnTo>
                  <a:pt x="37776" y="264428"/>
                </a:lnTo>
                <a:cubicBezTo>
                  <a:pt x="16927" y="264428"/>
                  <a:pt x="0" y="247501"/>
                  <a:pt x="0" y="226651"/>
                </a:cubicBezTo>
                <a:lnTo>
                  <a:pt x="0" y="37776"/>
                </a:lnTo>
                <a:cubicBezTo>
                  <a:pt x="0" y="16927"/>
                  <a:pt x="16927" y="0"/>
                  <a:pt x="37776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502264" y="4684146"/>
            <a:ext cx="897165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dirty="0">
                <a:solidFill>
                  <a:srgbClr val="6B8E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Season-aware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73676" y="1514792"/>
            <a:ext cx="5636085" cy="1103041"/>
          </a:xfrm>
          <a:custGeom>
            <a:avLst/>
            <a:gdLst/>
            <a:ahLst/>
            <a:cxnLst/>
            <a:rect l="l" t="t" r="r" b="b"/>
            <a:pathLst>
              <a:path w="5636085" h="1103041">
                <a:moveTo>
                  <a:pt x="113326" y="0"/>
                </a:moveTo>
                <a:lnTo>
                  <a:pt x="5522758" y="0"/>
                </a:lnTo>
                <a:cubicBezTo>
                  <a:pt x="5585347" y="0"/>
                  <a:pt x="5636085" y="50738"/>
                  <a:pt x="5636085" y="113326"/>
                </a:cubicBezTo>
                <a:lnTo>
                  <a:pt x="5636085" y="989714"/>
                </a:lnTo>
                <a:cubicBezTo>
                  <a:pt x="5636085" y="1052303"/>
                  <a:pt x="5585347" y="1103041"/>
                  <a:pt x="5522758" y="1103041"/>
                </a:cubicBezTo>
                <a:lnTo>
                  <a:pt x="113326" y="1103041"/>
                </a:lnTo>
                <a:cubicBezTo>
                  <a:pt x="50738" y="1103041"/>
                  <a:pt x="0" y="1052303"/>
                  <a:pt x="0" y="989714"/>
                </a:cubicBezTo>
                <a:lnTo>
                  <a:pt x="0" y="113326"/>
                </a:lnTo>
                <a:cubicBezTo>
                  <a:pt x="0" y="50780"/>
                  <a:pt x="50780" y="0"/>
                  <a:pt x="113326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328555" y="1669679"/>
            <a:ext cx="453304" cy="453304"/>
          </a:xfrm>
          <a:custGeom>
            <a:avLst/>
            <a:gdLst/>
            <a:ahLst/>
            <a:cxnLst/>
            <a:rect l="l" t="t" r="r" b="b"/>
            <a:pathLst>
              <a:path w="453304" h="453304">
                <a:moveTo>
                  <a:pt x="75552" y="0"/>
                </a:moveTo>
                <a:lnTo>
                  <a:pt x="377752" y="0"/>
                </a:lnTo>
                <a:cubicBezTo>
                  <a:pt x="419451" y="0"/>
                  <a:pt x="453304" y="33854"/>
                  <a:pt x="453304" y="75552"/>
                </a:cubicBezTo>
                <a:lnTo>
                  <a:pt x="453304" y="377752"/>
                </a:lnTo>
                <a:cubicBezTo>
                  <a:pt x="453304" y="419451"/>
                  <a:pt x="419451" y="453304"/>
                  <a:pt x="377752" y="453304"/>
                </a:cubicBezTo>
                <a:lnTo>
                  <a:pt x="75552" y="453304"/>
                </a:lnTo>
                <a:cubicBezTo>
                  <a:pt x="33854" y="453304"/>
                  <a:pt x="0" y="419451"/>
                  <a:pt x="0" y="377752"/>
                </a:cubicBezTo>
                <a:lnTo>
                  <a:pt x="0" y="75552"/>
                </a:lnTo>
                <a:cubicBezTo>
                  <a:pt x="0" y="33854"/>
                  <a:pt x="33854" y="0"/>
                  <a:pt x="75552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460768" y="1801892"/>
            <a:ext cx="188877" cy="188877"/>
          </a:xfrm>
          <a:custGeom>
            <a:avLst/>
            <a:gdLst/>
            <a:ahLst/>
            <a:cxnLst/>
            <a:rect l="l" t="t" r="r" b="b"/>
            <a:pathLst>
              <a:path w="188877" h="188877">
                <a:moveTo>
                  <a:pt x="94438" y="188877"/>
                </a:moveTo>
                <a:cubicBezTo>
                  <a:pt x="146560" y="188877"/>
                  <a:pt x="188877" y="146560"/>
                  <a:pt x="188877" y="94438"/>
                </a:cubicBezTo>
                <a:cubicBezTo>
                  <a:pt x="188877" y="42316"/>
                  <a:pt x="146560" y="0"/>
                  <a:pt x="94438" y="0"/>
                </a:cubicBezTo>
                <a:cubicBezTo>
                  <a:pt x="42316" y="0"/>
                  <a:pt x="0" y="42316"/>
                  <a:pt x="0" y="94438"/>
                </a:cubicBezTo>
                <a:cubicBezTo>
                  <a:pt x="0" y="146560"/>
                  <a:pt x="42316" y="188877"/>
                  <a:pt x="94438" y="188877"/>
                </a:cubicBezTo>
                <a:close/>
                <a:moveTo>
                  <a:pt x="94438" y="50170"/>
                </a:moveTo>
                <a:cubicBezTo>
                  <a:pt x="99345" y="50170"/>
                  <a:pt x="103292" y="54118"/>
                  <a:pt x="103292" y="59024"/>
                </a:cubicBezTo>
                <a:lnTo>
                  <a:pt x="103292" y="100341"/>
                </a:lnTo>
                <a:cubicBezTo>
                  <a:pt x="103292" y="105247"/>
                  <a:pt x="99345" y="109194"/>
                  <a:pt x="94438" y="109194"/>
                </a:cubicBezTo>
                <a:cubicBezTo>
                  <a:pt x="89532" y="109194"/>
                  <a:pt x="85585" y="105247"/>
                  <a:pt x="85585" y="100341"/>
                </a:cubicBezTo>
                <a:lnTo>
                  <a:pt x="85585" y="59024"/>
                </a:lnTo>
                <a:cubicBezTo>
                  <a:pt x="85585" y="54118"/>
                  <a:pt x="89532" y="50170"/>
                  <a:pt x="94438" y="50170"/>
                </a:cubicBezTo>
                <a:close/>
                <a:moveTo>
                  <a:pt x="84589" y="129853"/>
                </a:moveTo>
                <a:cubicBezTo>
                  <a:pt x="84365" y="126197"/>
                  <a:pt x="86188" y="122718"/>
                  <a:pt x="89322" y="120823"/>
                </a:cubicBezTo>
                <a:cubicBezTo>
                  <a:pt x="92456" y="118927"/>
                  <a:pt x="96384" y="118927"/>
                  <a:pt x="99518" y="120823"/>
                </a:cubicBezTo>
                <a:cubicBezTo>
                  <a:pt x="102652" y="122718"/>
                  <a:pt x="104475" y="126197"/>
                  <a:pt x="104251" y="129853"/>
                </a:cubicBezTo>
                <a:cubicBezTo>
                  <a:pt x="104475" y="133509"/>
                  <a:pt x="102652" y="136987"/>
                  <a:pt x="99518" y="138883"/>
                </a:cubicBezTo>
                <a:cubicBezTo>
                  <a:pt x="96384" y="140779"/>
                  <a:pt x="92456" y="140779"/>
                  <a:pt x="89322" y="138883"/>
                </a:cubicBezTo>
                <a:cubicBezTo>
                  <a:pt x="86188" y="136987"/>
                  <a:pt x="84365" y="133509"/>
                  <a:pt x="84589" y="129853"/>
                </a:cubicBezTo>
                <a:close/>
              </a:path>
            </a:pathLst>
          </a:custGeom>
          <a:solidFill>
            <a:srgbClr val="F5F1E8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895185" y="1669679"/>
            <a:ext cx="4835247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Anomaly Detector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95185" y="1934106"/>
            <a:ext cx="4825803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Flag unusual patterns in real-time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95185" y="2198534"/>
            <a:ext cx="840502" cy="264428"/>
          </a:xfrm>
          <a:custGeom>
            <a:avLst/>
            <a:gdLst/>
            <a:ahLst/>
            <a:cxnLst/>
            <a:rect l="l" t="t" r="r" b="b"/>
            <a:pathLst>
              <a:path w="840502" h="264428">
                <a:moveTo>
                  <a:pt x="37776" y="0"/>
                </a:moveTo>
                <a:lnTo>
                  <a:pt x="802726" y="0"/>
                </a:lnTo>
                <a:cubicBezTo>
                  <a:pt x="823589" y="0"/>
                  <a:pt x="840502" y="16913"/>
                  <a:pt x="840502" y="37776"/>
                </a:cubicBezTo>
                <a:lnTo>
                  <a:pt x="840502" y="226651"/>
                </a:lnTo>
                <a:cubicBezTo>
                  <a:pt x="840502" y="247515"/>
                  <a:pt x="823589" y="264428"/>
                  <a:pt x="802726" y="264428"/>
                </a:cubicBezTo>
                <a:lnTo>
                  <a:pt x="37776" y="264428"/>
                </a:lnTo>
                <a:cubicBezTo>
                  <a:pt x="16927" y="264428"/>
                  <a:pt x="0" y="247501"/>
                  <a:pt x="0" y="226651"/>
                </a:cubicBezTo>
                <a:lnTo>
                  <a:pt x="0" y="37776"/>
                </a:lnTo>
                <a:cubicBezTo>
                  <a:pt x="0" y="16927"/>
                  <a:pt x="16927" y="0"/>
                  <a:pt x="37776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7008511" y="2236309"/>
            <a:ext cx="679957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90% recall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882775" y="2198534"/>
            <a:ext cx="1218256" cy="264428"/>
          </a:xfrm>
          <a:custGeom>
            <a:avLst/>
            <a:gdLst/>
            <a:ahLst/>
            <a:cxnLst/>
            <a:rect l="l" t="t" r="r" b="b"/>
            <a:pathLst>
              <a:path w="1218256" h="264428">
                <a:moveTo>
                  <a:pt x="37776" y="0"/>
                </a:moveTo>
                <a:lnTo>
                  <a:pt x="1180479" y="0"/>
                </a:lnTo>
                <a:cubicBezTo>
                  <a:pt x="1201343" y="0"/>
                  <a:pt x="1218256" y="16913"/>
                  <a:pt x="1218256" y="37776"/>
                </a:cubicBezTo>
                <a:lnTo>
                  <a:pt x="1218256" y="226651"/>
                </a:lnTo>
                <a:cubicBezTo>
                  <a:pt x="1218256" y="247515"/>
                  <a:pt x="1201343" y="264428"/>
                  <a:pt x="1180479" y="264428"/>
                </a:cubicBezTo>
                <a:lnTo>
                  <a:pt x="37776" y="264428"/>
                </a:lnTo>
                <a:cubicBezTo>
                  <a:pt x="16927" y="264428"/>
                  <a:pt x="0" y="247501"/>
                  <a:pt x="0" y="226651"/>
                </a:cubicBezTo>
                <a:lnTo>
                  <a:pt x="0" y="37776"/>
                </a:lnTo>
                <a:cubicBezTo>
                  <a:pt x="0" y="16927"/>
                  <a:pt x="16927" y="0"/>
                  <a:pt x="37776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7996101" y="2236309"/>
            <a:ext cx="1057710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dirty="0">
                <a:solidFill>
                  <a:srgbClr val="6B8E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stream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73676" y="2738710"/>
            <a:ext cx="5636085" cy="1103041"/>
          </a:xfrm>
          <a:custGeom>
            <a:avLst/>
            <a:gdLst/>
            <a:ahLst/>
            <a:cxnLst/>
            <a:rect l="l" t="t" r="r" b="b"/>
            <a:pathLst>
              <a:path w="5636085" h="1103041">
                <a:moveTo>
                  <a:pt x="113326" y="0"/>
                </a:moveTo>
                <a:lnTo>
                  <a:pt x="5522758" y="0"/>
                </a:lnTo>
                <a:cubicBezTo>
                  <a:pt x="5585347" y="0"/>
                  <a:pt x="5636085" y="50738"/>
                  <a:pt x="5636085" y="113326"/>
                </a:cubicBezTo>
                <a:lnTo>
                  <a:pt x="5636085" y="989714"/>
                </a:lnTo>
                <a:cubicBezTo>
                  <a:pt x="5636085" y="1052303"/>
                  <a:pt x="5585347" y="1103041"/>
                  <a:pt x="5522758" y="1103041"/>
                </a:cubicBezTo>
                <a:lnTo>
                  <a:pt x="113326" y="1103041"/>
                </a:lnTo>
                <a:cubicBezTo>
                  <a:pt x="50738" y="1103041"/>
                  <a:pt x="0" y="1052303"/>
                  <a:pt x="0" y="989714"/>
                </a:cubicBezTo>
                <a:lnTo>
                  <a:pt x="0" y="113326"/>
                </a:lnTo>
                <a:cubicBezTo>
                  <a:pt x="0" y="50780"/>
                  <a:pt x="50780" y="0"/>
                  <a:pt x="113326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6328555" y="2893597"/>
            <a:ext cx="453304" cy="453304"/>
          </a:xfrm>
          <a:custGeom>
            <a:avLst/>
            <a:gdLst/>
            <a:ahLst/>
            <a:cxnLst/>
            <a:rect l="l" t="t" r="r" b="b"/>
            <a:pathLst>
              <a:path w="453304" h="453304">
                <a:moveTo>
                  <a:pt x="75552" y="0"/>
                </a:moveTo>
                <a:lnTo>
                  <a:pt x="377752" y="0"/>
                </a:lnTo>
                <a:cubicBezTo>
                  <a:pt x="419451" y="0"/>
                  <a:pt x="453304" y="33854"/>
                  <a:pt x="453304" y="75552"/>
                </a:cubicBezTo>
                <a:lnTo>
                  <a:pt x="453304" y="377752"/>
                </a:lnTo>
                <a:cubicBezTo>
                  <a:pt x="453304" y="419451"/>
                  <a:pt x="419451" y="453304"/>
                  <a:pt x="377752" y="453304"/>
                </a:cubicBezTo>
                <a:lnTo>
                  <a:pt x="75552" y="453304"/>
                </a:lnTo>
                <a:cubicBezTo>
                  <a:pt x="33854" y="453304"/>
                  <a:pt x="0" y="419451"/>
                  <a:pt x="0" y="377752"/>
                </a:cubicBezTo>
                <a:lnTo>
                  <a:pt x="0" y="75552"/>
                </a:lnTo>
                <a:cubicBezTo>
                  <a:pt x="0" y="33854"/>
                  <a:pt x="33854" y="0"/>
                  <a:pt x="75552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6460768" y="3025811"/>
            <a:ext cx="188877" cy="188877"/>
          </a:xfrm>
          <a:custGeom>
            <a:avLst/>
            <a:gdLst/>
            <a:ahLst/>
            <a:cxnLst/>
            <a:rect l="l" t="t" r="r" b="b"/>
            <a:pathLst>
              <a:path w="188877" h="188877">
                <a:moveTo>
                  <a:pt x="47219" y="35414"/>
                </a:moveTo>
                <a:lnTo>
                  <a:pt x="47219" y="29512"/>
                </a:lnTo>
                <a:cubicBezTo>
                  <a:pt x="47219" y="13207"/>
                  <a:pt x="78945" y="0"/>
                  <a:pt x="118048" y="0"/>
                </a:cubicBezTo>
                <a:cubicBezTo>
                  <a:pt x="157151" y="0"/>
                  <a:pt x="188877" y="13207"/>
                  <a:pt x="188877" y="29512"/>
                </a:cubicBezTo>
                <a:lnTo>
                  <a:pt x="188877" y="35414"/>
                </a:lnTo>
                <a:cubicBezTo>
                  <a:pt x="188877" y="46703"/>
                  <a:pt x="173641" y="56515"/>
                  <a:pt x="151249" y="61496"/>
                </a:cubicBezTo>
                <a:cubicBezTo>
                  <a:pt x="150364" y="60463"/>
                  <a:pt x="149441" y="59467"/>
                  <a:pt x="148519" y="58544"/>
                </a:cubicBezTo>
                <a:cubicBezTo>
                  <a:pt x="142801" y="52900"/>
                  <a:pt x="135423" y="48621"/>
                  <a:pt x="127713" y="45448"/>
                </a:cubicBezTo>
                <a:cubicBezTo>
                  <a:pt x="112256" y="38993"/>
                  <a:pt x="92114" y="35451"/>
                  <a:pt x="70829" y="35451"/>
                </a:cubicBezTo>
                <a:cubicBezTo>
                  <a:pt x="62750" y="35451"/>
                  <a:pt x="54855" y="35968"/>
                  <a:pt x="47293" y="36964"/>
                </a:cubicBezTo>
                <a:cubicBezTo>
                  <a:pt x="47219" y="36484"/>
                  <a:pt x="47219" y="35968"/>
                  <a:pt x="47219" y="35451"/>
                </a:cubicBezTo>
                <a:close/>
                <a:moveTo>
                  <a:pt x="159365" y="130222"/>
                </a:moveTo>
                <a:lnTo>
                  <a:pt x="159365" y="113179"/>
                </a:lnTo>
                <a:cubicBezTo>
                  <a:pt x="164935" y="111740"/>
                  <a:pt x="170174" y="110043"/>
                  <a:pt x="174932" y="108051"/>
                </a:cubicBezTo>
                <a:cubicBezTo>
                  <a:pt x="179802" y="106022"/>
                  <a:pt x="184561" y="103550"/>
                  <a:pt x="188877" y="100562"/>
                </a:cubicBezTo>
                <a:lnTo>
                  <a:pt x="188877" y="106243"/>
                </a:lnTo>
                <a:cubicBezTo>
                  <a:pt x="188877" y="116130"/>
                  <a:pt x="177256" y="124873"/>
                  <a:pt x="159365" y="130222"/>
                </a:cubicBezTo>
                <a:close/>
                <a:moveTo>
                  <a:pt x="159365" y="94807"/>
                </a:moveTo>
                <a:lnTo>
                  <a:pt x="159365" y="82634"/>
                </a:lnTo>
                <a:cubicBezTo>
                  <a:pt x="159365" y="80974"/>
                  <a:pt x="159217" y="79387"/>
                  <a:pt x="158996" y="77838"/>
                </a:cubicBezTo>
                <a:cubicBezTo>
                  <a:pt x="164714" y="76399"/>
                  <a:pt x="170063" y="74665"/>
                  <a:pt x="174932" y="72600"/>
                </a:cubicBezTo>
                <a:cubicBezTo>
                  <a:pt x="179802" y="70534"/>
                  <a:pt x="184561" y="68099"/>
                  <a:pt x="188877" y="65111"/>
                </a:cubicBezTo>
                <a:lnTo>
                  <a:pt x="188877" y="70792"/>
                </a:lnTo>
                <a:cubicBezTo>
                  <a:pt x="188877" y="80678"/>
                  <a:pt x="177256" y="89421"/>
                  <a:pt x="159365" y="94770"/>
                </a:cubicBezTo>
                <a:close/>
                <a:moveTo>
                  <a:pt x="0" y="88536"/>
                </a:moveTo>
                <a:lnTo>
                  <a:pt x="0" y="82634"/>
                </a:lnTo>
                <a:cubicBezTo>
                  <a:pt x="0" y="66328"/>
                  <a:pt x="31725" y="53122"/>
                  <a:pt x="70829" y="53122"/>
                </a:cubicBezTo>
                <a:cubicBezTo>
                  <a:pt x="109932" y="53122"/>
                  <a:pt x="141658" y="66328"/>
                  <a:pt x="141658" y="82634"/>
                </a:cubicBezTo>
                <a:lnTo>
                  <a:pt x="141658" y="88536"/>
                </a:lnTo>
                <a:cubicBezTo>
                  <a:pt x="141658" y="104841"/>
                  <a:pt x="109932" y="118048"/>
                  <a:pt x="70829" y="118048"/>
                </a:cubicBezTo>
                <a:cubicBezTo>
                  <a:pt x="31725" y="118048"/>
                  <a:pt x="0" y="104841"/>
                  <a:pt x="0" y="88536"/>
                </a:cubicBezTo>
                <a:close/>
                <a:moveTo>
                  <a:pt x="141658" y="123950"/>
                </a:moveTo>
                <a:cubicBezTo>
                  <a:pt x="141658" y="140256"/>
                  <a:pt x="109932" y="153462"/>
                  <a:pt x="70829" y="153462"/>
                </a:cubicBezTo>
                <a:cubicBezTo>
                  <a:pt x="31725" y="153462"/>
                  <a:pt x="0" y="140256"/>
                  <a:pt x="0" y="123950"/>
                </a:cubicBezTo>
                <a:lnTo>
                  <a:pt x="0" y="118269"/>
                </a:lnTo>
                <a:cubicBezTo>
                  <a:pt x="4279" y="121257"/>
                  <a:pt x="9038" y="123692"/>
                  <a:pt x="13944" y="125758"/>
                </a:cubicBezTo>
                <a:cubicBezTo>
                  <a:pt x="29401" y="132214"/>
                  <a:pt x="49543" y="135755"/>
                  <a:pt x="70829" y="135755"/>
                </a:cubicBezTo>
                <a:cubicBezTo>
                  <a:pt x="92114" y="135755"/>
                  <a:pt x="112256" y="132177"/>
                  <a:pt x="127713" y="125758"/>
                </a:cubicBezTo>
                <a:cubicBezTo>
                  <a:pt x="132583" y="123729"/>
                  <a:pt x="137341" y="121257"/>
                  <a:pt x="141658" y="118269"/>
                </a:cubicBezTo>
                <a:lnTo>
                  <a:pt x="141658" y="123950"/>
                </a:lnTo>
                <a:close/>
                <a:moveTo>
                  <a:pt x="141658" y="153684"/>
                </a:moveTo>
                <a:lnTo>
                  <a:pt x="141658" y="159365"/>
                </a:lnTo>
                <a:cubicBezTo>
                  <a:pt x="141658" y="175670"/>
                  <a:pt x="109932" y="188877"/>
                  <a:pt x="70829" y="188877"/>
                </a:cubicBezTo>
                <a:cubicBezTo>
                  <a:pt x="31725" y="188877"/>
                  <a:pt x="0" y="175670"/>
                  <a:pt x="0" y="159365"/>
                </a:cubicBezTo>
                <a:lnTo>
                  <a:pt x="0" y="153684"/>
                </a:lnTo>
                <a:cubicBezTo>
                  <a:pt x="4279" y="156672"/>
                  <a:pt x="9038" y="159107"/>
                  <a:pt x="13944" y="161172"/>
                </a:cubicBezTo>
                <a:cubicBezTo>
                  <a:pt x="29401" y="167628"/>
                  <a:pt x="49543" y="171170"/>
                  <a:pt x="70829" y="171170"/>
                </a:cubicBezTo>
                <a:cubicBezTo>
                  <a:pt x="92114" y="171170"/>
                  <a:pt x="112256" y="167591"/>
                  <a:pt x="127713" y="161172"/>
                </a:cubicBezTo>
                <a:cubicBezTo>
                  <a:pt x="132583" y="159143"/>
                  <a:pt x="137341" y="156672"/>
                  <a:pt x="141658" y="153684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895185" y="2893597"/>
            <a:ext cx="4835247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 Optimizer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95185" y="3158024"/>
            <a:ext cx="4825803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Minimize input costs without yield loss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895185" y="3422452"/>
            <a:ext cx="1048266" cy="264428"/>
          </a:xfrm>
          <a:custGeom>
            <a:avLst/>
            <a:gdLst/>
            <a:ahLst/>
            <a:cxnLst/>
            <a:rect l="l" t="t" r="r" b="b"/>
            <a:pathLst>
              <a:path w="1048266" h="264428">
                <a:moveTo>
                  <a:pt x="37776" y="0"/>
                </a:moveTo>
                <a:lnTo>
                  <a:pt x="1010490" y="0"/>
                </a:lnTo>
                <a:cubicBezTo>
                  <a:pt x="1031354" y="0"/>
                  <a:pt x="1048266" y="16913"/>
                  <a:pt x="1048266" y="37776"/>
                </a:cubicBezTo>
                <a:lnTo>
                  <a:pt x="1048266" y="226651"/>
                </a:lnTo>
                <a:cubicBezTo>
                  <a:pt x="1048266" y="247515"/>
                  <a:pt x="1031354" y="264428"/>
                  <a:pt x="1010490" y="264428"/>
                </a:cubicBezTo>
                <a:lnTo>
                  <a:pt x="37776" y="264428"/>
                </a:lnTo>
                <a:cubicBezTo>
                  <a:pt x="16927" y="264428"/>
                  <a:pt x="0" y="247501"/>
                  <a:pt x="0" y="226651"/>
                </a:cubicBezTo>
                <a:lnTo>
                  <a:pt x="0" y="37776"/>
                </a:lnTo>
                <a:cubicBezTo>
                  <a:pt x="0" y="16927"/>
                  <a:pt x="16927" y="0"/>
                  <a:pt x="37776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7008511" y="3460227"/>
            <a:ext cx="887721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5-10% savings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097032" y="3422452"/>
            <a:ext cx="1010491" cy="264428"/>
          </a:xfrm>
          <a:custGeom>
            <a:avLst/>
            <a:gdLst/>
            <a:ahLst/>
            <a:cxnLst/>
            <a:rect l="l" t="t" r="r" b="b"/>
            <a:pathLst>
              <a:path w="1010491" h="264428">
                <a:moveTo>
                  <a:pt x="37776" y="0"/>
                </a:moveTo>
                <a:lnTo>
                  <a:pt x="972715" y="0"/>
                </a:lnTo>
                <a:cubicBezTo>
                  <a:pt x="993578" y="0"/>
                  <a:pt x="1010491" y="16913"/>
                  <a:pt x="1010491" y="37776"/>
                </a:cubicBezTo>
                <a:lnTo>
                  <a:pt x="1010491" y="226651"/>
                </a:lnTo>
                <a:cubicBezTo>
                  <a:pt x="1010491" y="247515"/>
                  <a:pt x="993578" y="264428"/>
                  <a:pt x="972715" y="264428"/>
                </a:cubicBezTo>
                <a:lnTo>
                  <a:pt x="37776" y="264428"/>
                </a:lnTo>
                <a:cubicBezTo>
                  <a:pt x="16927" y="264428"/>
                  <a:pt x="0" y="247501"/>
                  <a:pt x="0" y="226651"/>
                </a:cubicBezTo>
                <a:lnTo>
                  <a:pt x="0" y="37776"/>
                </a:lnTo>
                <a:cubicBezTo>
                  <a:pt x="0" y="16927"/>
                  <a:pt x="16927" y="0"/>
                  <a:pt x="37776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8210358" y="3460227"/>
            <a:ext cx="849946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dirty="0">
                <a:solidFill>
                  <a:srgbClr val="6B8E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Substrate mix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73676" y="3962647"/>
            <a:ext cx="5636085" cy="1103041"/>
          </a:xfrm>
          <a:custGeom>
            <a:avLst/>
            <a:gdLst/>
            <a:ahLst/>
            <a:cxnLst/>
            <a:rect l="l" t="t" r="r" b="b"/>
            <a:pathLst>
              <a:path w="5636085" h="1103041">
                <a:moveTo>
                  <a:pt x="113326" y="0"/>
                </a:moveTo>
                <a:lnTo>
                  <a:pt x="5522758" y="0"/>
                </a:lnTo>
                <a:cubicBezTo>
                  <a:pt x="5585347" y="0"/>
                  <a:pt x="5636085" y="50738"/>
                  <a:pt x="5636085" y="113326"/>
                </a:cubicBezTo>
                <a:lnTo>
                  <a:pt x="5636085" y="989714"/>
                </a:lnTo>
                <a:cubicBezTo>
                  <a:pt x="5636085" y="1052303"/>
                  <a:pt x="5585347" y="1103041"/>
                  <a:pt x="5522758" y="1103041"/>
                </a:cubicBezTo>
                <a:lnTo>
                  <a:pt x="113326" y="1103041"/>
                </a:lnTo>
                <a:cubicBezTo>
                  <a:pt x="50738" y="1103041"/>
                  <a:pt x="0" y="1052303"/>
                  <a:pt x="0" y="989714"/>
                </a:cubicBezTo>
                <a:lnTo>
                  <a:pt x="0" y="113326"/>
                </a:lnTo>
                <a:cubicBezTo>
                  <a:pt x="0" y="50780"/>
                  <a:pt x="50780" y="0"/>
                  <a:pt x="113326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6328555" y="4117515"/>
            <a:ext cx="453304" cy="453304"/>
          </a:xfrm>
          <a:custGeom>
            <a:avLst/>
            <a:gdLst/>
            <a:ahLst/>
            <a:cxnLst/>
            <a:rect l="l" t="t" r="r" b="b"/>
            <a:pathLst>
              <a:path w="453304" h="453304">
                <a:moveTo>
                  <a:pt x="75552" y="0"/>
                </a:moveTo>
                <a:lnTo>
                  <a:pt x="377752" y="0"/>
                </a:lnTo>
                <a:cubicBezTo>
                  <a:pt x="419451" y="0"/>
                  <a:pt x="453304" y="33854"/>
                  <a:pt x="453304" y="75552"/>
                </a:cubicBezTo>
                <a:lnTo>
                  <a:pt x="453304" y="377752"/>
                </a:lnTo>
                <a:cubicBezTo>
                  <a:pt x="453304" y="419451"/>
                  <a:pt x="419451" y="453304"/>
                  <a:pt x="377752" y="453304"/>
                </a:cubicBezTo>
                <a:lnTo>
                  <a:pt x="75552" y="453304"/>
                </a:lnTo>
                <a:cubicBezTo>
                  <a:pt x="33854" y="453304"/>
                  <a:pt x="0" y="419451"/>
                  <a:pt x="0" y="377752"/>
                </a:cubicBezTo>
                <a:lnTo>
                  <a:pt x="0" y="75552"/>
                </a:lnTo>
                <a:cubicBezTo>
                  <a:pt x="0" y="33854"/>
                  <a:pt x="33854" y="0"/>
                  <a:pt x="75552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6437159" y="4249729"/>
            <a:ext cx="236096" cy="188877"/>
          </a:xfrm>
          <a:custGeom>
            <a:avLst/>
            <a:gdLst/>
            <a:ahLst/>
            <a:cxnLst/>
            <a:rect l="l" t="t" r="r" b="b"/>
            <a:pathLst>
              <a:path w="236096" h="188877">
                <a:moveTo>
                  <a:pt x="141658" y="11805"/>
                </a:moveTo>
                <a:lnTo>
                  <a:pt x="188877" y="11805"/>
                </a:lnTo>
                <a:cubicBezTo>
                  <a:pt x="195406" y="11805"/>
                  <a:pt x="200682" y="17080"/>
                  <a:pt x="200682" y="23610"/>
                </a:cubicBezTo>
                <a:cubicBezTo>
                  <a:pt x="200682" y="30139"/>
                  <a:pt x="195406" y="35414"/>
                  <a:pt x="188877" y="35414"/>
                </a:cubicBezTo>
                <a:lnTo>
                  <a:pt x="146970" y="35414"/>
                </a:lnTo>
                <a:cubicBezTo>
                  <a:pt x="145052" y="44932"/>
                  <a:pt x="138522" y="52790"/>
                  <a:pt x="129853" y="56552"/>
                </a:cubicBezTo>
                <a:lnTo>
                  <a:pt x="129853" y="165267"/>
                </a:lnTo>
                <a:lnTo>
                  <a:pt x="188877" y="165267"/>
                </a:lnTo>
                <a:cubicBezTo>
                  <a:pt x="195406" y="165267"/>
                  <a:pt x="200682" y="170543"/>
                  <a:pt x="200682" y="177072"/>
                </a:cubicBezTo>
                <a:cubicBezTo>
                  <a:pt x="200682" y="183602"/>
                  <a:pt x="195406" y="188877"/>
                  <a:pt x="188877" y="188877"/>
                </a:cubicBezTo>
                <a:lnTo>
                  <a:pt x="47219" y="188877"/>
                </a:lnTo>
                <a:cubicBezTo>
                  <a:pt x="40690" y="188877"/>
                  <a:pt x="35414" y="183602"/>
                  <a:pt x="35414" y="177072"/>
                </a:cubicBezTo>
                <a:cubicBezTo>
                  <a:pt x="35414" y="170543"/>
                  <a:pt x="40690" y="165267"/>
                  <a:pt x="47219" y="165267"/>
                </a:cubicBezTo>
                <a:lnTo>
                  <a:pt x="106243" y="165267"/>
                </a:lnTo>
                <a:lnTo>
                  <a:pt x="106243" y="56552"/>
                </a:lnTo>
                <a:cubicBezTo>
                  <a:pt x="97574" y="52753"/>
                  <a:pt x="91045" y="44895"/>
                  <a:pt x="89126" y="35414"/>
                </a:cubicBezTo>
                <a:lnTo>
                  <a:pt x="47219" y="35414"/>
                </a:lnTo>
                <a:cubicBezTo>
                  <a:pt x="40690" y="35414"/>
                  <a:pt x="35414" y="30139"/>
                  <a:pt x="35414" y="23610"/>
                </a:cubicBezTo>
                <a:cubicBezTo>
                  <a:pt x="35414" y="17080"/>
                  <a:pt x="40690" y="11805"/>
                  <a:pt x="47219" y="11805"/>
                </a:cubicBezTo>
                <a:lnTo>
                  <a:pt x="94438" y="11805"/>
                </a:lnTo>
                <a:cubicBezTo>
                  <a:pt x="99824" y="4648"/>
                  <a:pt x="108383" y="0"/>
                  <a:pt x="118048" y="0"/>
                </a:cubicBezTo>
                <a:cubicBezTo>
                  <a:pt x="127713" y="0"/>
                  <a:pt x="136272" y="4648"/>
                  <a:pt x="141658" y="11805"/>
                </a:cubicBezTo>
                <a:close/>
                <a:moveTo>
                  <a:pt x="162168" y="118048"/>
                </a:moveTo>
                <a:lnTo>
                  <a:pt x="215585" y="118048"/>
                </a:lnTo>
                <a:lnTo>
                  <a:pt x="188877" y="72231"/>
                </a:lnTo>
                <a:lnTo>
                  <a:pt x="162168" y="118048"/>
                </a:lnTo>
                <a:close/>
                <a:moveTo>
                  <a:pt x="188877" y="153462"/>
                </a:moveTo>
                <a:cubicBezTo>
                  <a:pt x="165673" y="153462"/>
                  <a:pt x="146380" y="140920"/>
                  <a:pt x="142395" y="124356"/>
                </a:cubicBezTo>
                <a:cubicBezTo>
                  <a:pt x="141436" y="120298"/>
                  <a:pt x="142764" y="116130"/>
                  <a:pt x="144867" y="112515"/>
                </a:cubicBezTo>
                <a:lnTo>
                  <a:pt x="179986" y="52310"/>
                </a:lnTo>
                <a:cubicBezTo>
                  <a:pt x="181831" y="49137"/>
                  <a:pt x="185225" y="47219"/>
                  <a:pt x="188877" y="47219"/>
                </a:cubicBezTo>
                <a:cubicBezTo>
                  <a:pt x="192529" y="47219"/>
                  <a:pt x="195923" y="49174"/>
                  <a:pt x="197767" y="52310"/>
                </a:cubicBezTo>
                <a:lnTo>
                  <a:pt x="232887" y="112515"/>
                </a:lnTo>
                <a:cubicBezTo>
                  <a:pt x="234989" y="116130"/>
                  <a:pt x="236317" y="120298"/>
                  <a:pt x="235358" y="124356"/>
                </a:cubicBezTo>
                <a:cubicBezTo>
                  <a:pt x="231374" y="140883"/>
                  <a:pt x="212081" y="153462"/>
                  <a:pt x="188877" y="153462"/>
                </a:cubicBezTo>
                <a:close/>
                <a:moveTo>
                  <a:pt x="46777" y="72231"/>
                </a:moveTo>
                <a:lnTo>
                  <a:pt x="20068" y="118048"/>
                </a:lnTo>
                <a:lnTo>
                  <a:pt x="73522" y="118048"/>
                </a:lnTo>
                <a:lnTo>
                  <a:pt x="46777" y="72231"/>
                </a:lnTo>
                <a:close/>
                <a:moveTo>
                  <a:pt x="332" y="124356"/>
                </a:moveTo>
                <a:cubicBezTo>
                  <a:pt x="-627" y="120298"/>
                  <a:pt x="701" y="116130"/>
                  <a:pt x="2804" y="112515"/>
                </a:cubicBezTo>
                <a:lnTo>
                  <a:pt x="37923" y="52310"/>
                </a:lnTo>
                <a:cubicBezTo>
                  <a:pt x="39767" y="49137"/>
                  <a:pt x="43161" y="47219"/>
                  <a:pt x="46813" y="47219"/>
                </a:cubicBezTo>
                <a:cubicBezTo>
                  <a:pt x="50466" y="47219"/>
                  <a:pt x="53859" y="49174"/>
                  <a:pt x="55704" y="52310"/>
                </a:cubicBezTo>
                <a:lnTo>
                  <a:pt x="90823" y="112515"/>
                </a:lnTo>
                <a:cubicBezTo>
                  <a:pt x="92926" y="116130"/>
                  <a:pt x="94254" y="120298"/>
                  <a:pt x="93295" y="124356"/>
                </a:cubicBezTo>
                <a:cubicBezTo>
                  <a:pt x="89311" y="140883"/>
                  <a:pt x="70017" y="153462"/>
                  <a:pt x="46813" y="153462"/>
                </a:cubicBezTo>
                <a:cubicBezTo>
                  <a:pt x="23610" y="153462"/>
                  <a:pt x="4316" y="140920"/>
                  <a:pt x="332" y="124356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6895185" y="4117515"/>
            <a:ext cx="4835247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Benchmarking System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895185" y="4381943"/>
            <a:ext cx="4825803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 against regional leaders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895185" y="4646370"/>
            <a:ext cx="1237143" cy="264428"/>
          </a:xfrm>
          <a:custGeom>
            <a:avLst/>
            <a:gdLst/>
            <a:ahLst/>
            <a:cxnLst/>
            <a:rect l="l" t="t" r="r" b="b"/>
            <a:pathLst>
              <a:path w="1237143" h="264428">
                <a:moveTo>
                  <a:pt x="37776" y="0"/>
                </a:moveTo>
                <a:lnTo>
                  <a:pt x="1199367" y="0"/>
                </a:lnTo>
                <a:cubicBezTo>
                  <a:pt x="1220230" y="0"/>
                  <a:pt x="1237143" y="16913"/>
                  <a:pt x="1237143" y="37776"/>
                </a:cubicBezTo>
                <a:lnTo>
                  <a:pt x="1237143" y="226651"/>
                </a:lnTo>
                <a:cubicBezTo>
                  <a:pt x="1237143" y="247515"/>
                  <a:pt x="1220230" y="264428"/>
                  <a:pt x="1199367" y="264428"/>
                </a:cubicBezTo>
                <a:lnTo>
                  <a:pt x="37776" y="264428"/>
                </a:lnTo>
                <a:cubicBezTo>
                  <a:pt x="16927" y="264428"/>
                  <a:pt x="0" y="247501"/>
                  <a:pt x="0" y="226651"/>
                </a:cubicBezTo>
                <a:lnTo>
                  <a:pt x="0" y="37776"/>
                </a:lnTo>
                <a:cubicBezTo>
                  <a:pt x="0" y="16927"/>
                  <a:pt x="16927" y="0"/>
                  <a:pt x="37776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7008511" y="4684146"/>
            <a:ext cx="1076598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Percentile ranking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285319" y="4646370"/>
            <a:ext cx="1133261" cy="264428"/>
          </a:xfrm>
          <a:custGeom>
            <a:avLst/>
            <a:gdLst/>
            <a:ahLst/>
            <a:cxnLst/>
            <a:rect l="l" t="t" r="r" b="b"/>
            <a:pathLst>
              <a:path w="1133261" h="264428">
                <a:moveTo>
                  <a:pt x="37776" y="0"/>
                </a:moveTo>
                <a:lnTo>
                  <a:pt x="1095485" y="0"/>
                </a:lnTo>
                <a:cubicBezTo>
                  <a:pt x="1116348" y="0"/>
                  <a:pt x="1133261" y="16913"/>
                  <a:pt x="1133261" y="37776"/>
                </a:cubicBezTo>
                <a:lnTo>
                  <a:pt x="1133261" y="226651"/>
                </a:lnTo>
                <a:cubicBezTo>
                  <a:pt x="1133261" y="247515"/>
                  <a:pt x="1116348" y="264428"/>
                  <a:pt x="1095485" y="264428"/>
                </a:cubicBezTo>
                <a:lnTo>
                  <a:pt x="37776" y="264428"/>
                </a:lnTo>
                <a:cubicBezTo>
                  <a:pt x="16927" y="264428"/>
                  <a:pt x="0" y="247501"/>
                  <a:pt x="0" y="226651"/>
                </a:cubicBezTo>
                <a:lnTo>
                  <a:pt x="0" y="37776"/>
                </a:lnTo>
                <a:cubicBezTo>
                  <a:pt x="0" y="16927"/>
                  <a:pt x="16927" y="0"/>
                  <a:pt x="37776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8398645" y="4684146"/>
            <a:ext cx="972716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dirty="0">
                <a:solidFill>
                  <a:srgbClr val="6B8E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 lib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81531" y="5224341"/>
            <a:ext cx="11425160" cy="1254142"/>
          </a:xfrm>
          <a:custGeom>
            <a:avLst/>
            <a:gdLst/>
            <a:ahLst/>
            <a:cxnLst/>
            <a:rect l="l" t="t" r="r" b="b"/>
            <a:pathLst>
              <a:path w="11425160" h="1254142">
                <a:moveTo>
                  <a:pt x="113324" y="0"/>
                </a:moveTo>
                <a:lnTo>
                  <a:pt x="11311836" y="0"/>
                </a:lnTo>
                <a:cubicBezTo>
                  <a:pt x="11374423" y="0"/>
                  <a:pt x="11425160" y="50737"/>
                  <a:pt x="11425160" y="113324"/>
                </a:cubicBezTo>
                <a:lnTo>
                  <a:pt x="11425160" y="1140818"/>
                </a:lnTo>
                <a:cubicBezTo>
                  <a:pt x="11425160" y="1203405"/>
                  <a:pt x="11374423" y="1254142"/>
                  <a:pt x="11311836" y="1254142"/>
                </a:cubicBezTo>
                <a:lnTo>
                  <a:pt x="113324" y="1254142"/>
                </a:lnTo>
                <a:cubicBezTo>
                  <a:pt x="50737" y="1254142"/>
                  <a:pt x="0" y="1203405"/>
                  <a:pt x="0" y="1140818"/>
                </a:cubicBezTo>
                <a:lnTo>
                  <a:pt x="0" y="113324"/>
                </a:lnTo>
                <a:cubicBezTo>
                  <a:pt x="0" y="50779"/>
                  <a:pt x="50779" y="0"/>
                  <a:pt x="113324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536410" y="5379209"/>
            <a:ext cx="11181509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spc="52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INFRASTRUCTURE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784178" y="5681412"/>
            <a:ext cx="198321" cy="226652"/>
          </a:xfrm>
          <a:custGeom>
            <a:avLst/>
            <a:gdLst/>
            <a:ahLst/>
            <a:cxnLst/>
            <a:rect l="l" t="t" r="r" b="b"/>
            <a:pathLst>
              <a:path w="198321" h="226652">
                <a:moveTo>
                  <a:pt x="198321" y="91104"/>
                </a:moveTo>
                <a:cubicBezTo>
                  <a:pt x="191769" y="95442"/>
                  <a:pt x="184243" y="98939"/>
                  <a:pt x="176408" y="101728"/>
                </a:cubicBezTo>
                <a:cubicBezTo>
                  <a:pt x="155602" y="109165"/>
                  <a:pt x="128289" y="113326"/>
                  <a:pt x="99160" y="113326"/>
                </a:cubicBezTo>
                <a:cubicBezTo>
                  <a:pt x="70032" y="113326"/>
                  <a:pt x="42674" y="109121"/>
                  <a:pt x="21913" y="101728"/>
                </a:cubicBezTo>
                <a:cubicBezTo>
                  <a:pt x="14121" y="98939"/>
                  <a:pt x="6552" y="95442"/>
                  <a:pt x="0" y="91104"/>
                </a:cubicBezTo>
                <a:lnTo>
                  <a:pt x="0" y="127492"/>
                </a:lnTo>
                <a:cubicBezTo>
                  <a:pt x="0" y="147058"/>
                  <a:pt x="44401" y="162906"/>
                  <a:pt x="99160" y="162906"/>
                </a:cubicBezTo>
                <a:cubicBezTo>
                  <a:pt x="153920" y="162906"/>
                  <a:pt x="198321" y="147058"/>
                  <a:pt x="198321" y="127492"/>
                </a:cubicBezTo>
                <a:lnTo>
                  <a:pt x="198321" y="91104"/>
                </a:lnTo>
                <a:close/>
                <a:moveTo>
                  <a:pt x="198321" y="56663"/>
                </a:moveTo>
                <a:lnTo>
                  <a:pt x="198321" y="35414"/>
                </a:lnTo>
                <a:cubicBezTo>
                  <a:pt x="198321" y="15848"/>
                  <a:pt x="153920" y="0"/>
                  <a:pt x="99160" y="0"/>
                </a:cubicBezTo>
                <a:cubicBezTo>
                  <a:pt x="44401" y="0"/>
                  <a:pt x="0" y="15848"/>
                  <a:pt x="0" y="35414"/>
                </a:cubicBezTo>
                <a:lnTo>
                  <a:pt x="0" y="56663"/>
                </a:lnTo>
                <a:cubicBezTo>
                  <a:pt x="0" y="76230"/>
                  <a:pt x="44401" y="92077"/>
                  <a:pt x="99160" y="92077"/>
                </a:cubicBezTo>
                <a:cubicBezTo>
                  <a:pt x="153920" y="92077"/>
                  <a:pt x="198321" y="76230"/>
                  <a:pt x="198321" y="56663"/>
                </a:cubicBezTo>
                <a:close/>
                <a:moveTo>
                  <a:pt x="176408" y="172557"/>
                </a:moveTo>
                <a:cubicBezTo>
                  <a:pt x="155646" y="179949"/>
                  <a:pt x="128333" y="184155"/>
                  <a:pt x="99160" y="184155"/>
                </a:cubicBezTo>
                <a:cubicBezTo>
                  <a:pt x="69988" y="184155"/>
                  <a:pt x="42674" y="179949"/>
                  <a:pt x="21913" y="172557"/>
                </a:cubicBezTo>
                <a:cubicBezTo>
                  <a:pt x="14121" y="169768"/>
                  <a:pt x="6552" y="166271"/>
                  <a:pt x="0" y="161932"/>
                </a:cubicBezTo>
                <a:lnTo>
                  <a:pt x="0" y="191238"/>
                </a:lnTo>
                <a:cubicBezTo>
                  <a:pt x="0" y="210804"/>
                  <a:pt x="44401" y="226652"/>
                  <a:pt x="99160" y="226652"/>
                </a:cubicBezTo>
                <a:cubicBezTo>
                  <a:pt x="153920" y="226652"/>
                  <a:pt x="198321" y="210804"/>
                  <a:pt x="198321" y="191238"/>
                </a:cubicBezTo>
                <a:lnTo>
                  <a:pt x="198321" y="161932"/>
                </a:lnTo>
                <a:cubicBezTo>
                  <a:pt x="191769" y="166271"/>
                  <a:pt x="184243" y="169768"/>
                  <a:pt x="176408" y="172557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503357" y="5983615"/>
            <a:ext cx="2757602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1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Lake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508079" y="6172491"/>
            <a:ext cx="2748158" cy="15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2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S3/Athena/Redshift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548981" y="5681412"/>
            <a:ext cx="283315" cy="226652"/>
          </a:xfrm>
          <a:custGeom>
            <a:avLst/>
            <a:gdLst/>
            <a:ahLst/>
            <a:cxnLst/>
            <a:rect l="l" t="t" r="r" b="b"/>
            <a:pathLst>
              <a:path w="283315" h="226652">
                <a:moveTo>
                  <a:pt x="184111" y="93184"/>
                </a:moveTo>
                <a:cubicBezTo>
                  <a:pt x="189511" y="91723"/>
                  <a:pt x="195178" y="94291"/>
                  <a:pt x="197612" y="99293"/>
                </a:cubicBezTo>
                <a:lnTo>
                  <a:pt x="205846" y="115938"/>
                </a:lnTo>
                <a:cubicBezTo>
                  <a:pt x="210406" y="116558"/>
                  <a:pt x="214877" y="117797"/>
                  <a:pt x="219082" y="119524"/>
                </a:cubicBezTo>
                <a:lnTo>
                  <a:pt x="234576" y="109209"/>
                </a:lnTo>
                <a:cubicBezTo>
                  <a:pt x="239224" y="106110"/>
                  <a:pt x="245378" y="106730"/>
                  <a:pt x="249317" y="110670"/>
                </a:cubicBezTo>
                <a:lnTo>
                  <a:pt x="257817" y="119169"/>
                </a:lnTo>
                <a:cubicBezTo>
                  <a:pt x="261757" y="123109"/>
                  <a:pt x="262376" y="129307"/>
                  <a:pt x="259278" y="133911"/>
                </a:cubicBezTo>
                <a:lnTo>
                  <a:pt x="248963" y="149360"/>
                </a:lnTo>
                <a:cubicBezTo>
                  <a:pt x="249804" y="151441"/>
                  <a:pt x="250557" y="153610"/>
                  <a:pt x="251177" y="155868"/>
                </a:cubicBezTo>
                <a:cubicBezTo>
                  <a:pt x="251796" y="158125"/>
                  <a:pt x="252195" y="160339"/>
                  <a:pt x="252505" y="162596"/>
                </a:cubicBezTo>
                <a:lnTo>
                  <a:pt x="269194" y="170830"/>
                </a:lnTo>
                <a:cubicBezTo>
                  <a:pt x="274196" y="173309"/>
                  <a:pt x="276764" y="178976"/>
                  <a:pt x="275303" y="184332"/>
                </a:cubicBezTo>
                <a:lnTo>
                  <a:pt x="272204" y="195930"/>
                </a:lnTo>
                <a:cubicBezTo>
                  <a:pt x="270743" y="201287"/>
                  <a:pt x="265741" y="204917"/>
                  <a:pt x="260163" y="204562"/>
                </a:cubicBezTo>
                <a:lnTo>
                  <a:pt x="241571" y="203367"/>
                </a:lnTo>
                <a:cubicBezTo>
                  <a:pt x="238782" y="206953"/>
                  <a:pt x="235550" y="210273"/>
                  <a:pt x="231876" y="213106"/>
                </a:cubicBezTo>
                <a:lnTo>
                  <a:pt x="233071" y="231654"/>
                </a:lnTo>
                <a:cubicBezTo>
                  <a:pt x="233425" y="237232"/>
                  <a:pt x="229795" y="242279"/>
                  <a:pt x="224439" y="243695"/>
                </a:cubicBezTo>
                <a:lnTo>
                  <a:pt x="212841" y="246794"/>
                </a:lnTo>
                <a:cubicBezTo>
                  <a:pt x="207440" y="248255"/>
                  <a:pt x="201818" y="245687"/>
                  <a:pt x="199339" y="240685"/>
                </a:cubicBezTo>
                <a:lnTo>
                  <a:pt x="191105" y="224040"/>
                </a:lnTo>
                <a:cubicBezTo>
                  <a:pt x="186545" y="223421"/>
                  <a:pt x="182074" y="222181"/>
                  <a:pt x="177869" y="220455"/>
                </a:cubicBezTo>
                <a:lnTo>
                  <a:pt x="162375" y="230769"/>
                </a:lnTo>
                <a:cubicBezTo>
                  <a:pt x="157727" y="233868"/>
                  <a:pt x="151574" y="233248"/>
                  <a:pt x="147634" y="229308"/>
                </a:cubicBezTo>
                <a:lnTo>
                  <a:pt x="139134" y="220809"/>
                </a:lnTo>
                <a:cubicBezTo>
                  <a:pt x="135195" y="216869"/>
                  <a:pt x="134575" y="210716"/>
                  <a:pt x="137674" y="206068"/>
                </a:cubicBezTo>
                <a:lnTo>
                  <a:pt x="147988" y="190574"/>
                </a:lnTo>
                <a:cubicBezTo>
                  <a:pt x="147147" y="188493"/>
                  <a:pt x="146394" y="186324"/>
                  <a:pt x="145775" y="184066"/>
                </a:cubicBezTo>
                <a:cubicBezTo>
                  <a:pt x="145155" y="181809"/>
                  <a:pt x="144756" y="179551"/>
                  <a:pt x="144447" y="177338"/>
                </a:cubicBezTo>
                <a:lnTo>
                  <a:pt x="127757" y="169104"/>
                </a:lnTo>
                <a:cubicBezTo>
                  <a:pt x="122755" y="166625"/>
                  <a:pt x="120232" y="160958"/>
                  <a:pt x="121648" y="155602"/>
                </a:cubicBezTo>
                <a:lnTo>
                  <a:pt x="124747" y="144004"/>
                </a:lnTo>
                <a:cubicBezTo>
                  <a:pt x="126208" y="138647"/>
                  <a:pt x="131210" y="135017"/>
                  <a:pt x="136788" y="135372"/>
                </a:cubicBezTo>
                <a:lnTo>
                  <a:pt x="155336" y="136567"/>
                </a:lnTo>
                <a:cubicBezTo>
                  <a:pt x="158125" y="132981"/>
                  <a:pt x="161357" y="129661"/>
                  <a:pt x="165031" y="126828"/>
                </a:cubicBezTo>
                <a:lnTo>
                  <a:pt x="163836" y="108324"/>
                </a:lnTo>
                <a:cubicBezTo>
                  <a:pt x="163482" y="102746"/>
                  <a:pt x="167112" y="97699"/>
                  <a:pt x="172468" y="96283"/>
                </a:cubicBezTo>
                <a:lnTo>
                  <a:pt x="184066" y="93184"/>
                </a:lnTo>
                <a:close/>
                <a:moveTo>
                  <a:pt x="198498" y="150511"/>
                </a:moveTo>
                <a:cubicBezTo>
                  <a:pt x="187748" y="150523"/>
                  <a:pt x="179030" y="159261"/>
                  <a:pt x="179042" y="170011"/>
                </a:cubicBezTo>
                <a:cubicBezTo>
                  <a:pt x="179054" y="180761"/>
                  <a:pt x="187792" y="189479"/>
                  <a:pt x="198542" y="189467"/>
                </a:cubicBezTo>
                <a:cubicBezTo>
                  <a:pt x="209292" y="189455"/>
                  <a:pt x="218010" y="180717"/>
                  <a:pt x="217998" y="169967"/>
                </a:cubicBezTo>
                <a:cubicBezTo>
                  <a:pt x="217986" y="159217"/>
                  <a:pt x="209248" y="150499"/>
                  <a:pt x="198498" y="150511"/>
                </a:cubicBezTo>
                <a:close/>
                <a:moveTo>
                  <a:pt x="99559" y="-20142"/>
                </a:moveTo>
                <a:lnTo>
                  <a:pt x="111157" y="-17043"/>
                </a:lnTo>
                <a:cubicBezTo>
                  <a:pt x="116513" y="-15582"/>
                  <a:pt x="120143" y="-10536"/>
                  <a:pt x="119789" y="-5002"/>
                </a:cubicBezTo>
                <a:lnTo>
                  <a:pt x="118594" y="13502"/>
                </a:lnTo>
                <a:cubicBezTo>
                  <a:pt x="122268" y="16335"/>
                  <a:pt x="125500" y="19611"/>
                  <a:pt x="128289" y="23241"/>
                </a:cubicBezTo>
                <a:lnTo>
                  <a:pt x="146881" y="22045"/>
                </a:lnTo>
                <a:cubicBezTo>
                  <a:pt x="152415" y="21691"/>
                  <a:pt x="157461" y="25321"/>
                  <a:pt x="158922" y="30678"/>
                </a:cubicBezTo>
                <a:lnTo>
                  <a:pt x="162021" y="42276"/>
                </a:lnTo>
                <a:cubicBezTo>
                  <a:pt x="163437" y="47632"/>
                  <a:pt x="160914" y="53299"/>
                  <a:pt x="155912" y="55778"/>
                </a:cubicBezTo>
                <a:lnTo>
                  <a:pt x="139223" y="64012"/>
                </a:lnTo>
                <a:cubicBezTo>
                  <a:pt x="138913" y="66269"/>
                  <a:pt x="138470" y="68527"/>
                  <a:pt x="137895" y="70740"/>
                </a:cubicBezTo>
                <a:cubicBezTo>
                  <a:pt x="137319" y="72954"/>
                  <a:pt x="136523" y="75167"/>
                  <a:pt x="135681" y="77248"/>
                </a:cubicBezTo>
                <a:lnTo>
                  <a:pt x="145996" y="92741"/>
                </a:lnTo>
                <a:cubicBezTo>
                  <a:pt x="149095" y="97390"/>
                  <a:pt x="148475" y="103543"/>
                  <a:pt x="144535" y="107483"/>
                </a:cubicBezTo>
                <a:lnTo>
                  <a:pt x="136036" y="115982"/>
                </a:lnTo>
                <a:cubicBezTo>
                  <a:pt x="132096" y="119922"/>
                  <a:pt x="125942" y="120542"/>
                  <a:pt x="121294" y="117443"/>
                </a:cubicBezTo>
                <a:lnTo>
                  <a:pt x="105801" y="107129"/>
                </a:lnTo>
                <a:cubicBezTo>
                  <a:pt x="101595" y="108855"/>
                  <a:pt x="97124" y="110095"/>
                  <a:pt x="92564" y="110714"/>
                </a:cubicBezTo>
                <a:lnTo>
                  <a:pt x="84331" y="127359"/>
                </a:lnTo>
                <a:cubicBezTo>
                  <a:pt x="81852" y="132361"/>
                  <a:pt x="76185" y="134885"/>
                  <a:pt x="70829" y="133468"/>
                </a:cubicBezTo>
                <a:lnTo>
                  <a:pt x="59231" y="130369"/>
                </a:lnTo>
                <a:cubicBezTo>
                  <a:pt x="53830" y="128908"/>
                  <a:pt x="50244" y="123862"/>
                  <a:pt x="50598" y="118328"/>
                </a:cubicBezTo>
                <a:lnTo>
                  <a:pt x="51794" y="99780"/>
                </a:lnTo>
                <a:cubicBezTo>
                  <a:pt x="48119" y="96947"/>
                  <a:pt x="44888" y="93671"/>
                  <a:pt x="42099" y="90041"/>
                </a:cubicBezTo>
                <a:lnTo>
                  <a:pt x="23506" y="91236"/>
                </a:lnTo>
                <a:cubicBezTo>
                  <a:pt x="17973" y="91591"/>
                  <a:pt x="12926" y="87961"/>
                  <a:pt x="11465" y="82604"/>
                </a:cubicBezTo>
                <a:lnTo>
                  <a:pt x="8367" y="71006"/>
                </a:lnTo>
                <a:cubicBezTo>
                  <a:pt x="6950" y="65649"/>
                  <a:pt x="9473" y="59983"/>
                  <a:pt x="14476" y="57504"/>
                </a:cubicBezTo>
                <a:lnTo>
                  <a:pt x="31165" y="49270"/>
                </a:lnTo>
                <a:cubicBezTo>
                  <a:pt x="31475" y="47013"/>
                  <a:pt x="31917" y="44799"/>
                  <a:pt x="32493" y="42542"/>
                </a:cubicBezTo>
                <a:cubicBezTo>
                  <a:pt x="33112" y="40284"/>
                  <a:pt x="33821" y="38115"/>
                  <a:pt x="34706" y="36034"/>
                </a:cubicBezTo>
                <a:lnTo>
                  <a:pt x="24392" y="20585"/>
                </a:lnTo>
                <a:cubicBezTo>
                  <a:pt x="21293" y="15936"/>
                  <a:pt x="21913" y="9783"/>
                  <a:pt x="25853" y="5843"/>
                </a:cubicBezTo>
                <a:lnTo>
                  <a:pt x="34352" y="-2656"/>
                </a:lnTo>
                <a:cubicBezTo>
                  <a:pt x="38292" y="-6596"/>
                  <a:pt x="44445" y="-7216"/>
                  <a:pt x="49093" y="-4117"/>
                </a:cubicBezTo>
                <a:lnTo>
                  <a:pt x="64587" y="6198"/>
                </a:lnTo>
                <a:cubicBezTo>
                  <a:pt x="68792" y="4471"/>
                  <a:pt x="73264" y="3232"/>
                  <a:pt x="77823" y="2612"/>
                </a:cubicBezTo>
                <a:lnTo>
                  <a:pt x="86057" y="-14033"/>
                </a:lnTo>
                <a:cubicBezTo>
                  <a:pt x="88536" y="-19035"/>
                  <a:pt x="94158" y="-21559"/>
                  <a:pt x="99559" y="-20142"/>
                </a:cubicBezTo>
                <a:close/>
                <a:moveTo>
                  <a:pt x="85172" y="37185"/>
                </a:moveTo>
                <a:cubicBezTo>
                  <a:pt x="74421" y="37185"/>
                  <a:pt x="65694" y="45913"/>
                  <a:pt x="65694" y="56663"/>
                </a:cubicBezTo>
                <a:cubicBezTo>
                  <a:pt x="65694" y="67413"/>
                  <a:pt x="74421" y="76141"/>
                  <a:pt x="85172" y="76141"/>
                </a:cubicBezTo>
                <a:cubicBezTo>
                  <a:pt x="95922" y="76141"/>
                  <a:pt x="104650" y="67413"/>
                  <a:pt x="104650" y="56663"/>
                </a:cubicBezTo>
                <a:cubicBezTo>
                  <a:pt x="104650" y="45913"/>
                  <a:pt x="95922" y="37185"/>
                  <a:pt x="85172" y="37185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3310657" y="5983615"/>
            <a:ext cx="2757602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1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3315379" y="6172491"/>
            <a:ext cx="2748158" cy="15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2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SageMaker/Vertex AI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7384612" y="5681412"/>
            <a:ext cx="226652" cy="226652"/>
          </a:xfrm>
          <a:custGeom>
            <a:avLst/>
            <a:gdLst/>
            <a:ahLst/>
            <a:cxnLst/>
            <a:rect l="l" t="t" r="r" b="b"/>
            <a:pathLst>
              <a:path w="226652" h="226652">
                <a:moveTo>
                  <a:pt x="56663" y="141658"/>
                </a:moveTo>
                <a:lnTo>
                  <a:pt x="10846" y="141658"/>
                </a:lnTo>
                <a:cubicBezTo>
                  <a:pt x="-177" y="141658"/>
                  <a:pt x="-6950" y="129661"/>
                  <a:pt x="-1284" y="120188"/>
                </a:cubicBezTo>
                <a:lnTo>
                  <a:pt x="22134" y="81143"/>
                </a:lnTo>
                <a:cubicBezTo>
                  <a:pt x="25985" y="74724"/>
                  <a:pt x="32891" y="70829"/>
                  <a:pt x="40372" y="70829"/>
                </a:cubicBezTo>
                <a:lnTo>
                  <a:pt x="82427" y="70829"/>
                </a:lnTo>
                <a:cubicBezTo>
                  <a:pt x="116115" y="13767"/>
                  <a:pt x="166359" y="10890"/>
                  <a:pt x="199959" y="15804"/>
                </a:cubicBezTo>
                <a:cubicBezTo>
                  <a:pt x="205625" y="16645"/>
                  <a:pt x="210052" y="21072"/>
                  <a:pt x="210849" y="26694"/>
                </a:cubicBezTo>
                <a:cubicBezTo>
                  <a:pt x="215762" y="60293"/>
                  <a:pt x="212885" y="110537"/>
                  <a:pt x="155823" y="144225"/>
                </a:cubicBezTo>
                <a:lnTo>
                  <a:pt x="155823" y="186280"/>
                </a:lnTo>
                <a:cubicBezTo>
                  <a:pt x="155823" y="193761"/>
                  <a:pt x="151928" y="200667"/>
                  <a:pt x="145509" y="204518"/>
                </a:cubicBezTo>
                <a:lnTo>
                  <a:pt x="106465" y="227936"/>
                </a:lnTo>
                <a:cubicBezTo>
                  <a:pt x="97035" y="233602"/>
                  <a:pt x="84995" y="226785"/>
                  <a:pt x="84995" y="215807"/>
                </a:cubicBezTo>
                <a:lnTo>
                  <a:pt x="84995" y="169989"/>
                </a:lnTo>
                <a:cubicBezTo>
                  <a:pt x="84995" y="154363"/>
                  <a:pt x="72290" y="141658"/>
                  <a:pt x="56663" y="141658"/>
                </a:cubicBezTo>
                <a:lnTo>
                  <a:pt x="56619" y="141658"/>
                </a:lnTo>
                <a:close/>
                <a:moveTo>
                  <a:pt x="177072" y="70829"/>
                </a:moveTo>
                <a:cubicBezTo>
                  <a:pt x="177072" y="59101"/>
                  <a:pt x="167551" y="49580"/>
                  <a:pt x="155823" y="49580"/>
                </a:cubicBezTo>
                <a:cubicBezTo>
                  <a:pt x="144096" y="49580"/>
                  <a:pt x="134575" y="59101"/>
                  <a:pt x="134575" y="70829"/>
                </a:cubicBezTo>
                <a:cubicBezTo>
                  <a:pt x="134575" y="82556"/>
                  <a:pt x="144096" y="92077"/>
                  <a:pt x="155823" y="92077"/>
                </a:cubicBezTo>
                <a:cubicBezTo>
                  <a:pt x="167551" y="92077"/>
                  <a:pt x="177072" y="82556"/>
                  <a:pt x="177072" y="70829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6117957" y="5983615"/>
            <a:ext cx="2757602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1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122679" y="6172491"/>
            <a:ext cx="2748158" cy="15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2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endpoints &lt;100ms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10192030" y="5681412"/>
            <a:ext cx="226652" cy="226652"/>
          </a:xfrm>
          <a:custGeom>
            <a:avLst/>
            <a:gdLst/>
            <a:ahLst/>
            <a:cxnLst/>
            <a:rect l="l" t="t" r="r" b="b"/>
            <a:pathLst>
              <a:path w="226652" h="226652">
                <a:moveTo>
                  <a:pt x="14166" y="14166"/>
                </a:moveTo>
                <a:cubicBezTo>
                  <a:pt x="22001" y="14166"/>
                  <a:pt x="28332" y="20496"/>
                  <a:pt x="28332" y="28332"/>
                </a:cubicBezTo>
                <a:lnTo>
                  <a:pt x="28332" y="177072"/>
                </a:lnTo>
                <a:cubicBezTo>
                  <a:pt x="28332" y="180968"/>
                  <a:pt x="31519" y="184155"/>
                  <a:pt x="35414" y="184155"/>
                </a:cubicBezTo>
                <a:lnTo>
                  <a:pt x="212486" y="184155"/>
                </a:lnTo>
                <a:cubicBezTo>
                  <a:pt x="220322" y="184155"/>
                  <a:pt x="226652" y="190485"/>
                  <a:pt x="226652" y="198321"/>
                </a:cubicBezTo>
                <a:cubicBezTo>
                  <a:pt x="226652" y="206156"/>
                  <a:pt x="220322" y="212486"/>
                  <a:pt x="212486" y="212486"/>
                </a:cubicBezTo>
                <a:lnTo>
                  <a:pt x="35414" y="212486"/>
                </a:lnTo>
                <a:cubicBezTo>
                  <a:pt x="15848" y="212486"/>
                  <a:pt x="0" y="196638"/>
                  <a:pt x="0" y="177072"/>
                </a:cubicBezTo>
                <a:lnTo>
                  <a:pt x="0" y="28332"/>
                </a:lnTo>
                <a:cubicBezTo>
                  <a:pt x="0" y="20496"/>
                  <a:pt x="6330" y="14166"/>
                  <a:pt x="14166" y="14166"/>
                </a:cubicBezTo>
                <a:close/>
                <a:moveTo>
                  <a:pt x="56663" y="42497"/>
                </a:moveTo>
                <a:cubicBezTo>
                  <a:pt x="56663" y="34662"/>
                  <a:pt x="62993" y="28332"/>
                  <a:pt x="70829" y="28332"/>
                </a:cubicBezTo>
                <a:lnTo>
                  <a:pt x="155823" y="28332"/>
                </a:lnTo>
                <a:cubicBezTo>
                  <a:pt x="163659" y="28332"/>
                  <a:pt x="169989" y="34662"/>
                  <a:pt x="169989" y="42497"/>
                </a:cubicBezTo>
                <a:cubicBezTo>
                  <a:pt x="169989" y="50333"/>
                  <a:pt x="163659" y="56663"/>
                  <a:pt x="155823" y="56663"/>
                </a:cubicBezTo>
                <a:lnTo>
                  <a:pt x="70829" y="56663"/>
                </a:lnTo>
                <a:cubicBezTo>
                  <a:pt x="62993" y="56663"/>
                  <a:pt x="56663" y="50333"/>
                  <a:pt x="56663" y="42497"/>
                </a:cubicBezTo>
                <a:close/>
                <a:moveTo>
                  <a:pt x="70829" y="77912"/>
                </a:moveTo>
                <a:lnTo>
                  <a:pt x="127492" y="77912"/>
                </a:lnTo>
                <a:cubicBezTo>
                  <a:pt x="135327" y="77912"/>
                  <a:pt x="141658" y="84242"/>
                  <a:pt x="141658" y="92077"/>
                </a:cubicBezTo>
                <a:cubicBezTo>
                  <a:pt x="141658" y="99913"/>
                  <a:pt x="135327" y="106243"/>
                  <a:pt x="127492" y="106243"/>
                </a:cubicBezTo>
                <a:lnTo>
                  <a:pt x="70829" y="106243"/>
                </a:lnTo>
                <a:cubicBezTo>
                  <a:pt x="62993" y="106243"/>
                  <a:pt x="56663" y="99913"/>
                  <a:pt x="56663" y="92077"/>
                </a:cubicBezTo>
                <a:cubicBezTo>
                  <a:pt x="56663" y="84242"/>
                  <a:pt x="62993" y="77912"/>
                  <a:pt x="70829" y="77912"/>
                </a:cubicBezTo>
                <a:close/>
                <a:moveTo>
                  <a:pt x="70829" y="127492"/>
                </a:moveTo>
                <a:lnTo>
                  <a:pt x="184155" y="127492"/>
                </a:lnTo>
                <a:cubicBezTo>
                  <a:pt x="191990" y="127492"/>
                  <a:pt x="198321" y="133822"/>
                  <a:pt x="198321" y="141658"/>
                </a:cubicBezTo>
                <a:cubicBezTo>
                  <a:pt x="198321" y="149493"/>
                  <a:pt x="191990" y="155823"/>
                  <a:pt x="184155" y="155823"/>
                </a:cubicBezTo>
                <a:lnTo>
                  <a:pt x="70829" y="155823"/>
                </a:lnTo>
                <a:cubicBezTo>
                  <a:pt x="62993" y="155823"/>
                  <a:pt x="56663" y="149493"/>
                  <a:pt x="56663" y="141658"/>
                </a:cubicBezTo>
                <a:cubicBezTo>
                  <a:pt x="56663" y="133822"/>
                  <a:pt x="62993" y="127492"/>
                  <a:pt x="70829" y="127492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8925257" y="5983615"/>
            <a:ext cx="2757602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1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929979" y="6172491"/>
            <a:ext cx="2748158" cy="15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2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Drift detection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754" y="377754"/>
            <a:ext cx="11502600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spc="104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FOR SUCCESS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7754" y="642181"/>
            <a:ext cx="11606482" cy="37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7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&amp; Execution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7754" y="1095486"/>
            <a:ext cx="11530931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7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Right Team to Execute the Vision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531" y="1514792"/>
            <a:ext cx="5636085" cy="2472398"/>
          </a:xfrm>
          <a:custGeom>
            <a:avLst/>
            <a:gdLst/>
            <a:ahLst/>
            <a:cxnLst/>
            <a:rect l="l" t="t" r="r" b="b"/>
            <a:pathLst>
              <a:path w="5636085" h="2472398">
                <a:moveTo>
                  <a:pt x="113335" y="0"/>
                </a:moveTo>
                <a:lnTo>
                  <a:pt x="5522750" y="0"/>
                </a:lnTo>
                <a:cubicBezTo>
                  <a:pt x="5585343" y="0"/>
                  <a:pt x="5636085" y="50742"/>
                  <a:pt x="5636085" y="113335"/>
                </a:cubicBezTo>
                <a:lnTo>
                  <a:pt x="5636085" y="2359063"/>
                </a:lnTo>
                <a:cubicBezTo>
                  <a:pt x="5636085" y="2421656"/>
                  <a:pt x="5585343" y="2472398"/>
                  <a:pt x="5522750" y="2472398"/>
                </a:cubicBezTo>
                <a:lnTo>
                  <a:pt x="113335" y="2472398"/>
                </a:lnTo>
                <a:cubicBezTo>
                  <a:pt x="50742" y="2472398"/>
                  <a:pt x="0" y="2421656"/>
                  <a:pt x="0" y="2359063"/>
                </a:cubicBezTo>
                <a:lnTo>
                  <a:pt x="0" y="113335"/>
                </a:lnTo>
                <a:cubicBezTo>
                  <a:pt x="0" y="50784"/>
                  <a:pt x="50784" y="0"/>
                  <a:pt x="113335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6410" y="1669679"/>
            <a:ext cx="5392434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spc="52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TEAM (22 MONTHS)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6410" y="1990640"/>
            <a:ext cx="453304" cy="453304"/>
          </a:xfrm>
          <a:custGeom>
            <a:avLst/>
            <a:gdLst/>
            <a:ahLst/>
            <a:cxnLst/>
            <a:rect l="l" t="t" r="r" b="b"/>
            <a:pathLst>
              <a:path w="453304" h="453304">
                <a:moveTo>
                  <a:pt x="226652" y="0"/>
                </a:moveTo>
                <a:lnTo>
                  <a:pt x="226652" y="0"/>
                </a:lnTo>
                <a:cubicBezTo>
                  <a:pt x="351829" y="0"/>
                  <a:pt x="453304" y="101476"/>
                  <a:pt x="453304" y="226652"/>
                </a:cubicBezTo>
                <a:lnTo>
                  <a:pt x="453304" y="226652"/>
                </a:lnTo>
                <a:cubicBezTo>
                  <a:pt x="453304" y="351829"/>
                  <a:pt x="351829" y="453304"/>
                  <a:pt x="226652" y="453304"/>
                </a:cubicBezTo>
                <a:lnTo>
                  <a:pt x="226652" y="453304"/>
                </a:lnTo>
                <a:cubicBezTo>
                  <a:pt x="101476" y="453304"/>
                  <a:pt x="0" y="351829"/>
                  <a:pt x="0" y="226652"/>
                </a:cubicBezTo>
                <a:lnTo>
                  <a:pt x="0" y="226652"/>
                </a:lnTo>
                <a:cubicBezTo>
                  <a:pt x="0" y="101476"/>
                  <a:pt x="101476" y="0"/>
                  <a:pt x="226652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78068" y="2141742"/>
            <a:ext cx="169989" cy="151101"/>
          </a:xfrm>
          <a:custGeom>
            <a:avLst/>
            <a:gdLst/>
            <a:ahLst/>
            <a:cxnLst/>
            <a:rect l="l" t="t" r="r" b="b"/>
            <a:pathLst>
              <a:path w="169989" h="151101">
                <a:moveTo>
                  <a:pt x="106479" y="354"/>
                </a:moveTo>
                <a:cubicBezTo>
                  <a:pt x="101462" y="-1092"/>
                  <a:pt x="96239" y="1830"/>
                  <a:pt x="94793" y="6847"/>
                </a:cubicBezTo>
                <a:lnTo>
                  <a:pt x="57017" y="139061"/>
                </a:lnTo>
                <a:cubicBezTo>
                  <a:pt x="55571" y="144078"/>
                  <a:pt x="58493" y="149301"/>
                  <a:pt x="63510" y="150747"/>
                </a:cubicBezTo>
                <a:cubicBezTo>
                  <a:pt x="68527" y="152193"/>
                  <a:pt x="73751" y="149272"/>
                  <a:pt x="75197" y="144255"/>
                </a:cubicBezTo>
                <a:lnTo>
                  <a:pt x="112972" y="12041"/>
                </a:lnTo>
                <a:cubicBezTo>
                  <a:pt x="114418" y="7024"/>
                  <a:pt x="111496" y="1800"/>
                  <a:pt x="106479" y="354"/>
                </a:cubicBezTo>
                <a:close/>
                <a:moveTo>
                  <a:pt x="125544" y="40520"/>
                </a:moveTo>
                <a:cubicBezTo>
                  <a:pt x="121855" y="44209"/>
                  <a:pt x="121855" y="50200"/>
                  <a:pt x="125544" y="53889"/>
                </a:cubicBezTo>
                <a:lnTo>
                  <a:pt x="147206" y="75551"/>
                </a:lnTo>
                <a:lnTo>
                  <a:pt x="125544" y="97213"/>
                </a:lnTo>
                <a:cubicBezTo>
                  <a:pt x="121855" y="100902"/>
                  <a:pt x="121855" y="106892"/>
                  <a:pt x="125544" y="110581"/>
                </a:cubicBezTo>
                <a:cubicBezTo>
                  <a:pt x="129233" y="114270"/>
                  <a:pt x="135224" y="114270"/>
                  <a:pt x="138913" y="110581"/>
                </a:cubicBezTo>
                <a:lnTo>
                  <a:pt x="167245" y="82250"/>
                </a:lnTo>
                <a:cubicBezTo>
                  <a:pt x="170934" y="78561"/>
                  <a:pt x="170934" y="72570"/>
                  <a:pt x="167245" y="68881"/>
                </a:cubicBezTo>
                <a:lnTo>
                  <a:pt x="138913" y="40549"/>
                </a:lnTo>
                <a:cubicBezTo>
                  <a:pt x="135224" y="36860"/>
                  <a:pt x="129233" y="36860"/>
                  <a:pt x="125544" y="40549"/>
                </a:cubicBezTo>
                <a:close/>
                <a:moveTo>
                  <a:pt x="44475" y="40520"/>
                </a:moveTo>
                <a:cubicBezTo>
                  <a:pt x="40786" y="36831"/>
                  <a:pt x="34795" y="36831"/>
                  <a:pt x="31106" y="40520"/>
                </a:cubicBezTo>
                <a:lnTo>
                  <a:pt x="2774" y="68852"/>
                </a:lnTo>
                <a:cubicBezTo>
                  <a:pt x="-915" y="72541"/>
                  <a:pt x="-915" y="78531"/>
                  <a:pt x="2774" y="82220"/>
                </a:cubicBezTo>
                <a:lnTo>
                  <a:pt x="31106" y="110552"/>
                </a:lnTo>
                <a:cubicBezTo>
                  <a:pt x="34795" y="114241"/>
                  <a:pt x="40786" y="114241"/>
                  <a:pt x="44475" y="110552"/>
                </a:cubicBezTo>
                <a:cubicBezTo>
                  <a:pt x="48164" y="106863"/>
                  <a:pt x="48164" y="100872"/>
                  <a:pt x="44475" y="97183"/>
                </a:cubicBezTo>
                <a:lnTo>
                  <a:pt x="22813" y="75551"/>
                </a:lnTo>
                <a:lnTo>
                  <a:pt x="44445" y="53889"/>
                </a:lnTo>
                <a:cubicBezTo>
                  <a:pt x="48134" y="50200"/>
                  <a:pt x="48134" y="44209"/>
                  <a:pt x="44445" y="40520"/>
                </a:cubicBezTo>
                <a:close/>
              </a:path>
            </a:pathLst>
          </a:custGeom>
          <a:solidFill>
            <a:srgbClr val="F5F1E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103041" y="1971882"/>
            <a:ext cx="4825803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Full-Stack Engineers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03041" y="2160758"/>
            <a:ext cx="4816359" cy="15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React, FastAPI, TypeScript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03041" y="2311731"/>
            <a:ext cx="4816359" cy="15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₹1.2-1.5L/month each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6410" y="2594825"/>
            <a:ext cx="453304" cy="453304"/>
          </a:xfrm>
          <a:custGeom>
            <a:avLst/>
            <a:gdLst/>
            <a:ahLst/>
            <a:cxnLst/>
            <a:rect l="l" t="t" r="r" b="b"/>
            <a:pathLst>
              <a:path w="453304" h="453304">
                <a:moveTo>
                  <a:pt x="226652" y="0"/>
                </a:moveTo>
                <a:lnTo>
                  <a:pt x="226652" y="0"/>
                </a:lnTo>
                <a:cubicBezTo>
                  <a:pt x="351829" y="0"/>
                  <a:pt x="453304" y="101476"/>
                  <a:pt x="453304" y="226652"/>
                </a:cubicBezTo>
                <a:lnTo>
                  <a:pt x="453304" y="226652"/>
                </a:lnTo>
                <a:cubicBezTo>
                  <a:pt x="453304" y="351829"/>
                  <a:pt x="351829" y="453304"/>
                  <a:pt x="226652" y="453304"/>
                </a:cubicBezTo>
                <a:lnTo>
                  <a:pt x="226652" y="453304"/>
                </a:lnTo>
                <a:cubicBezTo>
                  <a:pt x="101476" y="453304"/>
                  <a:pt x="0" y="351829"/>
                  <a:pt x="0" y="226652"/>
                </a:cubicBezTo>
                <a:lnTo>
                  <a:pt x="0" y="226652"/>
                </a:lnTo>
                <a:cubicBezTo>
                  <a:pt x="0" y="101476"/>
                  <a:pt x="101476" y="0"/>
                  <a:pt x="226652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87512" y="2745926"/>
            <a:ext cx="151101" cy="151101"/>
          </a:xfrm>
          <a:custGeom>
            <a:avLst/>
            <a:gdLst/>
            <a:ahLst/>
            <a:cxnLst/>
            <a:rect l="l" t="t" r="r" b="b"/>
            <a:pathLst>
              <a:path w="151101" h="151101">
                <a:moveTo>
                  <a:pt x="51941" y="7083"/>
                </a:moveTo>
                <a:cubicBezTo>
                  <a:pt x="51941" y="3158"/>
                  <a:pt x="48783" y="0"/>
                  <a:pt x="44858" y="0"/>
                </a:cubicBezTo>
                <a:cubicBezTo>
                  <a:pt x="40933" y="0"/>
                  <a:pt x="37775" y="3158"/>
                  <a:pt x="37775" y="7083"/>
                </a:cubicBezTo>
                <a:lnTo>
                  <a:pt x="37775" y="18888"/>
                </a:lnTo>
                <a:cubicBezTo>
                  <a:pt x="27358" y="18888"/>
                  <a:pt x="18888" y="27358"/>
                  <a:pt x="18888" y="37775"/>
                </a:cubicBezTo>
                <a:lnTo>
                  <a:pt x="7083" y="37775"/>
                </a:lnTo>
                <a:cubicBezTo>
                  <a:pt x="3158" y="37775"/>
                  <a:pt x="0" y="40933"/>
                  <a:pt x="0" y="44858"/>
                </a:cubicBezTo>
                <a:cubicBezTo>
                  <a:pt x="0" y="48783"/>
                  <a:pt x="3158" y="51941"/>
                  <a:pt x="7083" y="51941"/>
                </a:cubicBezTo>
                <a:lnTo>
                  <a:pt x="18888" y="51941"/>
                </a:lnTo>
                <a:lnTo>
                  <a:pt x="18888" y="68468"/>
                </a:lnTo>
                <a:lnTo>
                  <a:pt x="7083" y="68468"/>
                </a:lnTo>
                <a:cubicBezTo>
                  <a:pt x="3158" y="68468"/>
                  <a:pt x="0" y="71626"/>
                  <a:pt x="0" y="75551"/>
                </a:cubicBezTo>
                <a:cubicBezTo>
                  <a:pt x="0" y="79476"/>
                  <a:pt x="3158" y="82634"/>
                  <a:pt x="7083" y="82634"/>
                </a:cubicBezTo>
                <a:lnTo>
                  <a:pt x="18888" y="82634"/>
                </a:lnTo>
                <a:lnTo>
                  <a:pt x="18888" y="99160"/>
                </a:lnTo>
                <a:lnTo>
                  <a:pt x="7083" y="99160"/>
                </a:lnTo>
                <a:cubicBezTo>
                  <a:pt x="3158" y="99160"/>
                  <a:pt x="0" y="102318"/>
                  <a:pt x="0" y="106243"/>
                </a:cubicBezTo>
                <a:cubicBezTo>
                  <a:pt x="0" y="110168"/>
                  <a:pt x="3158" y="113326"/>
                  <a:pt x="7083" y="113326"/>
                </a:cubicBezTo>
                <a:lnTo>
                  <a:pt x="18888" y="113326"/>
                </a:lnTo>
                <a:cubicBezTo>
                  <a:pt x="18888" y="123744"/>
                  <a:pt x="27358" y="132214"/>
                  <a:pt x="37775" y="132214"/>
                </a:cubicBezTo>
                <a:lnTo>
                  <a:pt x="37775" y="144019"/>
                </a:lnTo>
                <a:cubicBezTo>
                  <a:pt x="37775" y="147944"/>
                  <a:pt x="40933" y="151101"/>
                  <a:pt x="44858" y="151101"/>
                </a:cubicBezTo>
                <a:cubicBezTo>
                  <a:pt x="48783" y="151101"/>
                  <a:pt x="51941" y="147944"/>
                  <a:pt x="51941" y="144019"/>
                </a:cubicBezTo>
                <a:lnTo>
                  <a:pt x="51941" y="132214"/>
                </a:lnTo>
                <a:lnTo>
                  <a:pt x="68468" y="132214"/>
                </a:lnTo>
                <a:lnTo>
                  <a:pt x="68468" y="144019"/>
                </a:lnTo>
                <a:cubicBezTo>
                  <a:pt x="68468" y="147944"/>
                  <a:pt x="71626" y="151101"/>
                  <a:pt x="75551" y="151101"/>
                </a:cubicBezTo>
                <a:cubicBezTo>
                  <a:pt x="79476" y="151101"/>
                  <a:pt x="82634" y="147944"/>
                  <a:pt x="82634" y="144019"/>
                </a:cubicBezTo>
                <a:lnTo>
                  <a:pt x="82634" y="132214"/>
                </a:lnTo>
                <a:lnTo>
                  <a:pt x="99160" y="132214"/>
                </a:lnTo>
                <a:lnTo>
                  <a:pt x="99160" y="144019"/>
                </a:lnTo>
                <a:cubicBezTo>
                  <a:pt x="99160" y="147944"/>
                  <a:pt x="102318" y="151101"/>
                  <a:pt x="106243" y="151101"/>
                </a:cubicBezTo>
                <a:cubicBezTo>
                  <a:pt x="110168" y="151101"/>
                  <a:pt x="113326" y="147944"/>
                  <a:pt x="113326" y="144019"/>
                </a:cubicBezTo>
                <a:lnTo>
                  <a:pt x="113326" y="132214"/>
                </a:lnTo>
                <a:cubicBezTo>
                  <a:pt x="123744" y="132214"/>
                  <a:pt x="132214" y="123744"/>
                  <a:pt x="132214" y="113326"/>
                </a:cubicBezTo>
                <a:lnTo>
                  <a:pt x="144019" y="113326"/>
                </a:lnTo>
                <a:cubicBezTo>
                  <a:pt x="147944" y="113326"/>
                  <a:pt x="151101" y="110168"/>
                  <a:pt x="151101" y="106243"/>
                </a:cubicBezTo>
                <a:cubicBezTo>
                  <a:pt x="151101" y="102318"/>
                  <a:pt x="147944" y="99160"/>
                  <a:pt x="144019" y="99160"/>
                </a:cubicBezTo>
                <a:lnTo>
                  <a:pt x="132214" y="99160"/>
                </a:lnTo>
                <a:lnTo>
                  <a:pt x="132214" y="82634"/>
                </a:lnTo>
                <a:lnTo>
                  <a:pt x="144019" y="82634"/>
                </a:lnTo>
                <a:cubicBezTo>
                  <a:pt x="147944" y="82634"/>
                  <a:pt x="151101" y="79476"/>
                  <a:pt x="151101" y="75551"/>
                </a:cubicBezTo>
                <a:cubicBezTo>
                  <a:pt x="151101" y="71626"/>
                  <a:pt x="147944" y="68468"/>
                  <a:pt x="144019" y="68468"/>
                </a:cubicBezTo>
                <a:lnTo>
                  <a:pt x="132214" y="68468"/>
                </a:lnTo>
                <a:lnTo>
                  <a:pt x="132214" y="51941"/>
                </a:lnTo>
                <a:lnTo>
                  <a:pt x="144019" y="51941"/>
                </a:lnTo>
                <a:cubicBezTo>
                  <a:pt x="147944" y="51941"/>
                  <a:pt x="151101" y="48783"/>
                  <a:pt x="151101" y="44858"/>
                </a:cubicBezTo>
                <a:cubicBezTo>
                  <a:pt x="151101" y="40933"/>
                  <a:pt x="147944" y="37775"/>
                  <a:pt x="144019" y="37775"/>
                </a:cubicBezTo>
                <a:lnTo>
                  <a:pt x="132214" y="37775"/>
                </a:lnTo>
                <a:cubicBezTo>
                  <a:pt x="132214" y="27358"/>
                  <a:pt x="123744" y="18888"/>
                  <a:pt x="113326" y="18888"/>
                </a:cubicBezTo>
                <a:lnTo>
                  <a:pt x="113326" y="7083"/>
                </a:lnTo>
                <a:cubicBezTo>
                  <a:pt x="113326" y="3158"/>
                  <a:pt x="110168" y="0"/>
                  <a:pt x="106243" y="0"/>
                </a:cubicBezTo>
                <a:cubicBezTo>
                  <a:pt x="102318" y="0"/>
                  <a:pt x="99160" y="3158"/>
                  <a:pt x="99160" y="7083"/>
                </a:cubicBezTo>
                <a:lnTo>
                  <a:pt x="99160" y="18888"/>
                </a:lnTo>
                <a:lnTo>
                  <a:pt x="82634" y="18888"/>
                </a:lnTo>
                <a:lnTo>
                  <a:pt x="82634" y="7083"/>
                </a:lnTo>
                <a:cubicBezTo>
                  <a:pt x="82634" y="3158"/>
                  <a:pt x="79476" y="0"/>
                  <a:pt x="75551" y="0"/>
                </a:cubicBezTo>
                <a:cubicBezTo>
                  <a:pt x="71626" y="0"/>
                  <a:pt x="68468" y="3158"/>
                  <a:pt x="68468" y="7083"/>
                </a:cubicBezTo>
                <a:lnTo>
                  <a:pt x="68468" y="18888"/>
                </a:lnTo>
                <a:lnTo>
                  <a:pt x="51941" y="18888"/>
                </a:lnTo>
                <a:lnTo>
                  <a:pt x="51941" y="7083"/>
                </a:lnTo>
                <a:close/>
                <a:moveTo>
                  <a:pt x="47219" y="37775"/>
                </a:moveTo>
                <a:lnTo>
                  <a:pt x="103882" y="37775"/>
                </a:lnTo>
                <a:cubicBezTo>
                  <a:pt x="109106" y="37775"/>
                  <a:pt x="113326" y="41996"/>
                  <a:pt x="113326" y="47219"/>
                </a:cubicBezTo>
                <a:lnTo>
                  <a:pt x="113326" y="103882"/>
                </a:lnTo>
                <a:cubicBezTo>
                  <a:pt x="113326" y="109106"/>
                  <a:pt x="109106" y="113326"/>
                  <a:pt x="103882" y="113326"/>
                </a:cubicBezTo>
                <a:lnTo>
                  <a:pt x="47219" y="113326"/>
                </a:lnTo>
                <a:cubicBezTo>
                  <a:pt x="41996" y="113326"/>
                  <a:pt x="37775" y="109106"/>
                  <a:pt x="37775" y="103882"/>
                </a:cubicBezTo>
                <a:lnTo>
                  <a:pt x="37775" y="47219"/>
                </a:lnTo>
                <a:cubicBezTo>
                  <a:pt x="37775" y="41996"/>
                  <a:pt x="41996" y="37775"/>
                  <a:pt x="47219" y="37775"/>
                </a:cubicBezTo>
                <a:close/>
                <a:moveTo>
                  <a:pt x="51941" y="51941"/>
                </a:moveTo>
                <a:lnTo>
                  <a:pt x="51941" y="99160"/>
                </a:lnTo>
                <a:lnTo>
                  <a:pt x="99160" y="99160"/>
                </a:lnTo>
                <a:lnTo>
                  <a:pt x="99160" y="51941"/>
                </a:lnTo>
                <a:lnTo>
                  <a:pt x="51941" y="51941"/>
                </a:ln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03041" y="2576048"/>
            <a:ext cx="4825803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IoT Specialist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3041" y="2764925"/>
            <a:ext cx="4816359" cy="15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Raspberry Pi, Sensors, MQTT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3041" y="2915915"/>
            <a:ext cx="4816359" cy="15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₹1.3-1.6L/month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6410" y="3198991"/>
            <a:ext cx="453304" cy="453304"/>
          </a:xfrm>
          <a:custGeom>
            <a:avLst/>
            <a:gdLst/>
            <a:ahLst/>
            <a:cxnLst/>
            <a:rect l="l" t="t" r="r" b="b"/>
            <a:pathLst>
              <a:path w="453304" h="453304">
                <a:moveTo>
                  <a:pt x="226652" y="0"/>
                </a:moveTo>
                <a:lnTo>
                  <a:pt x="226652" y="0"/>
                </a:lnTo>
                <a:cubicBezTo>
                  <a:pt x="351829" y="0"/>
                  <a:pt x="453304" y="101476"/>
                  <a:pt x="453304" y="226652"/>
                </a:cubicBezTo>
                <a:lnTo>
                  <a:pt x="453304" y="226652"/>
                </a:lnTo>
                <a:cubicBezTo>
                  <a:pt x="453304" y="351829"/>
                  <a:pt x="351829" y="453304"/>
                  <a:pt x="226652" y="453304"/>
                </a:cubicBezTo>
                <a:lnTo>
                  <a:pt x="226652" y="453304"/>
                </a:lnTo>
                <a:cubicBezTo>
                  <a:pt x="101476" y="453304"/>
                  <a:pt x="0" y="351829"/>
                  <a:pt x="0" y="226652"/>
                </a:cubicBezTo>
                <a:lnTo>
                  <a:pt x="0" y="226652"/>
                </a:lnTo>
                <a:cubicBezTo>
                  <a:pt x="0" y="101476"/>
                  <a:pt x="101476" y="0"/>
                  <a:pt x="226652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96956" y="3350092"/>
            <a:ext cx="132214" cy="151101"/>
          </a:xfrm>
          <a:custGeom>
            <a:avLst/>
            <a:gdLst/>
            <a:ahLst/>
            <a:cxnLst/>
            <a:rect l="l" t="t" r="r" b="b"/>
            <a:pathLst>
              <a:path w="132214" h="151101">
                <a:moveTo>
                  <a:pt x="18888" y="9444"/>
                </a:moveTo>
                <a:cubicBezTo>
                  <a:pt x="8470" y="9444"/>
                  <a:pt x="0" y="17914"/>
                  <a:pt x="0" y="28332"/>
                </a:cubicBezTo>
                <a:lnTo>
                  <a:pt x="0" y="47219"/>
                </a:lnTo>
                <a:cubicBezTo>
                  <a:pt x="0" y="57637"/>
                  <a:pt x="8470" y="66107"/>
                  <a:pt x="18888" y="66107"/>
                </a:cubicBezTo>
                <a:lnTo>
                  <a:pt x="113326" y="66107"/>
                </a:lnTo>
                <a:cubicBezTo>
                  <a:pt x="123744" y="66107"/>
                  <a:pt x="132214" y="57637"/>
                  <a:pt x="132214" y="47219"/>
                </a:cubicBezTo>
                <a:lnTo>
                  <a:pt x="132214" y="28332"/>
                </a:lnTo>
                <a:cubicBezTo>
                  <a:pt x="132214" y="17914"/>
                  <a:pt x="123744" y="9444"/>
                  <a:pt x="113326" y="9444"/>
                </a:cubicBezTo>
                <a:lnTo>
                  <a:pt x="18888" y="9444"/>
                </a:lnTo>
                <a:close/>
                <a:moveTo>
                  <a:pt x="82634" y="30692"/>
                </a:moveTo>
                <a:cubicBezTo>
                  <a:pt x="86543" y="30692"/>
                  <a:pt x="89716" y="33866"/>
                  <a:pt x="89716" y="37775"/>
                </a:cubicBezTo>
                <a:cubicBezTo>
                  <a:pt x="89716" y="41685"/>
                  <a:pt x="86543" y="44858"/>
                  <a:pt x="82634" y="44858"/>
                </a:cubicBezTo>
                <a:cubicBezTo>
                  <a:pt x="78724" y="44858"/>
                  <a:pt x="75551" y="41685"/>
                  <a:pt x="75551" y="37775"/>
                </a:cubicBezTo>
                <a:cubicBezTo>
                  <a:pt x="75551" y="33866"/>
                  <a:pt x="78724" y="30692"/>
                  <a:pt x="82634" y="30692"/>
                </a:cubicBezTo>
                <a:close/>
                <a:moveTo>
                  <a:pt x="99160" y="37775"/>
                </a:moveTo>
                <a:cubicBezTo>
                  <a:pt x="99160" y="33866"/>
                  <a:pt x="102334" y="30692"/>
                  <a:pt x="106243" y="30692"/>
                </a:cubicBezTo>
                <a:cubicBezTo>
                  <a:pt x="110152" y="30692"/>
                  <a:pt x="113326" y="33866"/>
                  <a:pt x="113326" y="37775"/>
                </a:cubicBezTo>
                <a:cubicBezTo>
                  <a:pt x="113326" y="41685"/>
                  <a:pt x="110152" y="44858"/>
                  <a:pt x="106243" y="44858"/>
                </a:cubicBezTo>
                <a:cubicBezTo>
                  <a:pt x="102334" y="44858"/>
                  <a:pt x="99160" y="41685"/>
                  <a:pt x="99160" y="37775"/>
                </a:cubicBezTo>
                <a:close/>
                <a:moveTo>
                  <a:pt x="18888" y="84995"/>
                </a:moveTo>
                <a:cubicBezTo>
                  <a:pt x="8470" y="84995"/>
                  <a:pt x="0" y="93465"/>
                  <a:pt x="0" y="103882"/>
                </a:cubicBezTo>
                <a:lnTo>
                  <a:pt x="0" y="122770"/>
                </a:lnTo>
                <a:cubicBezTo>
                  <a:pt x="0" y="133188"/>
                  <a:pt x="8470" y="141658"/>
                  <a:pt x="18888" y="141658"/>
                </a:cubicBezTo>
                <a:lnTo>
                  <a:pt x="113326" y="141658"/>
                </a:lnTo>
                <a:cubicBezTo>
                  <a:pt x="123744" y="141658"/>
                  <a:pt x="132214" y="133188"/>
                  <a:pt x="132214" y="122770"/>
                </a:cubicBezTo>
                <a:lnTo>
                  <a:pt x="132214" y="103882"/>
                </a:lnTo>
                <a:cubicBezTo>
                  <a:pt x="132214" y="93465"/>
                  <a:pt x="123744" y="84995"/>
                  <a:pt x="113326" y="84995"/>
                </a:cubicBezTo>
                <a:lnTo>
                  <a:pt x="18888" y="84995"/>
                </a:lnTo>
                <a:close/>
                <a:moveTo>
                  <a:pt x="82634" y="106243"/>
                </a:moveTo>
                <a:cubicBezTo>
                  <a:pt x="86543" y="106243"/>
                  <a:pt x="89716" y="109417"/>
                  <a:pt x="89716" y="113326"/>
                </a:cubicBezTo>
                <a:cubicBezTo>
                  <a:pt x="89716" y="117235"/>
                  <a:pt x="86543" y="120409"/>
                  <a:pt x="82634" y="120409"/>
                </a:cubicBezTo>
                <a:cubicBezTo>
                  <a:pt x="78724" y="120409"/>
                  <a:pt x="75551" y="117235"/>
                  <a:pt x="75551" y="113326"/>
                </a:cubicBezTo>
                <a:cubicBezTo>
                  <a:pt x="75551" y="109417"/>
                  <a:pt x="78724" y="106243"/>
                  <a:pt x="82634" y="106243"/>
                </a:cubicBezTo>
                <a:close/>
                <a:moveTo>
                  <a:pt x="99160" y="113326"/>
                </a:moveTo>
                <a:cubicBezTo>
                  <a:pt x="99160" y="109417"/>
                  <a:pt x="102334" y="106243"/>
                  <a:pt x="106243" y="106243"/>
                </a:cubicBezTo>
                <a:cubicBezTo>
                  <a:pt x="110152" y="106243"/>
                  <a:pt x="113326" y="109417"/>
                  <a:pt x="113326" y="113326"/>
                </a:cubicBezTo>
                <a:cubicBezTo>
                  <a:pt x="113326" y="117235"/>
                  <a:pt x="110152" y="120409"/>
                  <a:pt x="106243" y="120409"/>
                </a:cubicBezTo>
                <a:cubicBezTo>
                  <a:pt x="102334" y="120409"/>
                  <a:pt x="99160" y="117235"/>
                  <a:pt x="99160" y="113326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103041" y="3180214"/>
            <a:ext cx="4825803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DevOps Engineer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3041" y="3369091"/>
            <a:ext cx="4816359" cy="15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AWS, Docker, CI/CD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3041" y="3520081"/>
            <a:ext cx="4816359" cy="15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₹1.4-1.7L/month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73676" y="1514792"/>
            <a:ext cx="5636085" cy="2472398"/>
          </a:xfrm>
          <a:custGeom>
            <a:avLst/>
            <a:gdLst/>
            <a:ahLst/>
            <a:cxnLst/>
            <a:rect l="l" t="t" r="r" b="b"/>
            <a:pathLst>
              <a:path w="5636085" h="2472398">
                <a:moveTo>
                  <a:pt x="113335" y="0"/>
                </a:moveTo>
                <a:lnTo>
                  <a:pt x="5522750" y="0"/>
                </a:lnTo>
                <a:cubicBezTo>
                  <a:pt x="5585343" y="0"/>
                  <a:pt x="5636085" y="50742"/>
                  <a:pt x="5636085" y="113335"/>
                </a:cubicBezTo>
                <a:lnTo>
                  <a:pt x="5636085" y="2359063"/>
                </a:lnTo>
                <a:cubicBezTo>
                  <a:pt x="5636085" y="2421656"/>
                  <a:pt x="5585343" y="2472398"/>
                  <a:pt x="5522750" y="2472398"/>
                </a:cubicBezTo>
                <a:lnTo>
                  <a:pt x="113335" y="2472398"/>
                </a:lnTo>
                <a:cubicBezTo>
                  <a:pt x="50742" y="2472398"/>
                  <a:pt x="0" y="2421656"/>
                  <a:pt x="0" y="2359063"/>
                </a:cubicBezTo>
                <a:lnTo>
                  <a:pt x="0" y="113335"/>
                </a:lnTo>
                <a:cubicBezTo>
                  <a:pt x="0" y="50784"/>
                  <a:pt x="50784" y="0"/>
                  <a:pt x="113335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28555" y="1669679"/>
            <a:ext cx="5392434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spc="52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DEVELOPMENT COST BREAKDOWN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28555" y="1990769"/>
            <a:ext cx="859390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Salaries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165572" y="1971882"/>
            <a:ext cx="566631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₹1.19 Cr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28555" y="2292972"/>
            <a:ext cx="859390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Benefits (18%)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257769" y="2274085"/>
            <a:ext cx="472192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₹21.4L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28555" y="2595175"/>
            <a:ext cx="793283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Office Space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399071" y="2576287"/>
            <a:ext cx="330534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₹11L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28555" y="2897378"/>
            <a:ext cx="642181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Recruiting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410522" y="2878490"/>
            <a:ext cx="321091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₹8L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28555" y="3199581"/>
            <a:ext cx="679957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Equipment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418078" y="3180693"/>
            <a:ext cx="311647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₹4L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28555" y="3486674"/>
            <a:ext cx="5326327" cy="7555"/>
          </a:xfrm>
          <a:custGeom>
            <a:avLst/>
            <a:gdLst/>
            <a:ahLst/>
            <a:cxnLst/>
            <a:rect l="l" t="t" r="r" b="b"/>
            <a:pathLst>
              <a:path w="5326327" h="7555">
                <a:moveTo>
                  <a:pt x="0" y="0"/>
                </a:moveTo>
                <a:lnTo>
                  <a:pt x="5326327" y="0"/>
                </a:lnTo>
                <a:lnTo>
                  <a:pt x="5326327" y="7555"/>
                </a:lnTo>
                <a:lnTo>
                  <a:pt x="0" y="7555"/>
                </a:lnTo>
                <a:lnTo>
                  <a:pt x="0" y="0"/>
                </a:lnTo>
                <a:close/>
              </a:path>
            </a:pathLst>
          </a:custGeom>
          <a:solidFill>
            <a:srgbClr val="6B8E6E">
              <a:alpha val="30196"/>
            </a:srgbClr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328555" y="3584879"/>
            <a:ext cx="623294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Subtotal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075148" y="3565991"/>
            <a:ext cx="661069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9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₹1.43 Cr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1531" y="4143962"/>
            <a:ext cx="2765157" cy="1065265"/>
          </a:xfrm>
          <a:custGeom>
            <a:avLst/>
            <a:gdLst/>
            <a:ahLst/>
            <a:cxnLst/>
            <a:rect l="l" t="t" r="r" b="b"/>
            <a:pathLst>
              <a:path w="2765157" h="1065265">
                <a:moveTo>
                  <a:pt x="75549" y="0"/>
                </a:moveTo>
                <a:lnTo>
                  <a:pt x="2689608" y="0"/>
                </a:lnTo>
                <a:cubicBezTo>
                  <a:pt x="2731333" y="0"/>
                  <a:pt x="2765157" y="33824"/>
                  <a:pt x="2765157" y="75549"/>
                </a:cubicBezTo>
                <a:lnTo>
                  <a:pt x="2765157" y="989717"/>
                </a:lnTo>
                <a:cubicBezTo>
                  <a:pt x="2765157" y="1031441"/>
                  <a:pt x="2731333" y="1065265"/>
                  <a:pt x="2689608" y="1065265"/>
                </a:cubicBezTo>
                <a:lnTo>
                  <a:pt x="75549" y="1065265"/>
                </a:lnTo>
                <a:cubicBezTo>
                  <a:pt x="33824" y="1065265"/>
                  <a:pt x="0" y="1031441"/>
                  <a:pt x="0" y="989717"/>
                </a:cubicBezTo>
                <a:lnTo>
                  <a:pt x="0" y="75549"/>
                </a:lnTo>
                <a:cubicBezTo>
                  <a:pt x="0" y="33852"/>
                  <a:pt x="33852" y="0"/>
                  <a:pt x="75549" y="0"/>
                </a:cubicBezTo>
                <a:close/>
              </a:path>
            </a:pathLst>
          </a:custGeom>
          <a:solidFill>
            <a:srgbClr val="E9C46A">
              <a:alpha val="10196"/>
            </a:srgbClr>
          </a:solidFill>
          <a:ln w="10160">
            <a:solidFill>
              <a:srgbClr val="E9C46A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658103" y="4261073"/>
            <a:ext cx="212486" cy="188877"/>
          </a:xfrm>
          <a:custGeom>
            <a:avLst/>
            <a:gdLst/>
            <a:ahLst/>
            <a:cxnLst/>
            <a:rect l="l" t="t" r="r" b="b"/>
            <a:pathLst>
              <a:path w="212486" h="188877">
                <a:moveTo>
                  <a:pt x="0" y="123950"/>
                </a:moveTo>
                <a:cubicBezTo>
                  <a:pt x="0" y="153278"/>
                  <a:pt x="23794" y="177072"/>
                  <a:pt x="53122" y="177072"/>
                </a:cubicBezTo>
                <a:lnTo>
                  <a:pt x="165267" y="177072"/>
                </a:lnTo>
                <a:cubicBezTo>
                  <a:pt x="191348" y="177072"/>
                  <a:pt x="212486" y="155934"/>
                  <a:pt x="212486" y="129853"/>
                </a:cubicBezTo>
                <a:cubicBezTo>
                  <a:pt x="212486" y="110818"/>
                  <a:pt x="201235" y="94402"/>
                  <a:pt x="185003" y="86950"/>
                </a:cubicBezTo>
                <a:cubicBezTo>
                  <a:pt x="187475" y="82117"/>
                  <a:pt x="188877" y="76621"/>
                  <a:pt x="188877" y="70829"/>
                </a:cubicBezTo>
                <a:cubicBezTo>
                  <a:pt x="188877" y="51277"/>
                  <a:pt x="173014" y="35414"/>
                  <a:pt x="153462" y="35414"/>
                </a:cubicBezTo>
                <a:cubicBezTo>
                  <a:pt x="146933" y="35414"/>
                  <a:pt x="140846" y="37185"/>
                  <a:pt x="135608" y="40247"/>
                </a:cubicBezTo>
                <a:cubicBezTo>
                  <a:pt x="126717" y="23351"/>
                  <a:pt x="108973" y="11805"/>
                  <a:pt x="88536" y="11805"/>
                </a:cubicBezTo>
                <a:cubicBezTo>
                  <a:pt x="59208" y="11805"/>
                  <a:pt x="35414" y="35599"/>
                  <a:pt x="35414" y="64926"/>
                </a:cubicBezTo>
                <a:cubicBezTo>
                  <a:pt x="35414" y="67878"/>
                  <a:pt x="35673" y="70792"/>
                  <a:pt x="36115" y="73596"/>
                </a:cubicBezTo>
                <a:cubicBezTo>
                  <a:pt x="15125" y="80678"/>
                  <a:pt x="0" y="100562"/>
                  <a:pt x="0" y="12395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65581" y="4525500"/>
            <a:ext cx="2597057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1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60859" y="4714377"/>
            <a:ext cx="2606500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₹9.08L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70303" y="4941029"/>
            <a:ext cx="2587613" cy="15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2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 months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268160" y="4143962"/>
            <a:ext cx="2765157" cy="1065265"/>
          </a:xfrm>
          <a:custGeom>
            <a:avLst/>
            <a:gdLst/>
            <a:ahLst/>
            <a:cxnLst/>
            <a:rect l="l" t="t" r="r" b="b"/>
            <a:pathLst>
              <a:path w="2765157" h="1065265">
                <a:moveTo>
                  <a:pt x="75549" y="0"/>
                </a:moveTo>
                <a:lnTo>
                  <a:pt x="2689608" y="0"/>
                </a:lnTo>
                <a:cubicBezTo>
                  <a:pt x="2731333" y="0"/>
                  <a:pt x="2765157" y="33824"/>
                  <a:pt x="2765157" y="75549"/>
                </a:cubicBezTo>
                <a:lnTo>
                  <a:pt x="2765157" y="989717"/>
                </a:lnTo>
                <a:cubicBezTo>
                  <a:pt x="2765157" y="1031441"/>
                  <a:pt x="2731333" y="1065265"/>
                  <a:pt x="2689608" y="1065265"/>
                </a:cubicBezTo>
                <a:lnTo>
                  <a:pt x="75549" y="1065265"/>
                </a:lnTo>
                <a:cubicBezTo>
                  <a:pt x="33824" y="1065265"/>
                  <a:pt x="0" y="1031441"/>
                  <a:pt x="0" y="989717"/>
                </a:cubicBezTo>
                <a:lnTo>
                  <a:pt x="0" y="75549"/>
                </a:lnTo>
                <a:cubicBezTo>
                  <a:pt x="0" y="33852"/>
                  <a:pt x="33852" y="0"/>
                  <a:pt x="75549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0160">
            <a:solidFill>
              <a:srgbClr val="D4A373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4568341" y="4261073"/>
            <a:ext cx="165267" cy="188877"/>
          </a:xfrm>
          <a:custGeom>
            <a:avLst/>
            <a:gdLst/>
            <a:ahLst/>
            <a:cxnLst/>
            <a:rect l="l" t="t" r="r" b="b"/>
            <a:pathLst>
              <a:path w="165267" h="188877">
                <a:moveTo>
                  <a:pt x="47219" y="-11805"/>
                </a:moveTo>
                <a:cubicBezTo>
                  <a:pt x="53749" y="-11805"/>
                  <a:pt x="59024" y="-6530"/>
                  <a:pt x="59024" y="0"/>
                </a:cubicBezTo>
                <a:lnTo>
                  <a:pt x="59024" y="35414"/>
                </a:lnTo>
                <a:lnTo>
                  <a:pt x="106243" y="35414"/>
                </a:lnTo>
                <a:lnTo>
                  <a:pt x="106243" y="0"/>
                </a:lnTo>
                <a:cubicBezTo>
                  <a:pt x="106243" y="-6530"/>
                  <a:pt x="111518" y="-11805"/>
                  <a:pt x="118048" y="-11805"/>
                </a:cubicBezTo>
                <a:cubicBezTo>
                  <a:pt x="124578" y="-11805"/>
                  <a:pt x="129853" y="-6530"/>
                  <a:pt x="129853" y="0"/>
                </a:cubicBezTo>
                <a:lnTo>
                  <a:pt x="129853" y="35414"/>
                </a:lnTo>
                <a:lnTo>
                  <a:pt x="153462" y="35414"/>
                </a:lnTo>
                <a:cubicBezTo>
                  <a:pt x="159992" y="35414"/>
                  <a:pt x="165267" y="40690"/>
                  <a:pt x="165267" y="47219"/>
                </a:cubicBezTo>
                <a:cubicBezTo>
                  <a:pt x="165267" y="53749"/>
                  <a:pt x="159992" y="59024"/>
                  <a:pt x="153462" y="59024"/>
                </a:cubicBezTo>
                <a:lnTo>
                  <a:pt x="153462" y="82634"/>
                </a:lnTo>
                <a:cubicBezTo>
                  <a:pt x="153462" y="117716"/>
                  <a:pt x="127935" y="146859"/>
                  <a:pt x="94438" y="152466"/>
                </a:cubicBezTo>
                <a:lnTo>
                  <a:pt x="94438" y="177072"/>
                </a:lnTo>
                <a:cubicBezTo>
                  <a:pt x="94438" y="183602"/>
                  <a:pt x="89163" y="188877"/>
                  <a:pt x="82634" y="188877"/>
                </a:cubicBezTo>
                <a:cubicBezTo>
                  <a:pt x="76104" y="188877"/>
                  <a:pt x="70829" y="183602"/>
                  <a:pt x="70829" y="177072"/>
                </a:cubicBezTo>
                <a:lnTo>
                  <a:pt x="70829" y="152466"/>
                </a:lnTo>
                <a:cubicBezTo>
                  <a:pt x="37333" y="146859"/>
                  <a:pt x="11805" y="117716"/>
                  <a:pt x="11805" y="82634"/>
                </a:cubicBezTo>
                <a:lnTo>
                  <a:pt x="11805" y="59024"/>
                </a:lnTo>
                <a:cubicBezTo>
                  <a:pt x="5275" y="59024"/>
                  <a:pt x="0" y="53749"/>
                  <a:pt x="0" y="47219"/>
                </a:cubicBezTo>
                <a:cubicBezTo>
                  <a:pt x="0" y="40690"/>
                  <a:pt x="5275" y="35414"/>
                  <a:pt x="11805" y="35414"/>
                </a:cubicBezTo>
                <a:lnTo>
                  <a:pt x="35414" y="35414"/>
                </a:lnTo>
                <a:lnTo>
                  <a:pt x="35414" y="0"/>
                </a:lnTo>
                <a:cubicBezTo>
                  <a:pt x="35414" y="-6530"/>
                  <a:pt x="40690" y="-11805"/>
                  <a:pt x="47219" y="-11805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3352210" y="4525500"/>
            <a:ext cx="2597057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1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Third-Party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3347488" y="4714377"/>
            <a:ext cx="2606500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₹4.18L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3356932" y="4941029"/>
            <a:ext cx="2587613" cy="15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2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Stripe, Twilio, etc.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54788" y="4143962"/>
            <a:ext cx="2765157" cy="1065265"/>
          </a:xfrm>
          <a:custGeom>
            <a:avLst/>
            <a:gdLst/>
            <a:ahLst/>
            <a:cxnLst/>
            <a:rect l="l" t="t" r="r" b="b"/>
            <a:pathLst>
              <a:path w="2765157" h="1065265">
                <a:moveTo>
                  <a:pt x="75549" y="0"/>
                </a:moveTo>
                <a:lnTo>
                  <a:pt x="2689608" y="0"/>
                </a:lnTo>
                <a:cubicBezTo>
                  <a:pt x="2731333" y="0"/>
                  <a:pt x="2765157" y="33824"/>
                  <a:pt x="2765157" y="75549"/>
                </a:cubicBezTo>
                <a:lnTo>
                  <a:pt x="2765157" y="989717"/>
                </a:lnTo>
                <a:cubicBezTo>
                  <a:pt x="2765157" y="1031441"/>
                  <a:pt x="2731333" y="1065265"/>
                  <a:pt x="2689608" y="1065265"/>
                </a:cubicBezTo>
                <a:lnTo>
                  <a:pt x="75549" y="1065265"/>
                </a:lnTo>
                <a:cubicBezTo>
                  <a:pt x="33824" y="1065265"/>
                  <a:pt x="0" y="1031441"/>
                  <a:pt x="0" y="989717"/>
                </a:cubicBezTo>
                <a:lnTo>
                  <a:pt x="0" y="75549"/>
                </a:lnTo>
                <a:cubicBezTo>
                  <a:pt x="0" y="33852"/>
                  <a:pt x="33852" y="0"/>
                  <a:pt x="75549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7443164" y="4261073"/>
            <a:ext cx="188877" cy="188877"/>
          </a:xfrm>
          <a:custGeom>
            <a:avLst/>
            <a:gdLst/>
            <a:ahLst/>
            <a:cxnLst/>
            <a:rect l="l" t="t" r="r" b="b"/>
            <a:pathLst>
              <a:path w="188877" h="188877">
                <a:moveTo>
                  <a:pt x="64926" y="8854"/>
                </a:moveTo>
                <a:cubicBezTo>
                  <a:pt x="64926" y="3947"/>
                  <a:pt x="60979" y="0"/>
                  <a:pt x="56073" y="0"/>
                </a:cubicBezTo>
                <a:cubicBezTo>
                  <a:pt x="51166" y="0"/>
                  <a:pt x="47219" y="3947"/>
                  <a:pt x="47219" y="8854"/>
                </a:cubicBezTo>
                <a:lnTo>
                  <a:pt x="47219" y="23610"/>
                </a:lnTo>
                <a:cubicBezTo>
                  <a:pt x="34197" y="23610"/>
                  <a:pt x="23610" y="34197"/>
                  <a:pt x="23610" y="47219"/>
                </a:cubicBezTo>
                <a:lnTo>
                  <a:pt x="8854" y="47219"/>
                </a:lnTo>
                <a:cubicBezTo>
                  <a:pt x="3947" y="47219"/>
                  <a:pt x="0" y="51166"/>
                  <a:pt x="0" y="56073"/>
                </a:cubicBezTo>
                <a:cubicBezTo>
                  <a:pt x="0" y="60979"/>
                  <a:pt x="3947" y="64926"/>
                  <a:pt x="8854" y="64926"/>
                </a:cubicBezTo>
                <a:lnTo>
                  <a:pt x="23610" y="64926"/>
                </a:lnTo>
                <a:lnTo>
                  <a:pt x="23610" y="85585"/>
                </a:lnTo>
                <a:lnTo>
                  <a:pt x="8854" y="85585"/>
                </a:lnTo>
                <a:cubicBezTo>
                  <a:pt x="3947" y="85585"/>
                  <a:pt x="0" y="89532"/>
                  <a:pt x="0" y="94438"/>
                </a:cubicBezTo>
                <a:cubicBezTo>
                  <a:pt x="0" y="99345"/>
                  <a:pt x="3947" y="103292"/>
                  <a:pt x="8854" y="103292"/>
                </a:cubicBezTo>
                <a:lnTo>
                  <a:pt x="23610" y="103292"/>
                </a:lnTo>
                <a:lnTo>
                  <a:pt x="23610" y="123950"/>
                </a:lnTo>
                <a:lnTo>
                  <a:pt x="8854" y="123950"/>
                </a:lnTo>
                <a:cubicBezTo>
                  <a:pt x="3947" y="123950"/>
                  <a:pt x="0" y="127898"/>
                  <a:pt x="0" y="132804"/>
                </a:cubicBezTo>
                <a:cubicBezTo>
                  <a:pt x="0" y="137710"/>
                  <a:pt x="3947" y="141658"/>
                  <a:pt x="8854" y="141658"/>
                </a:cubicBezTo>
                <a:lnTo>
                  <a:pt x="23610" y="141658"/>
                </a:lnTo>
                <a:cubicBezTo>
                  <a:pt x="23610" y="154680"/>
                  <a:pt x="34197" y="165267"/>
                  <a:pt x="47219" y="165267"/>
                </a:cubicBezTo>
                <a:lnTo>
                  <a:pt x="47219" y="180023"/>
                </a:lnTo>
                <a:cubicBezTo>
                  <a:pt x="47219" y="184930"/>
                  <a:pt x="51166" y="188877"/>
                  <a:pt x="56073" y="188877"/>
                </a:cubicBezTo>
                <a:cubicBezTo>
                  <a:pt x="60979" y="188877"/>
                  <a:pt x="64926" y="184930"/>
                  <a:pt x="64926" y="180023"/>
                </a:cubicBezTo>
                <a:lnTo>
                  <a:pt x="64926" y="165267"/>
                </a:lnTo>
                <a:lnTo>
                  <a:pt x="85585" y="165267"/>
                </a:lnTo>
                <a:lnTo>
                  <a:pt x="85585" y="180023"/>
                </a:lnTo>
                <a:cubicBezTo>
                  <a:pt x="85585" y="184930"/>
                  <a:pt x="89532" y="188877"/>
                  <a:pt x="94438" y="188877"/>
                </a:cubicBezTo>
                <a:cubicBezTo>
                  <a:pt x="99345" y="188877"/>
                  <a:pt x="103292" y="184930"/>
                  <a:pt x="103292" y="180023"/>
                </a:cubicBezTo>
                <a:lnTo>
                  <a:pt x="103292" y="165267"/>
                </a:lnTo>
                <a:lnTo>
                  <a:pt x="123950" y="165267"/>
                </a:lnTo>
                <a:lnTo>
                  <a:pt x="123950" y="180023"/>
                </a:lnTo>
                <a:cubicBezTo>
                  <a:pt x="123950" y="184930"/>
                  <a:pt x="127898" y="188877"/>
                  <a:pt x="132804" y="188877"/>
                </a:cubicBezTo>
                <a:cubicBezTo>
                  <a:pt x="137710" y="188877"/>
                  <a:pt x="141658" y="184930"/>
                  <a:pt x="141658" y="180023"/>
                </a:cubicBezTo>
                <a:lnTo>
                  <a:pt x="141658" y="165267"/>
                </a:lnTo>
                <a:cubicBezTo>
                  <a:pt x="154680" y="165267"/>
                  <a:pt x="165267" y="154680"/>
                  <a:pt x="165267" y="141658"/>
                </a:cubicBezTo>
                <a:lnTo>
                  <a:pt x="180023" y="141658"/>
                </a:lnTo>
                <a:cubicBezTo>
                  <a:pt x="184930" y="141658"/>
                  <a:pt x="188877" y="137710"/>
                  <a:pt x="188877" y="132804"/>
                </a:cubicBezTo>
                <a:cubicBezTo>
                  <a:pt x="188877" y="127898"/>
                  <a:pt x="184930" y="123950"/>
                  <a:pt x="180023" y="123950"/>
                </a:cubicBezTo>
                <a:lnTo>
                  <a:pt x="165267" y="123950"/>
                </a:lnTo>
                <a:lnTo>
                  <a:pt x="165267" y="103292"/>
                </a:lnTo>
                <a:lnTo>
                  <a:pt x="180023" y="103292"/>
                </a:lnTo>
                <a:cubicBezTo>
                  <a:pt x="184930" y="103292"/>
                  <a:pt x="188877" y="99345"/>
                  <a:pt x="188877" y="94438"/>
                </a:cubicBezTo>
                <a:cubicBezTo>
                  <a:pt x="188877" y="89532"/>
                  <a:pt x="184930" y="85585"/>
                  <a:pt x="180023" y="85585"/>
                </a:cubicBezTo>
                <a:lnTo>
                  <a:pt x="165267" y="85585"/>
                </a:lnTo>
                <a:lnTo>
                  <a:pt x="165267" y="64926"/>
                </a:lnTo>
                <a:lnTo>
                  <a:pt x="180023" y="64926"/>
                </a:lnTo>
                <a:cubicBezTo>
                  <a:pt x="184930" y="64926"/>
                  <a:pt x="188877" y="60979"/>
                  <a:pt x="188877" y="56073"/>
                </a:cubicBezTo>
                <a:cubicBezTo>
                  <a:pt x="188877" y="51166"/>
                  <a:pt x="184930" y="47219"/>
                  <a:pt x="180023" y="47219"/>
                </a:cubicBezTo>
                <a:lnTo>
                  <a:pt x="165267" y="47219"/>
                </a:lnTo>
                <a:cubicBezTo>
                  <a:pt x="165267" y="34197"/>
                  <a:pt x="154680" y="23610"/>
                  <a:pt x="141658" y="23610"/>
                </a:cubicBezTo>
                <a:lnTo>
                  <a:pt x="141658" y="8854"/>
                </a:lnTo>
                <a:cubicBezTo>
                  <a:pt x="141658" y="3947"/>
                  <a:pt x="137710" y="0"/>
                  <a:pt x="132804" y="0"/>
                </a:cubicBezTo>
                <a:cubicBezTo>
                  <a:pt x="127898" y="0"/>
                  <a:pt x="123950" y="3947"/>
                  <a:pt x="123950" y="8854"/>
                </a:cubicBezTo>
                <a:lnTo>
                  <a:pt x="123950" y="23610"/>
                </a:lnTo>
                <a:lnTo>
                  <a:pt x="103292" y="23610"/>
                </a:lnTo>
                <a:lnTo>
                  <a:pt x="103292" y="8854"/>
                </a:lnTo>
                <a:cubicBezTo>
                  <a:pt x="103292" y="3947"/>
                  <a:pt x="99345" y="0"/>
                  <a:pt x="94438" y="0"/>
                </a:cubicBezTo>
                <a:cubicBezTo>
                  <a:pt x="89532" y="0"/>
                  <a:pt x="85585" y="3947"/>
                  <a:pt x="85585" y="8854"/>
                </a:cubicBezTo>
                <a:lnTo>
                  <a:pt x="85585" y="23610"/>
                </a:lnTo>
                <a:lnTo>
                  <a:pt x="64926" y="23610"/>
                </a:lnTo>
                <a:lnTo>
                  <a:pt x="64926" y="8854"/>
                </a:lnTo>
                <a:close/>
                <a:moveTo>
                  <a:pt x="59024" y="47219"/>
                </a:moveTo>
                <a:lnTo>
                  <a:pt x="129853" y="47219"/>
                </a:lnTo>
                <a:cubicBezTo>
                  <a:pt x="136382" y="47219"/>
                  <a:pt x="141658" y="52494"/>
                  <a:pt x="141658" y="59024"/>
                </a:cubicBezTo>
                <a:lnTo>
                  <a:pt x="141658" y="129853"/>
                </a:lnTo>
                <a:cubicBezTo>
                  <a:pt x="141658" y="136382"/>
                  <a:pt x="136382" y="141658"/>
                  <a:pt x="129853" y="141658"/>
                </a:cubicBezTo>
                <a:lnTo>
                  <a:pt x="59024" y="141658"/>
                </a:lnTo>
                <a:cubicBezTo>
                  <a:pt x="52494" y="141658"/>
                  <a:pt x="47219" y="136382"/>
                  <a:pt x="47219" y="129853"/>
                </a:cubicBezTo>
                <a:lnTo>
                  <a:pt x="47219" y="59024"/>
                </a:lnTo>
                <a:cubicBezTo>
                  <a:pt x="47219" y="52494"/>
                  <a:pt x="52494" y="47219"/>
                  <a:pt x="59024" y="47219"/>
                </a:cubicBezTo>
                <a:close/>
                <a:moveTo>
                  <a:pt x="64926" y="64926"/>
                </a:moveTo>
                <a:lnTo>
                  <a:pt x="64926" y="123950"/>
                </a:lnTo>
                <a:lnTo>
                  <a:pt x="123950" y="123950"/>
                </a:lnTo>
                <a:lnTo>
                  <a:pt x="123950" y="64926"/>
                </a:lnTo>
                <a:lnTo>
                  <a:pt x="64926" y="64926"/>
                </a:ln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238838" y="4525500"/>
            <a:ext cx="2597057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1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234116" y="4714377"/>
            <a:ext cx="2606500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₹5.3L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243560" y="4941029"/>
            <a:ext cx="2587613" cy="15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2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27 farm kits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041416" y="4143962"/>
            <a:ext cx="2765157" cy="1065265"/>
          </a:xfrm>
          <a:custGeom>
            <a:avLst/>
            <a:gdLst/>
            <a:ahLst/>
            <a:cxnLst/>
            <a:rect l="l" t="t" r="r" b="b"/>
            <a:pathLst>
              <a:path w="2765157" h="1065265">
                <a:moveTo>
                  <a:pt x="75549" y="0"/>
                </a:moveTo>
                <a:lnTo>
                  <a:pt x="2689608" y="0"/>
                </a:lnTo>
                <a:cubicBezTo>
                  <a:pt x="2731333" y="0"/>
                  <a:pt x="2765157" y="33824"/>
                  <a:pt x="2765157" y="75549"/>
                </a:cubicBezTo>
                <a:lnTo>
                  <a:pt x="2765157" y="989717"/>
                </a:lnTo>
                <a:cubicBezTo>
                  <a:pt x="2765157" y="1031441"/>
                  <a:pt x="2731333" y="1065265"/>
                  <a:pt x="2689608" y="1065265"/>
                </a:cubicBezTo>
                <a:lnTo>
                  <a:pt x="75549" y="1065265"/>
                </a:lnTo>
                <a:cubicBezTo>
                  <a:pt x="33824" y="1065265"/>
                  <a:pt x="0" y="1031441"/>
                  <a:pt x="0" y="989717"/>
                </a:cubicBezTo>
                <a:lnTo>
                  <a:pt x="0" y="75549"/>
                </a:lnTo>
                <a:cubicBezTo>
                  <a:pt x="0" y="33852"/>
                  <a:pt x="33852" y="0"/>
                  <a:pt x="75549" y="0"/>
                </a:cubicBezTo>
                <a:close/>
              </a:path>
            </a:pathLst>
          </a:custGeom>
          <a:solidFill>
            <a:srgbClr val="E9C46A">
              <a:alpha val="10196"/>
            </a:srgbClr>
          </a:solidFill>
          <a:ln w="10160">
            <a:solidFill>
              <a:srgbClr val="E9C46A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10318106" y="4261073"/>
            <a:ext cx="212486" cy="188877"/>
          </a:xfrm>
          <a:custGeom>
            <a:avLst/>
            <a:gdLst/>
            <a:ahLst/>
            <a:cxnLst/>
            <a:rect l="l" t="t" r="r" b="b"/>
            <a:pathLst>
              <a:path w="212486" h="188877">
                <a:moveTo>
                  <a:pt x="106243" y="-11805"/>
                </a:moveTo>
                <a:cubicBezTo>
                  <a:pt x="125789" y="-11805"/>
                  <a:pt x="141658" y="4064"/>
                  <a:pt x="141658" y="23610"/>
                </a:cubicBezTo>
                <a:cubicBezTo>
                  <a:pt x="141658" y="43155"/>
                  <a:pt x="125789" y="59024"/>
                  <a:pt x="106243" y="59024"/>
                </a:cubicBezTo>
                <a:cubicBezTo>
                  <a:pt x="86697" y="59024"/>
                  <a:pt x="70829" y="43155"/>
                  <a:pt x="70829" y="23610"/>
                </a:cubicBezTo>
                <a:cubicBezTo>
                  <a:pt x="70829" y="4064"/>
                  <a:pt x="86697" y="-11805"/>
                  <a:pt x="106243" y="-11805"/>
                </a:cubicBezTo>
                <a:close/>
                <a:moveTo>
                  <a:pt x="17707" y="112146"/>
                </a:moveTo>
                <a:cubicBezTo>
                  <a:pt x="17707" y="86286"/>
                  <a:pt x="35046" y="63672"/>
                  <a:pt x="60905" y="51314"/>
                </a:cubicBezTo>
                <a:cubicBezTo>
                  <a:pt x="70239" y="66550"/>
                  <a:pt x="87060" y="76731"/>
                  <a:pt x="106243" y="76731"/>
                </a:cubicBezTo>
                <a:cubicBezTo>
                  <a:pt x="126791" y="76731"/>
                  <a:pt x="144646" y="65037"/>
                  <a:pt x="153462" y="47957"/>
                </a:cubicBezTo>
                <a:cubicBezTo>
                  <a:pt x="159291" y="43788"/>
                  <a:pt x="166411" y="41317"/>
                  <a:pt x="174121" y="41317"/>
                </a:cubicBezTo>
                <a:lnTo>
                  <a:pt x="181314" y="41317"/>
                </a:lnTo>
                <a:cubicBezTo>
                  <a:pt x="185151" y="41317"/>
                  <a:pt x="187955" y="44932"/>
                  <a:pt x="187032" y="48658"/>
                </a:cubicBezTo>
                <a:lnTo>
                  <a:pt x="180724" y="73854"/>
                </a:lnTo>
                <a:cubicBezTo>
                  <a:pt x="184376" y="78428"/>
                  <a:pt x="187438" y="83335"/>
                  <a:pt x="189725" y="88536"/>
                </a:cubicBezTo>
                <a:lnTo>
                  <a:pt x="197730" y="88536"/>
                </a:lnTo>
                <a:cubicBezTo>
                  <a:pt x="202637" y="88536"/>
                  <a:pt x="206584" y="92483"/>
                  <a:pt x="206584" y="97390"/>
                </a:cubicBezTo>
                <a:lnTo>
                  <a:pt x="206584" y="138706"/>
                </a:lnTo>
                <a:cubicBezTo>
                  <a:pt x="206584" y="143613"/>
                  <a:pt x="202637" y="147560"/>
                  <a:pt x="197730" y="147560"/>
                </a:cubicBezTo>
                <a:lnTo>
                  <a:pt x="182974" y="147560"/>
                </a:lnTo>
                <a:cubicBezTo>
                  <a:pt x="176888" y="155676"/>
                  <a:pt x="168772" y="162168"/>
                  <a:pt x="159365" y="166263"/>
                </a:cubicBezTo>
                <a:lnTo>
                  <a:pt x="159365" y="177072"/>
                </a:lnTo>
                <a:cubicBezTo>
                  <a:pt x="159365" y="183602"/>
                  <a:pt x="154090" y="188877"/>
                  <a:pt x="147560" y="188877"/>
                </a:cubicBezTo>
                <a:lnTo>
                  <a:pt x="135386" y="188877"/>
                </a:lnTo>
                <a:cubicBezTo>
                  <a:pt x="130111" y="188877"/>
                  <a:pt x="125500" y="185372"/>
                  <a:pt x="124024" y="180318"/>
                </a:cubicBezTo>
                <a:lnTo>
                  <a:pt x="121405" y="171170"/>
                </a:lnTo>
                <a:lnTo>
                  <a:pt x="91045" y="171170"/>
                </a:lnTo>
                <a:lnTo>
                  <a:pt x="88425" y="180318"/>
                </a:lnTo>
                <a:cubicBezTo>
                  <a:pt x="86987" y="185372"/>
                  <a:pt x="82375" y="188877"/>
                  <a:pt x="77100" y="188877"/>
                </a:cubicBezTo>
                <a:lnTo>
                  <a:pt x="64926" y="188877"/>
                </a:lnTo>
                <a:cubicBezTo>
                  <a:pt x="58397" y="188877"/>
                  <a:pt x="53122" y="183602"/>
                  <a:pt x="53122" y="177072"/>
                </a:cubicBezTo>
                <a:lnTo>
                  <a:pt x="53122" y="166263"/>
                </a:lnTo>
                <a:cubicBezTo>
                  <a:pt x="32279" y="157151"/>
                  <a:pt x="17707" y="136345"/>
                  <a:pt x="17707" y="112146"/>
                </a:cubicBezTo>
                <a:close/>
                <a:moveTo>
                  <a:pt x="156414" y="118048"/>
                </a:moveTo>
                <a:cubicBezTo>
                  <a:pt x="161300" y="118048"/>
                  <a:pt x="165267" y="114081"/>
                  <a:pt x="165267" y="109194"/>
                </a:cubicBezTo>
                <a:cubicBezTo>
                  <a:pt x="165267" y="104308"/>
                  <a:pt x="161300" y="100341"/>
                  <a:pt x="156414" y="100341"/>
                </a:cubicBezTo>
                <a:cubicBezTo>
                  <a:pt x="151527" y="100341"/>
                  <a:pt x="147560" y="104308"/>
                  <a:pt x="147560" y="109194"/>
                </a:cubicBezTo>
                <a:cubicBezTo>
                  <a:pt x="147560" y="114081"/>
                  <a:pt x="151527" y="118048"/>
                  <a:pt x="156414" y="118048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9125467" y="4525500"/>
            <a:ext cx="2597057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1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Contingency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120745" y="4714377"/>
            <a:ext cx="2606500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₹30.4L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130189" y="4941029"/>
            <a:ext cx="2587613" cy="15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2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20% buffer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381531" y="5367769"/>
            <a:ext cx="11425160" cy="1103041"/>
          </a:xfrm>
          <a:custGeom>
            <a:avLst/>
            <a:gdLst/>
            <a:ahLst/>
            <a:cxnLst/>
            <a:rect l="l" t="t" r="r" b="b"/>
            <a:pathLst>
              <a:path w="11425160" h="1103041">
                <a:moveTo>
                  <a:pt x="113326" y="0"/>
                </a:moveTo>
                <a:lnTo>
                  <a:pt x="11311834" y="0"/>
                </a:lnTo>
                <a:cubicBezTo>
                  <a:pt x="11374422" y="0"/>
                  <a:pt x="11425160" y="50738"/>
                  <a:pt x="11425160" y="113326"/>
                </a:cubicBezTo>
                <a:lnTo>
                  <a:pt x="11425160" y="989714"/>
                </a:lnTo>
                <a:cubicBezTo>
                  <a:pt x="11425160" y="1052303"/>
                  <a:pt x="11374422" y="1103041"/>
                  <a:pt x="11311834" y="1103041"/>
                </a:cubicBezTo>
                <a:lnTo>
                  <a:pt x="113326" y="1103041"/>
                </a:lnTo>
                <a:cubicBezTo>
                  <a:pt x="50738" y="1103041"/>
                  <a:pt x="0" y="1052303"/>
                  <a:pt x="0" y="989714"/>
                </a:cubicBezTo>
                <a:lnTo>
                  <a:pt x="0" y="113326"/>
                </a:lnTo>
                <a:cubicBezTo>
                  <a:pt x="0" y="50780"/>
                  <a:pt x="50780" y="0"/>
                  <a:pt x="113326" y="0"/>
                </a:cubicBezTo>
                <a:close/>
              </a:path>
            </a:pathLst>
          </a:custGeom>
          <a:gradFill rotWithShape="1" flip="none">
            <a:gsLst>
              <a:gs pos="0">
                <a:srgbClr val="E9C46A">
                  <a:alpha val="20000"/>
                </a:srgbClr>
              </a:gs>
              <a:gs pos="100000">
                <a:srgbClr val="D4A373">
                  <a:alpha val="20000"/>
                </a:srgbClr>
              </a:gs>
            </a:gsLst>
            <a:lin ang="0" scaled="1"/>
          </a:gradFill>
          <a:ln w="10160">
            <a:solidFill>
              <a:srgbClr val="E9C46A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536410" y="5522637"/>
            <a:ext cx="1794330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REVISED TOTAL INVESTMENT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536410" y="5749289"/>
            <a:ext cx="1898212" cy="37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7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₹1.92 Cr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36410" y="6127043"/>
            <a:ext cx="1794330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 months fully-loaded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0226029" y="5541525"/>
            <a:ext cx="1426020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41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Recommended Funding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0150478" y="5768177"/>
            <a:ext cx="1501571" cy="339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31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₹2.50 Cr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0226029" y="6108155"/>
            <a:ext cx="1426020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41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Includes safety margin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291" y="329291"/>
            <a:ext cx="11591044" cy="164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7" b="1" spc="91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INVESTMENT OPPORTUNITY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9291" y="559795"/>
            <a:ext cx="11681599" cy="329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34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Investment Ask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9291" y="954944"/>
            <a:ext cx="11615741" cy="23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6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₹2.50 Crore Seed Round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5877" y="1323750"/>
            <a:ext cx="5685209" cy="3635373"/>
          </a:xfrm>
          <a:custGeom>
            <a:avLst/>
            <a:gdLst/>
            <a:ahLst/>
            <a:cxnLst/>
            <a:rect l="l" t="t" r="r" b="b"/>
            <a:pathLst>
              <a:path w="5685209" h="3635373">
                <a:moveTo>
                  <a:pt x="98773" y="0"/>
                </a:moveTo>
                <a:lnTo>
                  <a:pt x="5586436" y="0"/>
                </a:lnTo>
                <a:cubicBezTo>
                  <a:pt x="5640987" y="0"/>
                  <a:pt x="5685209" y="44222"/>
                  <a:pt x="5685209" y="98773"/>
                </a:cubicBezTo>
                <a:lnTo>
                  <a:pt x="5685209" y="3536600"/>
                </a:lnTo>
                <a:cubicBezTo>
                  <a:pt x="5685209" y="3591151"/>
                  <a:pt x="5640987" y="3635373"/>
                  <a:pt x="5586436" y="3635373"/>
                </a:cubicBezTo>
                <a:lnTo>
                  <a:pt x="98773" y="3635373"/>
                </a:lnTo>
                <a:cubicBezTo>
                  <a:pt x="44222" y="3635373"/>
                  <a:pt x="0" y="3591151"/>
                  <a:pt x="0" y="3536600"/>
                </a:cubicBezTo>
                <a:lnTo>
                  <a:pt x="0" y="98773"/>
                </a:lnTo>
                <a:cubicBezTo>
                  <a:pt x="0" y="44222"/>
                  <a:pt x="44222" y="0"/>
                  <a:pt x="98773" y="0"/>
                </a:cubicBezTo>
                <a:close/>
              </a:path>
            </a:pathLst>
          </a:custGeom>
          <a:gradFill rotWithShape="1" flip="none">
            <a:gsLst>
              <a:gs pos="0">
                <a:srgbClr val="E9C46A">
                  <a:alpha val="30000"/>
                </a:srgbClr>
              </a:gs>
              <a:gs pos="100000">
                <a:srgbClr val="E9C46A">
                  <a:alpha val="10000"/>
                </a:srgbClr>
              </a:gs>
            </a:gsLst>
            <a:lin ang="2700000" scaled="1"/>
          </a:gradFill>
          <a:ln w="20320">
            <a:solidFill>
              <a:srgbClr val="E9C46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850117" y="1494978"/>
            <a:ext cx="658582" cy="658582"/>
          </a:xfrm>
          <a:custGeom>
            <a:avLst/>
            <a:gdLst/>
            <a:ahLst/>
            <a:cxnLst/>
            <a:rect l="l" t="t" r="r" b="b"/>
            <a:pathLst>
              <a:path w="658582" h="658582">
                <a:moveTo>
                  <a:pt x="329291" y="0"/>
                </a:moveTo>
                <a:lnTo>
                  <a:pt x="329291" y="0"/>
                </a:lnTo>
                <a:cubicBezTo>
                  <a:pt x="511153" y="0"/>
                  <a:pt x="658582" y="147429"/>
                  <a:pt x="658582" y="329291"/>
                </a:cubicBezTo>
                <a:lnTo>
                  <a:pt x="658582" y="329291"/>
                </a:lnTo>
                <a:cubicBezTo>
                  <a:pt x="658582" y="511153"/>
                  <a:pt x="511153" y="658582"/>
                  <a:pt x="329291" y="658582"/>
                </a:cubicBezTo>
                <a:lnTo>
                  <a:pt x="329291" y="658582"/>
                </a:lnTo>
                <a:cubicBezTo>
                  <a:pt x="147429" y="658582"/>
                  <a:pt x="0" y="511153"/>
                  <a:pt x="0" y="329291"/>
                </a:cubicBezTo>
                <a:lnTo>
                  <a:pt x="0" y="329291"/>
                </a:lnTo>
                <a:cubicBezTo>
                  <a:pt x="0" y="147429"/>
                  <a:pt x="147429" y="0"/>
                  <a:pt x="329291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049749" y="1676088"/>
            <a:ext cx="259317" cy="296362"/>
          </a:xfrm>
          <a:custGeom>
            <a:avLst/>
            <a:gdLst/>
            <a:ahLst/>
            <a:cxnLst/>
            <a:rect l="l" t="t" r="r" b="b"/>
            <a:pathLst>
              <a:path w="259317" h="296362">
                <a:moveTo>
                  <a:pt x="0" y="37045"/>
                </a:moveTo>
                <a:cubicBezTo>
                  <a:pt x="0" y="26800"/>
                  <a:pt x="8277" y="18523"/>
                  <a:pt x="18523" y="18523"/>
                </a:cubicBezTo>
                <a:lnTo>
                  <a:pt x="64829" y="18523"/>
                </a:lnTo>
                <a:cubicBezTo>
                  <a:pt x="110846" y="18523"/>
                  <a:pt x="148181" y="55857"/>
                  <a:pt x="148181" y="101874"/>
                </a:cubicBezTo>
                <a:cubicBezTo>
                  <a:pt x="148181" y="133305"/>
                  <a:pt x="130816" y="160626"/>
                  <a:pt x="105116" y="174865"/>
                </a:cubicBezTo>
                <a:lnTo>
                  <a:pt x="128848" y="253991"/>
                </a:lnTo>
                <a:cubicBezTo>
                  <a:pt x="131800" y="263774"/>
                  <a:pt x="126243" y="274135"/>
                  <a:pt x="116403" y="277029"/>
                </a:cubicBezTo>
                <a:cubicBezTo>
                  <a:pt x="106563" y="279923"/>
                  <a:pt x="96260" y="274424"/>
                  <a:pt x="93366" y="264584"/>
                </a:cubicBezTo>
                <a:lnTo>
                  <a:pt x="69518" y="185110"/>
                </a:lnTo>
                <a:cubicBezTo>
                  <a:pt x="67955" y="185168"/>
                  <a:pt x="66392" y="185226"/>
                  <a:pt x="64829" y="185226"/>
                </a:cubicBezTo>
                <a:lnTo>
                  <a:pt x="37045" y="185226"/>
                </a:lnTo>
                <a:lnTo>
                  <a:pt x="37045" y="259317"/>
                </a:lnTo>
                <a:cubicBezTo>
                  <a:pt x="37045" y="269562"/>
                  <a:pt x="28768" y="277839"/>
                  <a:pt x="18523" y="277839"/>
                </a:cubicBezTo>
                <a:cubicBezTo>
                  <a:pt x="8277" y="277839"/>
                  <a:pt x="0" y="269562"/>
                  <a:pt x="0" y="259317"/>
                </a:cubicBezTo>
                <a:lnTo>
                  <a:pt x="0" y="37045"/>
                </a:lnTo>
                <a:close/>
                <a:moveTo>
                  <a:pt x="37045" y="148181"/>
                </a:moveTo>
                <a:lnTo>
                  <a:pt x="64829" y="148181"/>
                </a:lnTo>
                <a:cubicBezTo>
                  <a:pt x="90414" y="148181"/>
                  <a:pt x="111136" y="127459"/>
                  <a:pt x="111136" y="101874"/>
                </a:cubicBezTo>
                <a:cubicBezTo>
                  <a:pt x="111136" y="76290"/>
                  <a:pt x="90414" y="55568"/>
                  <a:pt x="64829" y="55568"/>
                </a:cubicBezTo>
                <a:lnTo>
                  <a:pt x="37045" y="55568"/>
                </a:lnTo>
                <a:lnTo>
                  <a:pt x="37045" y="148181"/>
                </a:lnTo>
                <a:close/>
                <a:moveTo>
                  <a:pt x="202070" y="129658"/>
                </a:moveTo>
                <a:lnTo>
                  <a:pt x="222271" y="129658"/>
                </a:lnTo>
                <a:cubicBezTo>
                  <a:pt x="232517" y="129658"/>
                  <a:pt x="240794" y="137936"/>
                  <a:pt x="240794" y="148181"/>
                </a:cubicBezTo>
                <a:cubicBezTo>
                  <a:pt x="240794" y="158426"/>
                  <a:pt x="232517" y="166704"/>
                  <a:pt x="222271" y="166704"/>
                </a:cubicBezTo>
                <a:lnTo>
                  <a:pt x="202070" y="166704"/>
                </a:lnTo>
                <a:cubicBezTo>
                  <a:pt x="197903" y="166704"/>
                  <a:pt x="194488" y="170119"/>
                  <a:pt x="194488" y="174286"/>
                </a:cubicBezTo>
                <a:cubicBezTo>
                  <a:pt x="194488" y="177586"/>
                  <a:pt x="196629" y="180480"/>
                  <a:pt x="199755" y="181522"/>
                </a:cubicBezTo>
                <a:lnTo>
                  <a:pt x="228349" y="190725"/>
                </a:lnTo>
                <a:cubicBezTo>
                  <a:pt x="246814" y="196687"/>
                  <a:pt x="259317" y="213820"/>
                  <a:pt x="259317" y="233211"/>
                </a:cubicBezTo>
                <a:cubicBezTo>
                  <a:pt x="259317" y="257870"/>
                  <a:pt x="239347" y="277839"/>
                  <a:pt x="214689" y="277839"/>
                </a:cubicBezTo>
                <a:lnTo>
                  <a:pt x="185226" y="277839"/>
                </a:lnTo>
                <a:cubicBezTo>
                  <a:pt x="174981" y="277839"/>
                  <a:pt x="166704" y="269562"/>
                  <a:pt x="166704" y="259317"/>
                </a:cubicBezTo>
                <a:cubicBezTo>
                  <a:pt x="166704" y="249071"/>
                  <a:pt x="174981" y="240794"/>
                  <a:pt x="185226" y="240794"/>
                </a:cubicBezTo>
                <a:lnTo>
                  <a:pt x="214689" y="240794"/>
                </a:lnTo>
                <a:cubicBezTo>
                  <a:pt x="218856" y="240794"/>
                  <a:pt x="222271" y="237379"/>
                  <a:pt x="222271" y="233211"/>
                </a:cubicBezTo>
                <a:cubicBezTo>
                  <a:pt x="222271" y="229912"/>
                  <a:pt x="220130" y="227018"/>
                  <a:pt x="217004" y="225976"/>
                </a:cubicBezTo>
                <a:lnTo>
                  <a:pt x="188410" y="216773"/>
                </a:lnTo>
                <a:cubicBezTo>
                  <a:pt x="169945" y="210811"/>
                  <a:pt x="157442" y="193677"/>
                  <a:pt x="157442" y="174286"/>
                </a:cubicBezTo>
                <a:cubicBezTo>
                  <a:pt x="157442" y="149628"/>
                  <a:pt x="177412" y="129658"/>
                  <a:pt x="202070" y="129658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08321" y="2252347"/>
            <a:ext cx="5540321" cy="395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111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₹2.50 Cr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0063" y="2713355"/>
            <a:ext cx="5416837" cy="23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Seed Round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7108" y="3075575"/>
            <a:ext cx="5342747" cy="526866"/>
          </a:xfrm>
          <a:custGeom>
            <a:avLst/>
            <a:gdLst/>
            <a:ahLst/>
            <a:cxnLst/>
            <a:rect l="l" t="t" r="r" b="b"/>
            <a:pathLst>
              <a:path w="5342747" h="526866">
                <a:moveTo>
                  <a:pt x="65858" y="0"/>
                </a:moveTo>
                <a:lnTo>
                  <a:pt x="5276889" y="0"/>
                </a:lnTo>
                <a:cubicBezTo>
                  <a:pt x="5313261" y="0"/>
                  <a:pt x="5342747" y="29486"/>
                  <a:pt x="5342747" y="65858"/>
                </a:cubicBezTo>
                <a:lnTo>
                  <a:pt x="5342747" y="461007"/>
                </a:lnTo>
                <a:cubicBezTo>
                  <a:pt x="5342747" y="497380"/>
                  <a:pt x="5313261" y="526866"/>
                  <a:pt x="5276889" y="526866"/>
                </a:cubicBezTo>
                <a:lnTo>
                  <a:pt x="65858" y="526866"/>
                </a:lnTo>
                <a:cubicBezTo>
                  <a:pt x="29486" y="526866"/>
                  <a:pt x="0" y="497380"/>
                  <a:pt x="0" y="461007"/>
                </a:cubicBezTo>
                <a:lnTo>
                  <a:pt x="0" y="65858"/>
                </a:lnTo>
                <a:cubicBezTo>
                  <a:pt x="0" y="29510"/>
                  <a:pt x="29510" y="0"/>
                  <a:pt x="65858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5895" y="3174362"/>
            <a:ext cx="5202798" cy="164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7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of Funds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5895" y="3371937"/>
            <a:ext cx="5194566" cy="131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8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core IoT + ERP platform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7108" y="3668202"/>
            <a:ext cx="5342747" cy="526866"/>
          </a:xfrm>
          <a:custGeom>
            <a:avLst/>
            <a:gdLst/>
            <a:ahLst/>
            <a:cxnLst/>
            <a:rect l="l" t="t" r="r" b="b"/>
            <a:pathLst>
              <a:path w="5342747" h="526866">
                <a:moveTo>
                  <a:pt x="65858" y="0"/>
                </a:moveTo>
                <a:lnTo>
                  <a:pt x="5276889" y="0"/>
                </a:lnTo>
                <a:cubicBezTo>
                  <a:pt x="5313261" y="0"/>
                  <a:pt x="5342747" y="29486"/>
                  <a:pt x="5342747" y="65858"/>
                </a:cubicBezTo>
                <a:lnTo>
                  <a:pt x="5342747" y="461007"/>
                </a:lnTo>
                <a:cubicBezTo>
                  <a:pt x="5342747" y="497380"/>
                  <a:pt x="5313261" y="526866"/>
                  <a:pt x="5276889" y="526866"/>
                </a:cubicBezTo>
                <a:lnTo>
                  <a:pt x="65858" y="526866"/>
                </a:lnTo>
                <a:cubicBezTo>
                  <a:pt x="29486" y="526866"/>
                  <a:pt x="0" y="497380"/>
                  <a:pt x="0" y="461007"/>
                </a:cubicBezTo>
                <a:lnTo>
                  <a:pt x="0" y="65858"/>
                </a:lnTo>
                <a:cubicBezTo>
                  <a:pt x="0" y="29510"/>
                  <a:pt x="29510" y="0"/>
                  <a:pt x="65858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05895" y="3766990"/>
            <a:ext cx="5202798" cy="164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7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5895" y="3964564"/>
            <a:ext cx="5194566" cy="131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8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 farms by Month 22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7108" y="4260830"/>
            <a:ext cx="5342747" cy="526866"/>
          </a:xfrm>
          <a:custGeom>
            <a:avLst/>
            <a:gdLst/>
            <a:ahLst/>
            <a:cxnLst/>
            <a:rect l="l" t="t" r="r" b="b"/>
            <a:pathLst>
              <a:path w="5342747" h="526866">
                <a:moveTo>
                  <a:pt x="65858" y="0"/>
                </a:moveTo>
                <a:lnTo>
                  <a:pt x="5276889" y="0"/>
                </a:lnTo>
                <a:cubicBezTo>
                  <a:pt x="5313261" y="0"/>
                  <a:pt x="5342747" y="29486"/>
                  <a:pt x="5342747" y="65858"/>
                </a:cubicBezTo>
                <a:lnTo>
                  <a:pt x="5342747" y="461007"/>
                </a:lnTo>
                <a:cubicBezTo>
                  <a:pt x="5342747" y="497380"/>
                  <a:pt x="5313261" y="526866"/>
                  <a:pt x="5276889" y="526866"/>
                </a:cubicBezTo>
                <a:lnTo>
                  <a:pt x="65858" y="526866"/>
                </a:lnTo>
                <a:cubicBezTo>
                  <a:pt x="29486" y="526866"/>
                  <a:pt x="0" y="497380"/>
                  <a:pt x="0" y="461007"/>
                </a:cubicBezTo>
                <a:lnTo>
                  <a:pt x="0" y="65858"/>
                </a:lnTo>
                <a:cubicBezTo>
                  <a:pt x="0" y="29510"/>
                  <a:pt x="29510" y="0"/>
                  <a:pt x="65858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05895" y="4359617"/>
            <a:ext cx="5202798" cy="164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7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5895" y="4557192"/>
            <a:ext cx="5194566" cy="131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8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Prove product-market fit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64637" y="1320457"/>
            <a:ext cx="5695088" cy="3645252"/>
          </a:xfrm>
          <a:custGeom>
            <a:avLst/>
            <a:gdLst/>
            <a:ahLst/>
            <a:cxnLst/>
            <a:rect l="l" t="t" r="r" b="b"/>
            <a:pathLst>
              <a:path w="5695088" h="3645252">
                <a:moveTo>
                  <a:pt x="98786" y="0"/>
                </a:moveTo>
                <a:lnTo>
                  <a:pt x="5596302" y="0"/>
                </a:lnTo>
                <a:cubicBezTo>
                  <a:pt x="5650860" y="0"/>
                  <a:pt x="5695088" y="44228"/>
                  <a:pt x="5695088" y="98786"/>
                </a:cubicBezTo>
                <a:lnTo>
                  <a:pt x="5695088" y="3546465"/>
                </a:lnTo>
                <a:cubicBezTo>
                  <a:pt x="5695088" y="3601023"/>
                  <a:pt x="5650860" y="3645252"/>
                  <a:pt x="5596302" y="3645252"/>
                </a:cubicBezTo>
                <a:lnTo>
                  <a:pt x="98786" y="3645252"/>
                </a:lnTo>
                <a:cubicBezTo>
                  <a:pt x="44228" y="3645252"/>
                  <a:pt x="0" y="3601023"/>
                  <a:pt x="0" y="3546465"/>
                </a:cubicBezTo>
                <a:lnTo>
                  <a:pt x="0" y="98786"/>
                </a:lnTo>
                <a:cubicBezTo>
                  <a:pt x="0" y="44265"/>
                  <a:pt x="44265" y="0"/>
                  <a:pt x="98786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299646" y="1455473"/>
            <a:ext cx="5482695" cy="164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7" b="1" spc="45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FUNDING BREAKDOWN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99646" y="1735370"/>
            <a:ext cx="732673" cy="164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7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23201" y="1718906"/>
            <a:ext cx="864389" cy="19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7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₹1.43 Cr (57%)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99646" y="1982338"/>
            <a:ext cx="5425070" cy="65858"/>
          </a:xfrm>
          <a:custGeom>
            <a:avLst/>
            <a:gdLst/>
            <a:ahLst/>
            <a:cxnLst/>
            <a:rect l="l" t="t" r="r" b="b"/>
            <a:pathLst>
              <a:path w="5425070" h="65858">
                <a:moveTo>
                  <a:pt x="32929" y="0"/>
                </a:moveTo>
                <a:lnTo>
                  <a:pt x="5392140" y="0"/>
                </a:lnTo>
                <a:cubicBezTo>
                  <a:pt x="5410327" y="0"/>
                  <a:pt x="5425070" y="14743"/>
                  <a:pt x="5425070" y="32929"/>
                </a:cubicBezTo>
                <a:lnTo>
                  <a:pt x="5425070" y="32929"/>
                </a:lnTo>
                <a:cubicBezTo>
                  <a:pt x="5425070" y="51115"/>
                  <a:pt x="5410327" y="65858"/>
                  <a:pt x="5392140" y="65858"/>
                </a:cubicBezTo>
                <a:lnTo>
                  <a:pt x="32929" y="65858"/>
                </a:lnTo>
                <a:cubicBezTo>
                  <a:pt x="14755" y="65858"/>
                  <a:pt x="0" y="51103"/>
                  <a:pt x="0" y="32929"/>
                </a:cubicBezTo>
                <a:lnTo>
                  <a:pt x="0" y="32929"/>
                </a:lnTo>
                <a:cubicBezTo>
                  <a:pt x="0" y="14755"/>
                  <a:pt x="14755" y="0"/>
                  <a:pt x="32929" y="0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299646" y="1982338"/>
            <a:ext cx="3095336" cy="65858"/>
          </a:xfrm>
          <a:custGeom>
            <a:avLst/>
            <a:gdLst/>
            <a:ahLst/>
            <a:cxnLst/>
            <a:rect l="l" t="t" r="r" b="b"/>
            <a:pathLst>
              <a:path w="3095336" h="65858">
                <a:moveTo>
                  <a:pt x="32929" y="0"/>
                </a:moveTo>
                <a:lnTo>
                  <a:pt x="3062406" y="0"/>
                </a:lnTo>
                <a:cubicBezTo>
                  <a:pt x="3080593" y="0"/>
                  <a:pt x="3095336" y="14743"/>
                  <a:pt x="3095336" y="32929"/>
                </a:cubicBezTo>
                <a:lnTo>
                  <a:pt x="3095336" y="32929"/>
                </a:lnTo>
                <a:cubicBezTo>
                  <a:pt x="3095336" y="51115"/>
                  <a:pt x="3080593" y="65858"/>
                  <a:pt x="3062406" y="65858"/>
                </a:cubicBezTo>
                <a:lnTo>
                  <a:pt x="32929" y="65858"/>
                </a:lnTo>
                <a:cubicBezTo>
                  <a:pt x="14755" y="65858"/>
                  <a:pt x="0" y="51103"/>
                  <a:pt x="0" y="32929"/>
                </a:cubicBezTo>
                <a:lnTo>
                  <a:pt x="0" y="32929"/>
                </a:lnTo>
                <a:cubicBezTo>
                  <a:pt x="0" y="14755"/>
                  <a:pt x="14755" y="0"/>
                  <a:pt x="32929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299646" y="2130519"/>
            <a:ext cx="864389" cy="164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7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Working Capital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86715" y="2114055"/>
            <a:ext cx="699743" cy="19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7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₹59L (24%)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99646" y="2377488"/>
            <a:ext cx="5425070" cy="65858"/>
          </a:xfrm>
          <a:custGeom>
            <a:avLst/>
            <a:gdLst/>
            <a:ahLst/>
            <a:cxnLst/>
            <a:rect l="l" t="t" r="r" b="b"/>
            <a:pathLst>
              <a:path w="5425070" h="65858">
                <a:moveTo>
                  <a:pt x="32929" y="0"/>
                </a:moveTo>
                <a:lnTo>
                  <a:pt x="5392140" y="0"/>
                </a:lnTo>
                <a:cubicBezTo>
                  <a:pt x="5410327" y="0"/>
                  <a:pt x="5425070" y="14743"/>
                  <a:pt x="5425070" y="32929"/>
                </a:cubicBezTo>
                <a:lnTo>
                  <a:pt x="5425070" y="32929"/>
                </a:lnTo>
                <a:cubicBezTo>
                  <a:pt x="5425070" y="51115"/>
                  <a:pt x="5410327" y="65858"/>
                  <a:pt x="5392140" y="65858"/>
                </a:cubicBezTo>
                <a:lnTo>
                  <a:pt x="32929" y="65858"/>
                </a:lnTo>
                <a:cubicBezTo>
                  <a:pt x="14755" y="65858"/>
                  <a:pt x="0" y="51103"/>
                  <a:pt x="0" y="32929"/>
                </a:cubicBezTo>
                <a:lnTo>
                  <a:pt x="0" y="32929"/>
                </a:lnTo>
                <a:cubicBezTo>
                  <a:pt x="0" y="14755"/>
                  <a:pt x="14755" y="0"/>
                  <a:pt x="32929" y="0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299646" y="2377488"/>
            <a:ext cx="1300700" cy="65858"/>
          </a:xfrm>
          <a:custGeom>
            <a:avLst/>
            <a:gdLst/>
            <a:ahLst/>
            <a:cxnLst/>
            <a:rect l="l" t="t" r="r" b="b"/>
            <a:pathLst>
              <a:path w="1300700" h="65858">
                <a:moveTo>
                  <a:pt x="32929" y="0"/>
                </a:moveTo>
                <a:lnTo>
                  <a:pt x="1267770" y="0"/>
                </a:lnTo>
                <a:cubicBezTo>
                  <a:pt x="1285957" y="0"/>
                  <a:pt x="1300700" y="14743"/>
                  <a:pt x="1300700" y="32929"/>
                </a:cubicBezTo>
                <a:lnTo>
                  <a:pt x="1300700" y="32929"/>
                </a:lnTo>
                <a:cubicBezTo>
                  <a:pt x="1300700" y="51115"/>
                  <a:pt x="1285957" y="65858"/>
                  <a:pt x="1267770" y="65858"/>
                </a:cubicBezTo>
                <a:lnTo>
                  <a:pt x="32929" y="65858"/>
                </a:lnTo>
                <a:cubicBezTo>
                  <a:pt x="14755" y="65858"/>
                  <a:pt x="0" y="51103"/>
                  <a:pt x="0" y="32929"/>
                </a:cubicBezTo>
                <a:lnTo>
                  <a:pt x="0" y="32929"/>
                </a:lnTo>
                <a:cubicBezTo>
                  <a:pt x="0" y="14755"/>
                  <a:pt x="14755" y="0"/>
                  <a:pt x="32929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299646" y="2525669"/>
            <a:ext cx="683279" cy="164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7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Contingency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099474" y="2509204"/>
            <a:ext cx="691511" cy="19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7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₹30L (12%)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99646" y="2772637"/>
            <a:ext cx="5425070" cy="65858"/>
          </a:xfrm>
          <a:custGeom>
            <a:avLst/>
            <a:gdLst/>
            <a:ahLst/>
            <a:cxnLst/>
            <a:rect l="l" t="t" r="r" b="b"/>
            <a:pathLst>
              <a:path w="5425070" h="65858">
                <a:moveTo>
                  <a:pt x="32929" y="0"/>
                </a:moveTo>
                <a:lnTo>
                  <a:pt x="5392140" y="0"/>
                </a:lnTo>
                <a:cubicBezTo>
                  <a:pt x="5410327" y="0"/>
                  <a:pt x="5425070" y="14743"/>
                  <a:pt x="5425070" y="32929"/>
                </a:cubicBezTo>
                <a:lnTo>
                  <a:pt x="5425070" y="32929"/>
                </a:lnTo>
                <a:cubicBezTo>
                  <a:pt x="5425070" y="51115"/>
                  <a:pt x="5410327" y="65858"/>
                  <a:pt x="5392140" y="65858"/>
                </a:cubicBezTo>
                <a:lnTo>
                  <a:pt x="32929" y="65858"/>
                </a:lnTo>
                <a:cubicBezTo>
                  <a:pt x="14755" y="65858"/>
                  <a:pt x="0" y="51103"/>
                  <a:pt x="0" y="32929"/>
                </a:cubicBezTo>
                <a:lnTo>
                  <a:pt x="0" y="32929"/>
                </a:lnTo>
                <a:cubicBezTo>
                  <a:pt x="0" y="14755"/>
                  <a:pt x="14755" y="0"/>
                  <a:pt x="32929" y="0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99646" y="2772637"/>
            <a:ext cx="650350" cy="65858"/>
          </a:xfrm>
          <a:custGeom>
            <a:avLst/>
            <a:gdLst/>
            <a:ahLst/>
            <a:cxnLst/>
            <a:rect l="l" t="t" r="r" b="b"/>
            <a:pathLst>
              <a:path w="650350" h="65858">
                <a:moveTo>
                  <a:pt x="32929" y="0"/>
                </a:moveTo>
                <a:lnTo>
                  <a:pt x="617421" y="0"/>
                </a:lnTo>
                <a:cubicBezTo>
                  <a:pt x="635607" y="0"/>
                  <a:pt x="650350" y="14743"/>
                  <a:pt x="650350" y="32929"/>
                </a:cubicBezTo>
                <a:lnTo>
                  <a:pt x="650350" y="32929"/>
                </a:lnTo>
                <a:cubicBezTo>
                  <a:pt x="650350" y="51115"/>
                  <a:pt x="635607" y="65858"/>
                  <a:pt x="617421" y="65858"/>
                </a:cubicBezTo>
                <a:lnTo>
                  <a:pt x="32929" y="65858"/>
                </a:lnTo>
                <a:cubicBezTo>
                  <a:pt x="14755" y="65858"/>
                  <a:pt x="0" y="51103"/>
                  <a:pt x="0" y="32929"/>
                </a:cubicBezTo>
                <a:lnTo>
                  <a:pt x="0" y="32929"/>
                </a:lnTo>
                <a:cubicBezTo>
                  <a:pt x="0" y="14755"/>
                  <a:pt x="14755" y="0"/>
                  <a:pt x="32929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299646" y="2920818"/>
            <a:ext cx="732673" cy="164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7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224605" y="2904353"/>
            <a:ext cx="568027" cy="19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7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₹9L (4%)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99646" y="3167786"/>
            <a:ext cx="5425070" cy="65858"/>
          </a:xfrm>
          <a:custGeom>
            <a:avLst/>
            <a:gdLst/>
            <a:ahLst/>
            <a:cxnLst/>
            <a:rect l="l" t="t" r="r" b="b"/>
            <a:pathLst>
              <a:path w="5425070" h="65858">
                <a:moveTo>
                  <a:pt x="32929" y="0"/>
                </a:moveTo>
                <a:lnTo>
                  <a:pt x="5392140" y="0"/>
                </a:lnTo>
                <a:cubicBezTo>
                  <a:pt x="5410327" y="0"/>
                  <a:pt x="5425070" y="14743"/>
                  <a:pt x="5425070" y="32929"/>
                </a:cubicBezTo>
                <a:lnTo>
                  <a:pt x="5425070" y="32929"/>
                </a:lnTo>
                <a:cubicBezTo>
                  <a:pt x="5425070" y="51115"/>
                  <a:pt x="5410327" y="65858"/>
                  <a:pt x="5392140" y="65858"/>
                </a:cubicBezTo>
                <a:lnTo>
                  <a:pt x="32929" y="65858"/>
                </a:lnTo>
                <a:cubicBezTo>
                  <a:pt x="14755" y="65858"/>
                  <a:pt x="0" y="51103"/>
                  <a:pt x="0" y="32929"/>
                </a:cubicBezTo>
                <a:lnTo>
                  <a:pt x="0" y="32929"/>
                </a:lnTo>
                <a:cubicBezTo>
                  <a:pt x="0" y="14755"/>
                  <a:pt x="14755" y="0"/>
                  <a:pt x="32929" y="0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299646" y="3167786"/>
            <a:ext cx="214039" cy="65858"/>
          </a:xfrm>
          <a:custGeom>
            <a:avLst/>
            <a:gdLst/>
            <a:ahLst/>
            <a:cxnLst/>
            <a:rect l="l" t="t" r="r" b="b"/>
            <a:pathLst>
              <a:path w="214039" h="65858">
                <a:moveTo>
                  <a:pt x="32929" y="0"/>
                </a:moveTo>
                <a:lnTo>
                  <a:pt x="181110" y="0"/>
                </a:lnTo>
                <a:cubicBezTo>
                  <a:pt x="199296" y="0"/>
                  <a:pt x="214039" y="14743"/>
                  <a:pt x="214039" y="32929"/>
                </a:cubicBezTo>
                <a:lnTo>
                  <a:pt x="214039" y="32929"/>
                </a:lnTo>
                <a:cubicBezTo>
                  <a:pt x="214039" y="51115"/>
                  <a:pt x="199296" y="65858"/>
                  <a:pt x="181110" y="65858"/>
                </a:cubicBezTo>
                <a:lnTo>
                  <a:pt x="32929" y="65858"/>
                </a:lnTo>
                <a:cubicBezTo>
                  <a:pt x="14755" y="65858"/>
                  <a:pt x="0" y="51103"/>
                  <a:pt x="0" y="32929"/>
                </a:cubicBezTo>
                <a:lnTo>
                  <a:pt x="0" y="32929"/>
                </a:lnTo>
                <a:cubicBezTo>
                  <a:pt x="0" y="14755"/>
                  <a:pt x="14755" y="0"/>
                  <a:pt x="32929" y="0"/>
                </a:cubicBezTo>
                <a:close/>
              </a:path>
            </a:pathLst>
          </a:custGeom>
          <a:solidFill>
            <a:srgbClr val="6B8E6E">
              <a:alpha val="60000"/>
            </a:srgbClr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299646" y="3315967"/>
            <a:ext cx="559795" cy="164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7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226355" y="3299502"/>
            <a:ext cx="559795" cy="19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7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₹5L (2%)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99646" y="3562935"/>
            <a:ext cx="5425070" cy="65858"/>
          </a:xfrm>
          <a:custGeom>
            <a:avLst/>
            <a:gdLst/>
            <a:ahLst/>
            <a:cxnLst/>
            <a:rect l="l" t="t" r="r" b="b"/>
            <a:pathLst>
              <a:path w="5425070" h="65858">
                <a:moveTo>
                  <a:pt x="32929" y="0"/>
                </a:moveTo>
                <a:lnTo>
                  <a:pt x="5392140" y="0"/>
                </a:lnTo>
                <a:cubicBezTo>
                  <a:pt x="5410327" y="0"/>
                  <a:pt x="5425070" y="14743"/>
                  <a:pt x="5425070" y="32929"/>
                </a:cubicBezTo>
                <a:lnTo>
                  <a:pt x="5425070" y="32929"/>
                </a:lnTo>
                <a:cubicBezTo>
                  <a:pt x="5425070" y="51115"/>
                  <a:pt x="5410327" y="65858"/>
                  <a:pt x="5392140" y="65858"/>
                </a:cubicBezTo>
                <a:lnTo>
                  <a:pt x="32929" y="65858"/>
                </a:lnTo>
                <a:cubicBezTo>
                  <a:pt x="14755" y="65858"/>
                  <a:pt x="0" y="51103"/>
                  <a:pt x="0" y="32929"/>
                </a:cubicBezTo>
                <a:lnTo>
                  <a:pt x="0" y="32929"/>
                </a:lnTo>
                <a:cubicBezTo>
                  <a:pt x="0" y="14755"/>
                  <a:pt x="14755" y="0"/>
                  <a:pt x="32929" y="0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6299646" y="3562935"/>
            <a:ext cx="107020" cy="65858"/>
          </a:xfrm>
          <a:custGeom>
            <a:avLst/>
            <a:gdLst/>
            <a:ahLst/>
            <a:cxnLst/>
            <a:rect l="l" t="t" r="r" b="b"/>
            <a:pathLst>
              <a:path w="107020" h="65858">
                <a:moveTo>
                  <a:pt x="32929" y="0"/>
                </a:moveTo>
                <a:lnTo>
                  <a:pt x="74090" y="0"/>
                </a:lnTo>
                <a:cubicBezTo>
                  <a:pt x="92277" y="0"/>
                  <a:pt x="107020" y="14743"/>
                  <a:pt x="107020" y="32929"/>
                </a:cubicBezTo>
                <a:lnTo>
                  <a:pt x="107020" y="32929"/>
                </a:lnTo>
                <a:cubicBezTo>
                  <a:pt x="107020" y="51115"/>
                  <a:pt x="92277" y="65858"/>
                  <a:pt x="74090" y="65858"/>
                </a:cubicBezTo>
                <a:lnTo>
                  <a:pt x="32929" y="65858"/>
                </a:lnTo>
                <a:cubicBezTo>
                  <a:pt x="14755" y="65858"/>
                  <a:pt x="0" y="51103"/>
                  <a:pt x="0" y="32929"/>
                </a:cubicBezTo>
                <a:lnTo>
                  <a:pt x="0" y="32929"/>
                </a:lnTo>
                <a:cubicBezTo>
                  <a:pt x="0" y="14755"/>
                  <a:pt x="14755" y="0"/>
                  <a:pt x="32929" y="0"/>
                </a:cubicBezTo>
                <a:close/>
              </a:path>
            </a:pathLst>
          </a:custGeom>
          <a:solidFill>
            <a:srgbClr val="E9C46A">
              <a:alpha val="60000"/>
            </a:srgbClr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332584" y="5100406"/>
            <a:ext cx="11523539" cy="1422537"/>
          </a:xfrm>
          <a:custGeom>
            <a:avLst/>
            <a:gdLst/>
            <a:ahLst/>
            <a:cxnLst/>
            <a:rect l="l" t="t" r="r" b="b"/>
            <a:pathLst>
              <a:path w="11523539" h="1422537">
                <a:moveTo>
                  <a:pt x="98781" y="0"/>
                </a:moveTo>
                <a:lnTo>
                  <a:pt x="11424758" y="0"/>
                </a:lnTo>
                <a:cubicBezTo>
                  <a:pt x="11479313" y="0"/>
                  <a:pt x="11523539" y="44226"/>
                  <a:pt x="11523539" y="98781"/>
                </a:cubicBezTo>
                <a:lnTo>
                  <a:pt x="11523539" y="1323756"/>
                </a:lnTo>
                <a:cubicBezTo>
                  <a:pt x="11523539" y="1378311"/>
                  <a:pt x="11479313" y="1422537"/>
                  <a:pt x="11424758" y="1422537"/>
                </a:cubicBezTo>
                <a:lnTo>
                  <a:pt x="98781" y="1422537"/>
                </a:lnTo>
                <a:cubicBezTo>
                  <a:pt x="44226" y="1422537"/>
                  <a:pt x="0" y="1378311"/>
                  <a:pt x="0" y="1323756"/>
                </a:cubicBezTo>
                <a:lnTo>
                  <a:pt x="0" y="98781"/>
                </a:lnTo>
                <a:cubicBezTo>
                  <a:pt x="0" y="44226"/>
                  <a:pt x="44226" y="0"/>
                  <a:pt x="98781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67593" y="5235422"/>
            <a:ext cx="11311147" cy="164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7" b="1" spc="45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FUNDING ROUNDS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67593" y="5498855"/>
            <a:ext cx="3688059" cy="889086"/>
          </a:xfrm>
          <a:custGeom>
            <a:avLst/>
            <a:gdLst/>
            <a:ahLst/>
            <a:cxnLst/>
            <a:rect l="l" t="t" r="r" b="b"/>
            <a:pathLst>
              <a:path w="3688059" h="889086">
                <a:moveTo>
                  <a:pt x="65855" y="0"/>
                </a:moveTo>
                <a:lnTo>
                  <a:pt x="3622205" y="0"/>
                </a:lnTo>
                <a:cubicBezTo>
                  <a:pt x="3658575" y="0"/>
                  <a:pt x="3688059" y="29484"/>
                  <a:pt x="3688059" y="65855"/>
                </a:cubicBezTo>
                <a:lnTo>
                  <a:pt x="3688059" y="823231"/>
                </a:lnTo>
                <a:cubicBezTo>
                  <a:pt x="3688059" y="859602"/>
                  <a:pt x="3658575" y="889086"/>
                  <a:pt x="3622205" y="889086"/>
                </a:cubicBezTo>
                <a:lnTo>
                  <a:pt x="65855" y="889086"/>
                </a:lnTo>
                <a:cubicBezTo>
                  <a:pt x="29484" y="889086"/>
                  <a:pt x="0" y="859602"/>
                  <a:pt x="0" y="823231"/>
                </a:cubicBezTo>
                <a:lnTo>
                  <a:pt x="0" y="65855"/>
                </a:lnTo>
                <a:cubicBezTo>
                  <a:pt x="0" y="29484"/>
                  <a:pt x="29484" y="0"/>
                  <a:pt x="65855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37568" y="5597642"/>
            <a:ext cx="3548111" cy="164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7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Series A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29335" y="5795216"/>
            <a:ext cx="3564575" cy="23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₹4 Cr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41684" y="6025720"/>
            <a:ext cx="3539878" cy="131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78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 18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41684" y="6157340"/>
            <a:ext cx="3539878" cy="131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78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 farms, ₹2 Cr GMV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252485" y="5498855"/>
            <a:ext cx="3688059" cy="889086"/>
          </a:xfrm>
          <a:custGeom>
            <a:avLst/>
            <a:gdLst/>
            <a:ahLst/>
            <a:cxnLst/>
            <a:rect l="l" t="t" r="r" b="b"/>
            <a:pathLst>
              <a:path w="3688059" h="889086">
                <a:moveTo>
                  <a:pt x="65855" y="0"/>
                </a:moveTo>
                <a:lnTo>
                  <a:pt x="3622205" y="0"/>
                </a:lnTo>
                <a:cubicBezTo>
                  <a:pt x="3658575" y="0"/>
                  <a:pt x="3688059" y="29484"/>
                  <a:pt x="3688059" y="65855"/>
                </a:cubicBezTo>
                <a:lnTo>
                  <a:pt x="3688059" y="823231"/>
                </a:lnTo>
                <a:cubicBezTo>
                  <a:pt x="3688059" y="859602"/>
                  <a:pt x="3658575" y="889086"/>
                  <a:pt x="3622205" y="889086"/>
                </a:cubicBezTo>
                <a:lnTo>
                  <a:pt x="65855" y="889086"/>
                </a:lnTo>
                <a:cubicBezTo>
                  <a:pt x="29484" y="889086"/>
                  <a:pt x="0" y="859602"/>
                  <a:pt x="0" y="823231"/>
                </a:cubicBezTo>
                <a:lnTo>
                  <a:pt x="0" y="65855"/>
                </a:lnTo>
                <a:cubicBezTo>
                  <a:pt x="0" y="29484"/>
                  <a:pt x="29484" y="0"/>
                  <a:pt x="65855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4322459" y="5597642"/>
            <a:ext cx="3548111" cy="164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7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Series B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314227" y="5795216"/>
            <a:ext cx="3564575" cy="23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₹8 Cr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326575" y="6025720"/>
            <a:ext cx="3539878" cy="131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78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 36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326575" y="6157340"/>
            <a:ext cx="3539878" cy="131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78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 farms, ₹20 Cr GMV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037376" y="5498855"/>
            <a:ext cx="3688059" cy="889086"/>
          </a:xfrm>
          <a:custGeom>
            <a:avLst/>
            <a:gdLst/>
            <a:ahLst/>
            <a:cxnLst/>
            <a:rect l="l" t="t" r="r" b="b"/>
            <a:pathLst>
              <a:path w="3688059" h="889086">
                <a:moveTo>
                  <a:pt x="65855" y="0"/>
                </a:moveTo>
                <a:lnTo>
                  <a:pt x="3622205" y="0"/>
                </a:lnTo>
                <a:cubicBezTo>
                  <a:pt x="3658575" y="0"/>
                  <a:pt x="3688059" y="29484"/>
                  <a:pt x="3688059" y="65855"/>
                </a:cubicBezTo>
                <a:lnTo>
                  <a:pt x="3688059" y="823231"/>
                </a:lnTo>
                <a:cubicBezTo>
                  <a:pt x="3688059" y="859602"/>
                  <a:pt x="3658575" y="889086"/>
                  <a:pt x="3622205" y="889086"/>
                </a:cubicBezTo>
                <a:lnTo>
                  <a:pt x="65855" y="889086"/>
                </a:lnTo>
                <a:cubicBezTo>
                  <a:pt x="29484" y="889086"/>
                  <a:pt x="0" y="859602"/>
                  <a:pt x="0" y="823231"/>
                </a:cubicBezTo>
                <a:lnTo>
                  <a:pt x="0" y="65855"/>
                </a:lnTo>
                <a:cubicBezTo>
                  <a:pt x="0" y="29484"/>
                  <a:pt x="29484" y="0"/>
                  <a:pt x="65855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8107351" y="5597642"/>
            <a:ext cx="3548111" cy="164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7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Series C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099119" y="5795216"/>
            <a:ext cx="3564575" cy="23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₹15 Cr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111467" y="6025720"/>
            <a:ext cx="3539878" cy="131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78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 54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111467" y="6157340"/>
            <a:ext cx="3539878" cy="131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78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International expansion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842" y="349842"/>
            <a:ext cx="11553538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spc="96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INVESTOR RETURNS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9842" y="594732"/>
            <a:ext cx="11649745" cy="349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79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ROI for Investors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9842" y="1014542"/>
            <a:ext cx="11579776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Path to ₹88 Cr and Beyond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6839" y="1406366"/>
            <a:ext cx="3722321" cy="1465839"/>
          </a:xfrm>
          <a:custGeom>
            <a:avLst/>
            <a:gdLst/>
            <a:ahLst/>
            <a:cxnLst/>
            <a:rect l="l" t="t" r="r" b="b"/>
            <a:pathLst>
              <a:path w="3722321" h="1465839">
                <a:moveTo>
                  <a:pt x="104954" y="0"/>
                </a:moveTo>
                <a:lnTo>
                  <a:pt x="3617367" y="0"/>
                </a:lnTo>
                <a:cubicBezTo>
                  <a:pt x="3675331" y="0"/>
                  <a:pt x="3722321" y="46990"/>
                  <a:pt x="3722321" y="104954"/>
                </a:cubicBezTo>
                <a:lnTo>
                  <a:pt x="3722321" y="1360885"/>
                </a:lnTo>
                <a:cubicBezTo>
                  <a:pt x="3722321" y="1418849"/>
                  <a:pt x="3675331" y="1465839"/>
                  <a:pt x="3617367" y="1465839"/>
                </a:cubicBezTo>
                <a:lnTo>
                  <a:pt x="104954" y="1465839"/>
                </a:lnTo>
                <a:cubicBezTo>
                  <a:pt x="46990" y="1465839"/>
                  <a:pt x="0" y="1418849"/>
                  <a:pt x="0" y="1360885"/>
                </a:cubicBezTo>
                <a:lnTo>
                  <a:pt x="0" y="104954"/>
                </a:lnTo>
                <a:cubicBezTo>
                  <a:pt x="0" y="46990"/>
                  <a:pt x="46990" y="0"/>
                  <a:pt x="104954" y="0"/>
                </a:cubicBezTo>
                <a:close/>
              </a:path>
            </a:pathLst>
          </a:custGeom>
          <a:gradFill rotWithShape="1" flip="none">
            <a:gsLst>
              <a:gs pos="0">
                <a:srgbClr val="6B8E6E">
                  <a:alpha val="30000"/>
                </a:srgbClr>
              </a:gs>
              <a:gs pos="100000">
                <a:srgbClr val="6B8E6E">
                  <a:alpha val="10000"/>
                </a:srgbClr>
              </a:gs>
            </a:gsLst>
            <a:lin ang="2700000" scaled="1"/>
          </a:gradFill>
          <a:ln w="20320">
            <a:solidFill>
              <a:srgbClr val="6B8E6E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089214" y="1553296"/>
            <a:ext cx="262382" cy="262382"/>
          </a:xfrm>
          <a:custGeom>
            <a:avLst/>
            <a:gdLst/>
            <a:ahLst/>
            <a:cxnLst/>
            <a:rect l="l" t="t" r="r" b="b"/>
            <a:pathLst>
              <a:path w="262382" h="262382">
                <a:moveTo>
                  <a:pt x="32798" y="32798"/>
                </a:moveTo>
                <a:cubicBezTo>
                  <a:pt x="32798" y="23727"/>
                  <a:pt x="25469" y="16399"/>
                  <a:pt x="16399" y="16399"/>
                </a:cubicBezTo>
                <a:cubicBezTo>
                  <a:pt x="7328" y="16399"/>
                  <a:pt x="0" y="23727"/>
                  <a:pt x="0" y="32798"/>
                </a:cubicBezTo>
                <a:lnTo>
                  <a:pt x="0" y="204986"/>
                </a:lnTo>
                <a:cubicBezTo>
                  <a:pt x="0" y="227637"/>
                  <a:pt x="18346" y="245983"/>
                  <a:pt x="40997" y="245983"/>
                </a:cubicBezTo>
                <a:lnTo>
                  <a:pt x="245983" y="245983"/>
                </a:lnTo>
                <a:cubicBezTo>
                  <a:pt x="255053" y="245983"/>
                  <a:pt x="262382" y="238655"/>
                  <a:pt x="262382" y="229584"/>
                </a:cubicBezTo>
                <a:cubicBezTo>
                  <a:pt x="262382" y="220513"/>
                  <a:pt x="255053" y="213185"/>
                  <a:pt x="245983" y="213185"/>
                </a:cubicBezTo>
                <a:lnTo>
                  <a:pt x="40997" y="213185"/>
                </a:lnTo>
                <a:cubicBezTo>
                  <a:pt x="36487" y="213185"/>
                  <a:pt x="32798" y="209495"/>
                  <a:pt x="32798" y="204986"/>
                </a:cubicBezTo>
                <a:lnTo>
                  <a:pt x="32798" y="32798"/>
                </a:lnTo>
                <a:close/>
                <a:moveTo>
                  <a:pt x="241166" y="77177"/>
                </a:moveTo>
                <a:cubicBezTo>
                  <a:pt x="247571" y="70771"/>
                  <a:pt x="247571" y="60368"/>
                  <a:pt x="241166" y="53962"/>
                </a:cubicBezTo>
                <a:cubicBezTo>
                  <a:pt x="234760" y="47557"/>
                  <a:pt x="224357" y="47557"/>
                  <a:pt x="217951" y="53962"/>
                </a:cubicBezTo>
                <a:lnTo>
                  <a:pt x="163989" y="107976"/>
                </a:lnTo>
                <a:lnTo>
                  <a:pt x="134573" y="78612"/>
                </a:lnTo>
                <a:cubicBezTo>
                  <a:pt x="128167" y="72206"/>
                  <a:pt x="117764" y="72206"/>
                  <a:pt x="111358" y="78612"/>
                </a:cubicBezTo>
                <a:lnTo>
                  <a:pt x="62162" y="127809"/>
                </a:lnTo>
                <a:cubicBezTo>
                  <a:pt x="55756" y="134214"/>
                  <a:pt x="55756" y="144617"/>
                  <a:pt x="62162" y="151023"/>
                </a:cubicBezTo>
                <a:cubicBezTo>
                  <a:pt x="68568" y="157429"/>
                  <a:pt x="78971" y="157429"/>
                  <a:pt x="85377" y="151023"/>
                </a:cubicBezTo>
                <a:lnTo>
                  <a:pt x="122991" y="113408"/>
                </a:lnTo>
                <a:lnTo>
                  <a:pt x="152407" y="142824"/>
                </a:lnTo>
                <a:cubicBezTo>
                  <a:pt x="158813" y="149230"/>
                  <a:pt x="169216" y="149230"/>
                  <a:pt x="175621" y="142824"/>
                </a:cubicBezTo>
                <a:lnTo>
                  <a:pt x="241217" y="77228"/>
                </a:ln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73162" y="1920630"/>
            <a:ext cx="3489676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4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 3 Revenue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5058" y="2165520"/>
            <a:ext cx="3585882" cy="349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79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₹24.7 Cr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3162" y="2550346"/>
            <a:ext cx="3489676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4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 from 412 farms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33528" y="1406366"/>
            <a:ext cx="3722321" cy="1465839"/>
          </a:xfrm>
          <a:custGeom>
            <a:avLst/>
            <a:gdLst/>
            <a:ahLst/>
            <a:cxnLst/>
            <a:rect l="l" t="t" r="r" b="b"/>
            <a:pathLst>
              <a:path w="3722321" h="1465839">
                <a:moveTo>
                  <a:pt x="104954" y="0"/>
                </a:moveTo>
                <a:lnTo>
                  <a:pt x="3617367" y="0"/>
                </a:lnTo>
                <a:cubicBezTo>
                  <a:pt x="3675331" y="0"/>
                  <a:pt x="3722321" y="46990"/>
                  <a:pt x="3722321" y="104954"/>
                </a:cubicBezTo>
                <a:lnTo>
                  <a:pt x="3722321" y="1360885"/>
                </a:lnTo>
                <a:cubicBezTo>
                  <a:pt x="3722321" y="1418849"/>
                  <a:pt x="3675331" y="1465839"/>
                  <a:pt x="3617367" y="1465839"/>
                </a:cubicBezTo>
                <a:lnTo>
                  <a:pt x="104954" y="1465839"/>
                </a:lnTo>
                <a:cubicBezTo>
                  <a:pt x="46990" y="1465839"/>
                  <a:pt x="0" y="1418849"/>
                  <a:pt x="0" y="1360885"/>
                </a:cubicBezTo>
                <a:lnTo>
                  <a:pt x="0" y="104954"/>
                </a:lnTo>
                <a:cubicBezTo>
                  <a:pt x="0" y="46990"/>
                  <a:pt x="46990" y="0"/>
                  <a:pt x="104954" y="0"/>
                </a:cubicBezTo>
                <a:close/>
              </a:path>
            </a:pathLst>
          </a:custGeom>
          <a:gradFill rotWithShape="1" flip="none">
            <a:gsLst>
              <a:gs pos="0">
                <a:srgbClr val="D4A373">
                  <a:alpha val="30000"/>
                </a:srgbClr>
              </a:gs>
              <a:gs pos="100000">
                <a:srgbClr val="D4A373">
                  <a:alpha val="10000"/>
                </a:srgbClr>
              </a:gs>
            </a:gsLst>
            <a:lin ang="2700000" scaled="1"/>
          </a:gradFill>
          <a:ln w="20320">
            <a:solidFill>
              <a:srgbClr val="D4A373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965902" y="1553296"/>
            <a:ext cx="262382" cy="262382"/>
          </a:xfrm>
          <a:custGeom>
            <a:avLst/>
            <a:gdLst/>
            <a:ahLst/>
            <a:cxnLst/>
            <a:rect l="l" t="t" r="r" b="b"/>
            <a:pathLst>
              <a:path w="262382" h="262382">
                <a:moveTo>
                  <a:pt x="65595" y="163989"/>
                </a:moveTo>
                <a:lnTo>
                  <a:pt x="12555" y="163989"/>
                </a:lnTo>
                <a:cubicBezTo>
                  <a:pt x="-205" y="163989"/>
                  <a:pt x="-8046" y="150101"/>
                  <a:pt x="-1486" y="139134"/>
                </a:cubicBezTo>
                <a:lnTo>
                  <a:pt x="25623" y="93935"/>
                </a:lnTo>
                <a:cubicBezTo>
                  <a:pt x="30082" y="86504"/>
                  <a:pt x="38076" y="81994"/>
                  <a:pt x="46737" y="81994"/>
                </a:cubicBezTo>
                <a:lnTo>
                  <a:pt x="95421" y="81994"/>
                </a:lnTo>
                <a:cubicBezTo>
                  <a:pt x="134419" y="15938"/>
                  <a:pt x="192584" y="12607"/>
                  <a:pt x="231480" y="18295"/>
                </a:cubicBezTo>
                <a:cubicBezTo>
                  <a:pt x="238040" y="19269"/>
                  <a:pt x="243164" y="24393"/>
                  <a:pt x="244087" y="30902"/>
                </a:cubicBezTo>
                <a:cubicBezTo>
                  <a:pt x="249775" y="69798"/>
                  <a:pt x="246444" y="127962"/>
                  <a:pt x="180387" y="166961"/>
                </a:cubicBezTo>
                <a:lnTo>
                  <a:pt x="180387" y="215645"/>
                </a:lnTo>
                <a:cubicBezTo>
                  <a:pt x="180387" y="224306"/>
                  <a:pt x="175878" y="232300"/>
                  <a:pt x="168447" y="236758"/>
                </a:cubicBezTo>
                <a:lnTo>
                  <a:pt x="123248" y="263868"/>
                </a:lnTo>
                <a:cubicBezTo>
                  <a:pt x="112332" y="270427"/>
                  <a:pt x="98393" y="262535"/>
                  <a:pt x="98393" y="249826"/>
                </a:cubicBezTo>
                <a:lnTo>
                  <a:pt x="98393" y="196786"/>
                </a:lnTo>
                <a:cubicBezTo>
                  <a:pt x="98393" y="178696"/>
                  <a:pt x="83685" y="163989"/>
                  <a:pt x="65595" y="163989"/>
                </a:cubicBezTo>
                <a:lnTo>
                  <a:pt x="65544" y="163989"/>
                </a:lnTo>
                <a:close/>
                <a:moveTo>
                  <a:pt x="204986" y="81994"/>
                </a:moveTo>
                <a:cubicBezTo>
                  <a:pt x="204986" y="68418"/>
                  <a:pt x="193964" y="57396"/>
                  <a:pt x="180387" y="57396"/>
                </a:cubicBezTo>
                <a:cubicBezTo>
                  <a:pt x="166811" y="57396"/>
                  <a:pt x="155789" y="68418"/>
                  <a:pt x="155789" y="81994"/>
                </a:cubicBezTo>
                <a:cubicBezTo>
                  <a:pt x="155789" y="95570"/>
                  <a:pt x="166811" y="106593"/>
                  <a:pt x="180387" y="106593"/>
                </a:cubicBezTo>
                <a:cubicBezTo>
                  <a:pt x="193964" y="106593"/>
                  <a:pt x="204986" y="95570"/>
                  <a:pt x="204986" y="81994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349850" y="1920630"/>
            <a:ext cx="3489676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4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 5 Revenue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01747" y="2165520"/>
            <a:ext cx="3585882" cy="349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79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₹88 Cr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49850" y="2550346"/>
            <a:ext cx="3489676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4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Ecosystem monetization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10326" y="1406366"/>
            <a:ext cx="3722321" cy="1465839"/>
          </a:xfrm>
          <a:custGeom>
            <a:avLst/>
            <a:gdLst/>
            <a:ahLst/>
            <a:cxnLst/>
            <a:rect l="l" t="t" r="r" b="b"/>
            <a:pathLst>
              <a:path w="3722321" h="1465839">
                <a:moveTo>
                  <a:pt x="104954" y="0"/>
                </a:moveTo>
                <a:lnTo>
                  <a:pt x="3617367" y="0"/>
                </a:lnTo>
                <a:cubicBezTo>
                  <a:pt x="3675331" y="0"/>
                  <a:pt x="3722321" y="46990"/>
                  <a:pt x="3722321" y="104954"/>
                </a:cubicBezTo>
                <a:lnTo>
                  <a:pt x="3722321" y="1360885"/>
                </a:lnTo>
                <a:cubicBezTo>
                  <a:pt x="3722321" y="1418849"/>
                  <a:pt x="3675331" y="1465839"/>
                  <a:pt x="3617367" y="1465839"/>
                </a:cubicBezTo>
                <a:lnTo>
                  <a:pt x="104954" y="1465839"/>
                </a:lnTo>
                <a:cubicBezTo>
                  <a:pt x="46990" y="1465839"/>
                  <a:pt x="0" y="1418849"/>
                  <a:pt x="0" y="1360885"/>
                </a:cubicBezTo>
                <a:lnTo>
                  <a:pt x="0" y="104954"/>
                </a:lnTo>
                <a:cubicBezTo>
                  <a:pt x="0" y="46990"/>
                  <a:pt x="46990" y="0"/>
                  <a:pt x="104954" y="0"/>
                </a:cubicBezTo>
                <a:close/>
              </a:path>
            </a:pathLst>
          </a:custGeom>
          <a:gradFill rotWithShape="1" flip="none">
            <a:gsLst>
              <a:gs pos="0">
                <a:srgbClr val="E9C46A">
                  <a:alpha val="30000"/>
                </a:srgbClr>
              </a:gs>
              <a:gs pos="100000">
                <a:srgbClr val="E9C46A">
                  <a:alpha val="10000"/>
                </a:srgbClr>
              </a:gs>
            </a:gsLst>
            <a:lin ang="2700000" scaled="1"/>
          </a:gradFill>
          <a:ln w="20320">
            <a:solidFill>
              <a:srgbClr val="E9C46A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859100" y="1553296"/>
            <a:ext cx="229584" cy="262382"/>
          </a:xfrm>
          <a:custGeom>
            <a:avLst/>
            <a:gdLst/>
            <a:ahLst/>
            <a:cxnLst/>
            <a:rect l="l" t="t" r="r" b="b"/>
            <a:pathLst>
              <a:path w="229584" h="262382">
                <a:moveTo>
                  <a:pt x="98393" y="65595"/>
                </a:moveTo>
                <a:cubicBezTo>
                  <a:pt x="98393" y="38443"/>
                  <a:pt x="76349" y="16399"/>
                  <a:pt x="49197" y="16399"/>
                </a:cubicBezTo>
                <a:cubicBezTo>
                  <a:pt x="22044" y="16399"/>
                  <a:pt x="0" y="38443"/>
                  <a:pt x="0" y="65595"/>
                </a:cubicBezTo>
                <a:cubicBezTo>
                  <a:pt x="0" y="92748"/>
                  <a:pt x="22044" y="114792"/>
                  <a:pt x="49197" y="114792"/>
                </a:cubicBezTo>
                <a:cubicBezTo>
                  <a:pt x="76349" y="114792"/>
                  <a:pt x="98393" y="92748"/>
                  <a:pt x="98393" y="65595"/>
                </a:cubicBezTo>
                <a:close/>
                <a:moveTo>
                  <a:pt x="229584" y="196786"/>
                </a:moveTo>
                <a:cubicBezTo>
                  <a:pt x="229584" y="169634"/>
                  <a:pt x="207540" y="147590"/>
                  <a:pt x="180387" y="147590"/>
                </a:cubicBezTo>
                <a:cubicBezTo>
                  <a:pt x="153235" y="147590"/>
                  <a:pt x="131191" y="169634"/>
                  <a:pt x="131191" y="196786"/>
                </a:cubicBezTo>
                <a:cubicBezTo>
                  <a:pt x="131191" y="223939"/>
                  <a:pt x="153235" y="245983"/>
                  <a:pt x="180387" y="245983"/>
                </a:cubicBezTo>
                <a:cubicBezTo>
                  <a:pt x="207540" y="245983"/>
                  <a:pt x="229584" y="223939"/>
                  <a:pt x="229584" y="196786"/>
                </a:cubicBezTo>
                <a:close/>
                <a:moveTo>
                  <a:pt x="224767" y="44379"/>
                </a:moveTo>
                <a:cubicBezTo>
                  <a:pt x="231173" y="37974"/>
                  <a:pt x="231173" y="27571"/>
                  <a:pt x="224767" y="21165"/>
                </a:cubicBezTo>
                <a:cubicBezTo>
                  <a:pt x="218361" y="14759"/>
                  <a:pt x="207958" y="14759"/>
                  <a:pt x="201552" y="21165"/>
                </a:cubicBezTo>
                <a:lnTo>
                  <a:pt x="4766" y="217951"/>
                </a:lnTo>
                <a:cubicBezTo>
                  <a:pt x="-1640" y="224357"/>
                  <a:pt x="-1640" y="234760"/>
                  <a:pt x="4766" y="241166"/>
                </a:cubicBezTo>
                <a:cubicBezTo>
                  <a:pt x="11172" y="247571"/>
                  <a:pt x="21575" y="247571"/>
                  <a:pt x="27981" y="241166"/>
                </a:cubicBezTo>
                <a:lnTo>
                  <a:pt x="224767" y="44379"/>
                </a:ln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6648" y="1920630"/>
            <a:ext cx="3489676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4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Profitability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78545" y="2165520"/>
            <a:ext cx="3585882" cy="349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79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6648" y="2550346"/>
            <a:ext cx="3489676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4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EBITDA margin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3341" y="3022647"/>
            <a:ext cx="5665694" cy="2350939"/>
          </a:xfrm>
          <a:custGeom>
            <a:avLst/>
            <a:gdLst/>
            <a:ahLst/>
            <a:cxnLst/>
            <a:rect l="l" t="t" r="r" b="b"/>
            <a:pathLst>
              <a:path w="5665694" h="2350939">
                <a:moveTo>
                  <a:pt x="104946" y="0"/>
                </a:moveTo>
                <a:lnTo>
                  <a:pt x="5560748" y="0"/>
                </a:lnTo>
                <a:cubicBezTo>
                  <a:pt x="5618708" y="0"/>
                  <a:pt x="5665694" y="46986"/>
                  <a:pt x="5665694" y="104946"/>
                </a:cubicBezTo>
                <a:lnTo>
                  <a:pt x="5665694" y="2245994"/>
                </a:lnTo>
                <a:cubicBezTo>
                  <a:pt x="5665694" y="2303954"/>
                  <a:pt x="5618708" y="2350939"/>
                  <a:pt x="5560748" y="2350939"/>
                </a:cubicBezTo>
                <a:lnTo>
                  <a:pt x="104946" y="2350939"/>
                </a:lnTo>
                <a:cubicBezTo>
                  <a:pt x="46986" y="2350939"/>
                  <a:pt x="0" y="2303954"/>
                  <a:pt x="0" y="2245994"/>
                </a:cubicBezTo>
                <a:lnTo>
                  <a:pt x="0" y="104946"/>
                </a:lnTo>
                <a:cubicBezTo>
                  <a:pt x="0" y="47025"/>
                  <a:pt x="47025" y="0"/>
                  <a:pt x="104946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96776" y="3166072"/>
            <a:ext cx="5440046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spc="48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METRICS BY YEAR 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6776" y="3463438"/>
            <a:ext cx="743415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 Farms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19340" y="3445945"/>
            <a:ext cx="332350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6776" y="3743311"/>
            <a:ext cx="1198209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Suppliers on Platform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18356" y="3725819"/>
            <a:ext cx="332350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800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6776" y="4023185"/>
            <a:ext cx="795891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 GMV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07904" y="4005693"/>
            <a:ext cx="542255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₹16.7 Cr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6776" y="4303059"/>
            <a:ext cx="725923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GMV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73248" y="4285567"/>
            <a:ext cx="577240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₹200 Cr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6776" y="4582933"/>
            <a:ext cx="865859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Take Rate (avg)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584356" y="4565440"/>
            <a:ext cx="367334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4.5%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96776" y="4862806"/>
            <a:ext cx="760907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Gross Margin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614311" y="4845314"/>
            <a:ext cx="332350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6B8E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82%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68483" y="3022647"/>
            <a:ext cx="5665694" cy="2350939"/>
          </a:xfrm>
          <a:custGeom>
            <a:avLst/>
            <a:gdLst/>
            <a:ahLst/>
            <a:cxnLst/>
            <a:rect l="l" t="t" r="r" b="b"/>
            <a:pathLst>
              <a:path w="5665694" h="2350939">
                <a:moveTo>
                  <a:pt x="104946" y="0"/>
                </a:moveTo>
                <a:lnTo>
                  <a:pt x="5560748" y="0"/>
                </a:lnTo>
                <a:cubicBezTo>
                  <a:pt x="5618708" y="0"/>
                  <a:pt x="5665694" y="46986"/>
                  <a:pt x="5665694" y="104946"/>
                </a:cubicBezTo>
                <a:lnTo>
                  <a:pt x="5665694" y="2245994"/>
                </a:lnTo>
                <a:cubicBezTo>
                  <a:pt x="5665694" y="2303954"/>
                  <a:pt x="5618708" y="2350939"/>
                  <a:pt x="5560748" y="2350939"/>
                </a:cubicBezTo>
                <a:lnTo>
                  <a:pt x="104946" y="2350939"/>
                </a:lnTo>
                <a:cubicBezTo>
                  <a:pt x="46986" y="2350939"/>
                  <a:pt x="0" y="2303954"/>
                  <a:pt x="0" y="2245994"/>
                </a:cubicBezTo>
                <a:lnTo>
                  <a:pt x="0" y="104946"/>
                </a:lnTo>
                <a:cubicBezTo>
                  <a:pt x="0" y="47025"/>
                  <a:pt x="47025" y="0"/>
                  <a:pt x="104946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311918" y="3166072"/>
            <a:ext cx="5440046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spc="48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EXIT OPPORTUNITIES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11918" y="3445945"/>
            <a:ext cx="5378824" cy="524763"/>
          </a:xfrm>
          <a:custGeom>
            <a:avLst/>
            <a:gdLst/>
            <a:ahLst/>
            <a:cxnLst/>
            <a:rect l="l" t="t" r="r" b="b"/>
            <a:pathLst>
              <a:path w="5378824" h="524763">
                <a:moveTo>
                  <a:pt x="69967" y="0"/>
                </a:moveTo>
                <a:lnTo>
                  <a:pt x="5308857" y="0"/>
                </a:lnTo>
                <a:cubicBezTo>
                  <a:pt x="5347498" y="0"/>
                  <a:pt x="5378824" y="31325"/>
                  <a:pt x="5378824" y="69967"/>
                </a:cubicBezTo>
                <a:lnTo>
                  <a:pt x="5378824" y="454797"/>
                </a:lnTo>
                <a:cubicBezTo>
                  <a:pt x="5378824" y="493438"/>
                  <a:pt x="5347498" y="524763"/>
                  <a:pt x="5308857" y="524763"/>
                </a:cubicBezTo>
                <a:lnTo>
                  <a:pt x="69967" y="524763"/>
                </a:lnTo>
                <a:cubicBezTo>
                  <a:pt x="31325" y="524763"/>
                  <a:pt x="0" y="493438"/>
                  <a:pt x="0" y="454797"/>
                </a:cubicBezTo>
                <a:lnTo>
                  <a:pt x="0" y="69967"/>
                </a:lnTo>
                <a:cubicBezTo>
                  <a:pt x="0" y="31351"/>
                  <a:pt x="31351" y="0"/>
                  <a:pt x="69967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460601" y="3620764"/>
            <a:ext cx="131191" cy="174921"/>
          </a:xfrm>
          <a:custGeom>
            <a:avLst/>
            <a:gdLst/>
            <a:ahLst/>
            <a:cxnLst/>
            <a:rect l="l" t="t" r="r" b="b"/>
            <a:pathLst>
              <a:path w="131191" h="174921">
                <a:moveTo>
                  <a:pt x="21865" y="0"/>
                </a:moveTo>
                <a:cubicBezTo>
                  <a:pt x="9805" y="0"/>
                  <a:pt x="0" y="9805"/>
                  <a:pt x="0" y="21865"/>
                </a:cubicBezTo>
                <a:lnTo>
                  <a:pt x="0" y="153056"/>
                </a:lnTo>
                <a:cubicBezTo>
                  <a:pt x="0" y="165116"/>
                  <a:pt x="9805" y="174921"/>
                  <a:pt x="21865" y="174921"/>
                </a:cubicBezTo>
                <a:lnTo>
                  <a:pt x="109326" y="174921"/>
                </a:lnTo>
                <a:cubicBezTo>
                  <a:pt x="121386" y="174921"/>
                  <a:pt x="131191" y="165116"/>
                  <a:pt x="131191" y="153056"/>
                </a:cubicBezTo>
                <a:lnTo>
                  <a:pt x="131191" y="21865"/>
                </a:lnTo>
                <a:cubicBezTo>
                  <a:pt x="131191" y="9805"/>
                  <a:pt x="121386" y="0"/>
                  <a:pt x="109326" y="0"/>
                </a:cubicBezTo>
                <a:lnTo>
                  <a:pt x="21865" y="0"/>
                </a:lnTo>
                <a:close/>
                <a:moveTo>
                  <a:pt x="60129" y="120258"/>
                </a:moveTo>
                <a:lnTo>
                  <a:pt x="71062" y="120258"/>
                </a:lnTo>
                <a:cubicBezTo>
                  <a:pt x="77109" y="120258"/>
                  <a:pt x="81994" y="125144"/>
                  <a:pt x="81994" y="131191"/>
                </a:cubicBezTo>
                <a:lnTo>
                  <a:pt x="81994" y="158522"/>
                </a:lnTo>
                <a:lnTo>
                  <a:pt x="49197" y="158522"/>
                </a:lnTo>
                <a:lnTo>
                  <a:pt x="49197" y="131191"/>
                </a:lnTo>
                <a:cubicBezTo>
                  <a:pt x="49197" y="125144"/>
                  <a:pt x="54082" y="120258"/>
                  <a:pt x="60129" y="120258"/>
                </a:cubicBezTo>
                <a:close/>
                <a:moveTo>
                  <a:pt x="32798" y="38264"/>
                </a:moveTo>
                <a:cubicBezTo>
                  <a:pt x="32798" y="35258"/>
                  <a:pt x="35258" y="32798"/>
                  <a:pt x="38264" y="32798"/>
                </a:cubicBezTo>
                <a:lnTo>
                  <a:pt x="49197" y="32798"/>
                </a:lnTo>
                <a:cubicBezTo>
                  <a:pt x="52203" y="32798"/>
                  <a:pt x="54663" y="35258"/>
                  <a:pt x="54663" y="38264"/>
                </a:cubicBezTo>
                <a:lnTo>
                  <a:pt x="54663" y="49197"/>
                </a:lnTo>
                <a:cubicBezTo>
                  <a:pt x="54663" y="52203"/>
                  <a:pt x="52203" y="54663"/>
                  <a:pt x="49197" y="54663"/>
                </a:cubicBezTo>
                <a:lnTo>
                  <a:pt x="38264" y="54663"/>
                </a:lnTo>
                <a:cubicBezTo>
                  <a:pt x="35258" y="54663"/>
                  <a:pt x="32798" y="52203"/>
                  <a:pt x="32798" y="49197"/>
                </a:cubicBezTo>
                <a:lnTo>
                  <a:pt x="32798" y="38264"/>
                </a:lnTo>
                <a:close/>
                <a:moveTo>
                  <a:pt x="81994" y="32798"/>
                </a:moveTo>
                <a:lnTo>
                  <a:pt x="92927" y="32798"/>
                </a:lnTo>
                <a:cubicBezTo>
                  <a:pt x="95933" y="32798"/>
                  <a:pt x="98393" y="35258"/>
                  <a:pt x="98393" y="38264"/>
                </a:cubicBezTo>
                <a:lnTo>
                  <a:pt x="98393" y="49197"/>
                </a:lnTo>
                <a:cubicBezTo>
                  <a:pt x="98393" y="52203"/>
                  <a:pt x="95933" y="54663"/>
                  <a:pt x="92927" y="54663"/>
                </a:cubicBezTo>
                <a:lnTo>
                  <a:pt x="81994" y="54663"/>
                </a:lnTo>
                <a:cubicBezTo>
                  <a:pt x="78988" y="54663"/>
                  <a:pt x="76528" y="52203"/>
                  <a:pt x="76528" y="49197"/>
                </a:cubicBezTo>
                <a:lnTo>
                  <a:pt x="76528" y="38264"/>
                </a:lnTo>
                <a:cubicBezTo>
                  <a:pt x="76528" y="35258"/>
                  <a:pt x="78988" y="32798"/>
                  <a:pt x="81994" y="32798"/>
                </a:cubicBezTo>
                <a:close/>
                <a:moveTo>
                  <a:pt x="32798" y="81994"/>
                </a:moveTo>
                <a:cubicBezTo>
                  <a:pt x="32798" y="78988"/>
                  <a:pt x="35258" y="76528"/>
                  <a:pt x="38264" y="76528"/>
                </a:cubicBezTo>
                <a:lnTo>
                  <a:pt x="49197" y="76528"/>
                </a:lnTo>
                <a:cubicBezTo>
                  <a:pt x="52203" y="76528"/>
                  <a:pt x="54663" y="78988"/>
                  <a:pt x="54663" y="81994"/>
                </a:cubicBezTo>
                <a:lnTo>
                  <a:pt x="54663" y="92927"/>
                </a:lnTo>
                <a:cubicBezTo>
                  <a:pt x="54663" y="95933"/>
                  <a:pt x="52203" y="98393"/>
                  <a:pt x="49197" y="98393"/>
                </a:cubicBezTo>
                <a:lnTo>
                  <a:pt x="38264" y="98393"/>
                </a:lnTo>
                <a:cubicBezTo>
                  <a:pt x="35258" y="98393"/>
                  <a:pt x="32798" y="95933"/>
                  <a:pt x="32798" y="92927"/>
                </a:cubicBezTo>
                <a:lnTo>
                  <a:pt x="32798" y="81994"/>
                </a:lnTo>
                <a:close/>
                <a:moveTo>
                  <a:pt x="81994" y="76528"/>
                </a:moveTo>
                <a:lnTo>
                  <a:pt x="92927" y="76528"/>
                </a:lnTo>
                <a:cubicBezTo>
                  <a:pt x="95933" y="76528"/>
                  <a:pt x="98393" y="78988"/>
                  <a:pt x="98393" y="81994"/>
                </a:cubicBezTo>
                <a:lnTo>
                  <a:pt x="98393" y="92927"/>
                </a:lnTo>
                <a:cubicBezTo>
                  <a:pt x="98393" y="95933"/>
                  <a:pt x="95933" y="98393"/>
                  <a:pt x="92927" y="98393"/>
                </a:cubicBezTo>
                <a:lnTo>
                  <a:pt x="81994" y="98393"/>
                </a:lnTo>
                <a:cubicBezTo>
                  <a:pt x="78988" y="98393"/>
                  <a:pt x="76528" y="95933"/>
                  <a:pt x="76528" y="92927"/>
                </a:cubicBezTo>
                <a:lnTo>
                  <a:pt x="76528" y="81994"/>
                </a:lnTo>
                <a:cubicBezTo>
                  <a:pt x="76528" y="78988"/>
                  <a:pt x="78988" y="76528"/>
                  <a:pt x="81994" y="76528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740475" y="3550898"/>
            <a:ext cx="1504321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Acquisition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40475" y="3725819"/>
            <a:ext cx="1495575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Ag-tech giants, food companies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11918" y="4075559"/>
            <a:ext cx="5378824" cy="524763"/>
          </a:xfrm>
          <a:custGeom>
            <a:avLst/>
            <a:gdLst/>
            <a:ahLst/>
            <a:cxnLst/>
            <a:rect l="l" t="t" r="r" b="b"/>
            <a:pathLst>
              <a:path w="5378824" h="524763">
                <a:moveTo>
                  <a:pt x="69967" y="0"/>
                </a:moveTo>
                <a:lnTo>
                  <a:pt x="5308857" y="0"/>
                </a:lnTo>
                <a:cubicBezTo>
                  <a:pt x="5347498" y="0"/>
                  <a:pt x="5378824" y="31325"/>
                  <a:pt x="5378824" y="69967"/>
                </a:cubicBezTo>
                <a:lnTo>
                  <a:pt x="5378824" y="454797"/>
                </a:lnTo>
                <a:cubicBezTo>
                  <a:pt x="5378824" y="493438"/>
                  <a:pt x="5347498" y="524763"/>
                  <a:pt x="5308857" y="524763"/>
                </a:cubicBezTo>
                <a:lnTo>
                  <a:pt x="69967" y="524763"/>
                </a:lnTo>
                <a:cubicBezTo>
                  <a:pt x="31325" y="524763"/>
                  <a:pt x="0" y="493438"/>
                  <a:pt x="0" y="454797"/>
                </a:cubicBezTo>
                <a:lnTo>
                  <a:pt x="0" y="69967"/>
                </a:lnTo>
                <a:cubicBezTo>
                  <a:pt x="0" y="31351"/>
                  <a:pt x="31351" y="0"/>
                  <a:pt x="69967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6438736" y="4250360"/>
            <a:ext cx="174921" cy="174921"/>
          </a:xfrm>
          <a:custGeom>
            <a:avLst/>
            <a:gdLst/>
            <a:ahLst/>
            <a:cxnLst/>
            <a:rect l="l" t="t" r="r" b="b"/>
            <a:pathLst>
              <a:path w="174921" h="174921">
                <a:moveTo>
                  <a:pt x="120224" y="95660"/>
                </a:moveTo>
                <a:lnTo>
                  <a:pt x="55004" y="95660"/>
                </a:lnTo>
                <a:cubicBezTo>
                  <a:pt x="55995" y="117696"/>
                  <a:pt x="60881" y="137990"/>
                  <a:pt x="67816" y="152851"/>
                </a:cubicBezTo>
                <a:cubicBezTo>
                  <a:pt x="71711" y="161221"/>
                  <a:pt x="75913" y="167132"/>
                  <a:pt x="79808" y="170753"/>
                </a:cubicBezTo>
                <a:cubicBezTo>
                  <a:pt x="83634" y="174340"/>
                  <a:pt x="86265" y="174921"/>
                  <a:pt x="87631" y="174921"/>
                </a:cubicBezTo>
                <a:cubicBezTo>
                  <a:pt x="88998" y="174921"/>
                  <a:pt x="91629" y="174340"/>
                  <a:pt x="95455" y="170753"/>
                </a:cubicBezTo>
                <a:cubicBezTo>
                  <a:pt x="99350" y="167132"/>
                  <a:pt x="103552" y="161187"/>
                  <a:pt x="107447" y="152851"/>
                </a:cubicBezTo>
                <a:cubicBezTo>
                  <a:pt x="114382" y="137990"/>
                  <a:pt x="119267" y="117696"/>
                  <a:pt x="120258" y="95660"/>
                </a:cubicBezTo>
                <a:close/>
                <a:moveTo>
                  <a:pt x="54970" y="79261"/>
                </a:moveTo>
                <a:lnTo>
                  <a:pt x="120190" y="79261"/>
                </a:lnTo>
                <a:cubicBezTo>
                  <a:pt x="119233" y="57225"/>
                  <a:pt x="114348" y="36932"/>
                  <a:pt x="107412" y="22070"/>
                </a:cubicBezTo>
                <a:cubicBezTo>
                  <a:pt x="103518" y="13734"/>
                  <a:pt x="99316" y="7789"/>
                  <a:pt x="95421" y="4168"/>
                </a:cubicBezTo>
                <a:cubicBezTo>
                  <a:pt x="91594" y="581"/>
                  <a:pt x="88964" y="0"/>
                  <a:pt x="87597" y="0"/>
                </a:cubicBezTo>
                <a:cubicBezTo>
                  <a:pt x="86231" y="0"/>
                  <a:pt x="83600" y="581"/>
                  <a:pt x="79774" y="4168"/>
                </a:cubicBezTo>
                <a:cubicBezTo>
                  <a:pt x="75879" y="7789"/>
                  <a:pt x="71677" y="13734"/>
                  <a:pt x="67782" y="22070"/>
                </a:cubicBezTo>
                <a:cubicBezTo>
                  <a:pt x="60847" y="36932"/>
                  <a:pt x="55961" y="57225"/>
                  <a:pt x="54970" y="79261"/>
                </a:cubicBezTo>
                <a:close/>
                <a:moveTo>
                  <a:pt x="38571" y="79261"/>
                </a:moveTo>
                <a:cubicBezTo>
                  <a:pt x="39767" y="50016"/>
                  <a:pt x="47318" y="22856"/>
                  <a:pt x="58353" y="5022"/>
                </a:cubicBezTo>
                <a:cubicBezTo>
                  <a:pt x="26887" y="16160"/>
                  <a:pt x="3724" y="44824"/>
                  <a:pt x="512" y="79261"/>
                </a:cubicBezTo>
                <a:lnTo>
                  <a:pt x="38571" y="79261"/>
                </a:lnTo>
                <a:close/>
                <a:moveTo>
                  <a:pt x="512" y="95660"/>
                </a:moveTo>
                <a:cubicBezTo>
                  <a:pt x="3724" y="130098"/>
                  <a:pt x="26887" y="158761"/>
                  <a:pt x="58353" y="169899"/>
                </a:cubicBezTo>
                <a:cubicBezTo>
                  <a:pt x="47318" y="152065"/>
                  <a:pt x="39767" y="124905"/>
                  <a:pt x="38571" y="95660"/>
                </a:cubicBezTo>
                <a:lnTo>
                  <a:pt x="512" y="95660"/>
                </a:lnTo>
                <a:close/>
                <a:moveTo>
                  <a:pt x="136623" y="95660"/>
                </a:moveTo>
                <a:cubicBezTo>
                  <a:pt x="135427" y="124905"/>
                  <a:pt x="127877" y="152065"/>
                  <a:pt x="116842" y="169899"/>
                </a:cubicBezTo>
                <a:cubicBezTo>
                  <a:pt x="148307" y="158727"/>
                  <a:pt x="171470" y="130098"/>
                  <a:pt x="174682" y="95660"/>
                </a:cubicBezTo>
                <a:lnTo>
                  <a:pt x="136623" y="95660"/>
                </a:lnTo>
                <a:close/>
                <a:moveTo>
                  <a:pt x="174682" y="79261"/>
                </a:moveTo>
                <a:cubicBezTo>
                  <a:pt x="171470" y="44824"/>
                  <a:pt x="148307" y="16160"/>
                  <a:pt x="116842" y="5022"/>
                </a:cubicBezTo>
                <a:cubicBezTo>
                  <a:pt x="127877" y="22856"/>
                  <a:pt x="135427" y="50016"/>
                  <a:pt x="136623" y="79261"/>
                </a:cubicBezTo>
                <a:lnTo>
                  <a:pt x="174682" y="79261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740475" y="4180512"/>
            <a:ext cx="1504321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IPO Potential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40475" y="4355433"/>
            <a:ext cx="1495575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 7-8 with ₹100 Cr+ revenue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11918" y="4705155"/>
            <a:ext cx="5378824" cy="524763"/>
          </a:xfrm>
          <a:custGeom>
            <a:avLst/>
            <a:gdLst/>
            <a:ahLst/>
            <a:cxnLst/>
            <a:rect l="l" t="t" r="r" b="b"/>
            <a:pathLst>
              <a:path w="5378824" h="524763">
                <a:moveTo>
                  <a:pt x="69967" y="0"/>
                </a:moveTo>
                <a:lnTo>
                  <a:pt x="5308857" y="0"/>
                </a:lnTo>
                <a:cubicBezTo>
                  <a:pt x="5347498" y="0"/>
                  <a:pt x="5378824" y="31325"/>
                  <a:pt x="5378824" y="69967"/>
                </a:cubicBezTo>
                <a:lnTo>
                  <a:pt x="5378824" y="454797"/>
                </a:lnTo>
                <a:cubicBezTo>
                  <a:pt x="5378824" y="493438"/>
                  <a:pt x="5347498" y="524763"/>
                  <a:pt x="5308857" y="524763"/>
                </a:cubicBezTo>
                <a:lnTo>
                  <a:pt x="69967" y="524763"/>
                </a:lnTo>
                <a:cubicBezTo>
                  <a:pt x="31325" y="524763"/>
                  <a:pt x="0" y="493438"/>
                  <a:pt x="0" y="454797"/>
                </a:cubicBezTo>
                <a:lnTo>
                  <a:pt x="0" y="69967"/>
                </a:lnTo>
                <a:cubicBezTo>
                  <a:pt x="0" y="31351"/>
                  <a:pt x="31351" y="0"/>
                  <a:pt x="69967" y="0"/>
                </a:cubicBezTo>
                <a:close/>
              </a:path>
            </a:pathLst>
          </a:custGeom>
          <a:solidFill>
            <a:srgbClr val="1A2E26">
              <a:alpha val="50196"/>
            </a:srgbClr>
          </a:solidFill>
          <a:ln/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6427803" y="4879974"/>
            <a:ext cx="196786" cy="174921"/>
          </a:xfrm>
          <a:custGeom>
            <a:avLst/>
            <a:gdLst/>
            <a:ahLst/>
            <a:cxnLst/>
            <a:rect l="l" t="t" r="r" b="b"/>
            <a:pathLst>
              <a:path w="196786" h="174921">
                <a:moveTo>
                  <a:pt x="91868" y="29108"/>
                </a:moveTo>
                <a:lnTo>
                  <a:pt x="52032" y="73385"/>
                </a:lnTo>
                <a:cubicBezTo>
                  <a:pt x="50461" y="75127"/>
                  <a:pt x="50529" y="77826"/>
                  <a:pt x="52203" y="79500"/>
                </a:cubicBezTo>
                <a:cubicBezTo>
                  <a:pt x="62623" y="89920"/>
                  <a:pt x="79534" y="89920"/>
                  <a:pt x="89955" y="79500"/>
                </a:cubicBezTo>
                <a:lnTo>
                  <a:pt x="100819" y="68636"/>
                </a:lnTo>
                <a:cubicBezTo>
                  <a:pt x="102254" y="67201"/>
                  <a:pt x="104064" y="66415"/>
                  <a:pt x="105909" y="66279"/>
                </a:cubicBezTo>
                <a:cubicBezTo>
                  <a:pt x="108232" y="66074"/>
                  <a:pt x="110624" y="66859"/>
                  <a:pt x="112400" y="68636"/>
                </a:cubicBezTo>
                <a:lnTo>
                  <a:pt x="172735" y="128458"/>
                </a:lnTo>
                <a:lnTo>
                  <a:pt x="196786" y="109326"/>
                </a:lnTo>
                <a:lnTo>
                  <a:pt x="196786" y="10933"/>
                </a:lnTo>
                <a:lnTo>
                  <a:pt x="158522" y="32798"/>
                </a:lnTo>
                <a:lnTo>
                  <a:pt x="150391" y="27366"/>
                </a:lnTo>
                <a:cubicBezTo>
                  <a:pt x="144993" y="23778"/>
                  <a:pt x="138673" y="21865"/>
                  <a:pt x="132182" y="21865"/>
                </a:cubicBezTo>
                <a:lnTo>
                  <a:pt x="108130" y="21865"/>
                </a:lnTo>
                <a:cubicBezTo>
                  <a:pt x="107754" y="21865"/>
                  <a:pt x="107344" y="21865"/>
                  <a:pt x="106968" y="21899"/>
                </a:cubicBezTo>
                <a:cubicBezTo>
                  <a:pt x="101195" y="22207"/>
                  <a:pt x="95762" y="24803"/>
                  <a:pt x="91868" y="29108"/>
                </a:cubicBezTo>
                <a:close/>
                <a:moveTo>
                  <a:pt x="39836" y="62418"/>
                </a:moveTo>
                <a:lnTo>
                  <a:pt x="76323" y="21865"/>
                </a:lnTo>
                <a:lnTo>
                  <a:pt x="62794" y="21865"/>
                </a:lnTo>
                <a:cubicBezTo>
                  <a:pt x="54082" y="21865"/>
                  <a:pt x="45746" y="25316"/>
                  <a:pt x="39596" y="31465"/>
                </a:cubicBezTo>
                <a:lnTo>
                  <a:pt x="38264" y="32798"/>
                </a:lnTo>
                <a:lnTo>
                  <a:pt x="0" y="10933"/>
                </a:lnTo>
                <a:lnTo>
                  <a:pt x="0" y="109326"/>
                </a:lnTo>
                <a:lnTo>
                  <a:pt x="53433" y="153842"/>
                </a:lnTo>
                <a:cubicBezTo>
                  <a:pt x="61291" y="160401"/>
                  <a:pt x="71198" y="163989"/>
                  <a:pt x="81413" y="163989"/>
                </a:cubicBezTo>
                <a:lnTo>
                  <a:pt x="86777" y="163989"/>
                </a:lnTo>
                <a:lnTo>
                  <a:pt x="84386" y="161597"/>
                </a:lnTo>
                <a:cubicBezTo>
                  <a:pt x="81174" y="158386"/>
                  <a:pt x="81174" y="153193"/>
                  <a:pt x="84386" y="150015"/>
                </a:cubicBezTo>
                <a:cubicBezTo>
                  <a:pt x="87597" y="146838"/>
                  <a:pt x="92790" y="146804"/>
                  <a:pt x="95967" y="150015"/>
                </a:cubicBezTo>
                <a:lnTo>
                  <a:pt x="109975" y="164023"/>
                </a:lnTo>
                <a:lnTo>
                  <a:pt x="113050" y="164023"/>
                </a:lnTo>
                <a:cubicBezTo>
                  <a:pt x="119575" y="164023"/>
                  <a:pt x="125964" y="162554"/>
                  <a:pt x="131772" y="159820"/>
                </a:cubicBezTo>
                <a:lnTo>
                  <a:pt x="122650" y="150664"/>
                </a:lnTo>
                <a:cubicBezTo>
                  <a:pt x="119438" y="147453"/>
                  <a:pt x="119438" y="142260"/>
                  <a:pt x="122650" y="139083"/>
                </a:cubicBezTo>
                <a:cubicBezTo>
                  <a:pt x="125861" y="135905"/>
                  <a:pt x="131054" y="135871"/>
                  <a:pt x="134231" y="139083"/>
                </a:cubicBezTo>
                <a:lnTo>
                  <a:pt x="145164" y="150015"/>
                </a:lnTo>
                <a:lnTo>
                  <a:pt x="151143" y="144037"/>
                </a:lnTo>
                <a:cubicBezTo>
                  <a:pt x="154183" y="140996"/>
                  <a:pt x="155072" y="136589"/>
                  <a:pt x="153739" y="132728"/>
                </a:cubicBezTo>
                <a:lnTo>
                  <a:pt x="106627" y="85991"/>
                </a:lnTo>
                <a:lnTo>
                  <a:pt x="101536" y="91082"/>
                </a:lnTo>
                <a:cubicBezTo>
                  <a:pt x="84693" y="107925"/>
                  <a:pt x="57430" y="107925"/>
                  <a:pt x="40587" y="91082"/>
                </a:cubicBezTo>
                <a:cubicBezTo>
                  <a:pt x="32729" y="83224"/>
                  <a:pt x="32422" y="70618"/>
                  <a:pt x="39836" y="62384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740475" y="4810108"/>
            <a:ext cx="1373131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 Equity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740475" y="4985029"/>
            <a:ext cx="1364385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Growth capital for expansion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53341" y="5520192"/>
            <a:ext cx="11481820" cy="986555"/>
          </a:xfrm>
          <a:custGeom>
            <a:avLst/>
            <a:gdLst/>
            <a:ahLst/>
            <a:cxnLst/>
            <a:rect l="l" t="t" r="r" b="b"/>
            <a:pathLst>
              <a:path w="11481820" h="986555">
                <a:moveTo>
                  <a:pt x="104950" y="0"/>
                </a:moveTo>
                <a:lnTo>
                  <a:pt x="11376871" y="0"/>
                </a:lnTo>
                <a:cubicBezTo>
                  <a:pt x="11434833" y="0"/>
                  <a:pt x="11481820" y="46988"/>
                  <a:pt x="11481820" y="104950"/>
                </a:cubicBezTo>
                <a:lnTo>
                  <a:pt x="11481820" y="881605"/>
                </a:lnTo>
                <a:cubicBezTo>
                  <a:pt x="11481820" y="939567"/>
                  <a:pt x="11434833" y="986555"/>
                  <a:pt x="11376871" y="986555"/>
                </a:cubicBezTo>
                <a:lnTo>
                  <a:pt x="104950" y="986555"/>
                </a:lnTo>
                <a:cubicBezTo>
                  <a:pt x="46988" y="986555"/>
                  <a:pt x="0" y="939567"/>
                  <a:pt x="0" y="881605"/>
                </a:cubicBezTo>
                <a:lnTo>
                  <a:pt x="0" y="104950"/>
                </a:lnTo>
                <a:cubicBezTo>
                  <a:pt x="0" y="47026"/>
                  <a:pt x="47026" y="0"/>
                  <a:pt x="104950" y="0"/>
                </a:cubicBezTo>
                <a:close/>
              </a:path>
            </a:pathLst>
          </a:custGeom>
          <a:gradFill rotWithShape="1" flip="none">
            <a:gsLst>
              <a:gs pos="0">
                <a:srgbClr val="E9C46A">
                  <a:alpha val="20000"/>
                </a:srgbClr>
              </a:gs>
              <a:gs pos="100000">
                <a:srgbClr val="D4A373">
                  <a:alpha val="20000"/>
                </a:srgbClr>
              </a:gs>
            </a:gsLst>
            <a:lin ang="0" scaled="1"/>
          </a:gradFill>
          <a:ln w="10160">
            <a:solidFill>
              <a:srgbClr val="E9C46A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496776" y="5663617"/>
            <a:ext cx="1355638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VALUE CREATED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96776" y="5873522"/>
            <a:ext cx="1425607" cy="314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66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₹435 Cr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96776" y="6188380"/>
            <a:ext cx="1355638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by Year 5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641653" y="5698601"/>
            <a:ext cx="1049527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64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Revenue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597923" y="5873522"/>
            <a:ext cx="1093257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653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₹88 Cr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641653" y="6153293"/>
            <a:ext cx="1049527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64" dirty="0">
                <a:solidFill>
                  <a:srgbClr val="6B8E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20% value capture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RESPONSIBILITY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Impact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Transforming Rural India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527810"/>
            <a:ext cx="5627370" cy="769620"/>
          </a:xfrm>
          <a:custGeom>
            <a:avLst/>
            <a:gdLst/>
            <a:ahLst/>
            <a:cxnLst/>
            <a:rect l="l" t="t" r="r" b="b"/>
            <a:pathLst>
              <a:path w="5627370" h="769620">
                <a:moveTo>
                  <a:pt x="114296" y="0"/>
                </a:moveTo>
                <a:lnTo>
                  <a:pt x="5513074" y="0"/>
                </a:lnTo>
                <a:cubicBezTo>
                  <a:pt x="5576198" y="0"/>
                  <a:pt x="5627370" y="51172"/>
                  <a:pt x="5627370" y="114296"/>
                </a:cubicBezTo>
                <a:lnTo>
                  <a:pt x="5627370" y="655324"/>
                </a:lnTo>
                <a:cubicBezTo>
                  <a:pt x="5627370" y="718448"/>
                  <a:pt x="5576198" y="769620"/>
                  <a:pt x="5513074" y="769620"/>
                </a:cubicBezTo>
                <a:lnTo>
                  <a:pt x="114296" y="769620"/>
                </a:lnTo>
                <a:cubicBezTo>
                  <a:pt x="51172" y="769620"/>
                  <a:pt x="0" y="718448"/>
                  <a:pt x="0" y="6553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1020" y="168402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74370" y="181737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11906"/>
                </a:moveTo>
                <a:cubicBezTo>
                  <a:pt x="190500" y="52127"/>
                  <a:pt x="161999" y="85688"/>
                  <a:pt x="124123" y="93538"/>
                </a:cubicBezTo>
                <a:cubicBezTo>
                  <a:pt x="121183" y="71921"/>
                  <a:pt x="111472" y="52462"/>
                  <a:pt x="97148" y="37393"/>
                </a:cubicBezTo>
                <a:cubicBezTo>
                  <a:pt x="112068" y="14883"/>
                  <a:pt x="137629" y="0"/>
                  <a:pt x="166688" y="0"/>
                </a:cubicBezTo>
                <a:lnTo>
                  <a:pt x="178594" y="0"/>
                </a:lnTo>
                <a:cubicBezTo>
                  <a:pt x="185179" y="0"/>
                  <a:pt x="190500" y="5321"/>
                  <a:pt x="190500" y="11906"/>
                </a:cubicBezTo>
                <a:close/>
                <a:moveTo>
                  <a:pt x="0" y="35719"/>
                </a:moveTo>
                <a:cubicBezTo>
                  <a:pt x="0" y="29133"/>
                  <a:pt x="5321" y="23812"/>
                  <a:pt x="11906" y="23812"/>
                </a:cubicBezTo>
                <a:lnTo>
                  <a:pt x="23812" y="23812"/>
                </a:lnTo>
                <a:cubicBezTo>
                  <a:pt x="69838" y="23812"/>
                  <a:pt x="107156" y="61131"/>
                  <a:pt x="107156" y="107156"/>
                </a:cubicBezTo>
                <a:lnTo>
                  <a:pt x="107156" y="178594"/>
                </a:lnTo>
                <a:cubicBezTo>
                  <a:pt x="107156" y="185179"/>
                  <a:pt x="101836" y="190500"/>
                  <a:pt x="95250" y="190500"/>
                </a:cubicBezTo>
                <a:cubicBezTo>
                  <a:pt x="88664" y="190500"/>
                  <a:pt x="83344" y="185179"/>
                  <a:pt x="83344" y="178594"/>
                </a:cubicBezTo>
                <a:lnTo>
                  <a:pt x="83344" y="119063"/>
                </a:lnTo>
                <a:cubicBezTo>
                  <a:pt x="37319" y="119063"/>
                  <a:pt x="0" y="81744"/>
                  <a:pt x="0" y="35719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12520" y="1684027"/>
            <a:ext cx="481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Reducing Contamination Losses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2520" y="1950727"/>
            <a:ext cx="481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30% national reduction saves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₹150 Cr+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annually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810" y="2419346"/>
            <a:ext cx="5627370" cy="769620"/>
          </a:xfrm>
          <a:custGeom>
            <a:avLst/>
            <a:gdLst/>
            <a:ahLst/>
            <a:cxnLst/>
            <a:rect l="l" t="t" r="r" b="b"/>
            <a:pathLst>
              <a:path w="5627370" h="769620">
                <a:moveTo>
                  <a:pt x="114296" y="0"/>
                </a:moveTo>
                <a:lnTo>
                  <a:pt x="5513074" y="0"/>
                </a:lnTo>
                <a:cubicBezTo>
                  <a:pt x="5576198" y="0"/>
                  <a:pt x="5627370" y="51172"/>
                  <a:pt x="5627370" y="114296"/>
                </a:cubicBezTo>
                <a:lnTo>
                  <a:pt x="5627370" y="655324"/>
                </a:lnTo>
                <a:cubicBezTo>
                  <a:pt x="5627370" y="718448"/>
                  <a:pt x="5576198" y="769620"/>
                  <a:pt x="5513074" y="769620"/>
                </a:cubicBezTo>
                <a:lnTo>
                  <a:pt x="114296" y="769620"/>
                </a:lnTo>
                <a:cubicBezTo>
                  <a:pt x="51172" y="769620"/>
                  <a:pt x="0" y="718448"/>
                  <a:pt x="0" y="6553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41020" y="257556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74370" y="270891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4414" y="17859"/>
                </a:moveTo>
                <a:lnTo>
                  <a:pt x="116086" y="17859"/>
                </a:lnTo>
                <a:cubicBezTo>
                  <a:pt x="117723" y="17859"/>
                  <a:pt x="119063" y="19199"/>
                  <a:pt x="119063" y="20836"/>
                </a:cubicBezTo>
                <a:lnTo>
                  <a:pt x="119063" y="35719"/>
                </a:lnTo>
                <a:lnTo>
                  <a:pt x="71438" y="35719"/>
                </a:lnTo>
                <a:lnTo>
                  <a:pt x="71438" y="20836"/>
                </a:lnTo>
                <a:cubicBezTo>
                  <a:pt x="71438" y="19199"/>
                  <a:pt x="72777" y="17859"/>
                  <a:pt x="74414" y="17859"/>
                </a:cubicBezTo>
                <a:close/>
                <a:moveTo>
                  <a:pt x="53578" y="20836"/>
                </a:moveTo>
                <a:lnTo>
                  <a:pt x="53578" y="35719"/>
                </a:lnTo>
                <a:lnTo>
                  <a:pt x="23812" y="35719"/>
                </a:lnTo>
                <a:cubicBezTo>
                  <a:pt x="10678" y="35719"/>
                  <a:pt x="0" y="46397"/>
                  <a:pt x="0" y="59531"/>
                </a:cubicBezTo>
                <a:lnTo>
                  <a:pt x="0" y="95250"/>
                </a:lnTo>
                <a:lnTo>
                  <a:pt x="190500" y="95250"/>
                </a:lnTo>
                <a:lnTo>
                  <a:pt x="190500" y="59531"/>
                </a:lnTo>
                <a:cubicBezTo>
                  <a:pt x="190500" y="46397"/>
                  <a:pt x="179822" y="35719"/>
                  <a:pt x="166688" y="35719"/>
                </a:cubicBezTo>
                <a:lnTo>
                  <a:pt x="136922" y="35719"/>
                </a:lnTo>
                <a:lnTo>
                  <a:pt x="136922" y="20836"/>
                </a:lnTo>
                <a:cubicBezTo>
                  <a:pt x="136922" y="9339"/>
                  <a:pt x="127583" y="0"/>
                  <a:pt x="116086" y="0"/>
                </a:cubicBezTo>
                <a:lnTo>
                  <a:pt x="74414" y="0"/>
                </a:lnTo>
                <a:cubicBezTo>
                  <a:pt x="62917" y="0"/>
                  <a:pt x="53578" y="9339"/>
                  <a:pt x="53578" y="20836"/>
                </a:cubicBezTo>
                <a:close/>
                <a:moveTo>
                  <a:pt x="190500" y="113109"/>
                </a:moveTo>
                <a:lnTo>
                  <a:pt x="119063" y="113109"/>
                </a:lnTo>
                <a:lnTo>
                  <a:pt x="119063" y="119063"/>
                </a:lnTo>
                <a:cubicBezTo>
                  <a:pt x="119063" y="125648"/>
                  <a:pt x="113742" y="130969"/>
                  <a:pt x="107156" y="130969"/>
                </a:cubicBezTo>
                <a:lnTo>
                  <a:pt x="83344" y="130969"/>
                </a:lnTo>
                <a:cubicBezTo>
                  <a:pt x="76758" y="130969"/>
                  <a:pt x="71438" y="125648"/>
                  <a:pt x="71438" y="119063"/>
                </a:cubicBezTo>
                <a:lnTo>
                  <a:pt x="71438" y="113109"/>
                </a:lnTo>
                <a:lnTo>
                  <a:pt x="0" y="113109"/>
                </a:ln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66688" y="178594"/>
                </a:lnTo>
                <a:cubicBezTo>
                  <a:pt x="179822" y="178594"/>
                  <a:pt x="190500" y="167915"/>
                  <a:pt x="190500" y="154781"/>
                </a:cubicBezTo>
                <a:lnTo>
                  <a:pt x="190500" y="113109"/>
                </a:ln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112520" y="2575564"/>
            <a:ext cx="481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Jobs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2520" y="2842264"/>
            <a:ext cx="481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10,000+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jobs in mushroom farming ecosystem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4810" y="3310901"/>
            <a:ext cx="5627370" cy="769620"/>
          </a:xfrm>
          <a:custGeom>
            <a:avLst/>
            <a:gdLst/>
            <a:ahLst/>
            <a:cxnLst/>
            <a:rect l="l" t="t" r="r" b="b"/>
            <a:pathLst>
              <a:path w="5627370" h="769620">
                <a:moveTo>
                  <a:pt x="114296" y="0"/>
                </a:moveTo>
                <a:lnTo>
                  <a:pt x="5513074" y="0"/>
                </a:lnTo>
                <a:cubicBezTo>
                  <a:pt x="5576198" y="0"/>
                  <a:pt x="5627370" y="51172"/>
                  <a:pt x="5627370" y="114296"/>
                </a:cubicBezTo>
                <a:lnTo>
                  <a:pt x="5627370" y="655324"/>
                </a:lnTo>
                <a:cubicBezTo>
                  <a:pt x="5627370" y="718448"/>
                  <a:pt x="5576198" y="769620"/>
                  <a:pt x="5513074" y="769620"/>
                </a:cubicBezTo>
                <a:lnTo>
                  <a:pt x="114296" y="769620"/>
                </a:lnTo>
                <a:cubicBezTo>
                  <a:pt x="51172" y="769620"/>
                  <a:pt x="0" y="718448"/>
                  <a:pt x="0" y="6553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41020" y="3467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50558" y="36004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50602" y="47625"/>
                </a:moveTo>
                <a:cubicBezTo>
                  <a:pt x="50602" y="22983"/>
                  <a:pt x="70608" y="2977"/>
                  <a:pt x="95250" y="2977"/>
                </a:cubicBezTo>
                <a:cubicBezTo>
                  <a:pt x="119892" y="2977"/>
                  <a:pt x="139898" y="22983"/>
                  <a:pt x="139898" y="47625"/>
                </a:cubicBezTo>
                <a:cubicBezTo>
                  <a:pt x="139898" y="72267"/>
                  <a:pt x="119892" y="92273"/>
                  <a:pt x="95250" y="92273"/>
                </a:cubicBezTo>
                <a:cubicBezTo>
                  <a:pt x="70608" y="92273"/>
                  <a:pt x="50602" y="72267"/>
                  <a:pt x="50602" y="47625"/>
                </a:cubicBezTo>
                <a:close/>
                <a:moveTo>
                  <a:pt x="17859" y="179450"/>
                </a:moveTo>
                <a:cubicBezTo>
                  <a:pt x="17859" y="142801"/>
                  <a:pt x="47551" y="113109"/>
                  <a:pt x="84200" y="113109"/>
                </a:cubicBezTo>
                <a:lnTo>
                  <a:pt x="106300" y="113109"/>
                </a:lnTo>
                <a:cubicBezTo>
                  <a:pt x="142949" y="113109"/>
                  <a:pt x="172641" y="142801"/>
                  <a:pt x="172641" y="179450"/>
                </a:cubicBezTo>
                <a:cubicBezTo>
                  <a:pt x="172641" y="185551"/>
                  <a:pt x="167692" y="190500"/>
                  <a:pt x="161590" y="190500"/>
                </a:cubicBezTo>
                <a:lnTo>
                  <a:pt x="28910" y="190500"/>
                </a:lnTo>
                <a:cubicBezTo>
                  <a:pt x="22808" y="190500"/>
                  <a:pt x="17859" y="185551"/>
                  <a:pt x="17859" y="179450"/>
                </a:cubicBezTo>
                <a:close/>
                <a:moveTo>
                  <a:pt x="202406" y="35719"/>
                </a:moveTo>
                <a:cubicBezTo>
                  <a:pt x="207355" y="35719"/>
                  <a:pt x="211336" y="39700"/>
                  <a:pt x="211336" y="44648"/>
                </a:cubicBezTo>
                <a:lnTo>
                  <a:pt x="211336" y="62508"/>
                </a:lnTo>
                <a:lnTo>
                  <a:pt x="229195" y="62508"/>
                </a:lnTo>
                <a:cubicBezTo>
                  <a:pt x="234144" y="62508"/>
                  <a:pt x="238125" y="66489"/>
                  <a:pt x="238125" y="71438"/>
                </a:cubicBezTo>
                <a:cubicBezTo>
                  <a:pt x="238125" y="76386"/>
                  <a:pt x="234144" y="80367"/>
                  <a:pt x="229195" y="80367"/>
                </a:cubicBezTo>
                <a:lnTo>
                  <a:pt x="211336" y="80367"/>
                </a:lnTo>
                <a:lnTo>
                  <a:pt x="211336" y="98227"/>
                </a:lnTo>
                <a:cubicBezTo>
                  <a:pt x="211336" y="103175"/>
                  <a:pt x="207355" y="107156"/>
                  <a:pt x="202406" y="107156"/>
                </a:cubicBezTo>
                <a:cubicBezTo>
                  <a:pt x="197458" y="107156"/>
                  <a:pt x="193477" y="103175"/>
                  <a:pt x="193477" y="98227"/>
                </a:cubicBezTo>
                <a:lnTo>
                  <a:pt x="193477" y="80367"/>
                </a:lnTo>
                <a:lnTo>
                  <a:pt x="175617" y="80367"/>
                </a:lnTo>
                <a:cubicBezTo>
                  <a:pt x="170669" y="80367"/>
                  <a:pt x="166688" y="76386"/>
                  <a:pt x="166688" y="71438"/>
                </a:cubicBezTo>
                <a:cubicBezTo>
                  <a:pt x="166688" y="66489"/>
                  <a:pt x="170669" y="62508"/>
                  <a:pt x="175617" y="62508"/>
                </a:cubicBezTo>
                <a:lnTo>
                  <a:pt x="193477" y="62508"/>
                </a:lnTo>
                <a:lnTo>
                  <a:pt x="193477" y="44648"/>
                </a:lnTo>
                <a:cubicBezTo>
                  <a:pt x="193477" y="39700"/>
                  <a:pt x="197458" y="35719"/>
                  <a:pt x="202406" y="35719"/>
                </a:cubicBezTo>
                <a:close/>
              </a:path>
            </a:pathLst>
          </a:custGeom>
          <a:solidFill>
            <a:srgbClr val="F5F1E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12520" y="3467100"/>
            <a:ext cx="481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Enabling Entrepreneurs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2520" y="3733800"/>
            <a:ext cx="481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500+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new farm entrepreneurs with platform guidance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6010" y="1527810"/>
            <a:ext cx="5627370" cy="769620"/>
          </a:xfrm>
          <a:custGeom>
            <a:avLst/>
            <a:gdLst/>
            <a:ahLst/>
            <a:cxnLst/>
            <a:rect l="l" t="t" r="r" b="b"/>
            <a:pathLst>
              <a:path w="5627370" h="769620">
                <a:moveTo>
                  <a:pt x="114296" y="0"/>
                </a:moveTo>
                <a:lnTo>
                  <a:pt x="5513074" y="0"/>
                </a:lnTo>
                <a:cubicBezTo>
                  <a:pt x="5576198" y="0"/>
                  <a:pt x="5627370" y="51172"/>
                  <a:pt x="5627370" y="114296"/>
                </a:cubicBezTo>
                <a:lnTo>
                  <a:pt x="5627370" y="655324"/>
                </a:lnTo>
                <a:cubicBezTo>
                  <a:pt x="5627370" y="718448"/>
                  <a:pt x="5576198" y="769620"/>
                  <a:pt x="5513074" y="769620"/>
                </a:cubicBezTo>
                <a:lnTo>
                  <a:pt x="114296" y="769620"/>
                </a:lnTo>
                <a:cubicBezTo>
                  <a:pt x="51172" y="769620"/>
                  <a:pt x="0" y="718448"/>
                  <a:pt x="0" y="6553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332220" y="168402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465570" y="181737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775" y="5358"/>
                </a:moveTo>
                <a:cubicBezTo>
                  <a:pt x="23478" y="2307"/>
                  <a:pt x="20910" y="0"/>
                  <a:pt x="17859" y="0"/>
                </a:cubicBezTo>
                <a:cubicBezTo>
                  <a:pt x="14808" y="0"/>
                  <a:pt x="12241" y="2307"/>
                  <a:pt x="11906" y="5321"/>
                </a:cubicBezTo>
                <a:lnTo>
                  <a:pt x="6660" y="55699"/>
                </a:lnTo>
                <a:cubicBezTo>
                  <a:pt x="6176" y="57931"/>
                  <a:pt x="5953" y="60201"/>
                  <a:pt x="5953" y="62471"/>
                </a:cubicBezTo>
                <a:cubicBezTo>
                  <a:pt x="5953" y="79549"/>
                  <a:pt x="19013" y="93576"/>
                  <a:pt x="35719" y="95101"/>
                </a:cubicBezTo>
                <a:lnTo>
                  <a:pt x="35719" y="178594"/>
                </a:lnTo>
                <a:cubicBezTo>
                  <a:pt x="35719" y="185179"/>
                  <a:pt x="41039" y="190500"/>
                  <a:pt x="47625" y="190500"/>
                </a:cubicBezTo>
                <a:cubicBezTo>
                  <a:pt x="54211" y="190500"/>
                  <a:pt x="59531" y="185179"/>
                  <a:pt x="59531" y="178594"/>
                </a:cubicBezTo>
                <a:lnTo>
                  <a:pt x="59531" y="95101"/>
                </a:lnTo>
                <a:cubicBezTo>
                  <a:pt x="76237" y="93576"/>
                  <a:pt x="89297" y="79549"/>
                  <a:pt x="89297" y="62471"/>
                </a:cubicBezTo>
                <a:cubicBezTo>
                  <a:pt x="89297" y="60201"/>
                  <a:pt x="89074" y="57931"/>
                  <a:pt x="88590" y="55699"/>
                </a:cubicBezTo>
                <a:lnTo>
                  <a:pt x="83307" y="5321"/>
                </a:lnTo>
                <a:cubicBezTo>
                  <a:pt x="83009" y="2307"/>
                  <a:pt x="80442" y="0"/>
                  <a:pt x="77391" y="0"/>
                </a:cubicBezTo>
                <a:cubicBezTo>
                  <a:pt x="74340" y="0"/>
                  <a:pt x="71772" y="2307"/>
                  <a:pt x="71475" y="5358"/>
                </a:cubicBezTo>
                <a:lnTo>
                  <a:pt x="66415" y="55773"/>
                </a:lnTo>
                <a:cubicBezTo>
                  <a:pt x="66191" y="57894"/>
                  <a:pt x="64405" y="59531"/>
                  <a:pt x="62285" y="59531"/>
                </a:cubicBezTo>
                <a:cubicBezTo>
                  <a:pt x="60127" y="59531"/>
                  <a:pt x="58341" y="57894"/>
                  <a:pt x="58117" y="55736"/>
                </a:cubicBezTo>
                <a:lnTo>
                  <a:pt x="53541" y="5432"/>
                </a:lnTo>
                <a:cubicBezTo>
                  <a:pt x="53280" y="2344"/>
                  <a:pt x="50713" y="0"/>
                  <a:pt x="47625" y="0"/>
                </a:cubicBezTo>
                <a:cubicBezTo>
                  <a:pt x="44537" y="0"/>
                  <a:pt x="41970" y="2344"/>
                  <a:pt x="41709" y="5432"/>
                </a:cubicBezTo>
                <a:lnTo>
                  <a:pt x="37133" y="55736"/>
                </a:lnTo>
                <a:cubicBezTo>
                  <a:pt x="36947" y="57894"/>
                  <a:pt x="35123" y="59531"/>
                  <a:pt x="32965" y="59531"/>
                </a:cubicBezTo>
                <a:cubicBezTo>
                  <a:pt x="30807" y="59531"/>
                  <a:pt x="29021" y="57894"/>
                  <a:pt x="28835" y="55773"/>
                </a:cubicBezTo>
                <a:lnTo>
                  <a:pt x="23775" y="5358"/>
                </a:lnTo>
                <a:close/>
                <a:moveTo>
                  <a:pt x="166688" y="0"/>
                </a:moveTo>
                <a:cubicBezTo>
                  <a:pt x="160734" y="0"/>
                  <a:pt x="119063" y="11906"/>
                  <a:pt x="119063" y="65484"/>
                </a:cubicBezTo>
                <a:lnTo>
                  <a:pt x="119063" y="107156"/>
                </a:lnTo>
                <a:cubicBezTo>
                  <a:pt x="119063" y="120290"/>
                  <a:pt x="129741" y="130969"/>
                  <a:pt x="142875" y="130969"/>
                </a:cubicBezTo>
                <a:lnTo>
                  <a:pt x="154781" y="130969"/>
                </a:lnTo>
                <a:lnTo>
                  <a:pt x="154781" y="178594"/>
                </a:lnTo>
                <a:cubicBezTo>
                  <a:pt x="154781" y="185179"/>
                  <a:pt x="160102" y="190500"/>
                  <a:pt x="166688" y="190500"/>
                </a:cubicBezTo>
                <a:cubicBezTo>
                  <a:pt x="173273" y="190500"/>
                  <a:pt x="178594" y="185179"/>
                  <a:pt x="178594" y="178594"/>
                </a:cubicBezTo>
                <a:lnTo>
                  <a:pt x="178594" y="11906"/>
                </a:lnTo>
                <a:cubicBezTo>
                  <a:pt x="178594" y="5321"/>
                  <a:pt x="173273" y="0"/>
                  <a:pt x="166688" y="0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903720" y="1684027"/>
            <a:ext cx="481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Improving Food Security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03720" y="1950727"/>
            <a:ext cx="481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yields contribute to protein-rich food availability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6010" y="2419346"/>
            <a:ext cx="5627370" cy="769620"/>
          </a:xfrm>
          <a:custGeom>
            <a:avLst/>
            <a:gdLst/>
            <a:ahLst/>
            <a:cxnLst/>
            <a:rect l="l" t="t" r="r" b="b"/>
            <a:pathLst>
              <a:path w="5627370" h="769620">
                <a:moveTo>
                  <a:pt x="114296" y="0"/>
                </a:moveTo>
                <a:lnTo>
                  <a:pt x="5513074" y="0"/>
                </a:lnTo>
                <a:cubicBezTo>
                  <a:pt x="5576198" y="0"/>
                  <a:pt x="5627370" y="51172"/>
                  <a:pt x="5627370" y="114296"/>
                </a:cubicBezTo>
                <a:lnTo>
                  <a:pt x="5627370" y="655324"/>
                </a:lnTo>
                <a:cubicBezTo>
                  <a:pt x="5627370" y="718448"/>
                  <a:pt x="5576198" y="769620"/>
                  <a:pt x="5513074" y="769620"/>
                </a:cubicBezTo>
                <a:lnTo>
                  <a:pt x="114296" y="769620"/>
                </a:lnTo>
                <a:cubicBezTo>
                  <a:pt x="51172" y="769620"/>
                  <a:pt x="0" y="718448"/>
                  <a:pt x="0" y="6553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332220" y="257556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465570" y="270891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3361" y="3200"/>
                </a:moveTo>
                <a:cubicBezTo>
                  <a:pt x="98785" y="-1042"/>
                  <a:pt x="91715" y="-1042"/>
                  <a:pt x="87176" y="3200"/>
                </a:cubicBezTo>
                <a:lnTo>
                  <a:pt x="3832" y="80590"/>
                </a:lnTo>
                <a:cubicBezTo>
                  <a:pt x="260" y="83939"/>
                  <a:pt x="-930" y="89111"/>
                  <a:pt x="856" y="93650"/>
                </a:cubicBezTo>
                <a:cubicBezTo>
                  <a:pt x="2642" y="98189"/>
                  <a:pt x="6995" y="101203"/>
                  <a:pt x="11906" y="101203"/>
                </a:cubicBezTo>
                <a:lnTo>
                  <a:pt x="17859" y="101203"/>
                </a:lnTo>
                <a:lnTo>
                  <a:pt x="17859" y="166688"/>
                </a:lnTo>
                <a:cubicBezTo>
                  <a:pt x="17859" y="179822"/>
                  <a:pt x="28538" y="190500"/>
                  <a:pt x="41672" y="190500"/>
                </a:cubicBezTo>
                <a:lnTo>
                  <a:pt x="148828" y="190500"/>
                </a:lnTo>
                <a:cubicBezTo>
                  <a:pt x="161962" y="190500"/>
                  <a:pt x="172641" y="179822"/>
                  <a:pt x="172641" y="166688"/>
                </a:cubicBezTo>
                <a:lnTo>
                  <a:pt x="172641" y="101203"/>
                </a:lnTo>
                <a:lnTo>
                  <a:pt x="178594" y="101203"/>
                </a:lnTo>
                <a:cubicBezTo>
                  <a:pt x="183505" y="101203"/>
                  <a:pt x="187896" y="98189"/>
                  <a:pt x="189681" y="93650"/>
                </a:cubicBezTo>
                <a:cubicBezTo>
                  <a:pt x="191467" y="89111"/>
                  <a:pt x="190277" y="83902"/>
                  <a:pt x="186705" y="80590"/>
                </a:cubicBezTo>
                <a:lnTo>
                  <a:pt x="103361" y="3200"/>
                </a:lnTo>
                <a:close/>
                <a:moveTo>
                  <a:pt x="89297" y="119063"/>
                </a:moveTo>
                <a:lnTo>
                  <a:pt x="101203" y="119063"/>
                </a:lnTo>
                <a:cubicBezTo>
                  <a:pt x="111063" y="119063"/>
                  <a:pt x="119063" y="127062"/>
                  <a:pt x="119063" y="136922"/>
                </a:cubicBezTo>
                <a:lnTo>
                  <a:pt x="119063" y="172641"/>
                </a:lnTo>
                <a:lnTo>
                  <a:pt x="71438" y="172641"/>
                </a:lnTo>
                <a:lnTo>
                  <a:pt x="71438" y="136922"/>
                </a:lnTo>
                <a:cubicBezTo>
                  <a:pt x="71438" y="127062"/>
                  <a:pt x="79437" y="119063"/>
                  <a:pt x="89297" y="119063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903720" y="2575564"/>
            <a:ext cx="481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Reducing Migration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03720" y="2842264"/>
            <a:ext cx="481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Profitable local livelihoods keep families in rural areas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76010" y="3310901"/>
            <a:ext cx="5627370" cy="769620"/>
          </a:xfrm>
          <a:custGeom>
            <a:avLst/>
            <a:gdLst/>
            <a:ahLst/>
            <a:cxnLst/>
            <a:rect l="l" t="t" r="r" b="b"/>
            <a:pathLst>
              <a:path w="5627370" h="769620">
                <a:moveTo>
                  <a:pt x="114296" y="0"/>
                </a:moveTo>
                <a:lnTo>
                  <a:pt x="5513074" y="0"/>
                </a:lnTo>
                <a:cubicBezTo>
                  <a:pt x="5576198" y="0"/>
                  <a:pt x="5627370" y="51172"/>
                  <a:pt x="5627370" y="114296"/>
                </a:cubicBezTo>
                <a:lnTo>
                  <a:pt x="5627370" y="655324"/>
                </a:lnTo>
                <a:cubicBezTo>
                  <a:pt x="5627370" y="718448"/>
                  <a:pt x="5576198" y="769620"/>
                  <a:pt x="5513074" y="769620"/>
                </a:cubicBezTo>
                <a:lnTo>
                  <a:pt x="114296" y="769620"/>
                </a:lnTo>
                <a:cubicBezTo>
                  <a:pt x="51172" y="769620"/>
                  <a:pt x="0" y="718448"/>
                  <a:pt x="0" y="6553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332220" y="3467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453664" y="36004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F5F1E8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903720" y="3467100"/>
            <a:ext cx="481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Transfer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03720" y="3733800"/>
            <a:ext cx="481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Democratizing best practices from top 10% farms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4810" y="4240537"/>
            <a:ext cx="11418570" cy="1303020"/>
          </a:xfrm>
          <a:custGeom>
            <a:avLst/>
            <a:gdLst/>
            <a:ahLst/>
            <a:cxnLst/>
            <a:rect l="l" t="t" r="r" b="b"/>
            <a:pathLst>
              <a:path w="11418570" h="1303020">
                <a:moveTo>
                  <a:pt x="114301" y="0"/>
                </a:moveTo>
                <a:lnTo>
                  <a:pt x="11304269" y="0"/>
                </a:lnTo>
                <a:cubicBezTo>
                  <a:pt x="11367396" y="0"/>
                  <a:pt x="11418570" y="51174"/>
                  <a:pt x="11418570" y="114301"/>
                </a:cubicBezTo>
                <a:lnTo>
                  <a:pt x="11418570" y="1188719"/>
                </a:lnTo>
                <a:cubicBezTo>
                  <a:pt x="11418570" y="1251846"/>
                  <a:pt x="11367396" y="1303020"/>
                  <a:pt x="11304269" y="1303020"/>
                </a:cubicBezTo>
                <a:lnTo>
                  <a:pt x="114301" y="1303020"/>
                </a:lnTo>
                <a:cubicBezTo>
                  <a:pt x="51174" y="1303020"/>
                  <a:pt x="0" y="1251846"/>
                  <a:pt x="0" y="118871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6B8E6E">
              <a:alpha val="10196"/>
            </a:srgbClr>
          </a:solidFill>
          <a:ln w="10160">
            <a:solidFill>
              <a:srgbClr val="6B8E6E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41020" y="4396736"/>
            <a:ext cx="11172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SUSTAINABLE DEVELOPMENT GOALS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377672" y="470153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551742" y="4834886"/>
            <a:ext cx="104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2E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12445" y="5234936"/>
            <a:ext cx="2190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Poverty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622477" y="470153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783687" y="4834886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2E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757249" y="5234936"/>
            <a:ext cx="2190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Hunger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867281" y="470153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025277" y="4834886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002054" y="5234936"/>
            <a:ext cx="2190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Decent Work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112204" y="470153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270557" y="4834886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2E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246977" y="5234936"/>
            <a:ext cx="2190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&amp; Innovation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0357009" y="470153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10497145" y="4834886"/>
            <a:ext cx="180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2E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491782" y="5234936"/>
            <a:ext cx="2190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Responsible Consumption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as1.ftcdn.net/3a0e3dc8ad0de27082bd87fb21145946ecb678cc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7834" b="783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2E26">
                  <a:alpha val="95000"/>
                </a:srgbClr>
              </a:gs>
              <a:gs pos="50000">
                <a:srgbClr val="1A2E26">
                  <a:alpha val="90000"/>
                </a:srgbClr>
              </a:gs>
              <a:gs pos="100000">
                <a:srgbClr val="1A2E26">
                  <a:alpha val="80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VISION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India's Mushroom Operating System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2030: 80% of India's Commercial Mushroom Production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4810" y="1527810"/>
            <a:ext cx="5627370" cy="960120"/>
          </a:xfrm>
          <a:custGeom>
            <a:avLst/>
            <a:gdLst/>
            <a:ahLst/>
            <a:cxnLst/>
            <a:rect l="l" t="t" r="r" b="b"/>
            <a:pathLst>
              <a:path w="5627370" h="960120">
                <a:moveTo>
                  <a:pt x="114302" y="0"/>
                </a:moveTo>
                <a:lnTo>
                  <a:pt x="5513068" y="0"/>
                </a:lnTo>
                <a:cubicBezTo>
                  <a:pt x="5576153" y="0"/>
                  <a:pt x="5627370" y="51217"/>
                  <a:pt x="5627370" y="114302"/>
                </a:cubicBezTo>
                <a:lnTo>
                  <a:pt x="5627370" y="845818"/>
                </a:lnTo>
                <a:cubicBezTo>
                  <a:pt x="5627370" y="908903"/>
                  <a:pt x="5576153" y="960120"/>
                  <a:pt x="5513068" y="960120"/>
                </a:cubicBezTo>
                <a:lnTo>
                  <a:pt x="114302" y="960120"/>
                </a:lnTo>
                <a:cubicBezTo>
                  <a:pt x="51217" y="960120"/>
                  <a:pt x="0" y="908903"/>
                  <a:pt x="0" y="84581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B8E6E">
              <a:alpha val="20000"/>
            </a:srgbClr>
          </a:solidFill>
          <a:ln w="10160">
            <a:solidFill>
              <a:srgbClr val="6B8E6E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41020" y="168402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64845" y="179832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1824" y="-3870"/>
                </a:moveTo>
                <a:cubicBezTo>
                  <a:pt x="68431" y="-4554"/>
                  <a:pt x="64949" y="-4554"/>
                  <a:pt x="61555" y="-3870"/>
                </a:cubicBezTo>
                <a:lnTo>
                  <a:pt x="5745" y="7293"/>
                </a:lnTo>
                <a:cubicBezTo>
                  <a:pt x="2411" y="7947"/>
                  <a:pt x="0" y="10894"/>
                  <a:pt x="0" y="14288"/>
                </a:cubicBezTo>
                <a:cubicBezTo>
                  <a:pt x="0" y="17353"/>
                  <a:pt x="1935" y="20032"/>
                  <a:pt x="4763" y="21015"/>
                </a:cubicBezTo>
                <a:lnTo>
                  <a:pt x="4763" y="42863"/>
                </a:lnTo>
                <a:lnTo>
                  <a:pt x="89" y="66258"/>
                </a:lnTo>
                <a:cubicBezTo>
                  <a:pt x="30" y="66526"/>
                  <a:pt x="0" y="66824"/>
                  <a:pt x="0" y="67121"/>
                </a:cubicBezTo>
                <a:cubicBezTo>
                  <a:pt x="0" y="69503"/>
                  <a:pt x="1935" y="71467"/>
                  <a:pt x="4346" y="71467"/>
                </a:cubicBezTo>
                <a:lnTo>
                  <a:pt x="14734" y="71467"/>
                </a:lnTo>
                <a:cubicBezTo>
                  <a:pt x="17115" y="71467"/>
                  <a:pt x="19080" y="69533"/>
                  <a:pt x="19080" y="67121"/>
                </a:cubicBezTo>
                <a:cubicBezTo>
                  <a:pt x="19080" y="66824"/>
                  <a:pt x="19050" y="66556"/>
                  <a:pt x="18990" y="66258"/>
                </a:cubicBezTo>
                <a:lnTo>
                  <a:pt x="14288" y="42863"/>
                </a:lnTo>
                <a:lnTo>
                  <a:pt x="14288" y="23009"/>
                </a:lnTo>
                <a:lnTo>
                  <a:pt x="28575" y="25866"/>
                </a:lnTo>
                <a:lnTo>
                  <a:pt x="28575" y="42863"/>
                </a:lnTo>
                <a:cubicBezTo>
                  <a:pt x="28575" y="63907"/>
                  <a:pt x="45631" y="80962"/>
                  <a:pt x="66675" y="80962"/>
                </a:cubicBezTo>
                <a:cubicBezTo>
                  <a:pt x="87719" y="80962"/>
                  <a:pt x="104775" y="63907"/>
                  <a:pt x="104775" y="42863"/>
                </a:cubicBezTo>
                <a:lnTo>
                  <a:pt x="104775" y="25866"/>
                </a:lnTo>
                <a:lnTo>
                  <a:pt x="127605" y="21312"/>
                </a:lnTo>
                <a:cubicBezTo>
                  <a:pt x="130939" y="20628"/>
                  <a:pt x="133350" y="17681"/>
                  <a:pt x="133350" y="14288"/>
                </a:cubicBezTo>
                <a:cubicBezTo>
                  <a:pt x="133350" y="10894"/>
                  <a:pt x="130939" y="7947"/>
                  <a:pt x="127605" y="7293"/>
                </a:cubicBezTo>
                <a:lnTo>
                  <a:pt x="71824" y="-3870"/>
                </a:lnTo>
                <a:close/>
                <a:moveTo>
                  <a:pt x="66675" y="66675"/>
                </a:moveTo>
                <a:cubicBezTo>
                  <a:pt x="53519" y="66675"/>
                  <a:pt x="42863" y="56019"/>
                  <a:pt x="42863" y="42863"/>
                </a:cubicBezTo>
                <a:lnTo>
                  <a:pt x="90488" y="42863"/>
                </a:lnTo>
                <a:cubicBezTo>
                  <a:pt x="90488" y="56019"/>
                  <a:pt x="79831" y="66675"/>
                  <a:pt x="66675" y="66675"/>
                </a:cubicBezTo>
                <a:close/>
                <a:moveTo>
                  <a:pt x="35749" y="95280"/>
                </a:moveTo>
                <a:cubicBezTo>
                  <a:pt x="17472" y="103674"/>
                  <a:pt x="4763" y="122128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59531" y="152400"/>
                </a:lnTo>
                <a:lnTo>
                  <a:pt x="59531" y="108942"/>
                </a:lnTo>
                <a:lnTo>
                  <a:pt x="42446" y="96143"/>
                </a:lnTo>
                <a:cubicBezTo>
                  <a:pt x="40511" y="94684"/>
                  <a:pt x="37921" y="94298"/>
                  <a:pt x="35719" y="95310"/>
                </a:cubicBezTo>
                <a:close/>
                <a:moveTo>
                  <a:pt x="73819" y="152400"/>
                </a:move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22128"/>
                  <a:pt x="115878" y="103674"/>
                  <a:pt x="97601" y="95310"/>
                </a:cubicBezTo>
                <a:cubicBezTo>
                  <a:pt x="95399" y="94298"/>
                  <a:pt x="92809" y="94684"/>
                  <a:pt x="90874" y="96143"/>
                </a:cubicBezTo>
                <a:lnTo>
                  <a:pt x="73789" y="108942"/>
                </a:lnTo>
                <a:lnTo>
                  <a:pt x="73789" y="152400"/>
                </a:lnTo>
                <a:close/>
              </a:path>
            </a:pathLst>
          </a:custGeom>
          <a:solidFill>
            <a:srgbClr val="F5F1E8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036320" y="1684027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 Entrepreneurs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36320" y="1950727"/>
            <a:ext cx="4886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with platform guidance, feasibility calculators, and verified consultant directory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4810" y="2609846"/>
            <a:ext cx="5627370" cy="960120"/>
          </a:xfrm>
          <a:custGeom>
            <a:avLst/>
            <a:gdLst/>
            <a:ahLst/>
            <a:cxnLst/>
            <a:rect l="l" t="t" r="r" b="b"/>
            <a:pathLst>
              <a:path w="5627370" h="960120">
                <a:moveTo>
                  <a:pt x="114302" y="0"/>
                </a:moveTo>
                <a:lnTo>
                  <a:pt x="5513068" y="0"/>
                </a:lnTo>
                <a:cubicBezTo>
                  <a:pt x="5576153" y="0"/>
                  <a:pt x="5627370" y="51217"/>
                  <a:pt x="5627370" y="114302"/>
                </a:cubicBezTo>
                <a:lnTo>
                  <a:pt x="5627370" y="845818"/>
                </a:lnTo>
                <a:cubicBezTo>
                  <a:pt x="5627370" y="908903"/>
                  <a:pt x="5576153" y="960120"/>
                  <a:pt x="5513068" y="960120"/>
                </a:cubicBezTo>
                <a:lnTo>
                  <a:pt x="114302" y="960120"/>
                </a:lnTo>
                <a:cubicBezTo>
                  <a:pt x="51217" y="960120"/>
                  <a:pt x="0" y="908903"/>
                  <a:pt x="0" y="84581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B8E6E">
              <a:alpha val="20000"/>
            </a:srgbClr>
          </a:solidFill>
          <a:ln w="10160">
            <a:solidFill>
              <a:srgbClr val="6B8E6E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541020" y="276606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55320" y="288036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036320" y="2766064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Running Farms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36320" y="3032764"/>
            <a:ext cx="4886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 with AI recommendations, benchmark against leaders, automate operations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84810" y="3691901"/>
            <a:ext cx="5627370" cy="769620"/>
          </a:xfrm>
          <a:custGeom>
            <a:avLst/>
            <a:gdLst/>
            <a:ahLst/>
            <a:cxnLst/>
            <a:rect l="l" t="t" r="r" b="b"/>
            <a:pathLst>
              <a:path w="5627370" h="769620">
                <a:moveTo>
                  <a:pt x="114296" y="0"/>
                </a:moveTo>
                <a:lnTo>
                  <a:pt x="5513074" y="0"/>
                </a:lnTo>
                <a:cubicBezTo>
                  <a:pt x="5576198" y="0"/>
                  <a:pt x="5627370" y="51172"/>
                  <a:pt x="5627370" y="114296"/>
                </a:cubicBezTo>
                <a:lnTo>
                  <a:pt x="5627370" y="655324"/>
                </a:lnTo>
                <a:cubicBezTo>
                  <a:pt x="5627370" y="718448"/>
                  <a:pt x="5576198" y="769620"/>
                  <a:pt x="5513074" y="769620"/>
                </a:cubicBezTo>
                <a:lnTo>
                  <a:pt x="114296" y="769620"/>
                </a:lnTo>
                <a:cubicBezTo>
                  <a:pt x="51172" y="769620"/>
                  <a:pt x="0" y="718448"/>
                  <a:pt x="0" y="6553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6B8E6E">
              <a:alpha val="20000"/>
            </a:srgbClr>
          </a:solidFill>
          <a:ln w="10160">
            <a:solidFill>
              <a:srgbClr val="6B8E6E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541020" y="3848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655320" y="3962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138" y="21521"/>
                </a:moveTo>
                <a:cubicBezTo>
                  <a:pt x="11192" y="14407"/>
                  <a:pt x="17711" y="9525"/>
                  <a:pt x="25122" y="9525"/>
                </a:cubicBezTo>
                <a:lnTo>
                  <a:pt x="127516" y="9525"/>
                </a:lnTo>
                <a:cubicBezTo>
                  <a:pt x="134928" y="9525"/>
                  <a:pt x="141446" y="14407"/>
                  <a:pt x="143530" y="21521"/>
                </a:cubicBezTo>
                <a:lnTo>
                  <a:pt x="150495" y="45393"/>
                </a:lnTo>
                <a:cubicBezTo>
                  <a:pt x="154305" y="58400"/>
                  <a:pt x="144512" y="71438"/>
                  <a:pt x="130969" y="71438"/>
                </a:cubicBezTo>
                <a:cubicBezTo>
                  <a:pt x="123140" y="71438"/>
                  <a:pt x="116265" y="67002"/>
                  <a:pt x="112871" y="60394"/>
                </a:cubicBezTo>
                <a:cubicBezTo>
                  <a:pt x="109418" y="66913"/>
                  <a:pt x="102572" y="71438"/>
                  <a:pt x="94595" y="71438"/>
                </a:cubicBezTo>
                <a:cubicBezTo>
                  <a:pt x="86678" y="71438"/>
                  <a:pt x="79802" y="66973"/>
                  <a:pt x="76349" y="60424"/>
                </a:cubicBezTo>
                <a:cubicBezTo>
                  <a:pt x="72896" y="66973"/>
                  <a:pt x="66020" y="71438"/>
                  <a:pt x="58103" y="71438"/>
                </a:cubicBezTo>
                <a:cubicBezTo>
                  <a:pt x="50125" y="71438"/>
                  <a:pt x="43279" y="66943"/>
                  <a:pt x="39826" y="60394"/>
                </a:cubicBezTo>
                <a:cubicBezTo>
                  <a:pt x="36433" y="66973"/>
                  <a:pt x="29557" y="71438"/>
                  <a:pt x="21729" y="71438"/>
                </a:cubicBezTo>
                <a:cubicBezTo>
                  <a:pt x="8156" y="71438"/>
                  <a:pt x="-1607" y="58430"/>
                  <a:pt x="2203" y="45393"/>
                </a:cubicBezTo>
                <a:lnTo>
                  <a:pt x="9138" y="21521"/>
                </a:lnTo>
                <a:close/>
                <a:moveTo>
                  <a:pt x="28694" y="104775"/>
                </a:moveTo>
                <a:lnTo>
                  <a:pt x="123944" y="104775"/>
                </a:lnTo>
                <a:lnTo>
                  <a:pt x="123944" y="85011"/>
                </a:lnTo>
                <a:cubicBezTo>
                  <a:pt x="126206" y="85487"/>
                  <a:pt x="128558" y="85725"/>
                  <a:pt x="130939" y="85725"/>
                </a:cubicBezTo>
                <a:cubicBezTo>
                  <a:pt x="135195" y="85725"/>
                  <a:pt x="139273" y="84951"/>
                  <a:pt x="142994" y="83582"/>
                </a:cubicBezTo>
                <a:lnTo>
                  <a:pt x="142994" y="128588"/>
                </a:lnTo>
                <a:cubicBezTo>
                  <a:pt x="142994" y="136475"/>
                  <a:pt x="136594" y="142875"/>
                  <a:pt x="128707" y="142875"/>
                </a:cubicBezTo>
                <a:lnTo>
                  <a:pt x="23932" y="142875"/>
                </a:lnTo>
                <a:cubicBezTo>
                  <a:pt x="16044" y="142875"/>
                  <a:pt x="9644" y="136475"/>
                  <a:pt x="9644" y="128588"/>
                </a:cubicBezTo>
                <a:lnTo>
                  <a:pt x="9644" y="83582"/>
                </a:lnTo>
                <a:cubicBezTo>
                  <a:pt x="13365" y="84951"/>
                  <a:pt x="17413" y="85725"/>
                  <a:pt x="21699" y="85725"/>
                </a:cubicBezTo>
                <a:cubicBezTo>
                  <a:pt x="24110" y="85725"/>
                  <a:pt x="26432" y="85487"/>
                  <a:pt x="28694" y="85011"/>
                </a:cubicBezTo>
                <a:lnTo>
                  <a:pt x="28694" y="104775"/>
                </a:ln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036320" y="3848100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Suppliers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36320" y="4114800"/>
            <a:ext cx="488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Sell through verified marketplace, access 1000+ farms, reduce sales costs by 60%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176010" y="1527810"/>
            <a:ext cx="5627370" cy="769620"/>
          </a:xfrm>
          <a:custGeom>
            <a:avLst/>
            <a:gdLst/>
            <a:ahLst/>
            <a:cxnLst/>
            <a:rect l="l" t="t" r="r" b="b"/>
            <a:pathLst>
              <a:path w="5627370" h="769620">
                <a:moveTo>
                  <a:pt x="114296" y="0"/>
                </a:moveTo>
                <a:lnTo>
                  <a:pt x="5513074" y="0"/>
                </a:lnTo>
                <a:cubicBezTo>
                  <a:pt x="5576198" y="0"/>
                  <a:pt x="5627370" y="51172"/>
                  <a:pt x="5627370" y="114296"/>
                </a:cubicBezTo>
                <a:lnTo>
                  <a:pt x="5627370" y="655324"/>
                </a:lnTo>
                <a:cubicBezTo>
                  <a:pt x="5627370" y="718448"/>
                  <a:pt x="5576198" y="769620"/>
                  <a:pt x="5513074" y="769620"/>
                </a:cubicBezTo>
                <a:lnTo>
                  <a:pt x="114296" y="769620"/>
                </a:lnTo>
                <a:cubicBezTo>
                  <a:pt x="51172" y="769620"/>
                  <a:pt x="0" y="718448"/>
                  <a:pt x="0" y="6553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6B8E6E">
              <a:alpha val="20000"/>
            </a:srgbClr>
          </a:solidFill>
          <a:ln w="10160">
            <a:solidFill>
              <a:srgbClr val="6B8E6E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6332220" y="168402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6456045" y="179832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46961" y="73819"/>
                  <a:pt x="30956" y="57814"/>
                  <a:pt x="30956" y="38100"/>
                </a:cubicBezTo>
                <a:cubicBezTo>
                  <a:pt x="30956" y="18386"/>
                  <a:pt x="46961" y="2381"/>
                  <a:pt x="66675" y="2381"/>
                </a:cubicBezTo>
                <a:cubicBezTo>
                  <a:pt x="86389" y="2381"/>
                  <a:pt x="102394" y="18386"/>
                  <a:pt x="102394" y="38100"/>
                </a:cubicBezTo>
                <a:cubicBezTo>
                  <a:pt x="102394" y="57814"/>
                  <a:pt x="86389" y="73819"/>
                  <a:pt x="66675" y="73819"/>
                </a:cubicBezTo>
                <a:close/>
                <a:moveTo>
                  <a:pt x="57596" y="90488"/>
                </a:moveTo>
                <a:lnTo>
                  <a:pt x="75754" y="90488"/>
                </a:lnTo>
                <a:cubicBezTo>
                  <a:pt x="78641" y="90488"/>
                  <a:pt x="80962" y="92809"/>
                  <a:pt x="80962" y="95696"/>
                </a:cubicBezTo>
                <a:cubicBezTo>
                  <a:pt x="80962" y="96947"/>
                  <a:pt x="80516" y="98137"/>
                  <a:pt x="79712" y="99090"/>
                </a:cubicBezTo>
                <a:lnTo>
                  <a:pt x="71557" y="108615"/>
                </a:lnTo>
                <a:lnTo>
                  <a:pt x="80784" y="142875"/>
                </a:lnTo>
                <a:lnTo>
                  <a:pt x="80962" y="142875"/>
                </a:lnTo>
                <a:lnTo>
                  <a:pt x="91261" y="101650"/>
                </a:lnTo>
                <a:cubicBezTo>
                  <a:pt x="91916" y="99060"/>
                  <a:pt x="94565" y="97482"/>
                  <a:pt x="97066" y="98435"/>
                </a:cubicBezTo>
                <a:cubicBezTo>
                  <a:pt x="115491" y="105460"/>
                  <a:pt x="128588" y="123319"/>
                  <a:pt x="128588" y="144214"/>
                </a:cubicBezTo>
                <a:cubicBezTo>
                  <a:pt x="128588" y="148709"/>
                  <a:pt x="124926" y="152370"/>
                  <a:pt x="120432" y="152370"/>
                </a:cubicBezTo>
                <a:lnTo>
                  <a:pt x="12918" y="152400"/>
                </a:lnTo>
                <a:cubicBezTo>
                  <a:pt x="8424" y="152400"/>
                  <a:pt x="4763" y="148739"/>
                  <a:pt x="4763" y="144244"/>
                </a:cubicBezTo>
                <a:cubicBezTo>
                  <a:pt x="4763" y="123349"/>
                  <a:pt x="17859" y="105489"/>
                  <a:pt x="36284" y="98465"/>
                </a:cubicBezTo>
                <a:cubicBezTo>
                  <a:pt x="38785" y="97512"/>
                  <a:pt x="41434" y="99090"/>
                  <a:pt x="42089" y="101679"/>
                </a:cubicBezTo>
                <a:lnTo>
                  <a:pt x="52388" y="142905"/>
                </a:lnTo>
                <a:lnTo>
                  <a:pt x="52566" y="142905"/>
                </a:lnTo>
                <a:lnTo>
                  <a:pt x="61793" y="108645"/>
                </a:lnTo>
                <a:lnTo>
                  <a:pt x="53638" y="99120"/>
                </a:lnTo>
                <a:cubicBezTo>
                  <a:pt x="52834" y="98167"/>
                  <a:pt x="52388" y="96976"/>
                  <a:pt x="52388" y="95726"/>
                </a:cubicBezTo>
                <a:cubicBezTo>
                  <a:pt x="52388" y="92839"/>
                  <a:pt x="54709" y="90517"/>
                  <a:pt x="57596" y="90517"/>
                </a:cubicBezTo>
                <a:close/>
              </a:path>
            </a:pathLst>
          </a:custGeom>
          <a:solidFill>
            <a:srgbClr val="F5F1E8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6827520" y="1684027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Consultants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827520" y="1950727"/>
            <a:ext cx="488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careers on platform, serve 10 farms/day remotely, 100% payment guarantee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176010" y="2419346"/>
            <a:ext cx="5627370" cy="769620"/>
          </a:xfrm>
          <a:custGeom>
            <a:avLst/>
            <a:gdLst/>
            <a:ahLst/>
            <a:cxnLst/>
            <a:rect l="l" t="t" r="r" b="b"/>
            <a:pathLst>
              <a:path w="5627370" h="769620">
                <a:moveTo>
                  <a:pt x="114296" y="0"/>
                </a:moveTo>
                <a:lnTo>
                  <a:pt x="5513074" y="0"/>
                </a:lnTo>
                <a:cubicBezTo>
                  <a:pt x="5576198" y="0"/>
                  <a:pt x="5627370" y="51172"/>
                  <a:pt x="5627370" y="114296"/>
                </a:cubicBezTo>
                <a:lnTo>
                  <a:pt x="5627370" y="655324"/>
                </a:lnTo>
                <a:cubicBezTo>
                  <a:pt x="5627370" y="718448"/>
                  <a:pt x="5576198" y="769620"/>
                  <a:pt x="5513074" y="769620"/>
                </a:cubicBezTo>
                <a:lnTo>
                  <a:pt x="114296" y="769620"/>
                </a:lnTo>
                <a:cubicBezTo>
                  <a:pt x="51172" y="769620"/>
                  <a:pt x="0" y="718448"/>
                  <a:pt x="0" y="6553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6B8E6E">
              <a:alpha val="20000"/>
            </a:srgbClr>
          </a:solidFill>
          <a:ln w="10160">
            <a:solidFill>
              <a:srgbClr val="6B8E6E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6332220" y="257556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6446520" y="268986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80933" y="6013"/>
                </a:moveTo>
                <a:cubicBezTo>
                  <a:pt x="78016" y="4346"/>
                  <a:pt x="74414" y="4346"/>
                  <a:pt x="71467" y="6013"/>
                </a:cubicBezTo>
                <a:lnTo>
                  <a:pt x="4792" y="44113"/>
                </a:lnTo>
                <a:cubicBezTo>
                  <a:pt x="1042" y="46256"/>
                  <a:pt x="-804" y="50661"/>
                  <a:pt x="298" y="54828"/>
                </a:cubicBezTo>
                <a:cubicBezTo>
                  <a:pt x="1399" y="58995"/>
                  <a:pt x="5209" y="61912"/>
                  <a:pt x="9525" y="61912"/>
                </a:cubicBezTo>
                <a:lnTo>
                  <a:pt x="19050" y="61912"/>
                </a:lnTo>
                <a:lnTo>
                  <a:pt x="19050" y="123825"/>
                </a:lnTo>
                <a:lnTo>
                  <a:pt x="19050" y="123825"/>
                </a:lnTo>
                <a:lnTo>
                  <a:pt x="3810" y="135255"/>
                </a:lnTo>
                <a:cubicBezTo>
                  <a:pt x="1399" y="137041"/>
                  <a:pt x="0" y="139869"/>
                  <a:pt x="0" y="142875"/>
                </a:cubicBezTo>
                <a:cubicBezTo>
                  <a:pt x="0" y="148144"/>
                  <a:pt x="4256" y="152400"/>
                  <a:pt x="9525" y="152400"/>
                </a:cubicBezTo>
                <a:lnTo>
                  <a:pt x="142875" y="152400"/>
                </a:lnTo>
                <a:cubicBezTo>
                  <a:pt x="148144" y="152400"/>
                  <a:pt x="152400" y="148144"/>
                  <a:pt x="152400" y="142875"/>
                </a:cubicBezTo>
                <a:cubicBezTo>
                  <a:pt x="152400" y="139869"/>
                  <a:pt x="151001" y="137041"/>
                  <a:pt x="148590" y="135255"/>
                </a:cubicBezTo>
                <a:lnTo>
                  <a:pt x="133350" y="123825"/>
                </a:lnTo>
                <a:lnTo>
                  <a:pt x="133350" y="61912"/>
                </a:lnTo>
                <a:lnTo>
                  <a:pt x="142875" y="61912"/>
                </a:lnTo>
                <a:cubicBezTo>
                  <a:pt x="147191" y="61912"/>
                  <a:pt x="150971" y="58995"/>
                  <a:pt x="152073" y="54828"/>
                </a:cubicBezTo>
                <a:cubicBezTo>
                  <a:pt x="153174" y="50661"/>
                  <a:pt x="151328" y="46256"/>
                  <a:pt x="147578" y="44113"/>
                </a:cubicBezTo>
                <a:lnTo>
                  <a:pt x="80903" y="6013"/>
                </a:lnTo>
                <a:close/>
                <a:moveTo>
                  <a:pt x="119062" y="61912"/>
                </a:moveTo>
                <a:lnTo>
                  <a:pt x="119062" y="123825"/>
                </a:lnTo>
                <a:lnTo>
                  <a:pt x="100013" y="123825"/>
                </a:lnTo>
                <a:lnTo>
                  <a:pt x="100013" y="61912"/>
                </a:lnTo>
                <a:lnTo>
                  <a:pt x="119062" y="61912"/>
                </a:lnTo>
                <a:close/>
                <a:moveTo>
                  <a:pt x="85725" y="61912"/>
                </a:moveTo>
                <a:lnTo>
                  <a:pt x="85725" y="123825"/>
                </a:lnTo>
                <a:lnTo>
                  <a:pt x="66675" y="123825"/>
                </a:lnTo>
                <a:lnTo>
                  <a:pt x="66675" y="61912"/>
                </a:lnTo>
                <a:lnTo>
                  <a:pt x="85725" y="61912"/>
                </a:lnTo>
                <a:close/>
                <a:moveTo>
                  <a:pt x="52388" y="61912"/>
                </a:moveTo>
                <a:lnTo>
                  <a:pt x="52388" y="123825"/>
                </a:lnTo>
                <a:lnTo>
                  <a:pt x="33338" y="123825"/>
                </a:lnTo>
                <a:lnTo>
                  <a:pt x="33338" y="61912"/>
                </a:lnTo>
                <a:lnTo>
                  <a:pt x="52388" y="61912"/>
                </a:lnTo>
                <a:close/>
                <a:moveTo>
                  <a:pt x="76200" y="28575"/>
                </a:moveTo>
                <a:cubicBezTo>
                  <a:pt x="81457" y="28575"/>
                  <a:pt x="85725" y="32843"/>
                  <a:pt x="85725" y="38100"/>
                </a:cubicBezTo>
                <a:cubicBezTo>
                  <a:pt x="85725" y="43357"/>
                  <a:pt x="81457" y="47625"/>
                  <a:pt x="76200" y="47625"/>
                </a:cubicBezTo>
                <a:cubicBezTo>
                  <a:pt x="70943" y="47625"/>
                  <a:pt x="66675" y="43357"/>
                  <a:pt x="66675" y="38100"/>
                </a:cubicBezTo>
                <a:cubicBezTo>
                  <a:pt x="66675" y="32843"/>
                  <a:pt x="70943" y="28575"/>
                  <a:pt x="76200" y="28575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6827520" y="2575564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Banks &amp; Lenders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827520" y="2842264"/>
            <a:ext cx="488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Lend based on platform data, cash-flow visibility reduces risk, enables formal credit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176010" y="3310901"/>
            <a:ext cx="5627370" cy="769620"/>
          </a:xfrm>
          <a:custGeom>
            <a:avLst/>
            <a:gdLst/>
            <a:ahLst/>
            <a:cxnLst/>
            <a:rect l="l" t="t" r="r" b="b"/>
            <a:pathLst>
              <a:path w="5627370" h="769620">
                <a:moveTo>
                  <a:pt x="114296" y="0"/>
                </a:moveTo>
                <a:lnTo>
                  <a:pt x="5513074" y="0"/>
                </a:lnTo>
                <a:cubicBezTo>
                  <a:pt x="5576198" y="0"/>
                  <a:pt x="5627370" y="51172"/>
                  <a:pt x="5627370" y="114296"/>
                </a:cubicBezTo>
                <a:lnTo>
                  <a:pt x="5627370" y="655324"/>
                </a:lnTo>
                <a:cubicBezTo>
                  <a:pt x="5627370" y="718448"/>
                  <a:pt x="5576198" y="769620"/>
                  <a:pt x="5513074" y="769620"/>
                </a:cubicBezTo>
                <a:lnTo>
                  <a:pt x="114296" y="769620"/>
                </a:lnTo>
                <a:cubicBezTo>
                  <a:pt x="51172" y="769620"/>
                  <a:pt x="0" y="718448"/>
                  <a:pt x="0" y="6553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6B8E6E">
              <a:alpha val="20000"/>
            </a:srgbClr>
          </a:solidFill>
          <a:ln w="10160">
            <a:solidFill>
              <a:srgbClr val="6B8E6E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6332220" y="3467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6436995" y="35814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1199" y="-2381"/>
                </a:moveTo>
                <a:cubicBezTo>
                  <a:pt x="69384" y="-4227"/>
                  <a:pt x="66735" y="-4971"/>
                  <a:pt x="64234" y="-4286"/>
                </a:cubicBezTo>
                <a:cubicBezTo>
                  <a:pt x="61734" y="-3602"/>
                  <a:pt x="59799" y="-1667"/>
                  <a:pt x="59174" y="833"/>
                </a:cubicBezTo>
                <a:lnTo>
                  <a:pt x="54620" y="18752"/>
                </a:lnTo>
                <a:cubicBezTo>
                  <a:pt x="54293" y="20062"/>
                  <a:pt x="52953" y="20836"/>
                  <a:pt x="51673" y="20449"/>
                </a:cubicBezTo>
                <a:lnTo>
                  <a:pt x="33873" y="15448"/>
                </a:lnTo>
                <a:cubicBezTo>
                  <a:pt x="31373" y="14734"/>
                  <a:pt x="28694" y="15448"/>
                  <a:pt x="26878" y="17264"/>
                </a:cubicBezTo>
                <a:cubicBezTo>
                  <a:pt x="25063" y="19080"/>
                  <a:pt x="24348" y="21759"/>
                  <a:pt x="25063" y="24259"/>
                </a:cubicBezTo>
                <a:lnTo>
                  <a:pt x="30093" y="42059"/>
                </a:lnTo>
                <a:cubicBezTo>
                  <a:pt x="30450" y="43339"/>
                  <a:pt x="29676" y="44678"/>
                  <a:pt x="28396" y="45006"/>
                </a:cubicBezTo>
                <a:lnTo>
                  <a:pt x="10448" y="49560"/>
                </a:lnTo>
                <a:cubicBezTo>
                  <a:pt x="7947" y="50185"/>
                  <a:pt x="5983" y="52149"/>
                  <a:pt x="5298" y="54650"/>
                </a:cubicBezTo>
                <a:cubicBezTo>
                  <a:pt x="4614" y="57150"/>
                  <a:pt x="5358" y="59799"/>
                  <a:pt x="7203" y="61615"/>
                </a:cubicBezTo>
                <a:lnTo>
                  <a:pt x="20449" y="74503"/>
                </a:lnTo>
                <a:cubicBezTo>
                  <a:pt x="21401" y="75426"/>
                  <a:pt x="21401" y="76974"/>
                  <a:pt x="20449" y="77926"/>
                </a:cubicBezTo>
                <a:lnTo>
                  <a:pt x="7233" y="90815"/>
                </a:lnTo>
                <a:cubicBezTo>
                  <a:pt x="5388" y="92631"/>
                  <a:pt x="4643" y="95280"/>
                  <a:pt x="5328" y="97780"/>
                </a:cubicBezTo>
                <a:cubicBezTo>
                  <a:pt x="6013" y="100280"/>
                  <a:pt x="7977" y="102215"/>
                  <a:pt x="10478" y="102870"/>
                </a:cubicBezTo>
                <a:lnTo>
                  <a:pt x="28396" y="107424"/>
                </a:lnTo>
                <a:cubicBezTo>
                  <a:pt x="29706" y="107752"/>
                  <a:pt x="30480" y="109091"/>
                  <a:pt x="30093" y="110371"/>
                </a:cubicBezTo>
                <a:lnTo>
                  <a:pt x="25063" y="128141"/>
                </a:lnTo>
                <a:cubicBezTo>
                  <a:pt x="24348" y="130641"/>
                  <a:pt x="25063" y="133320"/>
                  <a:pt x="26878" y="135136"/>
                </a:cubicBezTo>
                <a:cubicBezTo>
                  <a:pt x="28694" y="136952"/>
                  <a:pt x="31373" y="137666"/>
                  <a:pt x="33873" y="136952"/>
                </a:cubicBezTo>
                <a:lnTo>
                  <a:pt x="51673" y="131921"/>
                </a:lnTo>
                <a:cubicBezTo>
                  <a:pt x="52953" y="131564"/>
                  <a:pt x="54293" y="132338"/>
                  <a:pt x="54620" y="133618"/>
                </a:cubicBezTo>
                <a:lnTo>
                  <a:pt x="59174" y="151537"/>
                </a:lnTo>
                <a:cubicBezTo>
                  <a:pt x="59799" y="154037"/>
                  <a:pt x="61764" y="156002"/>
                  <a:pt x="64264" y="156686"/>
                </a:cubicBezTo>
                <a:cubicBezTo>
                  <a:pt x="66764" y="157371"/>
                  <a:pt x="69413" y="156627"/>
                  <a:pt x="71229" y="154781"/>
                </a:cubicBezTo>
                <a:lnTo>
                  <a:pt x="84118" y="141536"/>
                </a:lnTo>
                <a:cubicBezTo>
                  <a:pt x="85040" y="140583"/>
                  <a:pt x="86588" y="140583"/>
                  <a:pt x="87541" y="141536"/>
                </a:cubicBezTo>
                <a:lnTo>
                  <a:pt x="100399" y="154781"/>
                </a:lnTo>
                <a:cubicBezTo>
                  <a:pt x="102215" y="156627"/>
                  <a:pt x="104864" y="157371"/>
                  <a:pt x="107365" y="156686"/>
                </a:cubicBezTo>
                <a:cubicBezTo>
                  <a:pt x="109865" y="156002"/>
                  <a:pt x="111800" y="154037"/>
                  <a:pt x="112455" y="151537"/>
                </a:cubicBezTo>
                <a:lnTo>
                  <a:pt x="117009" y="133648"/>
                </a:lnTo>
                <a:cubicBezTo>
                  <a:pt x="117336" y="132338"/>
                  <a:pt x="118676" y="131564"/>
                  <a:pt x="119955" y="131951"/>
                </a:cubicBezTo>
                <a:lnTo>
                  <a:pt x="137755" y="136981"/>
                </a:lnTo>
                <a:cubicBezTo>
                  <a:pt x="140256" y="137696"/>
                  <a:pt x="142935" y="136981"/>
                  <a:pt x="144750" y="135166"/>
                </a:cubicBezTo>
                <a:cubicBezTo>
                  <a:pt x="146566" y="133350"/>
                  <a:pt x="147280" y="130671"/>
                  <a:pt x="146566" y="128171"/>
                </a:cubicBezTo>
                <a:lnTo>
                  <a:pt x="141536" y="110371"/>
                </a:lnTo>
                <a:cubicBezTo>
                  <a:pt x="141178" y="109091"/>
                  <a:pt x="141952" y="107752"/>
                  <a:pt x="143232" y="107424"/>
                </a:cubicBezTo>
                <a:lnTo>
                  <a:pt x="161151" y="102870"/>
                </a:lnTo>
                <a:cubicBezTo>
                  <a:pt x="163651" y="102245"/>
                  <a:pt x="165616" y="100280"/>
                  <a:pt x="166301" y="97780"/>
                </a:cubicBezTo>
                <a:cubicBezTo>
                  <a:pt x="166985" y="95280"/>
                  <a:pt x="166241" y="92601"/>
                  <a:pt x="164396" y="90815"/>
                </a:cubicBezTo>
                <a:lnTo>
                  <a:pt x="151150" y="77926"/>
                </a:lnTo>
                <a:cubicBezTo>
                  <a:pt x="150197" y="77004"/>
                  <a:pt x="150197" y="75456"/>
                  <a:pt x="151150" y="74503"/>
                </a:cubicBezTo>
                <a:lnTo>
                  <a:pt x="164396" y="61615"/>
                </a:lnTo>
                <a:cubicBezTo>
                  <a:pt x="166241" y="59799"/>
                  <a:pt x="166985" y="57150"/>
                  <a:pt x="166301" y="54650"/>
                </a:cubicBezTo>
                <a:cubicBezTo>
                  <a:pt x="165616" y="52149"/>
                  <a:pt x="163651" y="50215"/>
                  <a:pt x="161151" y="49560"/>
                </a:cubicBezTo>
                <a:lnTo>
                  <a:pt x="143232" y="45006"/>
                </a:lnTo>
                <a:cubicBezTo>
                  <a:pt x="141923" y="44678"/>
                  <a:pt x="141149" y="43339"/>
                  <a:pt x="141536" y="42059"/>
                </a:cubicBezTo>
                <a:lnTo>
                  <a:pt x="146566" y="24259"/>
                </a:lnTo>
                <a:cubicBezTo>
                  <a:pt x="147280" y="21759"/>
                  <a:pt x="146566" y="19080"/>
                  <a:pt x="144750" y="17264"/>
                </a:cubicBezTo>
                <a:cubicBezTo>
                  <a:pt x="142935" y="15448"/>
                  <a:pt x="140256" y="14734"/>
                  <a:pt x="137755" y="15448"/>
                </a:cubicBezTo>
                <a:lnTo>
                  <a:pt x="119955" y="20479"/>
                </a:lnTo>
                <a:cubicBezTo>
                  <a:pt x="118676" y="20836"/>
                  <a:pt x="117336" y="20062"/>
                  <a:pt x="117009" y="18782"/>
                </a:cubicBezTo>
                <a:lnTo>
                  <a:pt x="112455" y="833"/>
                </a:lnTo>
                <a:cubicBezTo>
                  <a:pt x="111829" y="-1667"/>
                  <a:pt x="109865" y="-3631"/>
                  <a:pt x="107365" y="-4316"/>
                </a:cubicBezTo>
                <a:cubicBezTo>
                  <a:pt x="104864" y="-5001"/>
                  <a:pt x="102215" y="-4256"/>
                  <a:pt x="100399" y="-2411"/>
                </a:cubicBezTo>
                <a:lnTo>
                  <a:pt x="87511" y="10864"/>
                </a:lnTo>
                <a:cubicBezTo>
                  <a:pt x="86588" y="11817"/>
                  <a:pt x="85040" y="11817"/>
                  <a:pt x="84088" y="10864"/>
                </a:cubicBezTo>
                <a:lnTo>
                  <a:pt x="71199" y="-2381"/>
                </a:ln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6827520" y="3467100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 Standard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827520" y="3733800"/>
            <a:ext cx="488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certification becomes quality benchmark for exports and domestic sales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384810" y="5589274"/>
            <a:ext cx="11418570" cy="883920"/>
          </a:xfrm>
          <a:custGeom>
            <a:avLst/>
            <a:gdLst/>
            <a:ahLst/>
            <a:cxnLst/>
            <a:rect l="l" t="t" r="r" b="b"/>
            <a:pathLst>
              <a:path w="11418570" h="883920">
                <a:moveTo>
                  <a:pt x="114300" y="0"/>
                </a:moveTo>
                <a:lnTo>
                  <a:pt x="11304270" y="0"/>
                </a:lnTo>
                <a:cubicBezTo>
                  <a:pt x="11367396" y="0"/>
                  <a:pt x="11418570" y="51174"/>
                  <a:pt x="11418570" y="114300"/>
                </a:cubicBezTo>
                <a:lnTo>
                  <a:pt x="11418570" y="769620"/>
                </a:lnTo>
                <a:cubicBezTo>
                  <a:pt x="11418570" y="832746"/>
                  <a:pt x="11367396" y="883920"/>
                  <a:pt x="11304270" y="883920"/>
                </a:cubicBezTo>
                <a:lnTo>
                  <a:pt x="114300" y="883920"/>
                </a:lnTo>
                <a:cubicBezTo>
                  <a:pt x="51174" y="883920"/>
                  <a:pt x="0" y="832746"/>
                  <a:pt x="0" y="76962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E9C46A">
                  <a:alpha val="30000"/>
                </a:srgbClr>
              </a:gs>
              <a:gs pos="100000">
                <a:srgbClr val="D4A373">
                  <a:alpha val="30000"/>
                </a:srgbClr>
              </a:gs>
            </a:gsLst>
            <a:lin ang="0" scaled="1"/>
          </a:gradFill>
          <a:ln w="10160">
            <a:solidFill>
              <a:srgbClr val="E9C46A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562451" y="5859791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209624" y="58400"/>
                </a:moveTo>
                <a:cubicBezTo>
                  <a:pt x="215786" y="53511"/>
                  <a:pt x="219670" y="45943"/>
                  <a:pt x="219670" y="37505"/>
                </a:cubicBezTo>
                <a:cubicBezTo>
                  <a:pt x="219670" y="22704"/>
                  <a:pt x="207682" y="10716"/>
                  <a:pt x="192881" y="10716"/>
                </a:cubicBezTo>
                <a:cubicBezTo>
                  <a:pt x="178080" y="10716"/>
                  <a:pt x="166092" y="22704"/>
                  <a:pt x="166092" y="37505"/>
                </a:cubicBezTo>
                <a:cubicBezTo>
                  <a:pt x="166092" y="45943"/>
                  <a:pt x="170044" y="53511"/>
                  <a:pt x="176138" y="58400"/>
                </a:cubicBezTo>
                <a:lnTo>
                  <a:pt x="130329" y="130463"/>
                </a:lnTo>
                <a:cubicBezTo>
                  <a:pt x="123632" y="140977"/>
                  <a:pt x="109366" y="143589"/>
                  <a:pt x="99387" y="136088"/>
                </a:cubicBezTo>
                <a:lnTo>
                  <a:pt x="59539" y="106286"/>
                </a:lnTo>
                <a:cubicBezTo>
                  <a:pt x="62552" y="101999"/>
                  <a:pt x="64294" y="96709"/>
                  <a:pt x="64294" y="91083"/>
                </a:cubicBezTo>
                <a:cubicBezTo>
                  <a:pt x="64294" y="76282"/>
                  <a:pt x="52306" y="64294"/>
                  <a:pt x="37505" y="64294"/>
                </a:cubicBezTo>
                <a:cubicBezTo>
                  <a:pt x="22704" y="64294"/>
                  <a:pt x="10716" y="76282"/>
                  <a:pt x="10716" y="91083"/>
                </a:cubicBezTo>
                <a:cubicBezTo>
                  <a:pt x="10716" y="105683"/>
                  <a:pt x="22436" y="117604"/>
                  <a:pt x="36969" y="117872"/>
                </a:cubicBezTo>
                <a:lnTo>
                  <a:pt x="58802" y="263537"/>
                </a:lnTo>
                <a:cubicBezTo>
                  <a:pt x="61950" y="284500"/>
                  <a:pt x="79965" y="300038"/>
                  <a:pt x="101196" y="300038"/>
                </a:cubicBezTo>
                <a:lnTo>
                  <a:pt x="284567" y="300038"/>
                </a:lnTo>
                <a:cubicBezTo>
                  <a:pt x="305797" y="300038"/>
                  <a:pt x="323813" y="284500"/>
                  <a:pt x="326961" y="263537"/>
                </a:cubicBezTo>
                <a:lnTo>
                  <a:pt x="348794" y="117872"/>
                </a:lnTo>
                <a:cubicBezTo>
                  <a:pt x="363327" y="117604"/>
                  <a:pt x="375047" y="105683"/>
                  <a:pt x="375047" y="91083"/>
                </a:cubicBezTo>
                <a:cubicBezTo>
                  <a:pt x="375047" y="76282"/>
                  <a:pt x="363059" y="64294"/>
                  <a:pt x="348258" y="64294"/>
                </a:cubicBezTo>
                <a:cubicBezTo>
                  <a:pt x="333457" y="64294"/>
                  <a:pt x="321469" y="76282"/>
                  <a:pt x="321469" y="91083"/>
                </a:cubicBezTo>
                <a:cubicBezTo>
                  <a:pt x="321469" y="96709"/>
                  <a:pt x="323210" y="101999"/>
                  <a:pt x="326224" y="106286"/>
                </a:cubicBezTo>
                <a:lnTo>
                  <a:pt x="286442" y="136155"/>
                </a:lnTo>
                <a:cubicBezTo>
                  <a:pt x="276463" y="143656"/>
                  <a:pt x="262198" y="141044"/>
                  <a:pt x="255501" y="130530"/>
                </a:cubicBezTo>
                <a:lnTo>
                  <a:pt x="209624" y="58400"/>
                </a:ln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1122045" y="5783591"/>
            <a:ext cx="4200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Ultimate Goal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122045" y="6050291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Become the operating system for Indian mushroom agriculture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10384156" y="5745491"/>
            <a:ext cx="1266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80%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10488931" y="6126491"/>
            <a:ext cx="1162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penetration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aircontrolindustries.com/dd759537d08e596db19837ce864d561d64332954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2929" b="292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2E26">
                  <a:alpha val="95000"/>
                </a:srgbClr>
              </a:gs>
              <a:gs pos="50000">
                <a:srgbClr val="1A2E26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5791200" y="19907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5955506" y="36100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5750" y="17859"/>
                </a:moveTo>
                <a:cubicBezTo>
                  <a:pt x="285750" y="78191"/>
                  <a:pt x="242999" y="128532"/>
                  <a:pt x="186184" y="140308"/>
                </a:cubicBezTo>
                <a:cubicBezTo>
                  <a:pt x="181775" y="107882"/>
                  <a:pt x="167208" y="78693"/>
                  <a:pt x="145721" y="56090"/>
                </a:cubicBezTo>
                <a:cubicBezTo>
                  <a:pt x="168101" y="22324"/>
                  <a:pt x="206443" y="0"/>
                  <a:pt x="250031" y="0"/>
                </a:cubicBezTo>
                <a:lnTo>
                  <a:pt x="267891" y="0"/>
                </a:lnTo>
                <a:cubicBezTo>
                  <a:pt x="277769" y="0"/>
                  <a:pt x="285750" y="7981"/>
                  <a:pt x="285750" y="17859"/>
                </a:cubicBezTo>
                <a:close/>
                <a:moveTo>
                  <a:pt x="0" y="53578"/>
                </a:moveTo>
                <a:cubicBezTo>
                  <a:pt x="0" y="43700"/>
                  <a:pt x="7981" y="35719"/>
                  <a:pt x="17859" y="35719"/>
                </a:cubicBezTo>
                <a:lnTo>
                  <a:pt x="35719" y="35719"/>
                </a:lnTo>
                <a:cubicBezTo>
                  <a:pt x="104756" y="35719"/>
                  <a:pt x="160734" y="91697"/>
                  <a:pt x="160734" y="160734"/>
                </a:cubicBezTo>
                <a:lnTo>
                  <a:pt x="160734" y="267891"/>
                </a:lnTo>
                <a:cubicBezTo>
                  <a:pt x="160734" y="277769"/>
                  <a:pt x="152753" y="285750"/>
                  <a:pt x="142875" y="285750"/>
                </a:cubicBezTo>
                <a:cubicBezTo>
                  <a:pt x="132997" y="285750"/>
                  <a:pt x="125016" y="277769"/>
                  <a:pt x="125016" y="267891"/>
                </a:cubicBezTo>
                <a:lnTo>
                  <a:pt x="125016" y="178594"/>
                </a:lnTo>
                <a:cubicBezTo>
                  <a:pt x="55978" y="178594"/>
                  <a:pt x="0" y="122616"/>
                  <a:pt x="0" y="53578"/>
                </a:cubicBezTo>
                <a:close/>
              </a:path>
            </a:pathLst>
          </a:custGeom>
          <a:solidFill>
            <a:srgbClr val="1A2E26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2324100" y="961076"/>
            <a:ext cx="7543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Join Us in Building</a:t>
            </a:r>
            <a:endParaRPr lang="en-US" sz="1600" dirty="0"/>
          </a:p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</a:t>
            </a:r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390775" y="2027876"/>
            <a:ext cx="74104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Mushroom Mandi is not just software—it's the foundation for India's mushroom revolution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751892" y="3108011"/>
            <a:ext cx="2074545" cy="1207770"/>
          </a:xfrm>
          <a:custGeom>
            <a:avLst/>
            <a:gdLst/>
            <a:ahLst/>
            <a:cxnLst/>
            <a:rect l="l" t="t" r="r" b="b"/>
            <a:pathLst>
              <a:path w="2074545" h="1207770">
                <a:moveTo>
                  <a:pt x="114303" y="0"/>
                </a:moveTo>
                <a:lnTo>
                  <a:pt x="1960242" y="0"/>
                </a:lnTo>
                <a:cubicBezTo>
                  <a:pt x="2023370" y="0"/>
                  <a:pt x="2074545" y="51175"/>
                  <a:pt x="2074545" y="114303"/>
                </a:cubicBezTo>
                <a:lnTo>
                  <a:pt x="2074545" y="1093467"/>
                </a:lnTo>
                <a:cubicBezTo>
                  <a:pt x="2074545" y="1156595"/>
                  <a:pt x="2023370" y="1207770"/>
                  <a:pt x="1960242" y="1207770"/>
                </a:cubicBezTo>
                <a:lnTo>
                  <a:pt x="114303" y="1207770"/>
                </a:lnTo>
                <a:cubicBezTo>
                  <a:pt x="51175" y="1207770"/>
                  <a:pt x="0" y="1156595"/>
                  <a:pt x="0" y="1093467"/>
                </a:cubicBezTo>
                <a:lnTo>
                  <a:pt x="0" y="114303"/>
                </a:lnTo>
                <a:cubicBezTo>
                  <a:pt x="0" y="51218"/>
                  <a:pt x="51218" y="0"/>
                  <a:pt x="114303" y="0"/>
                </a:cubicBezTo>
                <a:close/>
              </a:path>
            </a:pathLst>
          </a:custGeom>
          <a:solidFill>
            <a:srgbClr val="6B8E6E">
              <a:alpha val="20000"/>
            </a:srgbClr>
          </a:solidFill>
          <a:ln w="10160">
            <a:solidFill>
              <a:srgbClr val="6B8E6E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3647361" y="326422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0535" y="0"/>
                </a:moveTo>
                <a:lnTo>
                  <a:pt x="205550" y="0"/>
                </a:lnTo>
                <a:cubicBezTo>
                  <a:pt x="220340" y="0"/>
                  <a:pt x="232395" y="12167"/>
                  <a:pt x="231837" y="26901"/>
                </a:cubicBezTo>
                <a:cubicBezTo>
                  <a:pt x="231725" y="29859"/>
                  <a:pt x="231614" y="32817"/>
                  <a:pt x="231446" y="35719"/>
                </a:cubicBezTo>
                <a:lnTo>
                  <a:pt x="259128" y="35719"/>
                </a:lnTo>
                <a:cubicBezTo>
                  <a:pt x="273695" y="35719"/>
                  <a:pt x="286531" y="47774"/>
                  <a:pt x="285415" y="63512"/>
                </a:cubicBezTo>
                <a:cubicBezTo>
                  <a:pt x="281229" y="121388"/>
                  <a:pt x="251650" y="153200"/>
                  <a:pt x="219559" y="169831"/>
                </a:cubicBezTo>
                <a:cubicBezTo>
                  <a:pt x="210741" y="174408"/>
                  <a:pt x="201755" y="177812"/>
                  <a:pt x="193216" y="180324"/>
                </a:cubicBezTo>
                <a:cubicBezTo>
                  <a:pt x="181942" y="196286"/>
                  <a:pt x="170222" y="204713"/>
                  <a:pt x="160902" y="209234"/>
                </a:cubicBezTo>
                <a:lnTo>
                  <a:pt x="160902" y="250031"/>
                </a:lnTo>
                <a:lnTo>
                  <a:pt x="196621" y="250031"/>
                </a:lnTo>
                <a:cubicBezTo>
                  <a:pt x="206499" y="250031"/>
                  <a:pt x="214480" y="258012"/>
                  <a:pt x="214480" y="267891"/>
                </a:cubicBezTo>
                <a:cubicBezTo>
                  <a:pt x="214480" y="277769"/>
                  <a:pt x="206499" y="285750"/>
                  <a:pt x="196621" y="285750"/>
                </a:cubicBezTo>
                <a:lnTo>
                  <a:pt x="89464" y="285750"/>
                </a:lnTo>
                <a:cubicBezTo>
                  <a:pt x="79586" y="285750"/>
                  <a:pt x="71605" y="277769"/>
                  <a:pt x="71605" y="267891"/>
                </a:cubicBezTo>
                <a:cubicBezTo>
                  <a:pt x="71605" y="258012"/>
                  <a:pt x="79586" y="250031"/>
                  <a:pt x="89464" y="250031"/>
                </a:cubicBezTo>
                <a:lnTo>
                  <a:pt x="125183" y="250031"/>
                </a:lnTo>
                <a:lnTo>
                  <a:pt x="125183" y="209234"/>
                </a:lnTo>
                <a:cubicBezTo>
                  <a:pt x="116253" y="204936"/>
                  <a:pt x="105147" y="196955"/>
                  <a:pt x="94320" y="182277"/>
                </a:cubicBezTo>
                <a:cubicBezTo>
                  <a:pt x="84051" y="179598"/>
                  <a:pt x="72889" y="175524"/>
                  <a:pt x="62006" y="169385"/>
                </a:cubicBezTo>
                <a:cubicBezTo>
                  <a:pt x="31812" y="152474"/>
                  <a:pt x="4576" y="120607"/>
                  <a:pt x="670" y="63401"/>
                </a:cubicBezTo>
                <a:cubicBezTo>
                  <a:pt x="-391" y="47718"/>
                  <a:pt x="12390" y="35663"/>
                  <a:pt x="26956" y="35663"/>
                </a:cubicBezTo>
                <a:lnTo>
                  <a:pt x="54639" y="35663"/>
                </a:lnTo>
                <a:cubicBezTo>
                  <a:pt x="54471" y="32761"/>
                  <a:pt x="54359" y="29859"/>
                  <a:pt x="54248" y="26845"/>
                </a:cubicBezTo>
                <a:cubicBezTo>
                  <a:pt x="53690" y="12055"/>
                  <a:pt x="65745" y="-56"/>
                  <a:pt x="80535" y="-56"/>
                </a:cubicBezTo>
                <a:close/>
                <a:moveTo>
                  <a:pt x="56648" y="62508"/>
                </a:moveTo>
                <a:lnTo>
                  <a:pt x="27403" y="62508"/>
                </a:lnTo>
                <a:cubicBezTo>
                  <a:pt x="30863" y="109779"/>
                  <a:pt x="52574" y="133443"/>
                  <a:pt x="74954" y="146000"/>
                </a:cubicBezTo>
                <a:cubicBezTo>
                  <a:pt x="66917" y="125183"/>
                  <a:pt x="60275" y="98003"/>
                  <a:pt x="56648" y="62508"/>
                </a:cubicBezTo>
                <a:close/>
                <a:moveTo>
                  <a:pt x="212080" y="143321"/>
                </a:moveTo>
                <a:cubicBezTo>
                  <a:pt x="234683" y="130039"/>
                  <a:pt x="255110" y="106431"/>
                  <a:pt x="258570" y="62508"/>
                </a:cubicBezTo>
                <a:lnTo>
                  <a:pt x="229381" y="62508"/>
                </a:lnTo>
                <a:cubicBezTo>
                  <a:pt x="225921" y="96496"/>
                  <a:pt x="219670" y="122895"/>
                  <a:pt x="212080" y="143321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870002" y="3664279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Competition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874764" y="3969079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First-mover in ₹960 Cr market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60037" y="3108011"/>
            <a:ext cx="2074545" cy="1207770"/>
          </a:xfrm>
          <a:custGeom>
            <a:avLst/>
            <a:gdLst/>
            <a:ahLst/>
            <a:cxnLst/>
            <a:rect l="l" t="t" r="r" b="b"/>
            <a:pathLst>
              <a:path w="2074545" h="1207770">
                <a:moveTo>
                  <a:pt x="114303" y="0"/>
                </a:moveTo>
                <a:lnTo>
                  <a:pt x="1960242" y="0"/>
                </a:lnTo>
                <a:cubicBezTo>
                  <a:pt x="2023370" y="0"/>
                  <a:pt x="2074545" y="51175"/>
                  <a:pt x="2074545" y="114303"/>
                </a:cubicBezTo>
                <a:lnTo>
                  <a:pt x="2074545" y="1093467"/>
                </a:lnTo>
                <a:cubicBezTo>
                  <a:pt x="2074545" y="1156595"/>
                  <a:pt x="2023370" y="1207770"/>
                  <a:pt x="1960242" y="1207770"/>
                </a:cubicBezTo>
                <a:lnTo>
                  <a:pt x="114303" y="1207770"/>
                </a:lnTo>
                <a:cubicBezTo>
                  <a:pt x="51175" y="1207770"/>
                  <a:pt x="0" y="1156595"/>
                  <a:pt x="0" y="1093467"/>
                </a:cubicBezTo>
                <a:lnTo>
                  <a:pt x="0" y="114303"/>
                </a:lnTo>
                <a:cubicBezTo>
                  <a:pt x="0" y="51218"/>
                  <a:pt x="51218" y="0"/>
                  <a:pt x="114303" y="0"/>
                </a:cubicBezTo>
                <a:close/>
              </a:path>
            </a:pathLst>
          </a:custGeom>
          <a:solidFill>
            <a:srgbClr val="6B8E6E">
              <a:alpha val="20000"/>
            </a:srgbClr>
          </a:solidFill>
          <a:ln w="10160">
            <a:solidFill>
              <a:srgbClr val="6B8E6E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5937647" y="3264229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50075" y="47551"/>
                </a:moveTo>
                <a:lnTo>
                  <a:pt x="84999" y="119881"/>
                </a:lnTo>
                <a:cubicBezTo>
                  <a:pt x="82432" y="122727"/>
                  <a:pt x="82544" y="127136"/>
                  <a:pt x="85279" y="129871"/>
                </a:cubicBezTo>
                <a:cubicBezTo>
                  <a:pt x="102301" y="146893"/>
                  <a:pt x="129927" y="146893"/>
                  <a:pt x="146949" y="129871"/>
                </a:cubicBezTo>
                <a:lnTo>
                  <a:pt x="164697" y="112123"/>
                </a:lnTo>
                <a:cubicBezTo>
                  <a:pt x="167041" y="109779"/>
                  <a:pt x="169999" y="108496"/>
                  <a:pt x="173013" y="108272"/>
                </a:cubicBezTo>
                <a:cubicBezTo>
                  <a:pt x="176808" y="107938"/>
                  <a:pt x="180715" y="109221"/>
                  <a:pt x="183617" y="112123"/>
                </a:cubicBezTo>
                <a:lnTo>
                  <a:pt x="282178" y="209848"/>
                </a:lnTo>
                <a:lnTo>
                  <a:pt x="321469" y="178594"/>
                </a:lnTo>
                <a:lnTo>
                  <a:pt x="321469" y="17859"/>
                </a:lnTo>
                <a:lnTo>
                  <a:pt x="258961" y="53578"/>
                </a:lnTo>
                <a:lnTo>
                  <a:pt x="245678" y="44704"/>
                </a:lnTo>
                <a:cubicBezTo>
                  <a:pt x="236860" y="38844"/>
                  <a:pt x="226535" y="35719"/>
                  <a:pt x="215931" y="35719"/>
                </a:cubicBezTo>
                <a:lnTo>
                  <a:pt x="176640" y="35719"/>
                </a:lnTo>
                <a:cubicBezTo>
                  <a:pt x="176026" y="35719"/>
                  <a:pt x="175357" y="35719"/>
                  <a:pt x="174743" y="35775"/>
                </a:cubicBezTo>
                <a:cubicBezTo>
                  <a:pt x="165311" y="36277"/>
                  <a:pt x="156437" y="40518"/>
                  <a:pt x="150075" y="47551"/>
                </a:cubicBezTo>
                <a:close/>
                <a:moveTo>
                  <a:pt x="65075" y="101966"/>
                </a:moveTo>
                <a:lnTo>
                  <a:pt x="124681" y="35719"/>
                </a:lnTo>
                <a:lnTo>
                  <a:pt x="102580" y="35719"/>
                </a:lnTo>
                <a:cubicBezTo>
                  <a:pt x="88348" y="35719"/>
                  <a:pt x="74730" y="41356"/>
                  <a:pt x="64684" y="51402"/>
                </a:cubicBezTo>
                <a:lnTo>
                  <a:pt x="62508" y="53578"/>
                </a:lnTo>
                <a:lnTo>
                  <a:pt x="0" y="17859"/>
                </a:lnTo>
                <a:lnTo>
                  <a:pt x="0" y="178594"/>
                </a:lnTo>
                <a:lnTo>
                  <a:pt x="87288" y="251315"/>
                </a:lnTo>
                <a:cubicBezTo>
                  <a:pt x="100124" y="262031"/>
                  <a:pt x="116309" y="267891"/>
                  <a:pt x="132997" y="267891"/>
                </a:cubicBezTo>
                <a:lnTo>
                  <a:pt x="141759" y="267891"/>
                </a:lnTo>
                <a:lnTo>
                  <a:pt x="137852" y="263984"/>
                </a:lnTo>
                <a:cubicBezTo>
                  <a:pt x="132606" y="258738"/>
                  <a:pt x="132606" y="250254"/>
                  <a:pt x="137852" y="245064"/>
                </a:cubicBezTo>
                <a:cubicBezTo>
                  <a:pt x="143098" y="239874"/>
                  <a:pt x="151581" y="239818"/>
                  <a:pt x="156772" y="245064"/>
                </a:cubicBezTo>
                <a:lnTo>
                  <a:pt x="179654" y="267946"/>
                </a:lnTo>
                <a:lnTo>
                  <a:pt x="184677" y="267946"/>
                </a:lnTo>
                <a:cubicBezTo>
                  <a:pt x="195337" y="267946"/>
                  <a:pt x="205773" y="265547"/>
                  <a:pt x="215261" y="261082"/>
                </a:cubicBezTo>
                <a:lnTo>
                  <a:pt x="200360" y="246125"/>
                </a:lnTo>
                <a:cubicBezTo>
                  <a:pt x="195114" y="240878"/>
                  <a:pt x="195114" y="232395"/>
                  <a:pt x="200360" y="227205"/>
                </a:cubicBezTo>
                <a:cubicBezTo>
                  <a:pt x="205606" y="222014"/>
                  <a:pt x="214089" y="221959"/>
                  <a:pt x="219280" y="227205"/>
                </a:cubicBezTo>
                <a:lnTo>
                  <a:pt x="237139" y="245064"/>
                </a:lnTo>
                <a:lnTo>
                  <a:pt x="246906" y="235297"/>
                </a:lnTo>
                <a:cubicBezTo>
                  <a:pt x="251873" y="230330"/>
                  <a:pt x="253324" y="223131"/>
                  <a:pt x="251147" y="216824"/>
                </a:cubicBezTo>
                <a:lnTo>
                  <a:pt x="174185" y="140475"/>
                </a:lnTo>
                <a:lnTo>
                  <a:pt x="165869" y="148791"/>
                </a:lnTo>
                <a:cubicBezTo>
                  <a:pt x="138354" y="176306"/>
                  <a:pt x="93818" y="176306"/>
                  <a:pt x="66303" y="148791"/>
                </a:cubicBezTo>
                <a:cubicBezTo>
                  <a:pt x="53467" y="135954"/>
                  <a:pt x="52964" y="115360"/>
                  <a:pt x="65075" y="10191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5178147" y="3664279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Govt Support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182910" y="3969079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40-50% subsidies aligned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368183" y="3108011"/>
            <a:ext cx="2074545" cy="1207770"/>
          </a:xfrm>
          <a:custGeom>
            <a:avLst/>
            <a:gdLst/>
            <a:ahLst/>
            <a:cxnLst/>
            <a:rect l="l" t="t" r="r" b="b"/>
            <a:pathLst>
              <a:path w="2074545" h="1207770">
                <a:moveTo>
                  <a:pt x="114303" y="0"/>
                </a:moveTo>
                <a:lnTo>
                  <a:pt x="1960242" y="0"/>
                </a:lnTo>
                <a:cubicBezTo>
                  <a:pt x="2023370" y="0"/>
                  <a:pt x="2074545" y="51175"/>
                  <a:pt x="2074545" y="114303"/>
                </a:cubicBezTo>
                <a:lnTo>
                  <a:pt x="2074545" y="1093467"/>
                </a:lnTo>
                <a:cubicBezTo>
                  <a:pt x="2074545" y="1156595"/>
                  <a:pt x="2023370" y="1207770"/>
                  <a:pt x="1960242" y="1207770"/>
                </a:cubicBezTo>
                <a:lnTo>
                  <a:pt x="114303" y="1207770"/>
                </a:lnTo>
                <a:cubicBezTo>
                  <a:pt x="51175" y="1207770"/>
                  <a:pt x="0" y="1156595"/>
                  <a:pt x="0" y="1093467"/>
                </a:cubicBezTo>
                <a:lnTo>
                  <a:pt x="0" y="114303"/>
                </a:lnTo>
                <a:cubicBezTo>
                  <a:pt x="0" y="51218"/>
                  <a:pt x="51218" y="0"/>
                  <a:pt x="114303" y="0"/>
                </a:cubicBezTo>
                <a:close/>
              </a:path>
            </a:pathLst>
          </a:custGeom>
          <a:solidFill>
            <a:srgbClr val="6B8E6E">
              <a:alpha val="20000"/>
            </a:srgbClr>
          </a:solidFill>
          <a:ln w="10160">
            <a:solidFill>
              <a:srgbClr val="6B8E6E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8263652" y="326422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7486293" y="3664279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Proven Tech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491056" y="3969079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IoT + AI + Marketplace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2974539" y="4551998"/>
            <a:ext cx="6246495" cy="1417320"/>
          </a:xfrm>
          <a:custGeom>
            <a:avLst/>
            <a:gdLst/>
            <a:ahLst/>
            <a:cxnLst/>
            <a:rect l="l" t="t" r="r" b="b"/>
            <a:pathLst>
              <a:path w="6246495" h="1417320">
                <a:moveTo>
                  <a:pt x="114307" y="0"/>
                </a:moveTo>
                <a:lnTo>
                  <a:pt x="6132188" y="0"/>
                </a:lnTo>
                <a:cubicBezTo>
                  <a:pt x="6195276" y="0"/>
                  <a:pt x="6246495" y="51219"/>
                  <a:pt x="6246495" y="114307"/>
                </a:cubicBezTo>
                <a:lnTo>
                  <a:pt x="6246495" y="1303013"/>
                </a:lnTo>
                <a:cubicBezTo>
                  <a:pt x="6246495" y="1366101"/>
                  <a:pt x="6195276" y="1417320"/>
                  <a:pt x="6132188" y="1417320"/>
                </a:cubicBezTo>
                <a:lnTo>
                  <a:pt x="114307" y="1417320"/>
                </a:lnTo>
                <a:cubicBezTo>
                  <a:pt x="51219" y="1417320"/>
                  <a:pt x="0" y="1366101"/>
                  <a:pt x="0" y="130301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rotWithShape="1" flip="none">
            <a:gsLst>
              <a:gs pos="0">
                <a:srgbClr val="E9C46A">
                  <a:alpha val="30000"/>
                </a:srgbClr>
              </a:gs>
              <a:gs pos="100000">
                <a:srgbClr val="D4A373">
                  <a:alpha val="30000"/>
                </a:srgbClr>
              </a:gs>
            </a:gsLst>
            <a:lin ang="0" scaled="1"/>
          </a:gradFill>
          <a:ln w="10160">
            <a:solidFill>
              <a:srgbClr val="E9C46A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3164086" y="4784415"/>
            <a:ext cx="586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Let's transform </a:t>
            </a:r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1,000+ farms</a:t>
            </a:r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create a </a:t>
            </a:r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₹100 Cr+</a:t>
            </a:r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revenue business together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144089" y="5203515"/>
            <a:ext cx="1238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₹2.50 Cr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182189" y="5546415"/>
            <a:ext cx="1162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Seed Investment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611416" y="5241615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5854303" y="5203515"/>
            <a:ext cx="1038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₹88 Cr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892403" y="5546415"/>
            <a:ext cx="96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 5 Revenue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126962" y="5241615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6B8E6E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7369850" y="5203515"/>
            <a:ext cx="676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47x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407950" y="5546415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LTV/CAC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064080" y="6201724"/>
            <a:ext cx="4067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 us to discuss investment opportunities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116467" y="648747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288" y="19050"/>
                </a:moveTo>
                <a:cubicBezTo>
                  <a:pt x="6400" y="19050"/>
                  <a:pt x="0" y="25450"/>
                  <a:pt x="0" y="33338"/>
                </a:cubicBezTo>
                <a:cubicBezTo>
                  <a:pt x="0" y="37832"/>
                  <a:pt x="2113" y="42059"/>
                  <a:pt x="5715" y="44768"/>
                </a:cubicBezTo>
                <a:lnTo>
                  <a:pt x="67628" y="91202"/>
                </a:lnTo>
                <a:cubicBezTo>
                  <a:pt x="72717" y="95012"/>
                  <a:pt x="79683" y="95012"/>
                  <a:pt x="84773" y="91202"/>
                </a:cubicBezTo>
                <a:lnTo>
                  <a:pt x="146685" y="44767"/>
                </a:lnTo>
                <a:cubicBezTo>
                  <a:pt x="150287" y="42059"/>
                  <a:pt x="152400" y="37832"/>
                  <a:pt x="152400" y="33337"/>
                </a:cubicBezTo>
                <a:cubicBezTo>
                  <a:pt x="152400" y="25450"/>
                  <a:pt x="146000" y="19050"/>
                  <a:pt x="138113" y="19050"/>
                </a:cubicBezTo>
                <a:lnTo>
                  <a:pt x="14288" y="19050"/>
                </a:lnTo>
                <a:close/>
                <a:moveTo>
                  <a:pt x="0" y="58341"/>
                </a:move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58341"/>
                </a:lnTo>
                <a:lnTo>
                  <a:pt x="93345" y="102632"/>
                </a:lnTo>
                <a:cubicBezTo>
                  <a:pt x="83195" y="110252"/>
                  <a:pt x="69205" y="110252"/>
                  <a:pt x="59055" y="102632"/>
                </a:cubicBezTo>
                <a:lnTo>
                  <a:pt x="0" y="58341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4406980" y="6468424"/>
            <a:ext cx="1962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investors@mushroommandi.com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661785" y="648747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7685" y="7441"/>
                </a:moveTo>
                <a:cubicBezTo>
                  <a:pt x="45333" y="1816"/>
                  <a:pt x="39201" y="-1161"/>
                  <a:pt x="33367" y="417"/>
                </a:cubicBezTo>
                <a:lnTo>
                  <a:pt x="31730" y="863"/>
                </a:lnTo>
                <a:cubicBezTo>
                  <a:pt x="12502" y="6102"/>
                  <a:pt x="-3929" y="24735"/>
                  <a:pt x="863" y="47417"/>
                </a:cubicBezTo>
                <a:cubicBezTo>
                  <a:pt x="11906" y="99506"/>
                  <a:pt x="52894" y="140494"/>
                  <a:pt x="104983" y="151537"/>
                </a:cubicBezTo>
                <a:cubicBezTo>
                  <a:pt x="127695" y="156359"/>
                  <a:pt x="146298" y="139898"/>
                  <a:pt x="151537" y="120670"/>
                </a:cubicBezTo>
                <a:lnTo>
                  <a:pt x="151983" y="119033"/>
                </a:lnTo>
                <a:cubicBezTo>
                  <a:pt x="153591" y="113169"/>
                  <a:pt x="150584" y="107037"/>
                  <a:pt x="144988" y="104715"/>
                </a:cubicBezTo>
                <a:lnTo>
                  <a:pt x="116026" y="92660"/>
                </a:lnTo>
                <a:cubicBezTo>
                  <a:pt x="111115" y="90607"/>
                  <a:pt x="105430" y="92035"/>
                  <a:pt x="102037" y="96173"/>
                </a:cubicBezTo>
                <a:lnTo>
                  <a:pt x="90547" y="110222"/>
                </a:lnTo>
                <a:cubicBezTo>
                  <a:pt x="69622" y="99834"/>
                  <a:pt x="52774" y="82451"/>
                  <a:pt x="43101" y="61109"/>
                </a:cubicBezTo>
                <a:lnTo>
                  <a:pt x="56257" y="50393"/>
                </a:lnTo>
                <a:cubicBezTo>
                  <a:pt x="60394" y="47030"/>
                  <a:pt x="61793" y="41344"/>
                  <a:pt x="59769" y="36403"/>
                </a:cubicBezTo>
                <a:lnTo>
                  <a:pt x="47685" y="7441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6952298" y="6468424"/>
            <a:ext cx="117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+91 XXXXX XXXXX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Mushroom Mandi - Investor Pitch Deck</dc:title>
  <dc:subject>Mushroom Mandi - Investor Pitch Deck</dc:subject>
  <dc:creator>Kimi</dc:creator>
  <cp:lastModifiedBy>Kimi</cp:lastModifiedBy>
  <cp:revision>1</cp:revision>
  <dcterms:created xsi:type="dcterms:W3CDTF">2026-03-08T06:49:21Z</dcterms:created>
  <dcterms:modified xsi:type="dcterms:W3CDTF">2026-03-08T06:49:21Z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{"Label":"Mushroom Mandi - Investor Pitch Deck","ContentProducer":"001191110108MACG2KBH8F10000","ProduceID":"19c71ce4-1602-82e6-8000-0000a388eb22","ReservedCode1":"","ContentPropagator":"001191110108MACG2KBH8F20000","PropagateID":"19c71ce4-1602-82e6-8000-0000a388eb22","ReservedCode2":""}</vt:lpwstr>
  </property>
</Properties>
</file>